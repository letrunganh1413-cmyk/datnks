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9"/>
  </p:notesMasterIdLst>
  <p:sldIdLst>
    <p:sldId id="257" r:id="rId2"/>
    <p:sldId id="258" r:id="rId3"/>
    <p:sldId id="509" r:id="rId4"/>
    <p:sldId id="371" r:id="rId5"/>
    <p:sldId id="510" r:id="rId6"/>
    <p:sldId id="379" r:id="rId7"/>
    <p:sldId id="325" r:id="rId8"/>
    <p:sldId id="337" r:id="rId9"/>
    <p:sldId id="330" r:id="rId10"/>
    <p:sldId id="372" r:id="rId11"/>
    <p:sldId id="331" r:id="rId12"/>
    <p:sldId id="332" r:id="rId13"/>
    <p:sldId id="333" r:id="rId14"/>
    <p:sldId id="274" r:id="rId15"/>
    <p:sldId id="374" r:id="rId16"/>
    <p:sldId id="378" r:id="rId17"/>
    <p:sldId id="275" r:id="rId18"/>
    <p:sldId id="382" r:id="rId19"/>
    <p:sldId id="277" r:id="rId20"/>
    <p:sldId id="307" r:id="rId21"/>
    <p:sldId id="338" r:id="rId22"/>
    <p:sldId id="383" r:id="rId23"/>
    <p:sldId id="343" r:id="rId24"/>
    <p:sldId id="283" r:id="rId25"/>
    <p:sldId id="311" r:id="rId26"/>
    <p:sldId id="390" r:id="rId27"/>
    <p:sldId id="391" r:id="rId28"/>
    <p:sldId id="392" r:id="rId29"/>
    <p:sldId id="459" r:id="rId30"/>
    <p:sldId id="460" r:id="rId31"/>
    <p:sldId id="393" r:id="rId32"/>
    <p:sldId id="506" r:id="rId33"/>
    <p:sldId id="507" r:id="rId34"/>
    <p:sldId id="508" r:id="rId35"/>
    <p:sldId id="512" r:id="rId36"/>
    <p:sldId id="518" r:id="rId37"/>
    <p:sldId id="517" r:id="rId38"/>
    <p:sldId id="513" r:id="rId39"/>
    <p:sldId id="514" r:id="rId40"/>
    <p:sldId id="515" r:id="rId41"/>
    <p:sldId id="516" r:id="rId42"/>
    <p:sldId id="519" r:id="rId43"/>
    <p:sldId id="520" r:id="rId44"/>
    <p:sldId id="521" r:id="rId45"/>
    <p:sldId id="522" r:id="rId46"/>
    <p:sldId id="523" r:id="rId47"/>
    <p:sldId id="524" r:id="rId48"/>
    <p:sldId id="525" r:id="rId49"/>
    <p:sldId id="394" r:id="rId50"/>
    <p:sldId id="453" r:id="rId51"/>
    <p:sldId id="454" r:id="rId52"/>
    <p:sldId id="491" r:id="rId53"/>
    <p:sldId id="455" r:id="rId54"/>
    <p:sldId id="492" r:id="rId55"/>
    <p:sldId id="493" r:id="rId56"/>
    <p:sldId id="494" r:id="rId57"/>
    <p:sldId id="495" r:id="rId58"/>
    <p:sldId id="496" r:id="rId59"/>
    <p:sldId id="497" r:id="rId60"/>
    <p:sldId id="498" r:id="rId61"/>
    <p:sldId id="499" r:id="rId62"/>
    <p:sldId id="500" r:id="rId63"/>
    <p:sldId id="501" r:id="rId64"/>
    <p:sldId id="502" r:id="rId65"/>
    <p:sldId id="503" r:id="rId66"/>
    <p:sldId id="504" r:id="rId67"/>
    <p:sldId id="505" r:id="rId68"/>
    <p:sldId id="526" r:id="rId69"/>
    <p:sldId id="527" r:id="rId70"/>
    <p:sldId id="528" r:id="rId71"/>
    <p:sldId id="529" r:id="rId72"/>
    <p:sldId id="530" r:id="rId73"/>
    <p:sldId id="531" r:id="rId74"/>
    <p:sldId id="532" r:id="rId75"/>
    <p:sldId id="533" r:id="rId76"/>
    <p:sldId id="461" r:id="rId77"/>
    <p:sldId id="462" r:id="rId78"/>
    <p:sldId id="463" r:id="rId79"/>
    <p:sldId id="466" r:id="rId80"/>
    <p:sldId id="490" r:id="rId81"/>
    <p:sldId id="464" r:id="rId82"/>
    <p:sldId id="467" r:id="rId83"/>
    <p:sldId id="468" r:id="rId84"/>
    <p:sldId id="469" r:id="rId85"/>
    <p:sldId id="470" r:id="rId86"/>
    <p:sldId id="480" r:id="rId87"/>
    <p:sldId id="479" r:id="rId88"/>
    <p:sldId id="481" r:id="rId89"/>
    <p:sldId id="472" r:id="rId90"/>
    <p:sldId id="473" r:id="rId91"/>
    <p:sldId id="488" r:id="rId92"/>
    <p:sldId id="489" r:id="rId93"/>
    <p:sldId id="465" r:id="rId94"/>
    <p:sldId id="474" r:id="rId95"/>
    <p:sldId id="475" r:id="rId96"/>
    <p:sldId id="476" r:id="rId97"/>
    <p:sldId id="477" r:id="rId98"/>
    <p:sldId id="478" r:id="rId99"/>
    <p:sldId id="482" r:id="rId100"/>
    <p:sldId id="483" r:id="rId101"/>
    <p:sldId id="484" r:id="rId102"/>
    <p:sldId id="485" r:id="rId103"/>
    <p:sldId id="486" r:id="rId104"/>
    <p:sldId id="487" r:id="rId105"/>
    <p:sldId id="534" r:id="rId106"/>
    <p:sldId id="535" r:id="rId107"/>
    <p:sldId id="536" r:id="rId108"/>
    <p:sldId id="537" r:id="rId109"/>
    <p:sldId id="549" r:id="rId110"/>
    <p:sldId id="550" r:id="rId111"/>
    <p:sldId id="551" r:id="rId112"/>
    <p:sldId id="554" r:id="rId113"/>
    <p:sldId id="548" r:id="rId114"/>
    <p:sldId id="546" r:id="rId115"/>
    <p:sldId id="547" r:id="rId116"/>
    <p:sldId id="552" r:id="rId117"/>
    <p:sldId id="553" r:id="rId118"/>
    <p:sldId id="555" r:id="rId119"/>
    <p:sldId id="538" r:id="rId120"/>
    <p:sldId id="539" r:id="rId121"/>
    <p:sldId id="540" r:id="rId122"/>
    <p:sldId id="541" r:id="rId123"/>
    <p:sldId id="542" r:id="rId124"/>
    <p:sldId id="543" r:id="rId125"/>
    <p:sldId id="544" r:id="rId126"/>
    <p:sldId id="545" r:id="rId127"/>
    <p:sldId id="511" r:id="rId1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5097" autoAdjust="0"/>
  </p:normalViewPr>
  <p:slideViewPr>
    <p:cSldViewPr snapToGrid="0">
      <p:cViewPr varScale="1">
        <p:scale>
          <a:sx n="79" d="100"/>
          <a:sy n="79"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06704D-22F9-4B6F-9BB2-794DE1938EED}" type="datetimeFigureOut">
              <a:rPr lang="en-US" smtClean="0"/>
              <a:t>9/19/2026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85189A-408D-4D52-978F-BE7EC4BCC104}" type="slidenum">
              <a:rPr lang="en-US" smtClean="0"/>
              <a:t>‹#›</a:t>
            </a:fld>
            <a:endParaRPr lang="en-US"/>
          </a:p>
        </p:txBody>
      </p:sp>
    </p:spTree>
    <p:extLst>
      <p:ext uri="{BB962C8B-B14F-4D97-AF65-F5344CB8AC3E}">
        <p14:creationId xmlns:p14="http://schemas.microsoft.com/office/powerpoint/2010/main" val="33202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r>
                      <a:rPr lang="en-US" i="1" smtClean="0">
                        <a:latin typeface="Cambria Math" panose="02040503050406030204" pitchFamily="18" charset="0"/>
                      </a:rPr>
                      <m:t>𝜎</m:t>
                    </m:r>
                  </m:oMath>
                </a14:m>
                <a:r>
                  <a:rPr lang="en-US"/>
                  <a:t> sigma </a:t>
                </a:r>
              </a:p>
              <a:p>
                <a:endParaRPr lang="en-US"/>
              </a:p>
            </p:txBody>
          </p:sp>
        </mc:Choice>
        <mc:Fallback xmlns="">
          <p:sp>
            <p:nvSpPr>
              <p:cNvPr id="3" name="Notes Placeholder 2"/>
              <p:cNvSpPr>
                <a:spLocks noGrp="1"/>
              </p:cNvSpPr>
              <p:nvPr>
                <p:ph type="body" idx="1"/>
              </p:nvPr>
            </p:nvSpPr>
            <p:spPr/>
            <p:txBody>
              <a:bodyPr/>
              <a:lstStyle/>
              <a:p>
                <a:r>
                  <a:rPr lang="en-US" i="0" smtClean="0">
                    <a:latin typeface="Cambria Math" panose="02040503050406030204" pitchFamily="18" charset="0"/>
                  </a:rPr>
                  <a:t>𝜎</a:t>
                </a:r>
                <a:r>
                  <a:rPr lang="en-US" smtClean="0"/>
                  <a:t> sigma </a:t>
                </a:r>
              </a:p>
              <a:p>
                <a:endParaRPr lang="en-US"/>
              </a:p>
            </p:txBody>
          </p:sp>
        </mc:Fallback>
      </mc:AlternateContent>
      <p:sp>
        <p:nvSpPr>
          <p:cNvPr id="4" name="Slide Number Placeholder 3"/>
          <p:cNvSpPr>
            <a:spLocks noGrp="1"/>
          </p:cNvSpPr>
          <p:nvPr>
            <p:ph type="sldNum" sz="quarter" idx="10"/>
          </p:nvPr>
        </p:nvSpPr>
        <p:spPr/>
        <p:txBody>
          <a:bodyPr/>
          <a:lstStyle/>
          <a:p>
            <a:fld id="{7285189A-408D-4D52-978F-BE7EC4BCC104}" type="slidenum">
              <a:rPr lang="en-US" smtClean="0"/>
              <a:t>9</a:t>
            </a:fld>
            <a:endParaRPr lang="en-US"/>
          </a:p>
        </p:txBody>
      </p:sp>
    </p:spTree>
    <p:extLst>
      <p:ext uri="{BB962C8B-B14F-4D97-AF65-F5344CB8AC3E}">
        <p14:creationId xmlns:p14="http://schemas.microsoft.com/office/powerpoint/2010/main" val="4025799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r>
                      <a:rPr lang="en-US" i="1" smtClean="0">
                        <a:latin typeface="Cambria Math" panose="02040503050406030204" pitchFamily="18" charset="0"/>
                      </a:rPr>
                      <m:t>𝜎</m:t>
                    </m:r>
                  </m:oMath>
                </a14:m>
                <a:r>
                  <a:rPr lang="en-US"/>
                  <a:t> sigma </a:t>
                </a:r>
              </a:p>
              <a:p>
                <a:endParaRPr lang="en-US"/>
              </a:p>
            </p:txBody>
          </p:sp>
        </mc:Choice>
        <mc:Fallback xmlns="">
          <p:sp>
            <p:nvSpPr>
              <p:cNvPr id="3" name="Notes Placeholder 2"/>
              <p:cNvSpPr>
                <a:spLocks noGrp="1"/>
              </p:cNvSpPr>
              <p:nvPr>
                <p:ph type="body" idx="1"/>
              </p:nvPr>
            </p:nvSpPr>
            <p:spPr/>
            <p:txBody>
              <a:bodyPr/>
              <a:lstStyle/>
              <a:p>
                <a:r>
                  <a:rPr lang="en-US" i="0">
                    <a:latin typeface="Cambria Math" panose="02040503050406030204" pitchFamily="18" charset="0"/>
                  </a:rPr>
                  <a:t>𝜎</a:t>
                </a:r>
                <a:r>
                  <a:rPr lang="en-US"/>
                  <a:t> sigma </a:t>
                </a:r>
              </a:p>
              <a:p>
                <a:endParaRPr lang="en-US"/>
              </a:p>
            </p:txBody>
          </p:sp>
        </mc:Fallback>
      </mc:AlternateContent>
      <p:sp>
        <p:nvSpPr>
          <p:cNvPr id="4" name="Slide Number Placeholder 3"/>
          <p:cNvSpPr>
            <a:spLocks noGrp="1"/>
          </p:cNvSpPr>
          <p:nvPr>
            <p:ph type="sldNum" sz="quarter" idx="10"/>
          </p:nvPr>
        </p:nvSpPr>
        <p:spPr/>
        <p:txBody>
          <a:bodyPr/>
          <a:lstStyle/>
          <a:p>
            <a:fld id="{7285189A-408D-4D52-978F-BE7EC4BCC104}" type="slidenum">
              <a:rPr lang="en-US" smtClean="0"/>
              <a:t>10</a:t>
            </a:fld>
            <a:endParaRPr lang="en-US"/>
          </a:p>
        </p:txBody>
      </p:sp>
    </p:spTree>
    <p:extLst>
      <p:ext uri="{BB962C8B-B14F-4D97-AF65-F5344CB8AC3E}">
        <p14:creationId xmlns:p14="http://schemas.microsoft.com/office/powerpoint/2010/main" val="2666198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7285189A-408D-4D52-978F-BE7EC4BCC104}" type="slidenum">
              <a:rPr lang="en-US" smtClean="0"/>
              <a:t>15</a:t>
            </a:fld>
            <a:endParaRPr lang="en-US"/>
          </a:p>
        </p:txBody>
      </p:sp>
    </p:spTree>
    <p:extLst>
      <p:ext uri="{BB962C8B-B14F-4D97-AF65-F5344CB8AC3E}">
        <p14:creationId xmlns:p14="http://schemas.microsoft.com/office/powerpoint/2010/main" val="3931565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754A754-ECCC-4012-B7DF-73305732E067}"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B1B270-2097-4158-AEEE-11D55AB5FAEF}" type="slidenum">
              <a:rPr lang="en-US" smtClean="0"/>
              <a:t>‹#›</a:t>
            </a:fld>
            <a:endParaRPr lang="en-US"/>
          </a:p>
        </p:txBody>
      </p:sp>
    </p:spTree>
    <p:extLst>
      <p:ext uri="{BB962C8B-B14F-4D97-AF65-F5344CB8AC3E}">
        <p14:creationId xmlns:p14="http://schemas.microsoft.com/office/powerpoint/2010/main" val="3313975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54A754-ECCC-4012-B7DF-73305732E067}"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B1B270-2097-4158-AEEE-11D55AB5FAEF}" type="slidenum">
              <a:rPr lang="en-US" smtClean="0"/>
              <a:t>‹#›</a:t>
            </a:fld>
            <a:endParaRPr lang="en-US"/>
          </a:p>
        </p:txBody>
      </p:sp>
    </p:spTree>
    <p:extLst>
      <p:ext uri="{BB962C8B-B14F-4D97-AF65-F5344CB8AC3E}">
        <p14:creationId xmlns:p14="http://schemas.microsoft.com/office/powerpoint/2010/main" val="398388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54A754-ECCC-4012-B7DF-73305732E067}"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B1B270-2097-4158-AEEE-11D55AB5FAEF}" type="slidenum">
              <a:rPr lang="en-US" smtClean="0"/>
              <a:t>‹#›</a:t>
            </a:fld>
            <a:endParaRPr lang="en-US"/>
          </a:p>
        </p:txBody>
      </p:sp>
    </p:spTree>
    <p:extLst>
      <p:ext uri="{BB962C8B-B14F-4D97-AF65-F5344CB8AC3E}">
        <p14:creationId xmlns:p14="http://schemas.microsoft.com/office/powerpoint/2010/main" val="4114742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54A754-ECCC-4012-B7DF-73305732E067}"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B1B270-2097-4158-AEEE-11D55AB5FAEF}" type="slidenum">
              <a:rPr lang="en-US" smtClean="0"/>
              <a:t>‹#›</a:t>
            </a:fld>
            <a:endParaRPr lang="en-US"/>
          </a:p>
        </p:txBody>
      </p:sp>
    </p:spTree>
    <p:extLst>
      <p:ext uri="{BB962C8B-B14F-4D97-AF65-F5344CB8AC3E}">
        <p14:creationId xmlns:p14="http://schemas.microsoft.com/office/powerpoint/2010/main" val="4037066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54A754-ECCC-4012-B7DF-73305732E067}" type="datetimeFigureOut">
              <a:rPr lang="en-US" smtClean="0"/>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B1B270-2097-4158-AEEE-11D55AB5FAEF}" type="slidenum">
              <a:rPr lang="en-US" smtClean="0"/>
              <a:t>‹#›</a:t>
            </a:fld>
            <a:endParaRPr lang="en-US"/>
          </a:p>
        </p:txBody>
      </p:sp>
    </p:spTree>
    <p:extLst>
      <p:ext uri="{BB962C8B-B14F-4D97-AF65-F5344CB8AC3E}">
        <p14:creationId xmlns:p14="http://schemas.microsoft.com/office/powerpoint/2010/main" val="284955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54A754-ECCC-4012-B7DF-73305732E067}" type="datetimeFigureOut">
              <a:rPr lang="en-US" smtClean="0"/>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B1B270-2097-4158-AEEE-11D55AB5FAEF}" type="slidenum">
              <a:rPr lang="en-US" smtClean="0"/>
              <a:t>‹#›</a:t>
            </a:fld>
            <a:endParaRPr lang="en-US"/>
          </a:p>
        </p:txBody>
      </p:sp>
    </p:spTree>
    <p:extLst>
      <p:ext uri="{BB962C8B-B14F-4D97-AF65-F5344CB8AC3E}">
        <p14:creationId xmlns:p14="http://schemas.microsoft.com/office/powerpoint/2010/main" val="1424658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54A754-ECCC-4012-B7DF-73305732E067}" type="datetimeFigureOut">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B1B270-2097-4158-AEEE-11D55AB5FAEF}" type="slidenum">
              <a:rPr lang="en-US" smtClean="0"/>
              <a:t>‹#›</a:t>
            </a:fld>
            <a:endParaRPr lang="en-US"/>
          </a:p>
        </p:txBody>
      </p:sp>
    </p:spTree>
    <p:extLst>
      <p:ext uri="{BB962C8B-B14F-4D97-AF65-F5344CB8AC3E}">
        <p14:creationId xmlns:p14="http://schemas.microsoft.com/office/powerpoint/2010/main" val="2398131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54A754-ECCC-4012-B7DF-73305732E067}"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B1B270-2097-4158-AEEE-11D55AB5FAEF}" type="slidenum">
              <a:rPr lang="en-US" smtClean="0"/>
              <a:t>‹#›</a:t>
            </a:fld>
            <a:endParaRPr lang="en-US"/>
          </a:p>
        </p:txBody>
      </p:sp>
    </p:spTree>
    <p:extLst>
      <p:ext uri="{BB962C8B-B14F-4D97-AF65-F5344CB8AC3E}">
        <p14:creationId xmlns:p14="http://schemas.microsoft.com/office/powerpoint/2010/main" val="2410482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54A754-ECCC-4012-B7DF-73305732E067}"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B1B270-2097-4158-AEEE-11D55AB5FAEF}" type="slidenum">
              <a:rPr lang="en-US" smtClean="0"/>
              <a:t>‹#›</a:t>
            </a:fld>
            <a:endParaRPr lang="en-US"/>
          </a:p>
        </p:txBody>
      </p:sp>
    </p:spTree>
    <p:extLst>
      <p:ext uri="{BB962C8B-B14F-4D97-AF65-F5344CB8AC3E}">
        <p14:creationId xmlns:p14="http://schemas.microsoft.com/office/powerpoint/2010/main" val="1886262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54A754-ECCC-4012-B7DF-73305732E067}"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B1B270-2097-4158-AEEE-11D55AB5FAEF}" type="slidenum">
              <a:rPr lang="en-US" smtClean="0"/>
              <a:t>‹#›</a:t>
            </a:fld>
            <a:endParaRPr lang="en-US"/>
          </a:p>
        </p:txBody>
      </p:sp>
    </p:spTree>
    <p:extLst>
      <p:ext uri="{BB962C8B-B14F-4D97-AF65-F5344CB8AC3E}">
        <p14:creationId xmlns:p14="http://schemas.microsoft.com/office/powerpoint/2010/main" val="420016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54A754-ECCC-4012-B7DF-73305732E067}"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B1B270-2097-4158-AEEE-11D55AB5FAEF}" type="slidenum">
              <a:rPr lang="en-US" smtClean="0"/>
              <a:t>‹#›</a:t>
            </a:fld>
            <a:endParaRPr lang="en-US"/>
          </a:p>
        </p:txBody>
      </p:sp>
    </p:spTree>
    <p:extLst>
      <p:ext uri="{BB962C8B-B14F-4D97-AF65-F5344CB8AC3E}">
        <p14:creationId xmlns:p14="http://schemas.microsoft.com/office/powerpoint/2010/main" val="26336257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8900" y="6454779"/>
            <a:ext cx="2743200" cy="365125"/>
          </a:xfrm>
        </p:spPr>
        <p:txBody>
          <a:bodyPr/>
          <a:lstStyle/>
          <a:p>
            <a:fld id="{A17D2C52-A715-49CE-BDF6-3BA084C59418}" type="datetime1">
              <a:rPr lang="en-US" smtClean="0"/>
              <a:t>9/19/2026</a:t>
            </a:fld>
            <a:endParaRPr lang="en-US"/>
          </a:p>
        </p:txBody>
      </p:sp>
      <p:sp>
        <p:nvSpPr>
          <p:cNvPr id="6" name="Slide Number Placeholder 5"/>
          <p:cNvSpPr>
            <a:spLocks noGrp="1"/>
          </p:cNvSpPr>
          <p:nvPr>
            <p:ph type="sldNum" sz="quarter" idx="12"/>
          </p:nvPr>
        </p:nvSpPr>
        <p:spPr>
          <a:xfrm>
            <a:off x="9262444" y="6454780"/>
            <a:ext cx="2743200" cy="365125"/>
          </a:xfrm>
        </p:spPr>
        <p:txBody>
          <a:bodyPr/>
          <a:lstStyle/>
          <a:p>
            <a:fld id="{931DD963-FD40-4A6D-88A9-402A489E81DE}" type="slidenum">
              <a:rPr lang="en-US" smtClean="0"/>
              <a:t>‹#›</a:t>
            </a:fld>
            <a:endParaRPr lang="en-US"/>
          </a:p>
        </p:txBody>
      </p:sp>
      <p:pic>
        <p:nvPicPr>
          <p:cNvPr id="2" name="Picture 1" descr="Logo&#10;&#10;Description automatically generated">
            <a:extLst>
              <a:ext uri="{FF2B5EF4-FFF2-40B4-BE49-F238E27FC236}">
                <a16:creationId xmlns:a16="http://schemas.microsoft.com/office/drawing/2014/main" id="{C92F35B0-2F11-B88A-4408-775A5DAFD46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77" b="33077"/>
          <a:stretch/>
        </p:blipFill>
        <p:spPr>
          <a:xfrm>
            <a:off x="10047095" y="351538"/>
            <a:ext cx="1806400" cy="611397"/>
          </a:xfrm>
          <a:prstGeom prst="rect">
            <a:avLst/>
          </a:prstGeom>
        </p:spPr>
      </p:pic>
      <p:grpSp>
        <p:nvGrpSpPr>
          <p:cNvPr id="5" name="Group 4">
            <a:extLst>
              <a:ext uri="{FF2B5EF4-FFF2-40B4-BE49-F238E27FC236}">
                <a16:creationId xmlns:a16="http://schemas.microsoft.com/office/drawing/2014/main" id="{AEE41C3D-2E0B-0CD5-DCA8-E6181941C1A9}"/>
              </a:ext>
            </a:extLst>
          </p:cNvPr>
          <p:cNvGrpSpPr/>
          <p:nvPr userDrawn="1"/>
        </p:nvGrpSpPr>
        <p:grpSpPr>
          <a:xfrm>
            <a:off x="503162" y="313972"/>
            <a:ext cx="6544043" cy="660153"/>
            <a:chOff x="391886" y="235479"/>
            <a:chExt cx="4908032" cy="495115"/>
          </a:xfrm>
        </p:grpSpPr>
        <p:sp>
          <p:nvSpPr>
            <p:cNvPr id="9" name="TextBox 8">
              <a:extLst>
                <a:ext uri="{FF2B5EF4-FFF2-40B4-BE49-F238E27FC236}">
                  <a16:creationId xmlns:a16="http://schemas.microsoft.com/office/drawing/2014/main" id="{ABC3D279-86BB-E08D-7551-BB6DAA93A623}"/>
                </a:ext>
              </a:extLst>
            </p:cNvPr>
            <p:cNvSpPr txBox="1"/>
            <p:nvPr/>
          </p:nvSpPr>
          <p:spPr>
            <a:xfrm>
              <a:off x="727464" y="260536"/>
              <a:ext cx="4572454" cy="438581"/>
            </a:xfrm>
            <a:prstGeom prst="rect">
              <a:avLst/>
            </a:prstGeom>
            <a:noFill/>
          </p:spPr>
          <p:txBody>
            <a:bodyPr wrap="none" rtlCol="0">
              <a:spAutoFit/>
            </a:bodyPr>
            <a:lstStyle/>
            <a:p>
              <a:r>
                <a:rPr lang="en-US" sz="1800" b="1">
                  <a:latin typeface="Arial" panose="020B0604020202020204" pitchFamily="34" charset="0"/>
                  <a:cs typeface="Arial" panose="020B0604020202020204" pitchFamily="34" charset="0"/>
                </a:rPr>
                <a:t>HANOI UNIVERSITY OF SCIENCE AND TECHNOLOGY</a:t>
              </a:r>
            </a:p>
            <a:p>
              <a:r>
                <a:rPr lang="en-US" sz="1400">
                  <a:latin typeface="Arial" panose="020B0604020202020204" pitchFamily="34" charset="0"/>
                  <a:cs typeface="Arial" panose="020B0604020202020204" pitchFamily="34" charset="0"/>
                </a:rPr>
                <a:t>SCHOOL OF ELECTRICAL AND ELECTRONIC ENGINEERING</a:t>
              </a:r>
            </a:p>
          </p:txBody>
        </p:sp>
        <p:pic>
          <p:nvPicPr>
            <p:cNvPr id="3" name="Picture 2">
              <a:extLst>
                <a:ext uri="{FF2B5EF4-FFF2-40B4-BE49-F238E27FC236}">
                  <a16:creationId xmlns:a16="http://schemas.microsoft.com/office/drawing/2014/main" id="{FFFF54D2-55C9-B1A5-EB1C-25570501CF5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91886" y="235479"/>
              <a:ext cx="335578" cy="49511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179825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a:p>
        </p:txBody>
      </p:sp>
      <p:sp>
        <p:nvSpPr>
          <p:cNvPr id="7" name="Date Placeholder 3">
            <a:extLst>
              <a:ext uri="{FF2B5EF4-FFF2-40B4-BE49-F238E27FC236}">
                <a16:creationId xmlns:a16="http://schemas.microsoft.com/office/drawing/2014/main" id="{BECDD7D6-706B-15FA-E1B3-A7A4B4800560}"/>
              </a:ext>
            </a:extLst>
          </p:cNvPr>
          <p:cNvSpPr>
            <a:spLocks noGrp="1"/>
          </p:cNvSpPr>
          <p:nvPr>
            <p:ph type="dt" sz="half" idx="10"/>
          </p:nvPr>
        </p:nvSpPr>
        <p:spPr>
          <a:xfrm>
            <a:off x="88900" y="6454779"/>
            <a:ext cx="2743200" cy="365125"/>
          </a:xfrm>
        </p:spPr>
        <p:txBody>
          <a:bodyPr/>
          <a:lstStyle/>
          <a:p>
            <a:fld id="{A17D2C52-A715-49CE-BDF6-3BA084C59418}" type="datetime1">
              <a:rPr lang="en-US" smtClean="0"/>
              <a:t>9/19/2026</a:t>
            </a:fld>
            <a:endParaRPr lang="en-US"/>
          </a:p>
        </p:txBody>
      </p:sp>
      <p:sp>
        <p:nvSpPr>
          <p:cNvPr id="8" name="Slide Number Placeholder 5">
            <a:extLst>
              <a:ext uri="{FF2B5EF4-FFF2-40B4-BE49-F238E27FC236}">
                <a16:creationId xmlns:a16="http://schemas.microsoft.com/office/drawing/2014/main" id="{12DA6A92-E6A2-F33A-95BD-3A04312F090C}"/>
              </a:ext>
            </a:extLst>
          </p:cNvPr>
          <p:cNvSpPr>
            <a:spLocks noGrp="1"/>
          </p:cNvSpPr>
          <p:nvPr>
            <p:ph type="sldNum" sz="quarter" idx="12"/>
          </p:nvPr>
        </p:nvSpPr>
        <p:spPr>
          <a:xfrm>
            <a:off x="9262444" y="6454780"/>
            <a:ext cx="2743200" cy="365125"/>
          </a:xfrm>
        </p:spPr>
        <p:txBody>
          <a:bodyPr/>
          <a:lstStyle/>
          <a:p>
            <a:fld id="{931DD963-FD40-4A6D-88A9-402A489E81DE}" type="slidenum">
              <a:rPr lang="en-US" smtClean="0"/>
              <a:t>‹#›</a:t>
            </a:fld>
            <a:endParaRPr lang="en-US"/>
          </a:p>
        </p:txBody>
      </p:sp>
      <p:pic>
        <p:nvPicPr>
          <p:cNvPr id="2" name="Picture 1" descr="Logo&#10;&#10;Description automatically generated">
            <a:extLst>
              <a:ext uri="{FF2B5EF4-FFF2-40B4-BE49-F238E27FC236}">
                <a16:creationId xmlns:a16="http://schemas.microsoft.com/office/drawing/2014/main" id="{5E5C41D7-A7B0-5A21-C6AC-AA6CF038F94F}"/>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77" b="33077"/>
          <a:stretch/>
        </p:blipFill>
        <p:spPr>
          <a:xfrm>
            <a:off x="10867580" y="124617"/>
            <a:ext cx="1196121" cy="404841"/>
          </a:xfrm>
          <a:prstGeom prst="rect">
            <a:avLst/>
          </a:prstGeom>
        </p:spPr>
      </p:pic>
      <p:cxnSp>
        <p:nvCxnSpPr>
          <p:cNvPr id="3" name="Straight Connector 2">
            <a:extLst>
              <a:ext uri="{FF2B5EF4-FFF2-40B4-BE49-F238E27FC236}">
                <a16:creationId xmlns:a16="http://schemas.microsoft.com/office/drawing/2014/main" id="{5EC70D06-D428-83FC-0F74-216F12353823}"/>
              </a:ext>
            </a:extLst>
          </p:cNvPr>
          <p:cNvCxnSpPr>
            <a:cxnSpLocks/>
          </p:cNvCxnSpPr>
          <p:nvPr userDrawn="1"/>
        </p:nvCxnSpPr>
        <p:spPr>
          <a:xfrm>
            <a:off x="261256" y="232032"/>
            <a:ext cx="10470848" cy="0"/>
          </a:xfrm>
          <a:prstGeom prst="line">
            <a:avLst/>
          </a:prstGeom>
          <a:ln w="952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81671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54A754-ECCC-4012-B7DF-73305732E067}" type="datetimeFigureOut">
              <a:rPr lang="en-US" smtClean="0"/>
              <a:t>9/19/2026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1B270-2097-4158-AEEE-11D55AB5FAEF}" type="slidenum">
              <a:rPr lang="en-US" smtClean="0"/>
              <a:t>‹#›</a:t>
            </a:fld>
            <a:endParaRPr lang="en-US"/>
          </a:p>
        </p:txBody>
      </p:sp>
    </p:spTree>
    <p:extLst>
      <p:ext uri="{BB962C8B-B14F-4D97-AF65-F5344CB8AC3E}">
        <p14:creationId xmlns:p14="http://schemas.microsoft.com/office/powerpoint/2010/main" val="1454923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13.xml"/><Relationship Id="rId5" Type="http://schemas.openxmlformats.org/officeDocument/2006/relationships/image" Target="../media/image9.e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010.png"/><Relationship Id="rId7" Type="http://schemas.openxmlformats.org/officeDocument/2006/relationships/image" Target="../media/image12.wmf"/><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oleObject" Target="../embeddings/oleObject4.bin"/><Relationship Id="rId5" Type="http://schemas.openxmlformats.org/officeDocument/2006/relationships/image" Target="../media/image11.emf"/><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image" Target="../media/image12.png"/><Relationship Id="rId1" Type="http://schemas.openxmlformats.org/officeDocument/2006/relationships/slideLayout" Target="../slideLayouts/slideLayout13.xml"/><Relationship Id="rId6" Type="http://schemas.openxmlformats.org/officeDocument/2006/relationships/image" Target="../media/image14.wmf"/><Relationship Id="rId5" Type="http://schemas.openxmlformats.org/officeDocument/2006/relationships/oleObject" Target="../embeddings/oleObject6.bin"/><Relationship Id="rId4" Type="http://schemas.openxmlformats.org/officeDocument/2006/relationships/image" Target="../media/image13.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image" Target="../media/image16.png"/><Relationship Id="rId1" Type="http://schemas.openxmlformats.org/officeDocument/2006/relationships/slideLayout" Target="../slideLayouts/slideLayout13.xml"/><Relationship Id="rId6" Type="http://schemas.openxmlformats.org/officeDocument/2006/relationships/image" Target="../media/image16.wmf"/><Relationship Id="rId5" Type="http://schemas.openxmlformats.org/officeDocument/2006/relationships/oleObject" Target="../embeddings/oleObject8.bin"/><Relationship Id="rId4" Type="http://schemas.openxmlformats.org/officeDocument/2006/relationships/image" Target="../media/image15.wmf"/></Relationships>
</file>

<file path=ppt/slides/_rels/slide1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9.bin"/><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18.wmf"/><Relationship Id="rId4" Type="http://schemas.openxmlformats.org/officeDocument/2006/relationships/oleObject" Target="../embeddings/oleObject10.bin"/></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22.wmf"/><Relationship Id="rId4" Type="http://schemas.openxmlformats.org/officeDocument/2006/relationships/oleObject" Target="../embeddings/oleObject11.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image" Target="../media/image23.png"/><Relationship Id="rId1" Type="http://schemas.openxmlformats.org/officeDocument/2006/relationships/slideLayout" Target="../slideLayouts/slideLayout13.xml"/><Relationship Id="rId4" Type="http://schemas.openxmlformats.org/officeDocument/2006/relationships/image" Target="../media/image24.wmf"/></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5.wmf"/><Relationship Id="rId7" Type="http://schemas.openxmlformats.org/officeDocument/2006/relationships/image" Target="../media/image27.wmf"/><Relationship Id="rId2" Type="http://schemas.openxmlformats.org/officeDocument/2006/relationships/oleObject" Target="../embeddings/oleObject13.bin"/><Relationship Id="rId1" Type="http://schemas.openxmlformats.org/officeDocument/2006/relationships/slideLayout" Target="../slideLayouts/slideLayout13.xml"/><Relationship Id="rId6" Type="http://schemas.openxmlformats.org/officeDocument/2006/relationships/oleObject" Target="../embeddings/oleObject15.bin"/><Relationship Id="rId5" Type="http://schemas.openxmlformats.org/officeDocument/2006/relationships/image" Target="../media/image26.wmf"/><Relationship Id="rId4" Type="http://schemas.openxmlformats.org/officeDocument/2006/relationships/oleObject" Target="../embeddings/oleObject14.bin"/></Relationships>
</file>

<file path=ppt/slides/_rels/slide18.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16.bin"/><Relationship Id="rId1" Type="http://schemas.openxmlformats.org/officeDocument/2006/relationships/slideLayout" Target="../slideLayouts/slideLayout13.xml"/><Relationship Id="rId5" Type="http://schemas.openxmlformats.org/officeDocument/2006/relationships/image" Target="../media/image29.wmf"/><Relationship Id="rId4" Type="http://schemas.openxmlformats.org/officeDocument/2006/relationships/oleObject" Target="../embeddings/oleObject17.bin"/></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2.wmf"/><Relationship Id="rId2" Type="http://schemas.openxmlformats.org/officeDocument/2006/relationships/image" Target="../media/image30.png"/><Relationship Id="rId1" Type="http://schemas.openxmlformats.org/officeDocument/2006/relationships/slideLayout" Target="../slideLayouts/slideLayout13.xml"/><Relationship Id="rId6" Type="http://schemas.openxmlformats.org/officeDocument/2006/relationships/oleObject" Target="../embeddings/oleObject19.bin"/><Relationship Id="rId5" Type="http://schemas.openxmlformats.org/officeDocument/2006/relationships/image" Target="../media/image31.emf"/><Relationship Id="rId4" Type="http://schemas.openxmlformats.org/officeDocument/2006/relationships/oleObject" Target="../embeddings/oleObject18.bin"/></Relationships>
</file>

<file path=ppt/slides/_rels/slide20.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20.bin"/><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image" Target="../media/image34.emf"/><Relationship Id="rId7" Type="http://schemas.openxmlformats.org/officeDocument/2006/relationships/oleObject" Target="../embeddings/oleObject23.bin"/><Relationship Id="rId2" Type="http://schemas.openxmlformats.org/officeDocument/2006/relationships/oleObject" Target="../embeddings/oleObject21.bin"/><Relationship Id="rId1" Type="http://schemas.openxmlformats.org/officeDocument/2006/relationships/slideLayout" Target="../slideLayouts/slideLayout13.xml"/><Relationship Id="rId6" Type="http://schemas.openxmlformats.org/officeDocument/2006/relationships/image" Target="../media/image34.png"/><Relationship Id="rId5" Type="http://schemas.openxmlformats.org/officeDocument/2006/relationships/image" Target="../media/image35.wmf"/><Relationship Id="rId4" Type="http://schemas.openxmlformats.org/officeDocument/2006/relationships/oleObject" Target="../embeddings/oleObject22.bin"/></Relationships>
</file>

<file path=ppt/slides/_rels/slide22.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24.bin"/><Relationship Id="rId1" Type="http://schemas.openxmlformats.org/officeDocument/2006/relationships/slideLayout" Target="../slideLayouts/slideLayout13.xml"/><Relationship Id="rId5" Type="http://schemas.openxmlformats.org/officeDocument/2006/relationships/image" Target="../media/image38.wmf"/><Relationship Id="rId4" Type="http://schemas.openxmlformats.org/officeDocument/2006/relationships/oleObject" Target="../embeddings/oleObject25.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image" Target="../media/image39.wmf"/><Relationship Id="rId7" Type="http://schemas.openxmlformats.org/officeDocument/2006/relationships/image" Target="../media/image41.wmf"/><Relationship Id="rId2" Type="http://schemas.openxmlformats.org/officeDocument/2006/relationships/oleObject" Target="../embeddings/oleObject26.bin"/><Relationship Id="rId1" Type="http://schemas.openxmlformats.org/officeDocument/2006/relationships/slideLayout" Target="../slideLayouts/slideLayout13.xml"/><Relationship Id="rId6" Type="http://schemas.openxmlformats.org/officeDocument/2006/relationships/oleObject" Target="../embeddings/oleObject28.bin"/><Relationship Id="rId5" Type="http://schemas.openxmlformats.org/officeDocument/2006/relationships/image" Target="../media/image40.emf"/><Relationship Id="rId4" Type="http://schemas.openxmlformats.org/officeDocument/2006/relationships/oleObject" Target="../embeddings/oleObject27.bin"/><Relationship Id="rId9" Type="http://schemas.openxmlformats.org/officeDocument/2006/relationships/image" Target="../media/image42.wmf"/></Relationships>
</file>

<file path=ppt/slides/_rels/slide24.xml.rels><?xml version="1.0" encoding="UTF-8" standalone="yes"?>
<Relationships xmlns="http://schemas.openxmlformats.org/package/2006/relationships"><Relationship Id="rId3" Type="http://schemas.openxmlformats.org/officeDocument/2006/relationships/image" Target="../media/image43.wmf"/><Relationship Id="rId7" Type="http://schemas.openxmlformats.org/officeDocument/2006/relationships/image" Target="../media/image45.wmf"/><Relationship Id="rId2" Type="http://schemas.openxmlformats.org/officeDocument/2006/relationships/oleObject" Target="../embeddings/oleObject30.bin"/><Relationship Id="rId1" Type="http://schemas.openxmlformats.org/officeDocument/2006/relationships/slideLayout" Target="../slideLayouts/slideLayout13.xml"/><Relationship Id="rId6" Type="http://schemas.openxmlformats.org/officeDocument/2006/relationships/oleObject" Target="../embeddings/oleObject32.bin"/><Relationship Id="rId5" Type="http://schemas.openxmlformats.org/officeDocument/2006/relationships/image" Target="../media/image44.wmf"/><Relationship Id="rId4" Type="http://schemas.openxmlformats.org/officeDocument/2006/relationships/oleObject" Target="../embeddings/oleObject31.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51.wmf"/><Relationship Id="rId3" Type="http://schemas.openxmlformats.org/officeDocument/2006/relationships/image" Target="../media/image46.emf"/><Relationship Id="rId7" Type="http://schemas.openxmlformats.org/officeDocument/2006/relationships/image" Target="../media/image48.wmf"/><Relationship Id="rId12" Type="http://schemas.openxmlformats.org/officeDocument/2006/relationships/oleObject" Target="../embeddings/oleObject38.bin"/><Relationship Id="rId17" Type="http://schemas.openxmlformats.org/officeDocument/2006/relationships/image" Target="../media/image53.emf"/><Relationship Id="rId2" Type="http://schemas.openxmlformats.org/officeDocument/2006/relationships/oleObject" Target="../embeddings/oleObject33.bin"/><Relationship Id="rId16" Type="http://schemas.openxmlformats.org/officeDocument/2006/relationships/oleObject" Target="../embeddings/oleObject40.bin"/><Relationship Id="rId1" Type="http://schemas.openxmlformats.org/officeDocument/2006/relationships/slideLayout" Target="../slideLayouts/slideLayout13.xml"/><Relationship Id="rId6" Type="http://schemas.openxmlformats.org/officeDocument/2006/relationships/oleObject" Target="../embeddings/oleObject35.bin"/><Relationship Id="rId11" Type="http://schemas.openxmlformats.org/officeDocument/2006/relationships/image" Target="../media/image50.wmf"/><Relationship Id="rId5" Type="http://schemas.openxmlformats.org/officeDocument/2006/relationships/image" Target="../media/image47.wmf"/><Relationship Id="rId15" Type="http://schemas.openxmlformats.org/officeDocument/2006/relationships/image" Target="../media/image52.wmf"/><Relationship Id="rId10" Type="http://schemas.openxmlformats.org/officeDocument/2006/relationships/oleObject" Target="../embeddings/oleObject37.bin"/><Relationship Id="rId4" Type="http://schemas.openxmlformats.org/officeDocument/2006/relationships/oleObject" Target="../embeddings/oleObject34.bin"/><Relationship Id="rId9" Type="http://schemas.openxmlformats.org/officeDocument/2006/relationships/image" Target="../media/image49.wmf"/><Relationship Id="rId14" Type="http://schemas.openxmlformats.org/officeDocument/2006/relationships/oleObject" Target="../embeddings/oleObject39.bin"/></Relationships>
</file>

<file path=ppt/slides/_rels/slide2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0.png"/><Relationship Id="rId7" Type="http://schemas.openxmlformats.org/officeDocument/2006/relationships/image" Target="../media/image67.png"/><Relationship Id="rId2" Type="http://schemas.openxmlformats.org/officeDocument/2006/relationships/image" Target="../media/image620.png"/><Relationship Id="rId1" Type="http://schemas.openxmlformats.org/officeDocument/2006/relationships/slideLayout" Target="../slideLayouts/slideLayout13.xml"/><Relationship Id="rId6" Type="http://schemas.openxmlformats.org/officeDocument/2006/relationships/image" Target="../media/image66.png"/><Relationship Id="rId5" Type="http://schemas.openxmlformats.org/officeDocument/2006/relationships/image" Target="../media/image54.png"/><Relationship Id="rId4" Type="http://schemas.openxmlformats.org/officeDocument/2006/relationships/image" Target="../media/image640.png"/><Relationship Id="rId9" Type="http://schemas.openxmlformats.org/officeDocument/2006/relationships/image" Target="../media/image69.png"/></Relationships>
</file>

<file path=ppt/slides/_rels/slide28.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13.xml"/><Relationship Id="rId6" Type="http://schemas.openxmlformats.org/officeDocument/2006/relationships/image" Target="../media/image74.png"/><Relationship Id="rId11" Type="http://schemas.openxmlformats.org/officeDocument/2006/relationships/image" Target="../media/image78.png"/><Relationship Id="rId5" Type="http://schemas.openxmlformats.org/officeDocument/2006/relationships/image" Target="../media/image73.png"/><Relationship Id="rId10" Type="http://schemas.openxmlformats.org/officeDocument/2006/relationships/image" Target="../media/image54.wmf"/><Relationship Id="rId4" Type="http://schemas.openxmlformats.org/officeDocument/2006/relationships/image" Target="../media/image72.png"/><Relationship Id="rId9" Type="http://schemas.openxmlformats.org/officeDocument/2006/relationships/oleObject" Target="../embeddings/oleObject41.bin"/></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0.png"/><Relationship Id="rId1" Type="http://schemas.openxmlformats.org/officeDocument/2006/relationships/slideLayout" Target="../slideLayouts/slideLayout13.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3.xml"/><Relationship Id="rId5" Type="http://schemas.openxmlformats.org/officeDocument/2006/relationships/image" Target="../media/image86.png"/><Relationship Id="rId4" Type="http://schemas.openxmlformats.org/officeDocument/2006/relationships/image" Target="../media/image58.png"/></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87.png"/><Relationship Id="rId1" Type="http://schemas.openxmlformats.org/officeDocument/2006/relationships/slideLayout" Target="../slideLayouts/slideLayout13.xml"/><Relationship Id="rId5" Type="http://schemas.openxmlformats.org/officeDocument/2006/relationships/image" Target="../media/image61.png"/><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5.png"/><Relationship Id="rId1" Type="http://schemas.openxmlformats.org/officeDocument/2006/relationships/slideLayout" Target="../slideLayouts/slideLayout13.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3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77.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86.jp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88.png"/><Relationship Id="rId1" Type="http://schemas.openxmlformats.org/officeDocument/2006/relationships/slideLayout" Target="../slideLayouts/slideLayout13.xml"/><Relationship Id="rId5" Type="http://schemas.openxmlformats.org/officeDocument/2006/relationships/image" Target="../media/image87.jpeg"/><Relationship Id="rId4" Type="http://schemas.openxmlformats.org/officeDocument/2006/relationships/image" Target="../media/image89.png"/></Relationships>
</file>

<file path=ppt/slides/_rels/slide37.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91.png"/><Relationship Id="rId1" Type="http://schemas.openxmlformats.org/officeDocument/2006/relationships/slideLayout" Target="../slideLayouts/slideLayout13.xml"/><Relationship Id="rId4" Type="http://schemas.openxmlformats.org/officeDocument/2006/relationships/image" Target="../media/image89.jpeg"/></Relationships>
</file>

<file path=ppt/slides/_rels/slide39.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image" Target="../media/image910.png"/><Relationship Id="rId1" Type="http://schemas.openxmlformats.org/officeDocument/2006/relationships/slideLayout" Target="../slideLayouts/slideLayout13.xml"/><Relationship Id="rId6" Type="http://schemas.openxmlformats.org/officeDocument/2006/relationships/image" Target="../media/image95.png"/><Relationship Id="rId5" Type="http://schemas.openxmlformats.org/officeDocument/2006/relationships/image" Target="../media/image93.png"/><Relationship Id="rId10" Type="http://schemas.openxmlformats.org/officeDocument/2006/relationships/image" Target="../media/image99.png"/><Relationship Id="rId4" Type="http://schemas.openxmlformats.org/officeDocument/2006/relationships/image" Target="../media/image930.png"/><Relationship Id="rId9" Type="http://schemas.openxmlformats.org/officeDocument/2006/relationships/image" Target="../media/image98.png"/></Relationships>
</file>

<file path=ppt/slides/_rels/slide4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94.png"/><Relationship Id="rId1" Type="http://schemas.openxmlformats.org/officeDocument/2006/relationships/slideLayout" Target="../slideLayouts/slideLayout13.xml"/><Relationship Id="rId4" Type="http://schemas.openxmlformats.org/officeDocument/2006/relationships/image" Target="../media/image102.png"/></Relationships>
</file>

<file path=ppt/slides/_rels/slide4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95.jpg"/><Relationship Id="rId1" Type="http://schemas.openxmlformats.org/officeDocument/2006/relationships/slideLayout" Target="../slideLayouts/slideLayout13.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0.png"/></Relationships>
</file>

<file path=ppt/slides/_rels/slide4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3.png"/><Relationship Id="rId1" Type="http://schemas.openxmlformats.org/officeDocument/2006/relationships/slideLayout" Target="../slideLayouts/slideLayout13.xml"/><Relationship Id="rId4" Type="http://schemas.openxmlformats.org/officeDocument/2006/relationships/image" Target="../media/image108.png"/></Relationships>
</file>

<file path=ppt/slides/_rels/slide43.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image" Target="../media/image113.png"/><Relationship Id="rId1" Type="http://schemas.openxmlformats.org/officeDocument/2006/relationships/slideLayout" Target="../slideLayouts/slideLayout13.xml"/><Relationship Id="rId4" Type="http://schemas.openxmlformats.org/officeDocument/2006/relationships/image" Target="../media/image115.png"/></Relationships>
</file>

<file path=ppt/slides/_rels/slide47.xml.rels><?xml version="1.0" encoding="UTF-8" standalone="yes"?>
<Relationships xmlns="http://schemas.openxmlformats.org/package/2006/relationships"><Relationship Id="rId3" Type="http://schemas.openxmlformats.org/officeDocument/2006/relationships/image" Target="../media/image117.png"/><Relationship Id="rId7" Type="http://schemas.openxmlformats.org/officeDocument/2006/relationships/image" Target="../media/image121.png"/><Relationship Id="rId2" Type="http://schemas.openxmlformats.org/officeDocument/2006/relationships/image" Target="../media/image116.png"/><Relationship Id="rId1" Type="http://schemas.openxmlformats.org/officeDocument/2006/relationships/slideLayout" Target="../slideLayouts/slideLayout13.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4.png"/></Relationships>
</file>

<file path=ppt/slides/_rels/slide4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18.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13.xml"/><Relationship Id="rId5" Type="http://schemas.openxmlformats.org/officeDocument/2006/relationships/image" Target="../media/image126.png"/><Relationship Id="rId4" Type="http://schemas.openxmlformats.org/officeDocument/2006/relationships/image" Target="../media/image125.png"/></Relationships>
</file>

<file path=ppt/slides/_rels/slide52.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13.xml"/><Relationship Id="rId5" Type="http://schemas.openxmlformats.org/officeDocument/2006/relationships/image" Target="../media/image132.png"/><Relationship Id="rId4" Type="http://schemas.openxmlformats.org/officeDocument/2006/relationships/image" Target="../media/image131.png"/></Relationships>
</file>

<file path=ppt/slides/_rels/slide56.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13.xml"/><Relationship Id="rId4" Type="http://schemas.openxmlformats.org/officeDocument/2006/relationships/image" Target="../media/image138.png"/></Relationships>
</file>

<file path=ppt/slides/_rels/slide60.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141.wmf"/><Relationship Id="rId2" Type="http://schemas.openxmlformats.org/officeDocument/2006/relationships/oleObject" Target="../embeddings/oleObject42.bin"/><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13.xml"/><Relationship Id="rId4" Type="http://schemas.openxmlformats.org/officeDocument/2006/relationships/image" Target="../media/image144.png"/></Relationships>
</file>

<file path=ppt/slides/_rels/slide6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141.wmf"/><Relationship Id="rId2" Type="http://schemas.openxmlformats.org/officeDocument/2006/relationships/oleObject" Target="../embeddings/oleObject42.bin"/><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13.xml"/><Relationship Id="rId5" Type="http://schemas.openxmlformats.org/officeDocument/2006/relationships/image" Target="../media/image150.png"/><Relationship Id="rId4" Type="http://schemas.openxmlformats.org/officeDocument/2006/relationships/image" Target="../media/image149.png"/></Relationships>
</file>

<file path=ppt/slides/_rels/slide70.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13.xml"/><Relationship Id="rId5" Type="http://schemas.openxmlformats.org/officeDocument/2006/relationships/image" Target="../media/image155.png"/><Relationship Id="rId4" Type="http://schemas.openxmlformats.org/officeDocument/2006/relationships/image" Target="../media/image154.png"/></Relationships>
</file>

<file path=ppt/slides/_rels/slide74.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1060.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1080.png"/><Relationship Id="rId7" Type="http://schemas.openxmlformats.org/officeDocument/2006/relationships/image" Target="../media/image1120.png"/><Relationship Id="rId2" Type="http://schemas.openxmlformats.org/officeDocument/2006/relationships/image" Target="../media/image1070.png"/><Relationship Id="rId1" Type="http://schemas.openxmlformats.org/officeDocument/2006/relationships/slideLayout" Target="../slideLayouts/slideLayout13.xml"/><Relationship Id="rId6" Type="http://schemas.openxmlformats.org/officeDocument/2006/relationships/image" Target="../media/image1110.png"/><Relationship Id="rId5" Type="http://schemas.openxmlformats.org/officeDocument/2006/relationships/image" Target="../media/image159.png"/><Relationship Id="rId4" Type="http://schemas.openxmlformats.org/officeDocument/2006/relationships/image" Target="../media/image158.png"/></Relationships>
</file>

<file path=ppt/slides/_rels/slide78.xml.rels><?xml version="1.0" encoding="UTF-8" standalone="yes"?>
<Relationships xmlns="http://schemas.openxmlformats.org/package/2006/relationships"><Relationship Id="rId3" Type="http://schemas.openxmlformats.org/officeDocument/2006/relationships/image" Target="../media/image1140.png"/><Relationship Id="rId2" Type="http://schemas.openxmlformats.org/officeDocument/2006/relationships/image" Target="../media/image1130.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1150.png"/><Relationship Id="rId2" Type="http://schemas.openxmlformats.org/officeDocument/2006/relationships/image" Target="../media/image1130.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1161.png"/><Relationship Id="rId2" Type="http://schemas.openxmlformats.org/officeDocument/2006/relationships/image" Target="../media/image1130.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1170.png"/><Relationship Id="rId2" Type="http://schemas.openxmlformats.org/officeDocument/2006/relationships/image" Target="../media/image1160.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3" Type="http://schemas.openxmlformats.org/officeDocument/2006/relationships/image" Target="../media/image1190.png"/><Relationship Id="rId2" Type="http://schemas.openxmlformats.org/officeDocument/2006/relationships/image" Target="../media/image1180.pn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1210.png"/><Relationship Id="rId2" Type="http://schemas.openxmlformats.org/officeDocument/2006/relationships/image" Target="../media/image1200.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1230.png"/><Relationship Id="rId2" Type="http://schemas.openxmlformats.org/officeDocument/2006/relationships/image" Target="../media/image1220.png"/><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image" Target="../media/image1240.png"/><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image" Target="../media/image1250.pn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3" Type="http://schemas.openxmlformats.org/officeDocument/2006/relationships/image" Target="../media/image1270.png"/><Relationship Id="rId2" Type="http://schemas.openxmlformats.org/officeDocument/2006/relationships/hyperlink" Target="https://vi.wikipedia.org/wiki/Omega" TargetMode="Externa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image" Target="../media/image1280.pn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3" Type="http://schemas.openxmlformats.org/officeDocument/2006/relationships/image" Target="../media/image1300.png"/><Relationship Id="rId2" Type="http://schemas.openxmlformats.org/officeDocument/2006/relationships/hyperlink" Target="https://vi.wikipedia.org/wiki/Omega" TargetMode="Externa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1340.png"/><Relationship Id="rId2" Type="http://schemas.openxmlformats.org/officeDocument/2006/relationships/image" Target="../media/image165.png"/><Relationship Id="rId1" Type="http://schemas.openxmlformats.org/officeDocument/2006/relationships/slideLayout" Target="../slideLayouts/slideLayout13.xml"/><Relationship Id="rId5" Type="http://schemas.openxmlformats.org/officeDocument/2006/relationships/image" Target="../media/image1360.png"/><Relationship Id="rId4" Type="http://schemas.openxmlformats.org/officeDocument/2006/relationships/image" Target="../media/image1350.png"/></Relationships>
</file>

<file path=ppt/slides/_rels/slide94.xml.rels><?xml version="1.0" encoding="UTF-8" standalone="yes"?>
<Relationships xmlns="http://schemas.openxmlformats.org/package/2006/relationships"><Relationship Id="rId3" Type="http://schemas.openxmlformats.org/officeDocument/2006/relationships/image" Target="../media/image1380.png"/><Relationship Id="rId2" Type="http://schemas.openxmlformats.org/officeDocument/2006/relationships/image" Target="../media/image1370.png"/><Relationship Id="rId1" Type="http://schemas.openxmlformats.org/officeDocument/2006/relationships/slideLayout" Target="../slideLayouts/slideLayout13.xml"/><Relationship Id="rId6" Type="http://schemas.openxmlformats.org/officeDocument/2006/relationships/image" Target="../media/image1410.png"/><Relationship Id="rId5" Type="http://schemas.openxmlformats.org/officeDocument/2006/relationships/image" Target="../media/image1400.png"/><Relationship Id="rId4" Type="http://schemas.openxmlformats.org/officeDocument/2006/relationships/image" Target="../media/image1390.png"/></Relationships>
</file>

<file path=ppt/slides/_rels/slide95.xml.rels><?xml version="1.0" encoding="UTF-8" standalone="yes"?>
<Relationships xmlns="http://schemas.openxmlformats.org/package/2006/relationships"><Relationship Id="rId3" Type="http://schemas.openxmlformats.org/officeDocument/2006/relationships/image" Target="../media/image1430.png"/><Relationship Id="rId2" Type="http://schemas.openxmlformats.org/officeDocument/2006/relationships/image" Target="../media/image1420.png"/><Relationship Id="rId1" Type="http://schemas.openxmlformats.org/officeDocument/2006/relationships/slideLayout" Target="../slideLayouts/slideLayout13.xml"/><Relationship Id="rId4" Type="http://schemas.openxmlformats.org/officeDocument/2006/relationships/image" Target="../media/image1440.png"/></Relationships>
</file>

<file path=ppt/slides/_rels/slide96.xml.rels><?xml version="1.0" encoding="UTF-8" standalone="yes"?>
<Relationships xmlns="http://schemas.openxmlformats.org/package/2006/relationships"><Relationship Id="rId3" Type="http://schemas.openxmlformats.org/officeDocument/2006/relationships/image" Target="../media/image1450.png"/><Relationship Id="rId2" Type="http://schemas.openxmlformats.org/officeDocument/2006/relationships/hyperlink" Target="https://vi.wikipedia.org/wiki/Omega" TargetMode="Externa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3" Type="http://schemas.openxmlformats.org/officeDocument/2006/relationships/image" Target="../media/image1500.png"/><Relationship Id="rId2" Type="http://schemas.openxmlformats.org/officeDocument/2006/relationships/hyperlink" Target="https://vi.wikipedia.org/wiki/Omega" TargetMode="External"/><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170.png"/><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image" Target="../media/image1530.png"/><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image" Target="../media/image1540.png"/><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4EA65B4-2929-E7D6-6FFA-0882B3E46481}"/>
              </a:ext>
            </a:extLst>
          </p:cNvPr>
          <p:cNvSpPr txBox="1"/>
          <p:nvPr/>
        </p:nvSpPr>
        <p:spPr>
          <a:xfrm>
            <a:off x="0" y="1061685"/>
            <a:ext cx="12192000" cy="1241237"/>
          </a:xfrm>
          <a:prstGeom prst="rect">
            <a:avLst/>
          </a:prstGeom>
          <a:noFill/>
        </p:spPr>
        <p:txBody>
          <a:bodyPr wrap="square" rtlCol="0">
            <a:spAutoFit/>
          </a:bodyPr>
          <a:lstStyle/>
          <a:p>
            <a:pPr algn="ctr"/>
            <a:r>
              <a:rPr lang="vi-VN" sz="3733" b="1">
                <a:solidFill>
                  <a:srgbClr val="385723"/>
                </a:solidFill>
                <a:latin typeface="Times New Roman" panose="02020603050405020304" pitchFamily="18" charset="0"/>
                <a:cs typeface="Times New Roman" panose="02020603050405020304" pitchFamily="18" charset="0"/>
              </a:rPr>
              <a:t>Nghiên cứu bộ biến đổi điện tử công suất làm việc song </a:t>
            </a:r>
            <a:r>
              <a:rPr lang="vi-VN" sz="3733" b="1" err="1">
                <a:solidFill>
                  <a:srgbClr val="385723"/>
                </a:solidFill>
                <a:latin typeface="Times New Roman" panose="02020603050405020304" pitchFamily="18" charset="0"/>
                <a:cs typeface="Times New Roman" panose="02020603050405020304" pitchFamily="18" charset="0"/>
              </a:rPr>
              <a:t>song</a:t>
            </a:r>
            <a:r>
              <a:rPr lang="vi-VN" sz="3733" b="1">
                <a:solidFill>
                  <a:srgbClr val="385723"/>
                </a:solidFill>
                <a:latin typeface="Times New Roman" panose="02020603050405020304" pitchFamily="18" charset="0"/>
                <a:cs typeface="Times New Roman" panose="02020603050405020304" pitchFamily="18" charset="0"/>
              </a:rPr>
              <a:t> </a:t>
            </a:r>
            <a:endParaRPr lang="en-US" sz="3733" b="1">
              <a:solidFill>
                <a:srgbClr val="385723"/>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6E35502-708C-8DEF-684C-9866CFDB7FEF}"/>
              </a:ext>
            </a:extLst>
          </p:cNvPr>
          <p:cNvSpPr txBox="1"/>
          <p:nvPr/>
        </p:nvSpPr>
        <p:spPr>
          <a:xfrm>
            <a:off x="4228820" y="2908345"/>
            <a:ext cx="4083169" cy="2020553"/>
          </a:xfrm>
          <a:prstGeom prst="rect">
            <a:avLst/>
          </a:prstGeom>
          <a:noFill/>
        </p:spPr>
        <p:txBody>
          <a:bodyPr wrap="none" rtlCol="0">
            <a:spAutoFit/>
          </a:bodyPr>
          <a:lstStyle/>
          <a:p>
            <a:pPr>
              <a:lnSpc>
                <a:spcPct val="200000"/>
              </a:lnSpc>
            </a:pPr>
            <a:r>
              <a:rPr lang="vi-VN" sz="2200">
                <a:latin typeface="Times New Roman" panose="02020603050405020304" pitchFamily="18" charset="0"/>
                <a:cs typeface="Times New Roman" panose="02020603050405020304" pitchFamily="18" charset="0"/>
              </a:rPr>
              <a:t>Lê </a:t>
            </a:r>
            <a:r>
              <a:rPr lang="en-US" sz="2200">
                <a:latin typeface="Times New Roman" panose="02020603050405020304" pitchFamily="18" charset="0"/>
                <a:cs typeface="Times New Roman" panose="02020603050405020304" pitchFamily="18" charset="0"/>
              </a:rPr>
              <a:t>Trung Anh		20212682</a:t>
            </a:r>
          </a:p>
          <a:p>
            <a:pPr>
              <a:lnSpc>
                <a:spcPct val="200000"/>
              </a:lnSpc>
            </a:pPr>
            <a:r>
              <a:rPr lang="vi-VN" sz="2200">
                <a:latin typeface="Times New Roman" panose="02020603050405020304" pitchFamily="18" charset="0"/>
                <a:cs typeface="Times New Roman" panose="02020603050405020304" pitchFamily="18" charset="0"/>
              </a:rPr>
              <a:t>Đinh Tiến</a:t>
            </a:r>
            <a:r>
              <a:rPr lang="en-US" sz="2200">
                <a:latin typeface="Times New Roman" panose="02020603050405020304" pitchFamily="18" charset="0"/>
                <a:cs typeface="Times New Roman" panose="02020603050405020304" pitchFamily="18" charset="0"/>
              </a:rPr>
              <a:t> </a:t>
            </a:r>
            <a:r>
              <a:rPr lang="vi-VN" sz="2200">
                <a:latin typeface="Times New Roman" panose="02020603050405020304" pitchFamily="18" charset="0"/>
                <a:cs typeface="Times New Roman" panose="02020603050405020304" pitchFamily="18" charset="0"/>
              </a:rPr>
              <a:t>Dũng</a:t>
            </a:r>
            <a:r>
              <a:rPr lang="en-US" sz="2200">
                <a:latin typeface="Times New Roman" panose="02020603050405020304" pitchFamily="18" charset="0"/>
                <a:cs typeface="Times New Roman" panose="02020603050405020304" pitchFamily="18" charset="0"/>
              </a:rPr>
              <a:t>		20210232</a:t>
            </a:r>
          </a:p>
          <a:p>
            <a:pPr>
              <a:lnSpc>
                <a:spcPct val="200000"/>
              </a:lnSpc>
            </a:pPr>
            <a:r>
              <a:rPr lang="vi-VN" sz="2200">
                <a:latin typeface="Times New Roman" panose="02020603050405020304" pitchFamily="18" charset="0"/>
                <a:cs typeface="Times New Roman" panose="02020603050405020304" pitchFamily="18" charset="0"/>
              </a:rPr>
              <a:t>Lê Văn Hoàng		20210378</a:t>
            </a:r>
            <a:endParaRPr lang="en-US" sz="2200">
              <a:latin typeface="Times New Roman" panose="02020603050405020304" pitchFamily="18" charset="0"/>
              <a:cs typeface="Times New Roman" panose="02020603050405020304" pitchFamily="18" charset="0"/>
            </a:endParaRPr>
          </a:p>
        </p:txBody>
      </p:sp>
      <p:sp>
        <p:nvSpPr>
          <p:cNvPr id="12" name="Date Placeholder 11">
            <a:extLst>
              <a:ext uri="{FF2B5EF4-FFF2-40B4-BE49-F238E27FC236}">
                <a16:creationId xmlns:a16="http://schemas.microsoft.com/office/drawing/2014/main" id="{44D4F73E-C56A-3307-0992-A863F553F1A2}"/>
              </a:ext>
            </a:extLst>
          </p:cNvPr>
          <p:cNvSpPr>
            <a:spLocks noGrp="1"/>
          </p:cNvSpPr>
          <p:nvPr>
            <p:ph type="dt" sz="half" idx="10"/>
          </p:nvPr>
        </p:nvSpPr>
        <p:spPr/>
        <p:txBody>
          <a:bodyPr/>
          <a:lstStyle/>
          <a:p>
            <a:fld id="{1DDCCE3B-B95A-4564-9BCD-2B392D61201C}" type="datetime1">
              <a:rPr lang="en-US" smtClean="0"/>
              <a:t>9/19/2026</a:t>
            </a:fld>
            <a:endParaRPr lang="en-US"/>
          </a:p>
        </p:txBody>
      </p:sp>
      <p:sp>
        <p:nvSpPr>
          <p:cNvPr id="13" name="Slide Number Placeholder 12">
            <a:extLst>
              <a:ext uri="{FF2B5EF4-FFF2-40B4-BE49-F238E27FC236}">
                <a16:creationId xmlns:a16="http://schemas.microsoft.com/office/drawing/2014/main" id="{2167607E-A823-EE48-6BF6-2BFDA8485F2C}"/>
              </a:ext>
            </a:extLst>
          </p:cNvPr>
          <p:cNvSpPr>
            <a:spLocks noGrp="1"/>
          </p:cNvSpPr>
          <p:nvPr>
            <p:ph type="sldNum" sz="quarter" idx="12"/>
          </p:nvPr>
        </p:nvSpPr>
        <p:spPr/>
        <p:txBody>
          <a:bodyPr/>
          <a:lstStyle/>
          <a:p>
            <a:fld id="{931DD963-FD40-4A6D-88A9-402A489E81DE}" type="slidenum">
              <a:rPr lang="en-US" smtClean="0"/>
              <a:t>1</a:t>
            </a:fld>
            <a:endParaRPr lang="en-US"/>
          </a:p>
        </p:txBody>
      </p:sp>
      <p:sp>
        <p:nvSpPr>
          <p:cNvPr id="14" name="TextBox 13">
            <a:extLst>
              <a:ext uri="{FF2B5EF4-FFF2-40B4-BE49-F238E27FC236}">
                <a16:creationId xmlns:a16="http://schemas.microsoft.com/office/drawing/2014/main" id="{C4962D3A-8D32-A8B6-80A7-41D3A333CC30}"/>
              </a:ext>
            </a:extLst>
          </p:cNvPr>
          <p:cNvSpPr txBox="1"/>
          <p:nvPr/>
        </p:nvSpPr>
        <p:spPr>
          <a:xfrm>
            <a:off x="3326724" y="5133809"/>
            <a:ext cx="6597704" cy="1200329"/>
          </a:xfrm>
          <a:prstGeom prst="rect">
            <a:avLst/>
          </a:prstGeom>
          <a:noFill/>
        </p:spPr>
        <p:txBody>
          <a:bodyPr wrap="none" rtlCol="0">
            <a:spAutoFit/>
          </a:bodyPr>
          <a:lstStyle/>
          <a:p>
            <a:r>
              <a:rPr lang="en-US" sz="2400" b="1" err="1">
                <a:solidFill>
                  <a:srgbClr val="385723"/>
                </a:solidFill>
              </a:rPr>
              <a:t>Giảng</a:t>
            </a:r>
            <a:r>
              <a:rPr lang="en-US" sz="2400" b="1">
                <a:solidFill>
                  <a:srgbClr val="385723"/>
                </a:solidFill>
              </a:rPr>
              <a:t> viên </a:t>
            </a:r>
            <a:r>
              <a:rPr lang="en-US" sz="2400" b="1" err="1">
                <a:solidFill>
                  <a:srgbClr val="385723"/>
                </a:solidFill>
              </a:rPr>
              <a:t>hướng</a:t>
            </a:r>
            <a:r>
              <a:rPr lang="en-US" sz="2400" b="1">
                <a:solidFill>
                  <a:srgbClr val="385723"/>
                </a:solidFill>
              </a:rPr>
              <a:t> dẫn: </a:t>
            </a:r>
            <a:r>
              <a:rPr lang="fr-FR" sz="2400" b="1">
                <a:solidFill>
                  <a:srgbClr val="385723"/>
                </a:solidFill>
              </a:rPr>
              <a:t>PGS. TS. </a:t>
            </a:r>
            <a:r>
              <a:rPr lang="fr-FR" sz="2400" b="1" err="1">
                <a:solidFill>
                  <a:srgbClr val="385723"/>
                </a:solidFill>
              </a:rPr>
              <a:t>Trần</a:t>
            </a:r>
            <a:r>
              <a:rPr lang="fr-FR" sz="2400" b="1">
                <a:solidFill>
                  <a:srgbClr val="385723"/>
                </a:solidFill>
              </a:rPr>
              <a:t> </a:t>
            </a:r>
            <a:r>
              <a:rPr lang="fr-FR" sz="2400" b="1" err="1">
                <a:solidFill>
                  <a:srgbClr val="385723"/>
                </a:solidFill>
              </a:rPr>
              <a:t>Trọng</a:t>
            </a:r>
            <a:r>
              <a:rPr lang="fr-FR" sz="2400" b="1">
                <a:solidFill>
                  <a:srgbClr val="385723"/>
                </a:solidFill>
              </a:rPr>
              <a:t> Minh</a:t>
            </a:r>
            <a:endParaRPr lang="en-US" sz="2400" b="1">
              <a:solidFill>
                <a:srgbClr val="385723"/>
              </a:solidFill>
            </a:endParaRPr>
          </a:p>
          <a:p>
            <a:r>
              <a:rPr lang="en-US" sz="2400" b="1">
                <a:solidFill>
                  <a:srgbClr val="385723"/>
                </a:solidFill>
              </a:rPr>
              <a:t>			   </a:t>
            </a:r>
            <a:r>
              <a:rPr lang="fr-FR" sz="2400" b="1">
                <a:solidFill>
                  <a:srgbClr val="385723"/>
                </a:solidFill>
              </a:rPr>
              <a:t>PGS. TS. </a:t>
            </a:r>
            <a:r>
              <a:rPr lang="fr-FR" sz="2400" b="1" err="1">
                <a:solidFill>
                  <a:srgbClr val="385723"/>
                </a:solidFill>
              </a:rPr>
              <a:t>Vũ</a:t>
            </a:r>
            <a:r>
              <a:rPr lang="fr-FR" sz="2400" b="1">
                <a:solidFill>
                  <a:srgbClr val="385723"/>
                </a:solidFill>
              </a:rPr>
              <a:t> </a:t>
            </a:r>
            <a:r>
              <a:rPr lang="fr-FR" sz="2400" b="1" err="1">
                <a:solidFill>
                  <a:srgbClr val="385723"/>
                </a:solidFill>
              </a:rPr>
              <a:t>Hoàng</a:t>
            </a:r>
            <a:r>
              <a:rPr lang="fr-FR" sz="2400" b="1">
                <a:solidFill>
                  <a:srgbClr val="385723"/>
                </a:solidFill>
              </a:rPr>
              <a:t> </a:t>
            </a:r>
            <a:r>
              <a:rPr lang="fr-FR" sz="2400" b="1" err="1">
                <a:solidFill>
                  <a:srgbClr val="385723"/>
                </a:solidFill>
              </a:rPr>
              <a:t>Phương</a:t>
            </a:r>
            <a:endParaRPr lang="fr-FR" sz="2400" b="1">
              <a:solidFill>
                <a:srgbClr val="385723"/>
              </a:solidFill>
            </a:endParaRPr>
          </a:p>
          <a:p>
            <a:pPr lvl="3"/>
            <a:r>
              <a:rPr lang="fr-FR" sz="2400" b="1">
                <a:solidFill>
                  <a:srgbClr val="385723"/>
                </a:solidFill>
              </a:rPr>
              <a:t>  		   NCS. </a:t>
            </a:r>
            <a:r>
              <a:rPr lang="fr-FR" sz="2400" b="1" err="1">
                <a:solidFill>
                  <a:srgbClr val="385723"/>
                </a:solidFill>
              </a:rPr>
              <a:t>Hà</a:t>
            </a:r>
            <a:r>
              <a:rPr lang="fr-FR" sz="2400" b="1">
                <a:solidFill>
                  <a:srgbClr val="385723"/>
                </a:solidFill>
              </a:rPr>
              <a:t> </a:t>
            </a:r>
            <a:r>
              <a:rPr lang="fr-FR" sz="2400" b="1" err="1">
                <a:solidFill>
                  <a:srgbClr val="385723"/>
                </a:solidFill>
              </a:rPr>
              <a:t>Duy</a:t>
            </a:r>
            <a:r>
              <a:rPr lang="fr-FR" sz="2400" b="1">
                <a:solidFill>
                  <a:srgbClr val="385723"/>
                </a:solidFill>
              </a:rPr>
              <a:t> </a:t>
            </a:r>
            <a:r>
              <a:rPr lang="fr-FR" sz="2400" b="1" err="1">
                <a:solidFill>
                  <a:srgbClr val="385723"/>
                </a:solidFill>
              </a:rPr>
              <a:t>Thái</a:t>
            </a:r>
            <a:endParaRPr lang="en-US" sz="2400" b="1">
              <a:solidFill>
                <a:srgbClr val="385723"/>
              </a:solidFill>
            </a:endParaRPr>
          </a:p>
        </p:txBody>
      </p:sp>
    </p:spTree>
    <p:extLst>
      <p:ext uri="{BB962C8B-B14F-4D97-AF65-F5344CB8AC3E}">
        <p14:creationId xmlns:p14="http://schemas.microsoft.com/office/powerpoint/2010/main" val="1944849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2</a:t>
            </a:fld>
            <a:endParaRPr lang="en-US"/>
          </a:p>
        </p:txBody>
      </p:sp>
      <p:sp>
        <p:nvSpPr>
          <p:cNvPr id="4" name="TextBox 3">
            <a:extLst>
              <a:ext uri="{FF2B5EF4-FFF2-40B4-BE49-F238E27FC236}">
                <a16:creationId xmlns:a16="http://schemas.microsoft.com/office/drawing/2014/main" id="{20127596-91E4-81FC-9E64-D31D1392357D}"/>
              </a:ext>
            </a:extLst>
          </p:cNvPr>
          <p:cNvSpPr txBox="1"/>
          <p:nvPr/>
        </p:nvSpPr>
        <p:spPr>
          <a:xfrm>
            <a:off x="1158671" y="835494"/>
            <a:ext cx="3502882" cy="584775"/>
          </a:xfrm>
          <a:prstGeom prst="rect">
            <a:avLst/>
          </a:prstGeom>
          <a:noFill/>
        </p:spPr>
        <p:txBody>
          <a:bodyPr wrap="none" rtlCol="0">
            <a:spAutoFit/>
          </a:bodyPr>
          <a:lstStyle/>
          <a:p>
            <a:r>
              <a:rPr lang="en-US" sz="3200" b="1">
                <a:solidFill>
                  <a:srgbClr val="385723"/>
                </a:solidFill>
              </a:rPr>
              <a:t>TABLE OF CONTENT</a:t>
            </a:r>
          </a:p>
        </p:txBody>
      </p:sp>
      <p:grpSp>
        <p:nvGrpSpPr>
          <p:cNvPr id="7" name="Group 6">
            <a:extLst>
              <a:ext uri="{FF2B5EF4-FFF2-40B4-BE49-F238E27FC236}">
                <a16:creationId xmlns:a16="http://schemas.microsoft.com/office/drawing/2014/main" id="{3FAEB15C-B5B3-48D1-C36A-FA793706EC55}"/>
              </a:ext>
            </a:extLst>
          </p:cNvPr>
          <p:cNvGrpSpPr/>
          <p:nvPr/>
        </p:nvGrpSpPr>
        <p:grpSpPr>
          <a:xfrm>
            <a:off x="1385533" y="1664436"/>
            <a:ext cx="9501431" cy="748796"/>
            <a:chOff x="1793005" y="1746584"/>
            <a:chExt cx="9501431" cy="748795"/>
          </a:xfrm>
        </p:grpSpPr>
        <p:sp>
          <p:nvSpPr>
            <p:cNvPr id="5" name="TextBox 4">
              <a:extLst>
                <a:ext uri="{FF2B5EF4-FFF2-40B4-BE49-F238E27FC236}">
                  <a16:creationId xmlns:a16="http://schemas.microsoft.com/office/drawing/2014/main" id="{3DA8815F-05CE-8EDE-3B27-6B6B1A35A7C7}"/>
                </a:ext>
              </a:extLst>
            </p:cNvPr>
            <p:cNvSpPr txBox="1"/>
            <p:nvPr/>
          </p:nvSpPr>
          <p:spPr>
            <a:xfrm>
              <a:off x="2721565" y="1746585"/>
              <a:ext cx="8572871" cy="748794"/>
            </a:xfrm>
            <a:prstGeom prst="rect">
              <a:avLst/>
            </a:prstGeom>
            <a:noFill/>
          </p:spPr>
          <p:txBody>
            <a:bodyPr wrap="square" rtlCol="0">
              <a:spAutoFit/>
            </a:bodyPr>
            <a:lstStyle/>
            <a:p>
              <a:r>
                <a:rPr lang="en-US" sz="2133" b="1">
                  <a:latin typeface="Arial (Body)"/>
                </a:rPr>
                <a:t>CHƯƠNG 1: ĐẶT VẤN ĐỀ</a:t>
              </a:r>
            </a:p>
            <a:p>
              <a:endParaRPr lang="en-US" sz="2133" b="1">
                <a:latin typeface="Arial (Body)"/>
              </a:endParaRPr>
            </a:p>
          </p:txBody>
        </p:sp>
        <p:sp>
          <p:nvSpPr>
            <p:cNvPr id="6" name="Rectangle 5">
              <a:extLst>
                <a:ext uri="{FF2B5EF4-FFF2-40B4-BE49-F238E27FC236}">
                  <a16:creationId xmlns:a16="http://schemas.microsoft.com/office/drawing/2014/main" id="{39E6F535-20EE-0EB3-B7F9-CE96EAFEB75E}"/>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a:t>
              </a:r>
            </a:p>
          </p:txBody>
        </p:sp>
      </p:grpSp>
      <p:grpSp>
        <p:nvGrpSpPr>
          <p:cNvPr id="26" name="Group 25">
            <a:extLst>
              <a:ext uri="{FF2B5EF4-FFF2-40B4-BE49-F238E27FC236}">
                <a16:creationId xmlns:a16="http://schemas.microsoft.com/office/drawing/2014/main" id="{DD8A6816-56CB-01F0-EA07-2432575FF8CC}"/>
              </a:ext>
            </a:extLst>
          </p:cNvPr>
          <p:cNvGrpSpPr/>
          <p:nvPr/>
        </p:nvGrpSpPr>
        <p:grpSpPr>
          <a:xfrm>
            <a:off x="1385533" y="3258681"/>
            <a:ext cx="9587852" cy="461667"/>
            <a:chOff x="1793005" y="1746584"/>
            <a:chExt cx="9587852" cy="461666"/>
          </a:xfrm>
        </p:grpSpPr>
        <p:sp>
          <p:nvSpPr>
            <p:cNvPr id="27" name="TextBox 26">
              <a:extLst>
                <a:ext uri="{FF2B5EF4-FFF2-40B4-BE49-F238E27FC236}">
                  <a16:creationId xmlns:a16="http://schemas.microsoft.com/office/drawing/2014/main" id="{35465D9F-E0A6-DE5C-149E-C6B40472F53A}"/>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3: </a:t>
              </a:r>
              <a:r>
                <a:rPr lang="en-US" sz="2133" b="1">
                  <a:solidFill>
                    <a:srgbClr val="000000"/>
                  </a:solidFill>
                  <a:latin typeface="Arial (Body)"/>
                  <a:ea typeface="Aptos" panose="020B0004020202020204" pitchFamily="34" charset="0"/>
                </a:rPr>
                <a:t>MÔ PHỎNG</a:t>
              </a:r>
              <a:endParaRPr lang="en-US" sz="2133" b="1">
                <a:latin typeface="Arial (Body)"/>
              </a:endParaRPr>
            </a:p>
          </p:txBody>
        </p:sp>
        <p:sp>
          <p:nvSpPr>
            <p:cNvPr id="28" name="Rectangle 27">
              <a:extLst>
                <a:ext uri="{FF2B5EF4-FFF2-40B4-BE49-F238E27FC236}">
                  <a16:creationId xmlns:a16="http://schemas.microsoft.com/office/drawing/2014/main" id="{90521ED9-C9B8-02CE-6FE9-364323EE5905}"/>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grpSp>
        <p:nvGrpSpPr>
          <p:cNvPr id="11" name="Group 10">
            <a:extLst>
              <a:ext uri="{FF2B5EF4-FFF2-40B4-BE49-F238E27FC236}">
                <a16:creationId xmlns:a16="http://schemas.microsoft.com/office/drawing/2014/main" id="{D81B5AA8-18FD-0459-EBEE-D9142D37E876}"/>
              </a:ext>
            </a:extLst>
          </p:cNvPr>
          <p:cNvGrpSpPr/>
          <p:nvPr/>
        </p:nvGrpSpPr>
        <p:grpSpPr>
          <a:xfrm>
            <a:off x="1385533" y="4028627"/>
            <a:ext cx="9587852" cy="461667"/>
            <a:chOff x="1793005" y="1746584"/>
            <a:chExt cx="9587852" cy="461666"/>
          </a:xfrm>
        </p:grpSpPr>
        <p:sp>
          <p:nvSpPr>
            <p:cNvPr id="12" name="TextBox 11">
              <a:extLst>
                <a:ext uri="{FF2B5EF4-FFF2-40B4-BE49-F238E27FC236}">
                  <a16:creationId xmlns:a16="http://schemas.microsoft.com/office/drawing/2014/main" id="{F89A6090-46D5-94DC-BADD-43A00D877691}"/>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2BE9638E-3401-5FA8-93E9-3546DA0C53F1}"/>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p:grpSp>
        <p:nvGrpSpPr>
          <p:cNvPr id="14" name="Group 13">
            <a:extLst>
              <a:ext uri="{FF2B5EF4-FFF2-40B4-BE49-F238E27FC236}">
                <a16:creationId xmlns:a16="http://schemas.microsoft.com/office/drawing/2014/main" id="{0965CFDF-D08C-B604-7C00-943FE3E82F76}"/>
              </a:ext>
            </a:extLst>
          </p:cNvPr>
          <p:cNvGrpSpPr/>
          <p:nvPr/>
        </p:nvGrpSpPr>
        <p:grpSpPr>
          <a:xfrm>
            <a:off x="1385532" y="2388216"/>
            <a:ext cx="9501431" cy="748796"/>
            <a:chOff x="1793005" y="1746584"/>
            <a:chExt cx="9501431" cy="748794"/>
          </a:xfrm>
        </p:grpSpPr>
        <p:sp>
          <p:nvSpPr>
            <p:cNvPr id="15" name="TextBox 14">
              <a:extLst>
                <a:ext uri="{FF2B5EF4-FFF2-40B4-BE49-F238E27FC236}">
                  <a16:creationId xmlns:a16="http://schemas.microsoft.com/office/drawing/2014/main" id="{A414A262-1994-17A9-60BB-890DED0F08C6}"/>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16" name="Rectangle 15">
              <a:extLst>
                <a:ext uri="{FF2B5EF4-FFF2-40B4-BE49-F238E27FC236}">
                  <a16:creationId xmlns:a16="http://schemas.microsoft.com/office/drawing/2014/main" id="{823379A8-F394-D412-0B07-7EECDF86CB1A}"/>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grpSp>
        <p:nvGrpSpPr>
          <p:cNvPr id="8" name="Group 10">
            <a:extLst>
              <a:ext uri="{FF2B5EF4-FFF2-40B4-BE49-F238E27FC236}">
                <a16:creationId xmlns:a16="http://schemas.microsoft.com/office/drawing/2014/main" id="{FD16DF6E-06DD-8D3A-D562-395217A65DC7}"/>
              </a:ext>
            </a:extLst>
          </p:cNvPr>
          <p:cNvGrpSpPr/>
          <p:nvPr/>
        </p:nvGrpSpPr>
        <p:grpSpPr>
          <a:xfrm>
            <a:off x="1385533" y="4774076"/>
            <a:ext cx="9587852" cy="461667"/>
            <a:chOff x="1793005" y="1746584"/>
            <a:chExt cx="9587852" cy="461666"/>
          </a:xfrm>
        </p:grpSpPr>
        <p:sp>
          <p:nvSpPr>
            <p:cNvPr id="9" name="TextBox 11">
              <a:extLst>
                <a:ext uri="{FF2B5EF4-FFF2-40B4-BE49-F238E27FC236}">
                  <a16:creationId xmlns:a16="http://schemas.microsoft.com/office/drawing/2014/main" id="{2775D22B-2F7F-7104-C80D-41D8FB16E249}"/>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5: </a:t>
              </a:r>
              <a:r>
                <a:rPr lang="vi-VN" sz="2133" b="1">
                  <a:latin typeface="Arial (Body)"/>
                </a:rPr>
                <a:t>GIẢI PHÁP CẢI TIẾN BỘ DAO ĐỘNG VANDERPOL</a:t>
              </a:r>
              <a:endParaRPr lang="en-US" sz="2133" b="1">
                <a:latin typeface="Arial (Body)"/>
              </a:endParaRPr>
            </a:p>
          </p:txBody>
        </p:sp>
        <p:sp>
          <p:nvSpPr>
            <p:cNvPr id="10" name="Rectangle 12">
              <a:extLst>
                <a:ext uri="{FF2B5EF4-FFF2-40B4-BE49-F238E27FC236}">
                  <a16:creationId xmlns:a16="http://schemas.microsoft.com/office/drawing/2014/main" id="{A7BEA7BD-054B-407D-1CBA-E23779B0CD66}"/>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a:t>
              </a:r>
            </a:p>
          </p:txBody>
        </p:sp>
      </p:grpSp>
    </p:spTree>
    <p:extLst>
      <p:ext uri="{BB962C8B-B14F-4D97-AF65-F5344CB8AC3E}">
        <p14:creationId xmlns:p14="http://schemas.microsoft.com/office/powerpoint/2010/main" val="1643631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3</a:t>
            </a:fld>
            <a:endParaRPr lang="en-US"/>
          </a:p>
        </p:txBody>
      </p:sp>
      <p:sp>
        <p:nvSpPr>
          <p:cNvPr id="20" name="Rectangle 19"/>
          <p:cNvSpPr/>
          <p:nvPr/>
        </p:nvSpPr>
        <p:spPr>
          <a:xfrm>
            <a:off x="12296854" y="3425595"/>
            <a:ext cx="184731" cy="369332"/>
          </a:xfrm>
          <a:prstGeom prst="rect">
            <a:avLst/>
          </a:prstGeom>
        </p:spPr>
        <p:txBody>
          <a:bodyPr wrap="none">
            <a:spAutoFit/>
          </a:bodyPr>
          <a:lstStyle/>
          <a:p>
            <a:endParaRPr lang="en-US"/>
          </a:p>
        </p:txBody>
      </p:sp>
      <p:sp>
        <p:nvSpPr>
          <p:cNvPr id="5" name="Rectangle 4"/>
          <p:cNvSpPr/>
          <p:nvPr/>
        </p:nvSpPr>
        <p:spPr>
          <a:xfrm>
            <a:off x="12289384" y="3425595"/>
            <a:ext cx="184731" cy="369332"/>
          </a:xfrm>
          <a:prstGeom prst="rect">
            <a:avLst/>
          </a:prstGeom>
        </p:spPr>
        <p:txBody>
          <a:bodyPr wrap="none">
            <a:spAutoFit/>
          </a:bodyPr>
          <a:lstStyle/>
          <a:p>
            <a:endParaRPr lang="en-US"/>
          </a:p>
        </p:txBody>
      </p:sp>
      <p:grpSp>
        <p:nvGrpSpPr>
          <p:cNvPr id="7" name="Group 6">
            <a:extLst>
              <a:ext uri="{FF2B5EF4-FFF2-40B4-BE49-F238E27FC236}">
                <a16:creationId xmlns:a16="http://schemas.microsoft.com/office/drawing/2014/main" id="{C032C896-3452-1FC5-6658-EF887C0F5611}"/>
              </a:ext>
            </a:extLst>
          </p:cNvPr>
          <p:cNvGrpSpPr/>
          <p:nvPr/>
        </p:nvGrpSpPr>
        <p:grpSpPr>
          <a:xfrm>
            <a:off x="516794" y="459294"/>
            <a:ext cx="9501431" cy="748796"/>
            <a:chOff x="1793005" y="1746584"/>
            <a:chExt cx="9501431" cy="748795"/>
          </a:xfrm>
        </p:grpSpPr>
        <p:sp>
          <p:nvSpPr>
            <p:cNvPr id="9" name="TextBox 8">
              <a:extLst>
                <a:ext uri="{FF2B5EF4-FFF2-40B4-BE49-F238E27FC236}">
                  <a16:creationId xmlns:a16="http://schemas.microsoft.com/office/drawing/2014/main" id="{8C3F310E-3313-0BF6-2E3F-7C87252E4B41}"/>
                </a:ext>
              </a:extLst>
            </p:cNvPr>
            <p:cNvSpPr txBox="1"/>
            <p:nvPr/>
          </p:nvSpPr>
          <p:spPr>
            <a:xfrm>
              <a:off x="2721565" y="1746585"/>
              <a:ext cx="8572871" cy="748794"/>
            </a:xfrm>
            <a:prstGeom prst="rect">
              <a:avLst/>
            </a:prstGeom>
            <a:noFill/>
          </p:spPr>
          <p:txBody>
            <a:bodyPr wrap="square" rtlCol="0">
              <a:spAutoFit/>
            </a:bodyPr>
            <a:lstStyle/>
            <a:p>
              <a:r>
                <a:rPr lang="en-US" sz="2133" b="1">
                  <a:latin typeface="Arial (Body)"/>
                </a:rPr>
                <a:t>CHƯƠNG 1: ĐẶT VẤN ĐỀ</a:t>
              </a:r>
            </a:p>
            <a:p>
              <a:endParaRPr lang="en-US" sz="2133" b="1">
                <a:latin typeface="Arial (Body)"/>
              </a:endParaRPr>
            </a:p>
          </p:txBody>
        </p:sp>
        <p:sp>
          <p:nvSpPr>
            <p:cNvPr id="10" name="Rectangle 9">
              <a:extLst>
                <a:ext uri="{FF2B5EF4-FFF2-40B4-BE49-F238E27FC236}">
                  <a16:creationId xmlns:a16="http://schemas.microsoft.com/office/drawing/2014/main" id="{E3C8DD94-1D89-0B42-D511-92A87BDB7CF2}"/>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a:t>
              </a:r>
            </a:p>
          </p:txBody>
        </p:sp>
      </p:grpSp>
      <p:pic>
        <p:nvPicPr>
          <p:cNvPr id="4" name="Picture 3" descr="A diagram of a machine&#10;&#10;Description automatically generated">
            <a:extLst>
              <a:ext uri="{FF2B5EF4-FFF2-40B4-BE49-F238E27FC236}">
                <a16:creationId xmlns:a16="http://schemas.microsoft.com/office/drawing/2014/main" id="{BBF79A4A-B924-0ED6-435D-3CEECA063548}"/>
              </a:ext>
            </a:extLst>
          </p:cNvPr>
          <p:cNvPicPr>
            <a:picLocks noChangeAspect="1"/>
          </p:cNvPicPr>
          <p:nvPr/>
        </p:nvPicPr>
        <p:blipFill>
          <a:blip r:embed="rId2"/>
          <a:stretch>
            <a:fillRect/>
          </a:stretch>
        </p:blipFill>
        <p:spPr>
          <a:xfrm>
            <a:off x="7172229" y="1801734"/>
            <a:ext cx="4396740" cy="2133600"/>
          </a:xfrm>
          <a:prstGeom prst="rect">
            <a:avLst/>
          </a:prstGeom>
        </p:spPr>
      </p:pic>
      <p:sp>
        <p:nvSpPr>
          <p:cNvPr id="12" name="TextBox 11">
            <a:extLst>
              <a:ext uri="{FF2B5EF4-FFF2-40B4-BE49-F238E27FC236}">
                <a16:creationId xmlns:a16="http://schemas.microsoft.com/office/drawing/2014/main" id="{09EA1645-9BBD-BC6F-6121-A8C66B8C813C}"/>
              </a:ext>
            </a:extLst>
          </p:cNvPr>
          <p:cNvSpPr txBox="1"/>
          <p:nvPr/>
        </p:nvSpPr>
        <p:spPr>
          <a:xfrm>
            <a:off x="516794" y="1871387"/>
            <a:ext cx="6237514" cy="1554208"/>
          </a:xfrm>
          <a:prstGeom prst="rect">
            <a:avLst/>
          </a:prstGeom>
          <a:noFill/>
        </p:spPr>
        <p:txBody>
          <a:bodyPr wrap="square">
            <a:spAutoFit/>
          </a:bodyPr>
          <a:lstStyle/>
          <a:p>
            <a:pPr marL="0" marR="0">
              <a:lnSpc>
                <a:spcPct val="107000"/>
              </a:lnSpc>
              <a:spcAft>
                <a:spcPts val="800"/>
              </a:spcAft>
            </a:pP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Nối</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cực</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dương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bộ</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nghịch</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lưu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này</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với</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cực</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dương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bộ</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nghịch</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lưu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kia,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cực</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âm</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bộ</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nghịch</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lưu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này</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với</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cực</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âm</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bộ</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nghịch</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lưu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kia,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sau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đó</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nối</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đầu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ra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AC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mỗi</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bộ</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nghịch</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lưu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với</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cùng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một</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tải</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ta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được</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hai</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bộ</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nghịch</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lưu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làm</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việc</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song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song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Mô</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tả</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như</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hình</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bên</a:t>
            </a:r>
            <a:r>
              <a:rPr lang="en-US" kern="100">
                <a:latin typeface="Times New Roman" panose="02020603050405020304" pitchFamily="18" charset="0"/>
                <a:ea typeface="Aptos" panose="020B0004020202020204" pitchFamily="34" charset="0"/>
                <a:cs typeface="Times New Roman" panose="02020603050405020304" pitchFamily="18" charset="0"/>
              </a:rPr>
              <a:t> </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a:t>
            </a:r>
            <a:endParaRPr lang="vi-VN" sz="1800" kern="100">
              <a:effectLst/>
              <a:latin typeface="Times New Roman" panose="02020603050405020304" pitchFamily="18" charset="0"/>
              <a:ea typeface="Aptos" panose="020B000402020202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Rectangle 2">
                <a:extLst>
                  <a:ext uri="{FF2B5EF4-FFF2-40B4-BE49-F238E27FC236}">
                    <a16:creationId xmlns:a16="http://schemas.microsoft.com/office/drawing/2014/main" id="{6C13EFC0-C125-7E6D-0BD0-C2104F4677B7}"/>
                  </a:ext>
                </a:extLst>
              </p:cNvPr>
              <p:cNvSpPr>
                <a:spLocks noChangeArrowheads="1"/>
              </p:cNvSpPr>
              <p:nvPr/>
            </p:nvSpPr>
            <p:spPr bwMode="auto">
              <a:xfrm>
                <a:off x="390270" y="4562486"/>
                <a:ext cx="10326891" cy="9233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Ở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đây</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ta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coi</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bộ</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nghịch</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lưu</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như</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hai</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nguồn</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sức</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điện</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động</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được</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cấp</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nguồn</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bởi</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một</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nguồn</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DC.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Các</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giá</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vi-VN" b="0" i="0" u="none" strike="noStrike" cap="none" normalizeH="0" baseline="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trị</a:t>
                </a:r>
                <a:r>
                  <a:rPr kumimoji="0" lang="en-US" altLang="vi-VN" b="0"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14:m>
                  <m:oMath xmlns:m="http://schemas.openxmlformats.org/officeDocument/2006/math">
                    <m:sSub>
                      <m:sSubPr>
                        <m:ctrlPr>
                          <a:rPr kumimoji="0" lang="en-US" altLang="vi-VN"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ctrlPr>
                      </m:sSubPr>
                      <m:e>
                        <m:r>
                          <a:rPr kumimoji="0" lang="en-US" altLang="vi-VN"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𝑅</m:t>
                        </m:r>
                      </m:e>
                      <m:sub>
                        <m:r>
                          <a:rPr kumimoji="0" lang="en-US" altLang="vi-VN"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1</m:t>
                        </m:r>
                      </m:sub>
                    </m:sSub>
                    <m:r>
                      <a:rPr kumimoji="0" lang="en-US" altLang="vi-VN"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m:t>
                    </m:r>
                    <m:sSub>
                      <m:sSubPr>
                        <m:ctrlPr>
                          <a:rPr lang="en-US" altLang="vi-VN" b="0" i="1" smtClean="0">
                            <a:latin typeface="Cambria Math" panose="02040503050406030204" pitchFamily="18" charset="0"/>
                            <a:cs typeface="Times New Roman" panose="02020603050405020304" pitchFamily="18" charset="0"/>
                          </a:rPr>
                        </m:ctrlPr>
                      </m:sSubPr>
                      <m:e>
                        <m:r>
                          <a:rPr lang="en-US" altLang="vi-VN" b="0" i="1" smtClean="0">
                            <a:latin typeface="Cambria Math" panose="02040503050406030204" pitchFamily="18" charset="0"/>
                            <a:cs typeface="Times New Roman" panose="02020603050405020304" pitchFamily="18" charset="0"/>
                          </a:rPr>
                          <m:t>𝐿</m:t>
                        </m:r>
                      </m:e>
                      <m:sub>
                        <m:r>
                          <a:rPr lang="en-US" altLang="vi-VN" i="1">
                            <a:latin typeface="Cambria Math" panose="02040503050406030204" pitchFamily="18" charset="0"/>
                            <a:cs typeface="Times New Roman" panose="02020603050405020304" pitchFamily="18" charset="0"/>
                          </a:rPr>
                          <m:t>1</m:t>
                        </m:r>
                      </m:sub>
                    </m:sSub>
                    <m:r>
                      <a:rPr lang="en-US" altLang="vi-VN" b="0" i="1" smtClean="0">
                        <a:latin typeface="Cambria Math" panose="02040503050406030204" pitchFamily="18" charset="0"/>
                        <a:cs typeface="Times New Roman" panose="02020603050405020304" pitchFamily="18" charset="0"/>
                      </a:rPr>
                      <m:t>,</m:t>
                    </m:r>
                    <m:sSub>
                      <m:sSubPr>
                        <m:ctrlPr>
                          <a:rPr lang="en-US" altLang="vi-VN" i="1">
                            <a:latin typeface="Cambria Math" panose="02040503050406030204" pitchFamily="18" charset="0"/>
                            <a:cs typeface="Times New Roman" panose="02020603050405020304" pitchFamily="18" charset="0"/>
                          </a:rPr>
                        </m:ctrlPr>
                      </m:sSubPr>
                      <m:e>
                        <m:r>
                          <a:rPr lang="en-US" altLang="vi-VN" i="1">
                            <a:latin typeface="Cambria Math" panose="02040503050406030204" pitchFamily="18" charset="0"/>
                            <a:cs typeface="Times New Roman" panose="02020603050405020304" pitchFamily="18" charset="0"/>
                          </a:rPr>
                          <m:t>𝑅</m:t>
                        </m:r>
                      </m:e>
                      <m:sub>
                        <m:r>
                          <a:rPr lang="en-US" altLang="vi-VN" b="0" i="1" smtClean="0">
                            <a:latin typeface="Cambria Math" panose="02040503050406030204" pitchFamily="18" charset="0"/>
                            <a:cs typeface="Times New Roman" panose="02020603050405020304" pitchFamily="18" charset="0"/>
                          </a:rPr>
                          <m:t>2</m:t>
                        </m:r>
                      </m:sub>
                    </m:sSub>
                    <m:r>
                      <a:rPr lang="en-US" altLang="vi-VN" b="0" i="1" smtClean="0">
                        <a:latin typeface="Cambria Math" panose="02040503050406030204" pitchFamily="18" charset="0"/>
                        <a:cs typeface="Times New Roman" panose="02020603050405020304" pitchFamily="18" charset="0"/>
                      </a:rPr>
                      <m:t>, </m:t>
                    </m:r>
                    <m:sSub>
                      <m:sSubPr>
                        <m:ctrlPr>
                          <a:rPr lang="en-US" altLang="vi-VN" b="0" i="1" smtClean="0">
                            <a:latin typeface="Cambria Math" panose="02040503050406030204" pitchFamily="18" charset="0"/>
                            <a:cs typeface="Times New Roman" panose="02020603050405020304" pitchFamily="18" charset="0"/>
                          </a:rPr>
                        </m:ctrlPr>
                      </m:sSubPr>
                      <m:e>
                        <m:r>
                          <a:rPr lang="en-US" altLang="vi-VN" b="0" i="1" smtClean="0">
                            <a:latin typeface="Cambria Math" panose="02040503050406030204" pitchFamily="18" charset="0"/>
                            <a:cs typeface="Times New Roman" panose="02020603050405020304" pitchFamily="18" charset="0"/>
                          </a:rPr>
                          <m:t>𝐿</m:t>
                        </m:r>
                      </m:e>
                      <m:sub>
                        <m:r>
                          <a:rPr lang="en-US" altLang="vi-VN" b="0" i="1" smtClean="0">
                            <a:latin typeface="Cambria Math" panose="02040503050406030204" pitchFamily="18" charset="0"/>
                            <a:cs typeface="Times New Roman" panose="02020603050405020304" pitchFamily="18" charset="0"/>
                          </a:rPr>
                          <m:t>2</m:t>
                        </m:r>
                      </m:sub>
                    </m:sSub>
                  </m:oMath>
                </a14:m>
                <a:r>
                  <a:rPr kumimoji="0" lang="en-US" altLang="vi-VN"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lang="en-US" altLang="vi-VN">
                    <a:latin typeface="Times New Roman" panose="02020603050405020304" pitchFamily="18" charset="0"/>
                    <a:ea typeface="Aptos" panose="020B0004020202020204" pitchFamily="34" charset="0"/>
                    <a:cs typeface="Times New Roman" panose="02020603050405020304" pitchFamily="18" charset="0"/>
                  </a:rPr>
                  <a:t>là trở kháng đường dây. Để hai bộ nghịch lưu có thể làm việc song song, các giá trị điện áp, tần số của mỗi bộ phải như nhau</a:t>
                </a:r>
                <a:endParaRPr kumimoji="0" lang="en-US" altLang="vi-VN"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13" name="Rectangle 2">
                <a:extLst>
                  <a:ext uri="{FF2B5EF4-FFF2-40B4-BE49-F238E27FC236}">
                    <a16:creationId xmlns:a16="http://schemas.microsoft.com/office/drawing/2014/main" id="{6C13EFC0-C125-7E6D-0BD0-C2104F4677B7}"/>
                  </a:ext>
                </a:extLst>
              </p:cNvPr>
              <p:cNvSpPr>
                <a:spLocks noRot="1" noChangeAspect="1" noMove="1" noResize="1" noEditPoints="1" noAdjustHandles="1" noChangeArrowheads="1" noChangeShapeType="1" noTextEdit="1"/>
              </p:cNvSpPr>
              <p:nvPr/>
            </p:nvSpPr>
            <p:spPr bwMode="auto">
              <a:xfrm>
                <a:off x="390270" y="4562486"/>
                <a:ext cx="10326891" cy="923330"/>
              </a:xfrm>
              <a:prstGeom prst="rect">
                <a:avLst/>
              </a:prstGeom>
              <a:blipFill>
                <a:blip r:embed="rId3"/>
                <a:stretch>
                  <a:fillRect l="-472" t="-2632" b="-986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vi-VN">
                    <a:noFill/>
                  </a:rPr>
                  <a:t> </a:t>
                </a:r>
              </a:p>
            </p:txBody>
          </p:sp>
        </mc:Fallback>
      </mc:AlternateContent>
    </p:spTree>
    <p:extLst>
      <p:ext uri="{BB962C8B-B14F-4D97-AF65-F5344CB8AC3E}">
        <p14:creationId xmlns:p14="http://schemas.microsoft.com/office/powerpoint/2010/main" val="1649401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4</a:t>
            </a:fld>
            <a:endParaRPr lang="en-US"/>
          </a:p>
        </p:txBody>
      </p:sp>
      <p:sp>
        <p:nvSpPr>
          <p:cNvPr id="20" name="Rectangle 19"/>
          <p:cNvSpPr/>
          <p:nvPr/>
        </p:nvSpPr>
        <p:spPr>
          <a:xfrm>
            <a:off x="12296854" y="3425595"/>
            <a:ext cx="184731" cy="369332"/>
          </a:xfrm>
          <a:prstGeom prst="rect">
            <a:avLst/>
          </a:prstGeom>
        </p:spPr>
        <p:txBody>
          <a:bodyPr wrap="none">
            <a:spAutoFit/>
          </a:bodyPr>
          <a:lstStyle/>
          <a:p>
            <a:endParaRPr lang="en-US"/>
          </a:p>
        </p:txBody>
      </p:sp>
      <p:sp>
        <p:nvSpPr>
          <p:cNvPr id="5" name="Rectangle 4"/>
          <p:cNvSpPr/>
          <p:nvPr/>
        </p:nvSpPr>
        <p:spPr>
          <a:xfrm>
            <a:off x="12289384" y="3425595"/>
            <a:ext cx="184731" cy="369332"/>
          </a:xfrm>
          <a:prstGeom prst="rect">
            <a:avLst/>
          </a:prstGeom>
        </p:spPr>
        <p:txBody>
          <a:bodyPr wrap="none">
            <a:spAutoFit/>
          </a:bodyPr>
          <a:lstStyle/>
          <a:p>
            <a:endParaRPr lang="en-US"/>
          </a:p>
        </p:txBody>
      </p:sp>
      <p:grpSp>
        <p:nvGrpSpPr>
          <p:cNvPr id="7" name="Group 6">
            <a:extLst>
              <a:ext uri="{FF2B5EF4-FFF2-40B4-BE49-F238E27FC236}">
                <a16:creationId xmlns:a16="http://schemas.microsoft.com/office/drawing/2014/main" id="{C032C896-3452-1FC5-6658-EF887C0F5611}"/>
              </a:ext>
            </a:extLst>
          </p:cNvPr>
          <p:cNvGrpSpPr/>
          <p:nvPr/>
        </p:nvGrpSpPr>
        <p:grpSpPr>
          <a:xfrm>
            <a:off x="516794" y="459294"/>
            <a:ext cx="9501431" cy="748796"/>
            <a:chOff x="1793005" y="1746584"/>
            <a:chExt cx="9501431" cy="748795"/>
          </a:xfrm>
        </p:grpSpPr>
        <p:sp>
          <p:nvSpPr>
            <p:cNvPr id="9" name="TextBox 8">
              <a:extLst>
                <a:ext uri="{FF2B5EF4-FFF2-40B4-BE49-F238E27FC236}">
                  <a16:creationId xmlns:a16="http://schemas.microsoft.com/office/drawing/2014/main" id="{8C3F310E-3313-0BF6-2E3F-7C87252E4B41}"/>
                </a:ext>
              </a:extLst>
            </p:cNvPr>
            <p:cNvSpPr txBox="1"/>
            <p:nvPr/>
          </p:nvSpPr>
          <p:spPr>
            <a:xfrm>
              <a:off x="2721565" y="1746585"/>
              <a:ext cx="8572871" cy="748794"/>
            </a:xfrm>
            <a:prstGeom prst="rect">
              <a:avLst/>
            </a:prstGeom>
            <a:noFill/>
          </p:spPr>
          <p:txBody>
            <a:bodyPr wrap="square" rtlCol="0">
              <a:spAutoFit/>
            </a:bodyPr>
            <a:lstStyle/>
            <a:p>
              <a:r>
                <a:rPr lang="en-US" sz="2133" b="1">
                  <a:latin typeface="Arial (Body)"/>
                </a:rPr>
                <a:t>CHƯƠNG 1: ĐẶT VẤN ĐỀ</a:t>
              </a:r>
            </a:p>
            <a:p>
              <a:endParaRPr lang="en-US" sz="2133" b="1">
                <a:latin typeface="Arial (Body)"/>
              </a:endParaRPr>
            </a:p>
          </p:txBody>
        </p:sp>
        <p:sp>
          <p:nvSpPr>
            <p:cNvPr id="10" name="Rectangle 9">
              <a:extLst>
                <a:ext uri="{FF2B5EF4-FFF2-40B4-BE49-F238E27FC236}">
                  <a16:creationId xmlns:a16="http://schemas.microsoft.com/office/drawing/2014/main" id="{E3C8DD94-1D89-0B42-D511-92A87BDB7CF2}"/>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a:t>
              </a:r>
            </a:p>
          </p:txBody>
        </p:sp>
      </p:grpSp>
      <p:sp>
        <p:nvSpPr>
          <p:cNvPr id="6" name="TextBox 5">
            <a:extLst>
              <a:ext uri="{FF2B5EF4-FFF2-40B4-BE49-F238E27FC236}">
                <a16:creationId xmlns:a16="http://schemas.microsoft.com/office/drawing/2014/main" id="{4E6469C3-9C3F-96F2-CFC9-BE8D7939F766}"/>
              </a:ext>
            </a:extLst>
          </p:cNvPr>
          <p:cNvSpPr txBox="1"/>
          <p:nvPr/>
        </p:nvSpPr>
        <p:spPr>
          <a:xfrm>
            <a:off x="746449" y="1278660"/>
            <a:ext cx="5349551" cy="5714706"/>
          </a:xfrm>
          <a:prstGeom prst="rect">
            <a:avLst/>
          </a:prstGeom>
          <a:noFill/>
        </p:spPr>
        <p:txBody>
          <a:bodyPr wrap="square" rtlCol="0">
            <a:spAutoFit/>
          </a:bodyPr>
          <a:lstStyle/>
          <a:p>
            <a:pPr>
              <a:lnSpc>
                <a:spcPct val="107000"/>
              </a:lnSpc>
              <a:spcAft>
                <a:spcPts val="800"/>
              </a:spcAft>
            </a:pPr>
            <a:r>
              <a:rPr lang="vi-VN" sz="1800" kern="100">
                <a:effectLst/>
                <a:latin typeface="Times New Roman" panose="02020603050405020304" pitchFamily="18" charset="0"/>
                <a:ea typeface="Aptos" panose="020B0004020202020204" pitchFamily="34" charset="0"/>
                <a:cs typeface="Times New Roman" panose="02020603050405020304" pitchFamily="18" charset="0"/>
              </a:rPr>
              <a:t>Bộ nghịch lưu làm việc song </a:t>
            </a:r>
            <a:r>
              <a:rPr lang="vi-VN" sz="1800" kern="100" err="1">
                <a:effectLst/>
                <a:latin typeface="Times New Roman" panose="02020603050405020304" pitchFamily="18" charset="0"/>
                <a:ea typeface="Aptos" panose="020B0004020202020204" pitchFamily="34" charset="0"/>
                <a:cs typeface="Times New Roman" panose="02020603050405020304" pitchFamily="18" charset="0"/>
              </a:rPr>
              <a:t>song</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 là cấu trúc mắc giữa các DG thường gặp trong lưới điện MG, với nhiều ưu điểm vượt trội hơn so với phương pháp mắc nối tiếp khi áp dụng với các ứng dụng điện áp thấp. Khi mắc song </a:t>
            </a:r>
            <a:r>
              <a:rPr lang="vi-VN" sz="1800" kern="100" err="1">
                <a:effectLst/>
                <a:latin typeface="Times New Roman" panose="02020603050405020304" pitchFamily="18" charset="0"/>
                <a:ea typeface="Aptos" panose="020B0004020202020204" pitchFamily="34" charset="0"/>
                <a:cs typeface="Times New Roman" panose="02020603050405020304" pitchFamily="18" charset="0"/>
              </a:rPr>
              <a:t>song</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 các </a:t>
            </a:r>
            <a:r>
              <a:rPr lang="vi-VN" sz="1800" kern="100" err="1">
                <a:effectLst/>
                <a:latin typeface="Times New Roman" panose="02020603050405020304" pitchFamily="18" charset="0"/>
                <a:ea typeface="Aptos" panose="020B0004020202020204" pitchFamily="34" charset="0"/>
                <a:cs typeface="Times New Roman" panose="02020603050405020304" pitchFamily="18" charset="0"/>
              </a:rPr>
              <a:t>inverter</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 được điểu khiển một cách độc lập, năng lượng hoàn toàn được chia sẻ một cách có hiệu quả.</a:t>
            </a: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07000"/>
              </a:lnSpc>
              <a:spcAft>
                <a:spcPts val="800"/>
              </a:spcAft>
            </a:pPr>
            <a:r>
              <a:rPr lang="vi-VN" sz="1800" kern="100">
                <a:effectLst/>
                <a:latin typeface="Times New Roman" panose="02020603050405020304" pitchFamily="18" charset="0"/>
                <a:ea typeface="Aptos" panose="020B0004020202020204" pitchFamily="34" charset="0"/>
                <a:cs typeface="Times New Roman" panose="02020603050405020304" pitchFamily="18" charset="0"/>
              </a:rPr>
              <a:t>Vấn đề đặt ra trong việc kết nối song </a:t>
            </a:r>
            <a:r>
              <a:rPr lang="vi-VN" sz="1800" kern="100" err="1">
                <a:effectLst/>
                <a:latin typeface="Times New Roman" panose="02020603050405020304" pitchFamily="18" charset="0"/>
                <a:ea typeface="Aptos" panose="020B0004020202020204" pitchFamily="34" charset="0"/>
                <a:cs typeface="Times New Roman" panose="02020603050405020304" pitchFamily="18" charset="0"/>
              </a:rPr>
              <a:t>song</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 các bộ nghịch lưu là làm thế nào để chia sẻ công suất và đảm bảo chúng được kết nối hay ngắt một cách linh hoạt (</a:t>
            </a:r>
            <a:r>
              <a:rPr lang="vi-VN" sz="1800" kern="100" err="1">
                <a:effectLst/>
                <a:latin typeface="Times New Roman" panose="02020603050405020304" pitchFamily="18" charset="0"/>
                <a:ea typeface="Aptos" panose="020B0004020202020204" pitchFamily="34" charset="0"/>
                <a:cs typeface="Times New Roman" panose="02020603050405020304" pitchFamily="18" charset="0"/>
              </a:rPr>
              <a:t>plug</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vi-VN" sz="1800" kern="100" err="1">
                <a:effectLst/>
                <a:latin typeface="Times New Roman" panose="02020603050405020304" pitchFamily="18" charset="0"/>
                <a:ea typeface="Aptos" panose="020B0004020202020204" pitchFamily="34" charset="0"/>
                <a:cs typeface="Times New Roman" panose="02020603050405020304" pitchFamily="18" charset="0"/>
              </a:rPr>
              <a:t>and</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vi-VN" sz="1800" kern="100" err="1">
                <a:effectLst/>
                <a:latin typeface="Times New Roman" panose="02020603050405020304" pitchFamily="18" charset="0"/>
                <a:ea typeface="Aptos" panose="020B0004020202020204" pitchFamily="34" charset="0"/>
                <a:cs typeface="Times New Roman" panose="02020603050405020304" pitchFamily="18" charset="0"/>
              </a:rPr>
              <a:t>play</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 mà không ảnh hưởng đến độ tin cậy của hệ thống. Ngoài ra vấn đề trở kháng đầu ra của bộ nghịch lưu cũng cần được giải quyết.</a:t>
            </a: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07000"/>
              </a:lnSpc>
              <a:spcAft>
                <a:spcPts val="800"/>
              </a:spcAft>
            </a:pPr>
            <a:r>
              <a:rPr lang="en-US" sz="1800" kern="100">
                <a:effectLst/>
                <a:latin typeface="Times New Roman" panose="02020603050405020304" pitchFamily="18" charset="0"/>
                <a:ea typeface="Aptos" panose="020B0004020202020204" pitchFamily="34" charset="0"/>
                <a:cs typeface="Times New Roman" panose="02020603050405020304" pitchFamily="18" charset="0"/>
              </a:rPr>
              <a:t>=&gt;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Cần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một bộ điều khiển để thực hiện các yêu cầu và giải quyết những vấn đề trên. Trong bài này, nhóm em trình bày về cấu trúc điều khiển theo bộ dao động ảo VOC</a:t>
            </a: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07000"/>
              </a:lnSpc>
              <a:spcAft>
                <a:spcPts val="800"/>
              </a:spcAft>
            </a:pP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979BC9CC-FAA0-9CA4-ED3B-348CF4ACFFA9}"/>
              </a:ext>
            </a:extLst>
          </p:cNvPr>
          <p:cNvPicPr>
            <a:picLocks noChangeAspect="1"/>
          </p:cNvPicPr>
          <p:nvPr/>
        </p:nvPicPr>
        <p:blipFill>
          <a:blip r:embed="rId2"/>
          <a:stretch>
            <a:fillRect/>
          </a:stretch>
        </p:blipFill>
        <p:spPr>
          <a:xfrm>
            <a:off x="6636914" y="1897652"/>
            <a:ext cx="5034386" cy="3055885"/>
          </a:xfrm>
          <a:prstGeom prst="rect">
            <a:avLst/>
          </a:prstGeom>
          <a:ln>
            <a:solidFill>
              <a:schemeClr val="tx1"/>
            </a:solidFill>
          </a:ln>
        </p:spPr>
      </p:pic>
    </p:spTree>
    <p:extLst>
      <p:ext uri="{BB962C8B-B14F-4D97-AF65-F5344CB8AC3E}">
        <p14:creationId xmlns:p14="http://schemas.microsoft.com/office/powerpoint/2010/main" val="2087041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E8AFD-33C7-8C04-D262-20C0C507ADF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C9F7FE4-81AD-B9AF-0275-3D5A2CC5BF7E}"/>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2FD95D73-DED4-9540-BF98-98E24BD060BF}"/>
              </a:ext>
            </a:extLst>
          </p:cNvPr>
          <p:cNvSpPr>
            <a:spLocks noGrp="1"/>
          </p:cNvSpPr>
          <p:nvPr>
            <p:ph type="sldNum" sz="quarter" idx="12"/>
          </p:nvPr>
        </p:nvSpPr>
        <p:spPr/>
        <p:txBody>
          <a:bodyPr/>
          <a:lstStyle/>
          <a:p>
            <a:fld id="{931DD963-FD40-4A6D-88A9-402A489E81DE}" type="slidenum">
              <a:rPr lang="en-US" smtClean="0"/>
              <a:t>5</a:t>
            </a:fld>
            <a:endParaRPr lang="en-US"/>
          </a:p>
        </p:txBody>
      </p:sp>
      <p:sp>
        <p:nvSpPr>
          <p:cNvPr id="20" name="Rectangle 19">
            <a:extLst>
              <a:ext uri="{FF2B5EF4-FFF2-40B4-BE49-F238E27FC236}">
                <a16:creationId xmlns:a16="http://schemas.microsoft.com/office/drawing/2014/main" id="{365CC5D3-1EDF-92B2-3484-BDA20235A724}"/>
              </a:ext>
            </a:extLst>
          </p:cNvPr>
          <p:cNvSpPr/>
          <p:nvPr/>
        </p:nvSpPr>
        <p:spPr>
          <a:xfrm>
            <a:off x="12296854" y="3425595"/>
            <a:ext cx="184731" cy="369332"/>
          </a:xfrm>
          <a:prstGeom prst="rect">
            <a:avLst/>
          </a:prstGeom>
        </p:spPr>
        <p:txBody>
          <a:bodyPr wrap="none">
            <a:spAutoFit/>
          </a:bodyPr>
          <a:lstStyle/>
          <a:p>
            <a:endParaRPr lang="en-US"/>
          </a:p>
        </p:txBody>
      </p:sp>
      <p:sp>
        <p:nvSpPr>
          <p:cNvPr id="5" name="Rectangle 4">
            <a:extLst>
              <a:ext uri="{FF2B5EF4-FFF2-40B4-BE49-F238E27FC236}">
                <a16:creationId xmlns:a16="http://schemas.microsoft.com/office/drawing/2014/main" id="{CD96C737-D8D7-A669-78D5-3CDF5AEC2EB7}"/>
              </a:ext>
            </a:extLst>
          </p:cNvPr>
          <p:cNvSpPr/>
          <p:nvPr/>
        </p:nvSpPr>
        <p:spPr>
          <a:xfrm>
            <a:off x="12289384" y="3425595"/>
            <a:ext cx="184731" cy="369332"/>
          </a:xfrm>
          <a:prstGeom prst="rect">
            <a:avLst/>
          </a:prstGeom>
        </p:spPr>
        <p:txBody>
          <a:bodyPr wrap="none">
            <a:spAutoFit/>
          </a:bodyPr>
          <a:lstStyle/>
          <a:p>
            <a:endParaRPr lang="en-US"/>
          </a:p>
        </p:txBody>
      </p:sp>
      <p:grpSp>
        <p:nvGrpSpPr>
          <p:cNvPr id="7" name="Group 6">
            <a:extLst>
              <a:ext uri="{FF2B5EF4-FFF2-40B4-BE49-F238E27FC236}">
                <a16:creationId xmlns:a16="http://schemas.microsoft.com/office/drawing/2014/main" id="{EB509983-7926-7AF1-6C1E-0EEC6916EA0E}"/>
              </a:ext>
            </a:extLst>
          </p:cNvPr>
          <p:cNvGrpSpPr/>
          <p:nvPr/>
        </p:nvGrpSpPr>
        <p:grpSpPr>
          <a:xfrm>
            <a:off x="516794" y="459294"/>
            <a:ext cx="9501431" cy="748796"/>
            <a:chOff x="1793005" y="1746584"/>
            <a:chExt cx="9501431" cy="748795"/>
          </a:xfrm>
        </p:grpSpPr>
        <p:sp>
          <p:nvSpPr>
            <p:cNvPr id="9" name="TextBox 8">
              <a:extLst>
                <a:ext uri="{FF2B5EF4-FFF2-40B4-BE49-F238E27FC236}">
                  <a16:creationId xmlns:a16="http://schemas.microsoft.com/office/drawing/2014/main" id="{0B8ADE33-DB9E-5C66-930E-C4A43BB91371}"/>
                </a:ext>
              </a:extLst>
            </p:cNvPr>
            <p:cNvSpPr txBox="1"/>
            <p:nvPr/>
          </p:nvSpPr>
          <p:spPr>
            <a:xfrm>
              <a:off x="2721565" y="1746585"/>
              <a:ext cx="8572871" cy="748794"/>
            </a:xfrm>
            <a:prstGeom prst="rect">
              <a:avLst/>
            </a:prstGeom>
            <a:noFill/>
          </p:spPr>
          <p:txBody>
            <a:bodyPr wrap="square" rtlCol="0">
              <a:spAutoFit/>
            </a:bodyPr>
            <a:lstStyle/>
            <a:p>
              <a:r>
                <a:rPr lang="en-US" sz="2133" b="1">
                  <a:latin typeface="Arial (Body)"/>
                </a:rPr>
                <a:t>CHƯƠNG 1: ĐẶT VẤN ĐỀ</a:t>
              </a:r>
            </a:p>
            <a:p>
              <a:endParaRPr lang="en-US" sz="2133" b="1">
                <a:latin typeface="Arial (Body)"/>
              </a:endParaRPr>
            </a:p>
          </p:txBody>
        </p:sp>
        <p:sp>
          <p:nvSpPr>
            <p:cNvPr id="10" name="Rectangle 9">
              <a:extLst>
                <a:ext uri="{FF2B5EF4-FFF2-40B4-BE49-F238E27FC236}">
                  <a16:creationId xmlns:a16="http://schemas.microsoft.com/office/drawing/2014/main" id="{A985CF98-DAE1-E683-7810-8CBF8EB545B2}"/>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a:t>
              </a:r>
            </a:p>
          </p:txBody>
        </p:sp>
      </p:grpSp>
      <p:sp>
        <p:nvSpPr>
          <p:cNvPr id="4" name="TextBox 3">
            <a:extLst>
              <a:ext uri="{FF2B5EF4-FFF2-40B4-BE49-F238E27FC236}">
                <a16:creationId xmlns:a16="http://schemas.microsoft.com/office/drawing/2014/main" id="{A512ACEA-C4C1-21D1-C7A7-A470B4769A9F}"/>
              </a:ext>
            </a:extLst>
          </p:cNvPr>
          <p:cNvSpPr txBox="1"/>
          <p:nvPr/>
        </p:nvSpPr>
        <p:spPr>
          <a:xfrm>
            <a:off x="725642" y="1745633"/>
            <a:ext cx="10209773" cy="3139321"/>
          </a:xfrm>
          <a:prstGeom prst="rect">
            <a:avLst/>
          </a:prstGeom>
          <a:noFill/>
        </p:spPr>
        <p:txBody>
          <a:bodyPr wrap="square" rtlCol="0">
            <a:spAutoFit/>
          </a:bodyPr>
          <a:lstStyle/>
          <a:p>
            <a:r>
              <a:rPr lang="vi-VN"/>
              <a:t>Ứng dụng của nghịch lưu song song trong thực tế:</a:t>
            </a:r>
          </a:p>
          <a:p>
            <a:endParaRPr lang="vi-VN"/>
          </a:p>
          <a:p>
            <a:pPr marL="285750" indent="-285750">
              <a:buFont typeface="Arial" panose="020B0604020202020204" pitchFamily="34" charset="0"/>
              <a:buChar char="•"/>
            </a:pPr>
            <a:r>
              <a:rPr lang="vi-VN" sz="1800" kern="100">
                <a:effectLst/>
                <a:latin typeface="Times New Roman" panose="02020603050405020304" pitchFamily="18" charset="0"/>
                <a:ea typeface="Aptos" panose="020B0004020202020204" pitchFamily="34" charset="0"/>
                <a:cs typeface="Times New Roman" panose="02020603050405020304" pitchFamily="18" charset="0"/>
              </a:rPr>
              <a:t>Microgrid (MG) là lưới điện nhỏ bao gồm nhiều nguồn phát điện phân tán (</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DG - Distributed Generation</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 (Nguồn phát điện phân tán DG là các nguồn năng lượng khác nhau như: Mặt trời, gió, diesel,…tích hợp vào hệ thống điện). </a:t>
            </a: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endParaRPr lang="vi-VN"/>
          </a:p>
          <a:p>
            <a:pPr>
              <a:buFont typeface="Arial" panose="020B0604020202020204" pitchFamily="34" charset="0"/>
              <a:buChar char="•"/>
            </a:pPr>
            <a:r>
              <a:rPr lang="vi-VN">
                <a:latin typeface="+mj-lt"/>
              </a:rPr>
              <a:t>     Hệ thống UPS (Uninterruptible Power Supply) công suất lớn</a:t>
            </a:r>
          </a:p>
          <a:p>
            <a:r>
              <a:rPr lang="vi-VN">
                <a:latin typeface="+mj-lt"/>
              </a:rPr>
              <a:t>Mô tả: Trong các tòa nhà văn phòng, trung tâm dữ liệu (data centers) và nhà máy, hệ thống UPS dùng để cung cấp điện liên tục khi mất điện lưới. Các bộ nghịch lưu trong hệ thống UPS hoạt động song song để đảm bảo cung cấp điện liên tục.</a:t>
            </a:r>
          </a:p>
          <a:p>
            <a:pPr marL="285750" indent="-285750">
              <a:buFont typeface="Arial" panose="020B0604020202020204" pitchFamily="34" charset="0"/>
              <a:buChar char="•"/>
            </a:pPr>
            <a:endParaRPr lang="vi-VN"/>
          </a:p>
        </p:txBody>
      </p:sp>
    </p:spTree>
    <p:extLst>
      <p:ext uri="{BB962C8B-B14F-4D97-AF65-F5344CB8AC3E}">
        <p14:creationId xmlns:p14="http://schemas.microsoft.com/office/powerpoint/2010/main" val="3363048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6</a:t>
            </a:fld>
            <a:endParaRPr lang="en-US"/>
          </a:p>
        </p:txBody>
      </p:sp>
      <p:sp>
        <p:nvSpPr>
          <p:cNvPr id="9" name="TextBox 8"/>
          <p:cNvSpPr txBox="1"/>
          <p:nvPr/>
        </p:nvSpPr>
        <p:spPr>
          <a:xfrm>
            <a:off x="1550606" y="1598709"/>
            <a:ext cx="7102632" cy="46166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2.1. </a:t>
            </a:r>
            <a:r>
              <a:rPr lang="en-US" sz="2400" b="1" err="1">
                <a:latin typeface="Times New Roman" panose="02020603050405020304" pitchFamily="18" charset="0"/>
                <a:cs typeface="Times New Roman" panose="02020603050405020304" pitchFamily="18" charset="0"/>
              </a:rPr>
              <a:t>Cơ</a:t>
            </a:r>
            <a:r>
              <a:rPr lang="en-US" sz="2400" b="1">
                <a:latin typeface="Times New Roman" panose="02020603050405020304" pitchFamily="18" charset="0"/>
                <a:cs typeface="Times New Roman" panose="02020603050405020304" pitchFamily="18" charset="0"/>
              </a:rPr>
              <a:t> </a:t>
            </a:r>
            <a:r>
              <a:rPr lang="en-US" sz="2400" b="1" err="1">
                <a:latin typeface="Times New Roman" panose="02020603050405020304" pitchFamily="18" charset="0"/>
                <a:cs typeface="Times New Roman" panose="02020603050405020304" pitchFamily="18" charset="0"/>
              </a:rPr>
              <a:t>sở</a:t>
            </a:r>
            <a:r>
              <a:rPr lang="en-US" sz="2400" b="1">
                <a:latin typeface="Times New Roman" panose="02020603050405020304" pitchFamily="18" charset="0"/>
                <a:cs typeface="Times New Roman" panose="02020603050405020304" pitchFamily="18" charset="0"/>
              </a:rPr>
              <a:t> lý </a:t>
            </a:r>
            <a:r>
              <a:rPr lang="en-US" sz="2400" b="1" err="1">
                <a:latin typeface="Times New Roman" panose="02020603050405020304" pitchFamily="18" charset="0"/>
                <a:cs typeface="Times New Roman" panose="02020603050405020304" pitchFamily="18" charset="0"/>
              </a:rPr>
              <a:t>thuyết</a:t>
            </a:r>
            <a:r>
              <a:rPr lang="en-US" sz="2400" b="1">
                <a:latin typeface="Times New Roman" panose="02020603050405020304" pitchFamily="18" charset="0"/>
                <a:cs typeface="Times New Roman" panose="02020603050405020304" pitchFamily="18" charset="0"/>
              </a:rPr>
              <a:t> </a:t>
            </a:r>
            <a:r>
              <a:rPr lang="en-US" sz="2400" b="1" err="1">
                <a:latin typeface="Times New Roman" panose="02020603050405020304" pitchFamily="18" charset="0"/>
                <a:cs typeface="Times New Roman" panose="02020603050405020304" pitchFamily="18" charset="0"/>
              </a:rPr>
              <a:t>phương</a:t>
            </a:r>
            <a:r>
              <a:rPr lang="en-US" sz="2400" b="1">
                <a:latin typeface="Times New Roman" panose="02020603050405020304" pitchFamily="18" charset="0"/>
                <a:cs typeface="Times New Roman" panose="02020603050405020304" pitchFamily="18" charset="0"/>
              </a:rPr>
              <a:t> </a:t>
            </a:r>
            <a:r>
              <a:rPr lang="en-US" sz="2400" b="1" err="1">
                <a:latin typeface="Times New Roman" panose="02020603050405020304" pitchFamily="18" charset="0"/>
                <a:cs typeface="Times New Roman" panose="02020603050405020304" pitchFamily="18" charset="0"/>
              </a:rPr>
              <a:t>pháp</a:t>
            </a:r>
            <a:r>
              <a:rPr lang="en-US" sz="2400" b="1">
                <a:latin typeface="Times New Roman" panose="02020603050405020304" pitchFamily="18" charset="0"/>
                <a:cs typeface="Times New Roman" panose="02020603050405020304" pitchFamily="18" charset="0"/>
              </a:rPr>
              <a:t> VOC</a:t>
            </a:r>
          </a:p>
        </p:txBody>
      </p:sp>
      <p:sp>
        <p:nvSpPr>
          <p:cNvPr id="7" name="TextBox 6">
            <a:extLst>
              <a:ext uri="{FF2B5EF4-FFF2-40B4-BE49-F238E27FC236}">
                <a16:creationId xmlns:a16="http://schemas.microsoft.com/office/drawing/2014/main" id="{80BC634D-0E80-61F0-C858-B07FF64A9C1E}"/>
              </a:ext>
            </a:extLst>
          </p:cNvPr>
          <p:cNvSpPr txBox="1"/>
          <p:nvPr/>
        </p:nvSpPr>
        <p:spPr>
          <a:xfrm>
            <a:off x="1550606" y="2102293"/>
            <a:ext cx="7420788" cy="46166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2.2. </a:t>
            </a:r>
            <a:r>
              <a:rPr lang="en-US" sz="2400" b="1" err="1">
                <a:latin typeface="Times New Roman" panose="02020603050405020304" pitchFamily="18" charset="0"/>
                <a:cs typeface="Times New Roman" panose="02020603050405020304" pitchFamily="18" charset="0"/>
              </a:rPr>
              <a:t>Xây</a:t>
            </a:r>
            <a:r>
              <a:rPr lang="en-US" sz="2400" b="1">
                <a:latin typeface="Times New Roman" panose="02020603050405020304" pitchFamily="18" charset="0"/>
                <a:cs typeface="Times New Roman" panose="02020603050405020304" pitchFamily="18" charset="0"/>
              </a:rPr>
              <a:t> </a:t>
            </a:r>
            <a:r>
              <a:rPr lang="en-US" sz="2400" b="1" err="1">
                <a:latin typeface="Times New Roman" panose="02020603050405020304" pitchFamily="18" charset="0"/>
                <a:cs typeface="Times New Roman" panose="02020603050405020304" pitchFamily="18" charset="0"/>
              </a:rPr>
              <a:t>dựng</a:t>
            </a:r>
            <a:r>
              <a:rPr lang="en-US" sz="2400" b="1">
                <a:latin typeface="Times New Roman" panose="02020603050405020304" pitchFamily="18" charset="0"/>
                <a:cs typeface="Times New Roman" panose="02020603050405020304" pitchFamily="18" charset="0"/>
              </a:rPr>
              <a:t> </a:t>
            </a:r>
            <a:r>
              <a:rPr lang="en-US" sz="2400" b="1" err="1">
                <a:latin typeface="Times New Roman" panose="02020603050405020304" pitchFamily="18" charset="0"/>
                <a:cs typeface="Times New Roman" panose="02020603050405020304" pitchFamily="18" charset="0"/>
              </a:rPr>
              <a:t>sơ</a:t>
            </a:r>
            <a:r>
              <a:rPr lang="en-US" sz="2400" b="1">
                <a:latin typeface="Times New Roman" panose="02020603050405020304" pitchFamily="18" charset="0"/>
                <a:cs typeface="Times New Roman" panose="02020603050405020304" pitchFamily="18" charset="0"/>
              </a:rPr>
              <a:t> </a:t>
            </a:r>
            <a:r>
              <a:rPr lang="en-US" sz="2400" b="1" err="1">
                <a:latin typeface="Times New Roman" panose="02020603050405020304" pitchFamily="18" charset="0"/>
                <a:cs typeface="Times New Roman" panose="02020603050405020304" pitchFamily="18" charset="0"/>
              </a:rPr>
              <a:t>đồ</a:t>
            </a:r>
            <a:r>
              <a:rPr lang="en-US" sz="2400" b="1">
                <a:latin typeface="Times New Roman" panose="02020603050405020304" pitchFamily="18" charset="0"/>
                <a:cs typeface="Times New Roman" panose="02020603050405020304" pitchFamily="18" charset="0"/>
              </a:rPr>
              <a:t> VOC </a:t>
            </a:r>
            <a:r>
              <a:rPr lang="en-US" sz="2400" b="1" err="1">
                <a:latin typeface="Times New Roman" panose="02020603050405020304" pitchFamily="18" charset="0"/>
                <a:cs typeface="Times New Roman" panose="02020603050405020304" pitchFamily="18" charset="0"/>
              </a:rPr>
              <a:t>dao</a:t>
            </a:r>
            <a:r>
              <a:rPr lang="en-US" sz="2400" b="1">
                <a:latin typeface="Times New Roman" panose="02020603050405020304" pitchFamily="18" charset="0"/>
                <a:cs typeface="Times New Roman" panose="02020603050405020304" pitchFamily="18" charset="0"/>
              </a:rPr>
              <a:t> </a:t>
            </a:r>
            <a:r>
              <a:rPr lang="en-US" sz="2400" b="1" err="1">
                <a:latin typeface="Times New Roman" panose="02020603050405020304" pitchFamily="18" charset="0"/>
                <a:cs typeface="Times New Roman" panose="02020603050405020304" pitchFamily="18" charset="0"/>
              </a:rPr>
              <a:t>động</a:t>
            </a:r>
            <a:r>
              <a:rPr lang="en-US" sz="2400" b="1">
                <a:latin typeface="Times New Roman" panose="02020603050405020304" pitchFamily="18" charset="0"/>
                <a:cs typeface="Times New Roman" panose="02020603050405020304" pitchFamily="18" charset="0"/>
              </a:rPr>
              <a:t> </a:t>
            </a:r>
            <a:r>
              <a:rPr lang="en-US" sz="2400" b="1" err="1">
                <a:latin typeface="Times New Roman" panose="02020603050405020304" pitchFamily="18" charset="0"/>
                <a:cs typeface="Times New Roman" panose="02020603050405020304" pitchFamily="18" charset="0"/>
              </a:rPr>
              <a:t>Andronov-Hopf</a:t>
            </a:r>
            <a:endParaRPr lang="en-US" sz="2400" b="1">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92F7EB4-45F8-4B24-4DA3-307F4AEE2AA7}"/>
              </a:ext>
            </a:extLst>
          </p:cNvPr>
          <p:cNvSpPr txBox="1"/>
          <p:nvPr/>
        </p:nvSpPr>
        <p:spPr>
          <a:xfrm>
            <a:off x="1550606" y="2644064"/>
            <a:ext cx="9963370" cy="461665"/>
          </a:xfrm>
          <a:prstGeom prst="rect">
            <a:avLst/>
          </a:prstGeom>
          <a:noFill/>
        </p:spPr>
        <p:txBody>
          <a:bodyPr wrap="square" rtlCol="0">
            <a:spAutoFit/>
          </a:bodyPr>
          <a:lstStyle/>
          <a:p>
            <a:pPr defTabSz="609585">
              <a:defRPr/>
            </a:pPr>
            <a:r>
              <a:rPr lang="en-US" sz="2400" b="1">
                <a:solidFill>
                  <a:prstClr val="black"/>
                </a:solidFill>
                <a:latin typeface="Times New Roman" panose="02020603050405020304" pitchFamily="18" charset="0"/>
                <a:cs typeface="Times New Roman" panose="02020603050405020304" pitchFamily="18" charset="0"/>
              </a:rPr>
              <a:t>2.3. </a:t>
            </a:r>
            <a:r>
              <a:rPr lang="en-US" sz="2400" b="1" err="1">
                <a:effectLst/>
                <a:latin typeface="Times New Roman" panose="02020603050405020304" pitchFamily="18" charset="0"/>
                <a:ea typeface="Aptos" panose="020B0004020202020204" pitchFamily="34" charset="0"/>
              </a:rPr>
              <a:t>Xây</a:t>
            </a:r>
            <a:r>
              <a:rPr lang="en-US" sz="2400" b="1">
                <a:effectLst/>
                <a:latin typeface="Times New Roman" panose="02020603050405020304" pitchFamily="18" charset="0"/>
                <a:ea typeface="Aptos" panose="020B0004020202020204" pitchFamily="34" charset="0"/>
              </a:rPr>
              <a:t> </a:t>
            </a:r>
            <a:r>
              <a:rPr lang="en-US" sz="2400" b="1" err="1">
                <a:effectLst/>
                <a:latin typeface="Times New Roman" panose="02020603050405020304" pitchFamily="18" charset="0"/>
                <a:ea typeface="Aptos" panose="020B0004020202020204" pitchFamily="34" charset="0"/>
              </a:rPr>
              <a:t>dựng</a:t>
            </a:r>
            <a:r>
              <a:rPr lang="en-US" sz="2400" b="1">
                <a:effectLst/>
                <a:latin typeface="Times New Roman" panose="02020603050405020304" pitchFamily="18" charset="0"/>
                <a:ea typeface="Aptos" panose="020B0004020202020204" pitchFamily="34" charset="0"/>
              </a:rPr>
              <a:t> </a:t>
            </a:r>
            <a:r>
              <a:rPr lang="en-US" sz="2400" b="1" err="1">
                <a:effectLst/>
                <a:latin typeface="Times New Roman" panose="02020603050405020304" pitchFamily="18" charset="0"/>
                <a:ea typeface="Aptos" panose="020B0004020202020204" pitchFamily="34" charset="0"/>
              </a:rPr>
              <a:t>cấu</a:t>
            </a:r>
            <a:r>
              <a:rPr lang="en-US" sz="2400" b="1">
                <a:effectLst/>
                <a:latin typeface="Times New Roman" panose="02020603050405020304" pitchFamily="18" charset="0"/>
                <a:ea typeface="Aptos" panose="020B0004020202020204" pitchFamily="34" charset="0"/>
              </a:rPr>
              <a:t> </a:t>
            </a:r>
            <a:r>
              <a:rPr lang="en-US" sz="2400" b="1" err="1">
                <a:effectLst/>
                <a:latin typeface="Times New Roman" panose="02020603050405020304" pitchFamily="18" charset="0"/>
                <a:ea typeface="Aptos" panose="020B0004020202020204" pitchFamily="34" charset="0"/>
              </a:rPr>
              <a:t>trúc</a:t>
            </a:r>
            <a:r>
              <a:rPr lang="en-US" sz="2400" b="1">
                <a:effectLst/>
                <a:latin typeface="Times New Roman" panose="02020603050405020304" pitchFamily="18" charset="0"/>
                <a:ea typeface="Aptos" panose="020B0004020202020204" pitchFamily="34" charset="0"/>
              </a:rPr>
              <a:t> </a:t>
            </a:r>
            <a:r>
              <a:rPr lang="en-US" sz="2400" b="1" err="1">
                <a:effectLst/>
                <a:latin typeface="Times New Roman" panose="02020603050405020304" pitchFamily="18" charset="0"/>
                <a:ea typeface="Aptos" panose="020B0004020202020204" pitchFamily="34" charset="0"/>
              </a:rPr>
              <a:t>điều</a:t>
            </a:r>
            <a:r>
              <a:rPr lang="en-US" sz="2400" b="1">
                <a:effectLst/>
                <a:latin typeface="Times New Roman" panose="02020603050405020304" pitchFamily="18" charset="0"/>
                <a:ea typeface="Aptos" panose="020B0004020202020204" pitchFamily="34" charset="0"/>
              </a:rPr>
              <a:t> </a:t>
            </a:r>
            <a:r>
              <a:rPr lang="en-US" sz="2400" b="1" err="1">
                <a:effectLst/>
                <a:latin typeface="Times New Roman" panose="02020603050405020304" pitchFamily="18" charset="0"/>
                <a:ea typeface="Aptos" panose="020B0004020202020204" pitchFamily="34" charset="0"/>
              </a:rPr>
              <a:t>khiển</a:t>
            </a:r>
            <a:r>
              <a:rPr lang="en-US" sz="2400" b="1">
                <a:effectLst/>
                <a:latin typeface="Times New Roman" panose="02020603050405020304" pitchFamily="18" charset="0"/>
                <a:ea typeface="Aptos" panose="020B0004020202020204" pitchFamily="34" charset="0"/>
              </a:rPr>
              <a:t> </a:t>
            </a:r>
            <a:r>
              <a:rPr lang="en-US" sz="2400" b="1" err="1">
                <a:effectLst/>
                <a:latin typeface="Times New Roman" panose="02020603050405020304" pitchFamily="18" charset="0"/>
                <a:ea typeface="Aptos" panose="020B0004020202020204" pitchFamily="34" charset="0"/>
              </a:rPr>
              <a:t>cho</a:t>
            </a:r>
            <a:r>
              <a:rPr lang="en-US" sz="2400" b="1">
                <a:effectLst/>
                <a:latin typeface="Times New Roman" panose="02020603050405020304" pitchFamily="18" charset="0"/>
                <a:ea typeface="Aptos" panose="020B0004020202020204" pitchFamily="34" charset="0"/>
              </a:rPr>
              <a:t> </a:t>
            </a:r>
            <a:r>
              <a:rPr lang="en-US" sz="2400" b="1" err="1">
                <a:effectLst/>
                <a:latin typeface="Times New Roman" panose="02020603050405020304" pitchFamily="18" charset="0"/>
                <a:ea typeface="Aptos" panose="020B0004020202020204" pitchFamily="34" charset="0"/>
              </a:rPr>
              <a:t>hai</a:t>
            </a:r>
            <a:r>
              <a:rPr lang="en-US" sz="2400" b="1">
                <a:effectLst/>
                <a:latin typeface="Times New Roman" panose="02020603050405020304" pitchFamily="18" charset="0"/>
                <a:ea typeface="Aptos" panose="020B0004020202020204" pitchFamily="34" charset="0"/>
              </a:rPr>
              <a:t> </a:t>
            </a:r>
            <a:r>
              <a:rPr lang="en-US" sz="2400" b="1" err="1">
                <a:effectLst/>
                <a:latin typeface="Times New Roman" panose="02020603050405020304" pitchFamily="18" charset="0"/>
                <a:ea typeface="Aptos" panose="020B0004020202020204" pitchFamily="34" charset="0"/>
              </a:rPr>
              <a:t>bộ</a:t>
            </a:r>
            <a:r>
              <a:rPr lang="en-US" sz="2400" b="1">
                <a:effectLst/>
                <a:latin typeface="Times New Roman" panose="02020603050405020304" pitchFamily="18" charset="0"/>
                <a:ea typeface="Aptos" panose="020B0004020202020204" pitchFamily="34" charset="0"/>
              </a:rPr>
              <a:t> </a:t>
            </a:r>
            <a:r>
              <a:rPr lang="en-US" sz="2400" b="1" err="1">
                <a:effectLst/>
                <a:latin typeface="Times New Roman" panose="02020603050405020304" pitchFamily="18" charset="0"/>
                <a:ea typeface="Aptos" panose="020B0004020202020204" pitchFamily="34" charset="0"/>
              </a:rPr>
              <a:t>nghịch</a:t>
            </a:r>
            <a:r>
              <a:rPr lang="en-US" sz="2400" b="1">
                <a:effectLst/>
                <a:latin typeface="Times New Roman" panose="02020603050405020304" pitchFamily="18" charset="0"/>
                <a:ea typeface="Aptos" panose="020B0004020202020204" pitchFamily="34" charset="0"/>
              </a:rPr>
              <a:t> </a:t>
            </a:r>
            <a:r>
              <a:rPr lang="en-US" sz="2400" b="1" err="1">
                <a:effectLst/>
                <a:latin typeface="Times New Roman" panose="02020603050405020304" pitchFamily="18" charset="0"/>
                <a:ea typeface="Aptos" panose="020B0004020202020204" pitchFamily="34" charset="0"/>
              </a:rPr>
              <a:t>lưu</a:t>
            </a:r>
            <a:r>
              <a:rPr lang="en-US" sz="2400" b="1">
                <a:effectLst/>
                <a:latin typeface="Times New Roman" panose="02020603050405020304" pitchFamily="18" charset="0"/>
                <a:ea typeface="Aptos" panose="020B0004020202020204" pitchFamily="34" charset="0"/>
              </a:rPr>
              <a:t> </a:t>
            </a:r>
            <a:r>
              <a:rPr lang="en-US" sz="2400" b="1" err="1">
                <a:effectLst/>
                <a:latin typeface="Times New Roman" panose="02020603050405020304" pitchFamily="18" charset="0"/>
                <a:ea typeface="Aptos" panose="020B0004020202020204" pitchFamily="34" charset="0"/>
              </a:rPr>
              <a:t>mắc</a:t>
            </a:r>
            <a:r>
              <a:rPr lang="en-US" sz="2400" b="1">
                <a:effectLst/>
                <a:latin typeface="Times New Roman" panose="02020603050405020304" pitchFamily="18" charset="0"/>
                <a:ea typeface="Aptos" panose="020B0004020202020204" pitchFamily="34" charset="0"/>
              </a:rPr>
              <a:t> song </a:t>
            </a:r>
            <a:r>
              <a:rPr lang="en-US" sz="2400" b="1" err="1">
                <a:effectLst/>
                <a:latin typeface="Times New Roman" panose="02020603050405020304" pitchFamily="18" charset="0"/>
                <a:ea typeface="Aptos" panose="020B0004020202020204" pitchFamily="34" charset="0"/>
              </a:rPr>
              <a:t>song</a:t>
            </a:r>
            <a:endParaRPr lang="en-US" sz="2400" b="1">
              <a:solidFill>
                <a:prstClr val="black"/>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CEF4006-5E19-E92B-5FF1-8BED9B9D3789}"/>
              </a:ext>
            </a:extLst>
          </p:cNvPr>
          <p:cNvSpPr txBox="1"/>
          <p:nvPr/>
        </p:nvSpPr>
        <p:spPr>
          <a:xfrm>
            <a:off x="1550606" y="3185835"/>
            <a:ext cx="9963370" cy="461665"/>
          </a:xfrm>
          <a:prstGeom prst="rect">
            <a:avLst/>
          </a:prstGeom>
          <a:noFill/>
        </p:spPr>
        <p:txBody>
          <a:bodyPr wrap="square" rtlCol="0">
            <a:spAutoFit/>
          </a:bodyPr>
          <a:lstStyle/>
          <a:p>
            <a:pPr defTabSz="609585">
              <a:defRPr/>
            </a:pPr>
            <a:r>
              <a:rPr lang="en-US" sz="2400" b="1">
                <a:solidFill>
                  <a:prstClr val="black"/>
                </a:solidFill>
                <a:latin typeface="Times New Roman" panose="02020603050405020304" pitchFamily="18" charset="0"/>
                <a:cs typeface="Times New Roman" panose="02020603050405020304" pitchFamily="18" charset="0"/>
              </a:rPr>
              <a:t>2.4. </a:t>
            </a:r>
            <a:r>
              <a:rPr lang="en-US" sz="2400" b="1" err="1">
                <a:solidFill>
                  <a:prstClr val="black"/>
                </a:solidFill>
                <a:latin typeface="Times New Roman" panose="02020603050405020304" pitchFamily="18" charset="0"/>
                <a:cs typeface="Times New Roman" panose="02020603050405020304" pitchFamily="18" charset="0"/>
              </a:rPr>
              <a:t>Tính</a:t>
            </a:r>
            <a:r>
              <a:rPr lang="en-US" sz="2400" b="1">
                <a:solidFill>
                  <a:prstClr val="black"/>
                </a:solidFill>
                <a:latin typeface="Times New Roman" panose="02020603050405020304" pitchFamily="18" charset="0"/>
                <a:cs typeface="Times New Roman" panose="02020603050405020304" pitchFamily="18" charset="0"/>
              </a:rPr>
              <a:t> </a:t>
            </a:r>
            <a:r>
              <a:rPr lang="en-US" sz="2400" b="1" err="1">
                <a:solidFill>
                  <a:prstClr val="black"/>
                </a:solidFill>
                <a:latin typeface="Times New Roman" panose="02020603050405020304" pitchFamily="18" charset="0"/>
                <a:cs typeface="Times New Roman" panose="02020603050405020304" pitchFamily="18" charset="0"/>
              </a:rPr>
              <a:t>toán</a:t>
            </a:r>
            <a:r>
              <a:rPr lang="en-US" sz="2400" b="1">
                <a:solidFill>
                  <a:prstClr val="black"/>
                </a:solidFill>
                <a:latin typeface="Times New Roman" panose="02020603050405020304" pitchFamily="18" charset="0"/>
                <a:cs typeface="Times New Roman" panose="02020603050405020304" pitchFamily="18" charset="0"/>
              </a:rPr>
              <a:t> thông số</a:t>
            </a:r>
          </a:p>
        </p:txBody>
      </p:sp>
      <p:grpSp>
        <p:nvGrpSpPr>
          <p:cNvPr id="8" name="Group 7">
            <a:extLst>
              <a:ext uri="{FF2B5EF4-FFF2-40B4-BE49-F238E27FC236}">
                <a16:creationId xmlns:a16="http://schemas.microsoft.com/office/drawing/2014/main" id="{A2E603E4-8E6D-3E8F-3A4A-82952A34622D}"/>
              </a:ext>
            </a:extLst>
          </p:cNvPr>
          <p:cNvGrpSpPr/>
          <p:nvPr/>
        </p:nvGrpSpPr>
        <p:grpSpPr>
          <a:xfrm>
            <a:off x="510284" y="324255"/>
            <a:ext cx="9501431" cy="748796"/>
            <a:chOff x="1793005" y="1746584"/>
            <a:chExt cx="9501431" cy="748794"/>
          </a:xfrm>
        </p:grpSpPr>
        <p:sp>
          <p:nvSpPr>
            <p:cNvPr id="12" name="TextBox 11">
              <a:extLst>
                <a:ext uri="{FF2B5EF4-FFF2-40B4-BE49-F238E27FC236}">
                  <a16:creationId xmlns:a16="http://schemas.microsoft.com/office/drawing/2014/main" id="{6FEFDEAC-B01F-E232-96B0-5B3A2B85C203}"/>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13" name="Rectangle 12">
              <a:extLst>
                <a:ext uri="{FF2B5EF4-FFF2-40B4-BE49-F238E27FC236}">
                  <a16:creationId xmlns:a16="http://schemas.microsoft.com/office/drawing/2014/main" id="{6D019F40-555C-FB61-4274-9783EA90496F}"/>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Tree>
    <p:extLst>
      <p:ext uri="{BB962C8B-B14F-4D97-AF65-F5344CB8AC3E}">
        <p14:creationId xmlns:p14="http://schemas.microsoft.com/office/powerpoint/2010/main" val="150675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7</a:t>
            </a:fld>
            <a:endParaRPr lang="en-US"/>
          </a:p>
        </p:txBody>
      </p:sp>
      <p:sp>
        <p:nvSpPr>
          <p:cNvPr id="4" name="TextBox 3"/>
          <p:cNvSpPr txBox="1"/>
          <p:nvPr/>
        </p:nvSpPr>
        <p:spPr>
          <a:xfrm>
            <a:off x="365618" y="2107004"/>
            <a:ext cx="5988529" cy="2945422"/>
          </a:xfrm>
          <a:prstGeom prst="rect">
            <a:avLst/>
          </a:prstGeom>
          <a:noFill/>
        </p:spPr>
        <p:txBody>
          <a:bodyPr wrap="square" rtlCol="0">
            <a:spAutoFit/>
          </a:bodyPr>
          <a:lstStyle/>
          <a:p>
            <a:pPr>
              <a:lnSpc>
                <a:spcPct val="107000"/>
              </a:lnSpc>
              <a:spcAft>
                <a:spcPts val="800"/>
              </a:spcAft>
            </a:pPr>
            <a:r>
              <a:rPr lang="vi-VN" sz="1800" kern="100">
                <a:effectLst/>
                <a:latin typeface="Times New Roman" panose="02020603050405020304" pitchFamily="18" charset="0"/>
                <a:ea typeface="Aptos" panose="020B0004020202020204" pitchFamily="34" charset="0"/>
                <a:cs typeface="Times New Roman" panose="02020603050405020304" pitchFamily="18" charset="0"/>
              </a:rPr>
              <a:t>Điều k</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h</a:t>
            </a:r>
            <a:r>
              <a:rPr lang="vi-VN" sz="1800" kern="100" err="1">
                <a:effectLst/>
                <a:latin typeface="Times New Roman" panose="02020603050405020304" pitchFamily="18" charset="0"/>
                <a:ea typeface="Aptos" panose="020B0004020202020204" pitchFamily="34" charset="0"/>
                <a:cs typeface="Times New Roman" panose="02020603050405020304" pitchFamily="18" charset="0"/>
              </a:rPr>
              <a:t>iển</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 dao động ảo (VOC) là một chiến lược điều khiển phân tán dành cho các lưới điện MG hoạt động ở chế độ đảo, nơi các bộ nghịch lưu được điều chỉnh để mô phỏng động lực học của các bộ dao động phi tuyến yếu. </a:t>
            </a: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07000"/>
              </a:lnSpc>
              <a:spcAft>
                <a:spcPts val="800"/>
              </a:spcAft>
            </a:pPr>
            <a:r>
              <a:rPr lang="vi-VN" sz="1800" kern="100">
                <a:effectLst/>
                <a:latin typeface="Times New Roman" panose="02020603050405020304" pitchFamily="18" charset="0"/>
                <a:ea typeface="Aptos" panose="020B0004020202020204" pitchFamily="34" charset="0"/>
                <a:cs typeface="Times New Roman" panose="02020603050405020304" pitchFamily="18" charset="0"/>
              </a:rPr>
              <a:t>Đây là bộ điều khiển miền thời gian hoạt động trên dòng điện hình sin thời gian thực do bộ nghịch lưu cung cấp, sao cho nó phản ứng gần như tức thời với các nhiễu hệ thống mà không cần thêm bộ lọc.</a:t>
            </a: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a:p>
            <a:endParaRPr lang="en-US">
              <a:latin typeface="+mj-lt"/>
            </a:endParaRPr>
          </a:p>
        </p:txBody>
      </p:sp>
      <p:sp>
        <p:nvSpPr>
          <p:cNvPr id="9" name="TextBox 8"/>
          <p:cNvSpPr txBox="1"/>
          <p:nvPr/>
        </p:nvSpPr>
        <p:spPr>
          <a:xfrm>
            <a:off x="365618" y="1067255"/>
            <a:ext cx="4454938" cy="400110"/>
          </a:xfrm>
          <a:prstGeom prst="rect">
            <a:avLst/>
          </a:prstGeom>
          <a:noFill/>
        </p:spPr>
        <p:txBody>
          <a:bodyPr wrap="none" rtlCol="0">
            <a:spAutoFit/>
          </a:bodyPr>
          <a:lstStyle/>
          <a:p>
            <a:r>
              <a:rPr lang="en-US" sz="2000" b="1">
                <a:latin typeface="Times New Roman" panose="02020603050405020304" pitchFamily="18" charset="0"/>
                <a:cs typeface="Times New Roman" panose="02020603050405020304" pitchFamily="18" charset="0"/>
              </a:rPr>
              <a:t>2.1. </a:t>
            </a:r>
            <a:r>
              <a:rPr lang="en-US" sz="2000" b="1" err="1">
                <a:latin typeface="Times New Roman" panose="02020603050405020304" pitchFamily="18" charset="0"/>
                <a:cs typeface="Times New Roman" panose="02020603050405020304" pitchFamily="18" charset="0"/>
              </a:rPr>
              <a:t>Cơ</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sở</a:t>
            </a:r>
            <a:r>
              <a:rPr lang="en-US" sz="2000" b="1">
                <a:latin typeface="Times New Roman" panose="02020603050405020304" pitchFamily="18" charset="0"/>
                <a:cs typeface="Times New Roman" panose="02020603050405020304" pitchFamily="18" charset="0"/>
              </a:rPr>
              <a:t> lý </a:t>
            </a:r>
            <a:r>
              <a:rPr lang="en-US" sz="2000" b="1" err="1">
                <a:latin typeface="Times New Roman" panose="02020603050405020304" pitchFamily="18" charset="0"/>
                <a:cs typeface="Times New Roman" panose="02020603050405020304" pitchFamily="18" charset="0"/>
              </a:rPr>
              <a:t>thuyết</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phương</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pháp</a:t>
            </a:r>
            <a:r>
              <a:rPr lang="en-US" sz="2000" b="1">
                <a:latin typeface="Times New Roman" panose="02020603050405020304" pitchFamily="18" charset="0"/>
                <a:cs typeface="Times New Roman" panose="02020603050405020304" pitchFamily="18" charset="0"/>
              </a:rPr>
              <a:t> VOC</a:t>
            </a:r>
          </a:p>
        </p:txBody>
      </p:sp>
      <p:sp>
        <p:nvSpPr>
          <p:cNvPr id="15" name="TextBox 14">
            <a:extLst>
              <a:ext uri="{FF2B5EF4-FFF2-40B4-BE49-F238E27FC236}">
                <a16:creationId xmlns:a16="http://schemas.microsoft.com/office/drawing/2014/main" id="{10BE18B1-AC76-9CA8-81C9-1678514205B9}"/>
              </a:ext>
            </a:extLst>
          </p:cNvPr>
          <p:cNvSpPr txBox="1"/>
          <p:nvPr/>
        </p:nvSpPr>
        <p:spPr>
          <a:xfrm>
            <a:off x="365618" y="1467365"/>
            <a:ext cx="1970411" cy="400110"/>
          </a:xfrm>
          <a:prstGeom prst="rect">
            <a:avLst/>
          </a:prstGeom>
          <a:noFill/>
        </p:spPr>
        <p:txBody>
          <a:bodyPr wrap="none" rtlCol="0">
            <a:spAutoFit/>
          </a:bodyPr>
          <a:lstStyle/>
          <a:p>
            <a:r>
              <a:rPr lang="en-US" sz="2000" b="1">
                <a:latin typeface="Times New Roman" panose="02020603050405020304" pitchFamily="18" charset="0"/>
                <a:cs typeface="Times New Roman" panose="02020603050405020304" pitchFamily="18" charset="0"/>
              </a:rPr>
              <a:t>2.1.1. </a:t>
            </a:r>
            <a:r>
              <a:rPr lang="en-US" sz="2000" b="1" err="1">
                <a:latin typeface="Times New Roman" panose="02020603050405020304" pitchFamily="18" charset="0"/>
                <a:cs typeface="Times New Roman" panose="02020603050405020304" pitchFamily="18" charset="0"/>
              </a:rPr>
              <a:t>Khái</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niệm</a:t>
            </a:r>
            <a:endParaRPr lang="en-US" sz="2000" b="1">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A6A844B-A5E7-4FD7-99E7-F50E2097F86E}"/>
              </a:ext>
            </a:extLst>
          </p:cNvPr>
          <p:cNvSpPr txBox="1"/>
          <p:nvPr/>
        </p:nvSpPr>
        <p:spPr>
          <a:xfrm>
            <a:off x="6477127" y="5918447"/>
            <a:ext cx="5570635" cy="369332"/>
          </a:xfrm>
          <a:prstGeom prst="rect">
            <a:avLst/>
          </a:prstGeom>
          <a:noFill/>
        </p:spPr>
        <p:txBody>
          <a:bodyPr wrap="square" rtlCol="0">
            <a:spAutoFit/>
          </a:bodyPr>
          <a:lstStyle/>
          <a:p>
            <a:pPr algn="ctr"/>
            <a:r>
              <a:rPr lang="en-US" err="1">
                <a:latin typeface="Times New Roman" panose="02020603050405020304" pitchFamily="18" charset="0"/>
                <a:cs typeface="Times New Roman" panose="02020603050405020304" pitchFamily="18" charset="0"/>
              </a:rPr>
              <a:t>Mạch</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nghịch</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lưu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cầu</a:t>
            </a:r>
            <a:r>
              <a:rPr lang="en-US">
                <a:latin typeface="Times New Roman" panose="02020603050405020304" pitchFamily="18" charset="0"/>
                <a:cs typeface="Times New Roman" panose="02020603050405020304" pitchFamily="18" charset="0"/>
              </a:rPr>
              <a:t> H một </a:t>
            </a:r>
            <a:r>
              <a:rPr lang="en-US" err="1">
                <a:latin typeface="Times New Roman" panose="02020603050405020304" pitchFamily="18" charset="0"/>
                <a:cs typeface="Times New Roman" panose="02020603050405020304" pitchFamily="18" charset="0"/>
              </a:rPr>
              <a:t>pha</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điều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khiển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bằng</a:t>
            </a:r>
            <a:r>
              <a:rPr lang="en-US">
                <a:latin typeface="Times New Roman" panose="02020603050405020304" pitchFamily="18" charset="0"/>
                <a:cs typeface="Times New Roman" panose="02020603050405020304" pitchFamily="18" charset="0"/>
              </a:rPr>
              <a:t> VOC</a:t>
            </a:r>
          </a:p>
        </p:txBody>
      </p:sp>
      <p:grpSp>
        <p:nvGrpSpPr>
          <p:cNvPr id="8" name="Group 7">
            <a:extLst>
              <a:ext uri="{FF2B5EF4-FFF2-40B4-BE49-F238E27FC236}">
                <a16:creationId xmlns:a16="http://schemas.microsoft.com/office/drawing/2014/main" id="{04FC104E-27EA-E04E-1F15-80FA42FCFDF9}"/>
              </a:ext>
            </a:extLst>
          </p:cNvPr>
          <p:cNvGrpSpPr/>
          <p:nvPr/>
        </p:nvGrpSpPr>
        <p:grpSpPr>
          <a:xfrm>
            <a:off x="510284" y="324255"/>
            <a:ext cx="9501431" cy="748796"/>
            <a:chOff x="1793005" y="1746584"/>
            <a:chExt cx="9501431" cy="748794"/>
          </a:xfrm>
        </p:grpSpPr>
        <p:sp>
          <p:nvSpPr>
            <p:cNvPr id="12" name="TextBox 11">
              <a:extLst>
                <a:ext uri="{FF2B5EF4-FFF2-40B4-BE49-F238E27FC236}">
                  <a16:creationId xmlns:a16="http://schemas.microsoft.com/office/drawing/2014/main" id="{179BA254-A126-EF31-8D6F-A75EE19D7EF6}"/>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13" name="Rectangle 12">
              <a:extLst>
                <a:ext uri="{FF2B5EF4-FFF2-40B4-BE49-F238E27FC236}">
                  <a16:creationId xmlns:a16="http://schemas.microsoft.com/office/drawing/2014/main" id="{0591AA1F-2FA8-4E45-0466-AC71386D0CAE}"/>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pic>
        <p:nvPicPr>
          <p:cNvPr id="7" name="Picture 6">
            <a:extLst>
              <a:ext uri="{FF2B5EF4-FFF2-40B4-BE49-F238E27FC236}">
                <a16:creationId xmlns:a16="http://schemas.microsoft.com/office/drawing/2014/main" id="{85B024D1-D6D8-983F-DF8A-E1B5C7119C93}"/>
              </a:ext>
            </a:extLst>
          </p:cNvPr>
          <p:cNvPicPr>
            <a:picLocks noChangeAspect="1"/>
          </p:cNvPicPr>
          <p:nvPr/>
        </p:nvPicPr>
        <p:blipFill>
          <a:blip r:embed="rId2"/>
          <a:stretch>
            <a:fillRect/>
          </a:stretch>
        </p:blipFill>
        <p:spPr>
          <a:xfrm>
            <a:off x="6991487" y="1240051"/>
            <a:ext cx="4541914" cy="4511431"/>
          </a:xfrm>
          <a:prstGeom prst="rect">
            <a:avLst/>
          </a:prstGeom>
        </p:spPr>
      </p:pic>
    </p:spTree>
    <p:extLst>
      <p:ext uri="{BB962C8B-B14F-4D97-AF65-F5344CB8AC3E}">
        <p14:creationId xmlns:p14="http://schemas.microsoft.com/office/powerpoint/2010/main" val="2935575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8</a:t>
            </a:fld>
            <a:endParaRPr lang="en-US"/>
          </a:p>
        </p:txBody>
      </p:sp>
      <p:sp>
        <p:nvSpPr>
          <p:cNvPr id="4" name="TextBox 3">
            <a:extLst>
              <a:ext uri="{FF2B5EF4-FFF2-40B4-BE49-F238E27FC236}">
                <a16:creationId xmlns:a16="http://schemas.microsoft.com/office/drawing/2014/main" id="{4FCA9439-61D1-E286-B430-78BEEE142FEA}"/>
              </a:ext>
            </a:extLst>
          </p:cNvPr>
          <p:cNvSpPr txBox="1"/>
          <p:nvPr/>
        </p:nvSpPr>
        <p:spPr>
          <a:xfrm>
            <a:off x="393610" y="1503060"/>
            <a:ext cx="11203530" cy="646331"/>
          </a:xfrm>
          <a:prstGeom prst="rect">
            <a:avLst/>
          </a:prstGeom>
        </p:spPr>
        <p:txBody>
          <a:bodyPr wrap="square" rtlCol="0">
            <a:spAutoFit/>
          </a:bodyPr>
          <a:lstStyle/>
          <a:p>
            <a:r>
              <a:rPr lang="en-US" err="1">
                <a:latin typeface="Times New Roman" panose="02020603050405020304" pitchFamily="18" charset="0"/>
                <a:cs typeface="Times New Roman" panose="02020603050405020304" pitchFamily="18" charset="0"/>
              </a:rPr>
              <a:t>Nguồn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gốc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của</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phương</a:t>
            </a:r>
            <a:r>
              <a:rPr lang="en-US">
                <a:latin typeface="Times New Roman" panose="02020603050405020304" pitchFamily="18" charset="0"/>
                <a:cs typeface="Times New Roman" panose="02020603050405020304" pitchFamily="18" charset="0"/>
              </a:rPr>
              <a:t> trình </a:t>
            </a:r>
            <a:r>
              <a:rPr lang="en-US" err="1">
                <a:latin typeface="Times New Roman" panose="02020603050405020304" pitchFamily="18" charset="0"/>
                <a:cs typeface="Times New Roman" panose="02020603050405020304" pitchFamily="18" charset="0"/>
              </a:rPr>
              <a:t>động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lực</a:t>
            </a:r>
            <a:r>
              <a:rPr lang="en-US">
                <a:latin typeface="Times New Roman" panose="02020603050405020304" pitchFamily="18" charset="0"/>
                <a:cs typeface="Times New Roman" panose="02020603050405020304" pitchFamily="18" charset="0"/>
              </a:rPr>
              <a:t> học (</a:t>
            </a:r>
            <a:r>
              <a:rPr lang="en-US" err="1">
                <a:latin typeface="Times New Roman" panose="02020603050405020304" pitchFamily="18" charset="0"/>
                <a:cs typeface="Times New Roman" panose="02020603050405020304" pitchFamily="18" charset="0"/>
              </a:rPr>
              <a:t>đường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đặc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tính</a:t>
            </a:r>
            <a:r>
              <a:rPr lang="en-US">
                <a:latin typeface="Times New Roman" panose="02020603050405020304" pitchFamily="18" charset="0"/>
                <a:cs typeface="Times New Roman" panose="02020603050405020304" pitchFamily="18" charset="0"/>
              </a:rPr>
              <a:t>) </a:t>
            </a:r>
            <a:r>
              <a:rPr lang="vi-VN">
                <a:latin typeface="Times New Roman" panose="02020603050405020304" pitchFamily="18" charset="0"/>
                <a:cs typeface="Times New Roman" panose="02020603050405020304" pitchFamily="18" charset="0"/>
              </a:rPr>
              <a:t>của bộ dao động </a:t>
            </a:r>
            <a:r>
              <a:rPr lang="vi-VN" err="1">
                <a:latin typeface="Times New Roman" panose="02020603050405020304" pitchFamily="18" charset="0"/>
                <a:cs typeface="Times New Roman" panose="02020603050405020304" pitchFamily="18" charset="0"/>
              </a:rPr>
              <a:t>Hopf</a:t>
            </a:r>
            <a:r>
              <a:rPr lang="vi-VN">
                <a:latin typeface="Times New Roman" panose="02020603050405020304" pitchFamily="18" charset="0"/>
                <a:cs typeface="Times New Roman" panose="02020603050405020304" pitchFamily="18" charset="0"/>
              </a:rPr>
              <a:t> có thể được mô tả bằng</a:t>
            </a:r>
            <a:r>
              <a:rPr lang="en-US">
                <a:latin typeface="Times New Roman" panose="02020603050405020304" pitchFamily="18" charset="0"/>
                <a:cs typeface="Times New Roman" panose="02020603050405020304" pitchFamily="18" charset="0"/>
              </a:rPr>
              <a:t> </a:t>
            </a:r>
            <a:r>
              <a:rPr lang="vi-VN">
                <a:latin typeface="Times New Roman" panose="02020603050405020304" pitchFamily="18" charset="0"/>
                <a:cs typeface="Times New Roman" panose="02020603050405020304" pitchFamily="18" charset="0"/>
              </a:rPr>
              <a:t>phương trình vi phân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bậc</a:t>
            </a:r>
            <a:r>
              <a:rPr lang="en-US">
                <a:latin typeface="Times New Roman" panose="02020603050405020304" pitchFamily="18" charset="0"/>
                <a:cs typeface="Times New Roman" panose="02020603050405020304" pitchFamily="18" charset="0"/>
              </a:rPr>
              <a:t> 2</a:t>
            </a:r>
            <a:r>
              <a:rPr lang="vi-VN">
                <a:latin typeface="Times New Roman" panose="02020603050405020304" pitchFamily="18" charset="0"/>
                <a:cs typeface="Times New Roman" panose="02020603050405020304" pitchFamily="18" charset="0"/>
              </a:rPr>
              <a:t> sau đây</a:t>
            </a:r>
            <a:endParaRPr lang="en-US">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FCA9439-61D1-E286-B430-78BEEE142FEA}"/>
              </a:ext>
            </a:extLst>
          </p:cNvPr>
          <p:cNvSpPr txBox="1"/>
          <p:nvPr/>
        </p:nvSpPr>
        <p:spPr>
          <a:xfrm>
            <a:off x="393609" y="3230855"/>
            <a:ext cx="7938627" cy="2363532"/>
          </a:xfrm>
          <a:prstGeom prst="rect">
            <a:avLst/>
          </a:prstGeom>
        </p:spPr>
        <p:txBody>
          <a:bodyPr wrap="square" rtlCol="0">
            <a:spAutoFit/>
          </a:bodyPr>
          <a:lstStyle/>
          <a:p>
            <a:pPr>
              <a:lnSpc>
                <a:spcPct val="107000"/>
              </a:lnSpc>
              <a:spcAft>
                <a:spcPts val="800"/>
              </a:spcAft>
            </a:pPr>
            <a:r>
              <a:rPr lang="vi-VN">
                <a:latin typeface="Times New Roman" panose="02020603050405020304" pitchFamily="18" charset="0"/>
                <a:cs typeface="Times New Roman" panose="02020603050405020304" pitchFamily="18" charset="0"/>
              </a:rPr>
              <a:t>Trong đó</a:t>
            </a:r>
            <a:r>
              <a:rPr lang="en-US">
                <a:latin typeface="Times New Roman" panose="02020603050405020304" pitchFamily="18" charset="0"/>
                <a:cs typeface="Times New Roman" panose="02020603050405020304" pitchFamily="18" charset="0"/>
              </a:rPr>
              <a:t>:</a:t>
            </a:r>
            <a:r>
              <a:rPr lang="vi-VN">
                <a:latin typeface="Times New Roman" panose="02020603050405020304" pitchFamily="18" charset="0"/>
                <a:cs typeface="Times New Roman" panose="02020603050405020304" pitchFamily="18" charset="0"/>
              </a:rPr>
              <a:t> </a:t>
            </a:r>
            <a:r>
              <a:rPr lang="vi-VN" sz="1800" i="1" kern="100">
                <a:effectLst/>
                <a:latin typeface="Times New Roman" panose="02020603050405020304" pitchFamily="18" charset="0"/>
                <a:ea typeface="Aptos" panose="020B0004020202020204" pitchFamily="34" charset="0"/>
                <a:cs typeface="Times New Roman" panose="02020603050405020304" pitchFamily="18" charset="0"/>
              </a:rPr>
              <a:t>x</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 và </a:t>
            </a:r>
            <a:r>
              <a:rPr lang="vi-VN" sz="1800" i="1" kern="100">
                <a:effectLst/>
                <a:latin typeface="Times New Roman" panose="02020603050405020304" pitchFamily="18" charset="0"/>
                <a:ea typeface="Aptos" panose="020B0004020202020204" pitchFamily="34" charset="0"/>
                <a:cs typeface="Times New Roman" panose="02020603050405020304" pitchFamily="18" charset="0"/>
              </a:rPr>
              <a:t>y</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 là </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các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trạng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thái</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trực gia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o </a:t>
            </a:r>
          </a:p>
          <a:p>
            <a:pPr>
              <a:lnSpc>
                <a:spcPct val="107000"/>
              </a:lnSpc>
              <a:spcAft>
                <a:spcPts val="800"/>
              </a:spcAft>
            </a:pPr>
            <a:r>
              <a:rPr lang="en-US" i="1" kern="100">
                <a:latin typeface="Times New Roman" panose="02020603050405020304" pitchFamily="18" charset="0"/>
                <a:ea typeface="Aptos" panose="020B0004020202020204" pitchFamily="34" charset="0"/>
                <a:cs typeface="Times New Roman" panose="02020603050405020304" pitchFamily="18" charset="0"/>
              </a:rPr>
              <a:t>	</a:t>
            </a:r>
            <a:r>
              <a:rPr lang="vi-VN" sz="1800" i="1" kern="100">
                <a:effectLst/>
                <a:latin typeface="Times New Roman" panose="02020603050405020304" pitchFamily="18" charset="0"/>
                <a:ea typeface="Aptos" panose="020B0004020202020204" pitchFamily="34" charset="0"/>
                <a:cs typeface="Times New Roman" panose="02020603050405020304" pitchFamily="18" charset="0"/>
              </a:rPr>
              <a:t>µ</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 là hệ số tốc độ đáp ứng theo thời gian của bộ dao động </a:t>
            </a: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07000"/>
              </a:lnSpc>
              <a:spcAft>
                <a:spcPts val="800"/>
              </a:spcAft>
            </a:pP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vi-VN" sz="1800" i="1" kern="100">
                <a:effectLst/>
                <a:latin typeface="Times New Roman" panose="02020603050405020304" pitchFamily="18" charset="0"/>
                <a:ea typeface="Aptos" panose="020B0004020202020204" pitchFamily="34" charset="0"/>
                <a:cs typeface="Times New Roman" panose="02020603050405020304" pitchFamily="18" charset="0"/>
              </a:rPr>
              <a:t>r</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 là biên độ đầu ra ở trạng thái ổn định </a:t>
            </a: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07000"/>
              </a:lnSpc>
              <a:spcAft>
                <a:spcPts val="800"/>
              </a:spcAft>
            </a:pP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l-GR" sz="1800" i="1" kern="100">
                <a:effectLst/>
                <a:latin typeface="Times New Roman" panose="02020603050405020304" pitchFamily="18" charset="0"/>
                <a:ea typeface="Aptos" panose="020B0004020202020204" pitchFamily="34" charset="0"/>
                <a:cs typeface="Times New Roman" panose="02020603050405020304" pitchFamily="18" charset="0"/>
              </a:rPr>
              <a:t>ω</a:t>
            </a:r>
            <a:r>
              <a:rPr lang="el-GR"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là tần số dao động. </a:t>
            </a: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07000"/>
              </a:lnSpc>
              <a:spcAft>
                <a:spcPts val="800"/>
              </a:spcAft>
            </a:pP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Giải</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trên, ta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thu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được c</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ác nghiệm tuần hoàn ổn định của bộ dao động </a:t>
            </a:r>
            <a:r>
              <a:rPr lang="vi-VN" sz="1800" kern="100" err="1">
                <a:effectLst/>
                <a:latin typeface="Times New Roman" panose="02020603050405020304" pitchFamily="18" charset="0"/>
                <a:ea typeface="Aptos" panose="020B0004020202020204" pitchFamily="34" charset="0"/>
                <a:cs typeface="Times New Roman" panose="02020603050405020304" pitchFamily="18" charset="0"/>
              </a:rPr>
              <a:t>Hopf</a:t>
            </a:r>
            <a:r>
              <a:rPr lang="vi-VN" sz="1800" kern="100">
                <a:effectLst/>
                <a:latin typeface="Times New Roman" panose="02020603050405020304" pitchFamily="18" charset="0"/>
                <a:ea typeface="Aptos" panose="020B0004020202020204" pitchFamily="34" charset="0"/>
                <a:cs typeface="Times New Roman" panose="02020603050405020304" pitchFamily="18" charset="0"/>
              </a:rPr>
              <a:t> là</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a:t>
            </a:r>
          </a:p>
          <a:p>
            <a:pPr>
              <a:lnSpc>
                <a:spcPct val="107000"/>
              </a:lnSpc>
              <a:spcAft>
                <a:spcPts val="800"/>
              </a:spcAft>
            </a:pP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5" name="TextBox 4"/>
          <p:cNvSpPr txBox="1"/>
          <p:nvPr/>
        </p:nvSpPr>
        <p:spPr>
          <a:xfrm>
            <a:off x="393609" y="1073051"/>
            <a:ext cx="5585183" cy="400110"/>
          </a:xfrm>
          <a:prstGeom prst="rect">
            <a:avLst/>
          </a:prstGeom>
          <a:noFill/>
        </p:spPr>
        <p:txBody>
          <a:bodyPr wrap="none" rtlCol="0">
            <a:spAutoFit/>
          </a:bodyPr>
          <a:lstStyle/>
          <a:p>
            <a:r>
              <a:rPr lang="en-US" sz="2000" b="1">
                <a:latin typeface="Times New Roman" panose="02020603050405020304" pitchFamily="18" charset="0"/>
                <a:cs typeface="Times New Roman" panose="02020603050405020304" pitchFamily="18" charset="0"/>
              </a:rPr>
              <a:t>2.1.2. </a:t>
            </a:r>
            <a:r>
              <a:rPr lang="en-US" sz="2000" b="1" err="1">
                <a:latin typeface="Times New Roman" panose="02020603050405020304" pitchFamily="18" charset="0"/>
                <a:cs typeface="Times New Roman" panose="02020603050405020304" pitchFamily="18" charset="0"/>
              </a:rPr>
              <a:t>Giới</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thiệu</a:t>
            </a:r>
            <a:r>
              <a:rPr lang="en-US" sz="2000" b="1">
                <a:latin typeface="Times New Roman" panose="02020603050405020304" pitchFamily="18" charset="0"/>
                <a:cs typeface="Times New Roman" panose="02020603050405020304" pitchFamily="18" charset="0"/>
              </a:rPr>
              <a:t> về </a:t>
            </a:r>
            <a:r>
              <a:rPr lang="en-US" sz="2000" b="1" err="1">
                <a:latin typeface="Times New Roman" panose="02020603050405020304" pitchFamily="18" charset="0"/>
                <a:cs typeface="Times New Roman" panose="02020603050405020304" pitchFamily="18" charset="0"/>
              </a:rPr>
              <a:t>phương</a:t>
            </a:r>
            <a:r>
              <a:rPr lang="en-US" sz="2000" b="1">
                <a:latin typeface="Times New Roman" panose="02020603050405020304" pitchFamily="18" charset="0"/>
                <a:cs typeface="Times New Roman" panose="02020603050405020304" pitchFamily="18" charset="0"/>
              </a:rPr>
              <a:t> trình </a:t>
            </a:r>
            <a:r>
              <a:rPr lang="en-US" sz="2000" b="1" err="1">
                <a:latin typeface="Times New Roman" panose="02020603050405020304" pitchFamily="18" charset="0"/>
                <a:cs typeface="Times New Roman" panose="02020603050405020304" pitchFamily="18" charset="0"/>
              </a:rPr>
              <a:t>Andronov-Hopf</a:t>
            </a:r>
            <a:endParaRPr lang="en-US" sz="2000" b="1">
              <a:latin typeface="Times New Roman" panose="02020603050405020304" pitchFamily="18" charset="0"/>
              <a:cs typeface="Times New Roman" panose="02020603050405020304" pitchFamily="18" charset="0"/>
            </a:endParaRPr>
          </a:p>
        </p:txBody>
      </p:sp>
      <p:sp>
        <p:nvSpPr>
          <p:cNvPr id="7" name="TextBox 6"/>
          <p:cNvSpPr txBox="1"/>
          <p:nvPr/>
        </p:nvSpPr>
        <p:spPr>
          <a:xfrm>
            <a:off x="4606792" y="2413595"/>
            <a:ext cx="507008"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a:t>
            </a:r>
          </a:p>
        </p:txBody>
      </p:sp>
      <p:graphicFrame>
        <p:nvGraphicFramePr>
          <p:cNvPr id="11" name="Object 10">
            <a:extLst>
              <a:ext uri="{FF2B5EF4-FFF2-40B4-BE49-F238E27FC236}">
                <a16:creationId xmlns:a16="http://schemas.microsoft.com/office/drawing/2014/main" id="{48C75709-7316-4320-42FC-E9A141DEFE99}"/>
              </a:ext>
            </a:extLst>
          </p:cNvPr>
          <p:cNvGraphicFramePr>
            <a:graphicFrameLocks noChangeAspect="1"/>
          </p:cNvGraphicFramePr>
          <p:nvPr>
            <p:extLst>
              <p:ext uri="{D42A27DB-BD31-4B8C-83A1-F6EECF244321}">
                <p14:modId xmlns:p14="http://schemas.microsoft.com/office/powerpoint/2010/main" val="1902260701"/>
              </p:ext>
            </p:extLst>
          </p:nvPr>
        </p:nvGraphicFramePr>
        <p:xfrm>
          <a:off x="2954789" y="5319329"/>
          <a:ext cx="3811014" cy="371806"/>
        </p:xfrm>
        <a:graphic>
          <a:graphicData uri="http://schemas.openxmlformats.org/presentationml/2006/ole">
            <mc:AlternateContent xmlns:mc="http://schemas.openxmlformats.org/markup-compatibility/2006">
              <mc:Choice xmlns:v="urn:schemas-microsoft-com:vml" Requires="v">
                <p:oleObj name="Equation" r:id="rId2" imgW="2082600" imgH="203040" progId="Equation.DSMT4">
                  <p:embed/>
                </p:oleObj>
              </mc:Choice>
              <mc:Fallback>
                <p:oleObj name="Equation" r:id="rId2" imgW="2082600" imgH="203040" progId="Equation.DSMT4">
                  <p:embed/>
                  <p:pic>
                    <p:nvPicPr>
                      <p:cNvPr id="11" name="Object 10">
                        <a:extLst>
                          <a:ext uri="{FF2B5EF4-FFF2-40B4-BE49-F238E27FC236}">
                            <a16:creationId xmlns:a16="http://schemas.microsoft.com/office/drawing/2014/main" id="{48C75709-7316-4320-42FC-E9A141DEFE99}"/>
                          </a:ext>
                        </a:extLst>
                      </p:cNvPr>
                      <p:cNvPicPr/>
                      <p:nvPr/>
                    </p:nvPicPr>
                    <p:blipFill>
                      <a:blip r:embed="rId3"/>
                      <a:stretch>
                        <a:fillRect/>
                      </a:stretch>
                    </p:blipFill>
                    <p:spPr>
                      <a:xfrm>
                        <a:off x="2954789" y="5319329"/>
                        <a:ext cx="3811014" cy="371806"/>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2745FFD0-8684-AFC0-11B0-54F202B4955D}"/>
              </a:ext>
            </a:extLst>
          </p:cNvPr>
          <p:cNvGraphicFramePr>
            <a:graphicFrameLocks noChangeAspect="1"/>
          </p:cNvGraphicFramePr>
          <p:nvPr>
            <p:extLst>
              <p:ext uri="{D42A27DB-BD31-4B8C-83A1-F6EECF244321}">
                <p14:modId xmlns:p14="http://schemas.microsoft.com/office/powerpoint/2010/main" val="2333927264"/>
              </p:ext>
            </p:extLst>
          </p:nvPr>
        </p:nvGraphicFramePr>
        <p:xfrm>
          <a:off x="840268" y="2292561"/>
          <a:ext cx="2824654" cy="795124"/>
        </p:xfrm>
        <a:graphic>
          <a:graphicData uri="http://schemas.openxmlformats.org/presentationml/2006/ole">
            <mc:AlternateContent xmlns:mc="http://schemas.openxmlformats.org/markup-compatibility/2006">
              <mc:Choice xmlns:v="urn:schemas-microsoft-com:vml" Requires="v">
                <p:oleObj name="Equation" r:id="rId4" imgW="1827093" imgH="514021" progId="Equation.DSMT4">
                  <p:embed/>
                </p:oleObj>
              </mc:Choice>
              <mc:Fallback>
                <p:oleObj name="Equation" r:id="rId4" imgW="1827093" imgH="514021" progId="Equation.DSMT4">
                  <p:embed/>
                  <p:pic>
                    <p:nvPicPr>
                      <p:cNvPr id="6" name="Object 5">
                        <a:extLst>
                          <a:ext uri="{FF2B5EF4-FFF2-40B4-BE49-F238E27FC236}">
                            <a16:creationId xmlns:a16="http://schemas.microsoft.com/office/drawing/2014/main" id="{2745FFD0-8684-AFC0-11B0-54F202B4955D}"/>
                          </a:ext>
                        </a:extLst>
                      </p:cNvPr>
                      <p:cNvPicPr/>
                      <p:nvPr/>
                    </p:nvPicPr>
                    <p:blipFill>
                      <a:blip r:embed="rId5"/>
                      <a:stretch>
                        <a:fillRect/>
                      </a:stretch>
                    </p:blipFill>
                    <p:spPr>
                      <a:xfrm>
                        <a:off x="840268" y="2292561"/>
                        <a:ext cx="2824654" cy="795124"/>
                      </a:xfrm>
                      <a:prstGeom prst="rect">
                        <a:avLst/>
                      </a:prstGeom>
                    </p:spPr>
                  </p:pic>
                </p:oleObj>
              </mc:Fallback>
            </mc:AlternateContent>
          </a:graphicData>
        </a:graphic>
      </p:graphicFrame>
      <p:grpSp>
        <p:nvGrpSpPr>
          <p:cNvPr id="12" name="Group 11">
            <a:extLst>
              <a:ext uri="{FF2B5EF4-FFF2-40B4-BE49-F238E27FC236}">
                <a16:creationId xmlns:a16="http://schemas.microsoft.com/office/drawing/2014/main" id="{620B88E8-662F-A698-27A6-FADF6DBD222F}"/>
              </a:ext>
            </a:extLst>
          </p:cNvPr>
          <p:cNvGrpSpPr/>
          <p:nvPr/>
        </p:nvGrpSpPr>
        <p:grpSpPr>
          <a:xfrm>
            <a:off x="510284" y="324255"/>
            <a:ext cx="9501431" cy="748796"/>
            <a:chOff x="1793005" y="1746584"/>
            <a:chExt cx="9501431" cy="748794"/>
          </a:xfrm>
        </p:grpSpPr>
        <p:sp>
          <p:nvSpPr>
            <p:cNvPr id="14" name="TextBox 13">
              <a:extLst>
                <a:ext uri="{FF2B5EF4-FFF2-40B4-BE49-F238E27FC236}">
                  <a16:creationId xmlns:a16="http://schemas.microsoft.com/office/drawing/2014/main" id="{68E58491-3D1B-8531-FD45-93A9A8CBADF8}"/>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15" name="Rectangle 14">
              <a:extLst>
                <a:ext uri="{FF2B5EF4-FFF2-40B4-BE49-F238E27FC236}">
                  <a16:creationId xmlns:a16="http://schemas.microsoft.com/office/drawing/2014/main" id="{D845C1FA-5071-8D60-3DDB-349BD75D42CC}"/>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Tree>
    <p:extLst>
      <p:ext uri="{BB962C8B-B14F-4D97-AF65-F5344CB8AC3E}">
        <p14:creationId xmlns:p14="http://schemas.microsoft.com/office/powerpoint/2010/main" val="2438110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9</a:t>
            </a:fld>
            <a:endParaRPr lang="en-US"/>
          </a:p>
        </p:txBody>
      </p:sp>
      <p:sp>
        <p:nvSpPr>
          <p:cNvPr id="13" name="TextBox 12"/>
          <p:cNvSpPr txBox="1"/>
          <p:nvPr/>
        </p:nvSpPr>
        <p:spPr>
          <a:xfrm>
            <a:off x="365618" y="1157898"/>
            <a:ext cx="6675225" cy="400110"/>
          </a:xfrm>
          <a:prstGeom prst="rect">
            <a:avLst/>
          </a:prstGeom>
          <a:noFill/>
        </p:spPr>
        <p:txBody>
          <a:bodyPr wrap="none" rtlCol="0">
            <a:spAutoFit/>
          </a:bodyPr>
          <a:lstStyle/>
          <a:p>
            <a:r>
              <a:rPr lang="en-US" sz="2000" b="1">
                <a:latin typeface="Times New Roman" panose="02020603050405020304" pitchFamily="18" charset="0"/>
                <a:cs typeface="Times New Roman" panose="02020603050405020304" pitchFamily="18" charset="0"/>
              </a:rPr>
              <a:t>2.1.3. </a:t>
            </a:r>
            <a:r>
              <a:rPr lang="en-US" sz="2000" b="1" err="1">
                <a:latin typeface="Times New Roman" panose="02020603050405020304" pitchFamily="18" charset="0"/>
                <a:cs typeface="Times New Roman" panose="02020603050405020304" pitchFamily="18" charset="0"/>
              </a:rPr>
              <a:t>Ưu</a:t>
            </a:r>
            <a:r>
              <a:rPr lang="en-US" sz="2000" b="1">
                <a:latin typeface="Times New Roman" panose="02020603050405020304" pitchFamily="18" charset="0"/>
                <a:cs typeface="Times New Roman" panose="02020603050405020304" pitchFamily="18" charset="0"/>
              </a:rPr>
              <a:t> thế </a:t>
            </a:r>
            <a:r>
              <a:rPr lang="en-US" sz="2000" b="1" err="1">
                <a:latin typeface="Times New Roman" panose="02020603050405020304" pitchFamily="18" charset="0"/>
                <a:cs typeface="Times New Roman" panose="02020603050405020304" pitchFamily="18" charset="0"/>
              </a:rPr>
              <a:t>của</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phương</a:t>
            </a:r>
            <a:r>
              <a:rPr lang="en-US" sz="2000" b="1">
                <a:latin typeface="Times New Roman" panose="02020603050405020304" pitchFamily="18" charset="0"/>
                <a:cs typeface="Times New Roman" panose="02020603050405020304" pitchFamily="18" charset="0"/>
              </a:rPr>
              <a:t> trình </a:t>
            </a:r>
            <a:r>
              <a:rPr lang="en-US" sz="2000" b="1" err="1">
                <a:latin typeface="Times New Roman" panose="02020603050405020304" pitchFamily="18" charset="0"/>
                <a:cs typeface="Times New Roman" panose="02020603050405020304" pitchFamily="18" charset="0"/>
              </a:rPr>
              <a:t>Andronov-Hopf</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trong</a:t>
            </a:r>
            <a:r>
              <a:rPr lang="en-US" sz="2000" b="1">
                <a:latin typeface="Times New Roman" panose="02020603050405020304" pitchFamily="18" charset="0"/>
                <a:cs typeface="Times New Roman" panose="02020603050405020304" pitchFamily="18" charset="0"/>
              </a:rPr>
              <a:t> VOC</a:t>
            </a:r>
          </a:p>
        </p:txBody>
      </p:sp>
      <p:pic>
        <p:nvPicPr>
          <p:cNvPr id="4" name="Picture 3" descr="A yellow circle with red and blue circles&#10;&#10;Description automatically generated">
            <a:extLst>
              <a:ext uri="{FF2B5EF4-FFF2-40B4-BE49-F238E27FC236}">
                <a16:creationId xmlns:a16="http://schemas.microsoft.com/office/drawing/2014/main" id="{CB2CE68E-4F33-2E53-00BE-11B9E1DAF298}"/>
              </a:ext>
            </a:extLst>
          </p:cNvPr>
          <p:cNvPicPr>
            <a:picLocks noChangeAspect="1"/>
          </p:cNvPicPr>
          <p:nvPr/>
        </p:nvPicPr>
        <p:blipFill>
          <a:blip r:embed="rId3"/>
          <a:stretch>
            <a:fillRect/>
          </a:stretch>
        </p:blipFill>
        <p:spPr>
          <a:xfrm>
            <a:off x="7448346" y="1776944"/>
            <a:ext cx="3628195" cy="3796687"/>
          </a:xfrm>
          <a:prstGeom prst="rect">
            <a:avLst/>
          </a:prstGeom>
        </p:spPr>
      </p:pic>
      <p:sp>
        <p:nvSpPr>
          <p:cNvPr id="5" name="TextBox 4">
            <a:extLst>
              <a:ext uri="{FF2B5EF4-FFF2-40B4-BE49-F238E27FC236}">
                <a16:creationId xmlns:a16="http://schemas.microsoft.com/office/drawing/2014/main" id="{ADC00A38-5097-0799-EA77-4832DF8FA147}"/>
              </a:ext>
            </a:extLst>
          </p:cNvPr>
          <p:cNvSpPr txBox="1"/>
          <p:nvPr/>
        </p:nvSpPr>
        <p:spPr>
          <a:xfrm>
            <a:off x="420739" y="1776944"/>
            <a:ext cx="6411094" cy="3936527"/>
          </a:xfrm>
          <a:prstGeom prst="rect">
            <a:avLst/>
          </a:prstGeom>
          <a:noFill/>
        </p:spPr>
        <p:txBody>
          <a:bodyPr wrap="square" rtlCol="0">
            <a:spAutoFit/>
          </a:bodyPr>
          <a:lstStyle/>
          <a:p>
            <a:pPr>
              <a:lnSpc>
                <a:spcPct val="107000"/>
              </a:lnSpc>
              <a:spcAft>
                <a:spcPts val="800"/>
              </a:spcAft>
            </a:pPr>
            <a:r>
              <a:rPr lang="en-US" sz="1800" kern="100">
                <a:effectLst/>
                <a:latin typeface="Times New Roman" panose="02020603050405020304" pitchFamily="18" charset="0"/>
                <a:ea typeface="Aptos" panose="020B0004020202020204" pitchFamily="34" charset="0"/>
                <a:cs typeface="Times New Roman" panose="02020603050405020304" pitchFamily="18" charset="0"/>
              </a:rPr>
              <a:t>Theo định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nghĩa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bộ</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VOC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điều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khiển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bộ</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nghịch</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lưu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dựa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trên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dòng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điện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hình</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sin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theo</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thời</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gian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thực</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vì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vậy</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yêu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cầu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một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tín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hiệu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điều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khiển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ổn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định.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Mà</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nghiệm</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phương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trình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Hopf</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là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nghiệm</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tuần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hoàn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theo</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sin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cos,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phù</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hợp</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với</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yêu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cầu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bộ</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VOC.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Điều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này được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thể</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hiện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rõ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hơn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trên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đồ</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thị</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pha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phương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trình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Hopf</a:t>
            </a:r>
            <a:endParaRPr lang="en-US" kern="100">
              <a:latin typeface="Times New Roman" panose="02020603050405020304" pitchFamily="18" charset="0"/>
              <a:ea typeface="Aptos" panose="020B0004020202020204" pitchFamily="34" charset="0"/>
              <a:cs typeface="Times New Roman" panose="02020603050405020304" pitchFamily="18" charset="0"/>
            </a:endParaRPr>
          </a:p>
          <a:p>
            <a:pPr>
              <a:lnSpc>
                <a:spcPct val="107000"/>
              </a:lnSpc>
              <a:spcAft>
                <a:spcPts val="800"/>
              </a:spcAft>
            </a:pPr>
            <a:r>
              <a:rPr lang="en-US" sz="1800" kern="100">
                <a:effectLst/>
                <a:latin typeface="Times New Roman" panose="02020603050405020304" pitchFamily="18" charset="0"/>
                <a:ea typeface="Aptos" panose="020B0004020202020204" pitchFamily="34" charset="0"/>
                <a:cs typeface="Times New Roman" panose="02020603050405020304" pitchFamily="18" charset="0"/>
              </a:rPr>
              <a:t>Theo [2],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giá</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trị</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x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luôn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tiến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tới</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hình</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sin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với</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bất</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kỳ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giá</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trị</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nào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μ, μ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chỉ</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ảnh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hưởng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tới</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tốc</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độ</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damping (damping speed)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limit cycle. Đây là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ưu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điểm</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lớn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dao</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động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Hopf</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so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với</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các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phương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pháp</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trước</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đó</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a:t>
            </a:r>
          </a:p>
          <a:p>
            <a:pPr>
              <a:lnSpc>
                <a:spcPct val="107000"/>
              </a:lnSpc>
              <a:spcAft>
                <a:spcPts val="800"/>
              </a:spcAft>
            </a:pP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Như</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vậy</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nếu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có</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thể</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thiết</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kế</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được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bộ</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VOC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từ</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dao</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động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Hopf</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thì sẽ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đảm</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bảo</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được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chất</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lượng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điện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áp</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công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suất</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đầu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ra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yêu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cầu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a:t>
            </a:r>
          </a:p>
          <a:p>
            <a:pPr>
              <a:lnSpc>
                <a:spcPct val="107000"/>
              </a:lnSpc>
              <a:spcAft>
                <a:spcPts val="800"/>
              </a:spcAft>
            </a:pP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4125E50-FB56-78C1-1414-84DE29150A15}"/>
              </a:ext>
            </a:extLst>
          </p:cNvPr>
          <p:cNvSpPr txBox="1"/>
          <p:nvPr/>
        </p:nvSpPr>
        <p:spPr>
          <a:xfrm>
            <a:off x="7616495" y="5713471"/>
            <a:ext cx="3291895" cy="369332"/>
          </a:xfrm>
          <a:prstGeom prst="rect">
            <a:avLst/>
          </a:prstGeom>
          <a:noFill/>
        </p:spPr>
        <p:txBody>
          <a:bodyPr wrap="square" rtlCol="0">
            <a:spAutoFit/>
          </a:bodyPr>
          <a:lstStyle/>
          <a:p>
            <a:r>
              <a:rPr lang="en-US"/>
              <a:t> Limit cycle </a:t>
            </a:r>
            <a:r>
              <a:rPr lang="en-US" err="1"/>
              <a:t>của</a:t>
            </a:r>
            <a:r>
              <a:rPr lang="en-US"/>
              <a:t> </a:t>
            </a:r>
            <a:r>
              <a:rPr lang="en-US" err="1"/>
              <a:t>dao</a:t>
            </a:r>
            <a:r>
              <a:rPr lang="en-US"/>
              <a:t> </a:t>
            </a:r>
            <a:r>
              <a:rPr lang="en-US" err="1"/>
              <a:t>động</a:t>
            </a:r>
            <a:r>
              <a:rPr lang="en-US"/>
              <a:t> </a:t>
            </a:r>
            <a:r>
              <a:rPr lang="en-US" err="1"/>
              <a:t>Hopf</a:t>
            </a:r>
            <a:endParaRPr lang="en-US"/>
          </a:p>
        </p:txBody>
      </p:sp>
      <p:grpSp>
        <p:nvGrpSpPr>
          <p:cNvPr id="9" name="Group 8">
            <a:extLst>
              <a:ext uri="{FF2B5EF4-FFF2-40B4-BE49-F238E27FC236}">
                <a16:creationId xmlns:a16="http://schemas.microsoft.com/office/drawing/2014/main" id="{16FE1D9C-12BC-6215-09E2-E54D1116DF53}"/>
              </a:ext>
            </a:extLst>
          </p:cNvPr>
          <p:cNvGrpSpPr/>
          <p:nvPr/>
        </p:nvGrpSpPr>
        <p:grpSpPr>
          <a:xfrm>
            <a:off x="510284" y="324255"/>
            <a:ext cx="9501431" cy="748796"/>
            <a:chOff x="1793005" y="1746584"/>
            <a:chExt cx="9501431" cy="748794"/>
          </a:xfrm>
        </p:grpSpPr>
        <p:sp>
          <p:nvSpPr>
            <p:cNvPr id="10" name="TextBox 9">
              <a:extLst>
                <a:ext uri="{FF2B5EF4-FFF2-40B4-BE49-F238E27FC236}">
                  <a16:creationId xmlns:a16="http://schemas.microsoft.com/office/drawing/2014/main" id="{4CC1E222-4AE4-8536-A781-DA711FADD644}"/>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11" name="Rectangle 10">
              <a:extLst>
                <a:ext uri="{FF2B5EF4-FFF2-40B4-BE49-F238E27FC236}">
                  <a16:creationId xmlns:a16="http://schemas.microsoft.com/office/drawing/2014/main" id="{1A99002A-849B-0062-D732-8A62CB31523A}"/>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Tree>
    <p:extLst>
      <p:ext uri="{BB962C8B-B14F-4D97-AF65-F5344CB8AC3E}">
        <p14:creationId xmlns:p14="http://schemas.microsoft.com/office/powerpoint/2010/main" val="1679385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10</a:t>
            </a:fld>
            <a:endParaRPr lang="en-US"/>
          </a:p>
        </p:txBody>
      </p:sp>
      <p:sp>
        <p:nvSpPr>
          <p:cNvPr id="13" name="TextBox 12"/>
          <p:cNvSpPr txBox="1"/>
          <p:nvPr/>
        </p:nvSpPr>
        <p:spPr>
          <a:xfrm>
            <a:off x="510284" y="1073051"/>
            <a:ext cx="5840381" cy="400110"/>
          </a:xfrm>
          <a:prstGeom prst="rect">
            <a:avLst/>
          </a:prstGeom>
          <a:noFill/>
        </p:spPr>
        <p:txBody>
          <a:bodyPr wrap="none" rtlCol="0">
            <a:spAutoFit/>
          </a:bodyPr>
          <a:lstStyle/>
          <a:p>
            <a:r>
              <a:rPr lang="en-US" sz="2000" b="1">
                <a:latin typeface="Times New Roman" panose="02020603050405020304" pitchFamily="18" charset="0"/>
                <a:cs typeface="Times New Roman" panose="02020603050405020304" pitchFamily="18" charset="0"/>
              </a:rPr>
              <a:t>2.2. </a:t>
            </a:r>
            <a:r>
              <a:rPr lang="en-US" sz="2000" b="1" err="1">
                <a:latin typeface="Times New Roman" panose="02020603050405020304" pitchFamily="18" charset="0"/>
                <a:cs typeface="Times New Roman" panose="02020603050405020304" pitchFamily="18" charset="0"/>
              </a:rPr>
              <a:t>Xây</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dựng</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sơ</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đồ</a:t>
            </a:r>
            <a:r>
              <a:rPr lang="en-US" sz="2000" b="1">
                <a:latin typeface="Times New Roman" panose="02020603050405020304" pitchFamily="18" charset="0"/>
                <a:cs typeface="Times New Roman" panose="02020603050405020304" pitchFamily="18" charset="0"/>
              </a:rPr>
              <a:t> VOC </a:t>
            </a:r>
            <a:r>
              <a:rPr lang="en-US" sz="2000" b="1" err="1">
                <a:latin typeface="Times New Roman" panose="02020603050405020304" pitchFamily="18" charset="0"/>
                <a:cs typeface="Times New Roman" panose="02020603050405020304" pitchFamily="18" charset="0"/>
              </a:rPr>
              <a:t>dao</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động</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Andronov-Hopf</a:t>
            </a:r>
            <a:endParaRPr lang="en-US" sz="2000" b="1">
              <a:latin typeface="Times New Roman" panose="02020603050405020304" pitchFamily="18" charset="0"/>
              <a:cs typeface="Times New Roman" panose="02020603050405020304" pitchFamily="18" charset="0"/>
            </a:endParaRPr>
          </a:p>
        </p:txBody>
      </p:sp>
      <p:sp>
        <p:nvSpPr>
          <p:cNvPr id="26" name="TextBox 25"/>
          <p:cNvSpPr txBox="1"/>
          <p:nvPr/>
        </p:nvSpPr>
        <p:spPr>
          <a:xfrm>
            <a:off x="510284" y="1689325"/>
            <a:ext cx="9614096" cy="369332"/>
          </a:xfrm>
          <a:prstGeom prst="rect">
            <a:avLst/>
          </a:prstGeom>
          <a:noFill/>
        </p:spPr>
        <p:txBody>
          <a:bodyPr wrap="square" rtlCol="0">
            <a:spAutoFit/>
          </a:bodyPr>
          <a:lstStyle/>
          <a:p>
            <a:r>
              <a:rPr lang="en-US" err="1">
                <a:latin typeface="Times New Roman" panose="02020603050405020304" pitchFamily="18" charset="0"/>
                <a:cs typeface="Times New Roman" panose="02020603050405020304" pitchFamily="18" charset="0"/>
              </a:rPr>
              <a:t>Đối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với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bộ</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dao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động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Hopf</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có</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sử</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hệ</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phương</a:t>
            </a:r>
            <a:r>
              <a:rPr lang="en-US">
                <a:latin typeface="Times New Roman" panose="02020603050405020304" pitchFamily="18" charset="0"/>
                <a:cs typeface="Times New Roman" panose="02020603050405020304" pitchFamily="18" charset="0"/>
              </a:rPr>
              <a:t> trình vi </a:t>
            </a:r>
            <a:r>
              <a:rPr lang="en-US" err="1">
                <a:latin typeface="Times New Roman" panose="02020603050405020304" pitchFamily="18" charset="0"/>
                <a:cs typeface="Times New Roman" panose="02020603050405020304" pitchFamily="18" charset="0"/>
              </a:rPr>
              <a:t>phân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bậc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nhất</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của</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Hopf</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như</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sau</a:t>
            </a:r>
            <a:endParaRPr 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TextBox 16"/>
              <p:cNvSpPr txBox="1"/>
              <p:nvPr/>
            </p:nvSpPr>
            <p:spPr>
              <a:xfrm>
                <a:off x="510284" y="3102927"/>
                <a:ext cx="7334721" cy="656013"/>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Ta </a:t>
                </a:r>
                <a:r>
                  <a:rPr lang="en-US" err="1">
                    <a:latin typeface="Times New Roman" panose="02020603050405020304" pitchFamily="18" charset="0"/>
                    <a:cs typeface="Times New Roman" panose="02020603050405020304" pitchFamily="18" charset="0"/>
                  </a:rPr>
                  <a:t>đặt</a:t>
                </a:r>
                <a:r>
                  <a:rPr lang="en-US">
                    <a:latin typeface="Times New Roman" panose="02020603050405020304" pitchFamily="18" charset="0"/>
                    <a:cs typeface="Times New Roman" panose="02020603050405020304" pitchFamily="18" charset="0"/>
                  </a:rPr>
                  <a:t>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𝜀</m:t>
                        </m:r>
                        <m:r>
                          <a:rPr lang="en-US" b="0" i="1" smtClean="0">
                            <a:latin typeface="Cambria Math" panose="02040503050406030204" pitchFamily="18" charset="0"/>
                          </a:rPr>
                          <m:t>𝑖</m:t>
                        </m:r>
                      </m:e>
                      <m:sub>
                        <m:r>
                          <a:rPr lang="en-US" b="0" i="1" smtClean="0">
                            <a:latin typeface="Cambria Math" panose="02040503050406030204" pitchFamily="18" charset="0"/>
                          </a:rPr>
                          <m:t>𝐿</m:t>
                        </m:r>
                      </m:sub>
                    </m:sSub>
                    <m:r>
                      <a:rPr lang="en-US" b="0" i="1" smtClean="0">
                        <a:latin typeface="Cambria Math" panose="02040503050406030204" pitchFamily="18" charset="0"/>
                      </a:rPr>
                      <m:t> , </m:t>
                    </m:r>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i="1">
                            <a:latin typeface="Cambria Math" panose="02040503050406030204" pitchFamily="18" charset="0"/>
                          </a:rPr>
                          <m:t>𝑐</m:t>
                        </m:r>
                      </m:sub>
                    </m:sSub>
                    <m:r>
                      <a:rPr lang="en-US" b="0" i="0" smtClean="0">
                        <a:latin typeface="Cambria Math" panose="02040503050406030204" pitchFamily="18" charset="0"/>
                      </a:rPr>
                      <m:t>,  </m:t>
                    </m:r>
                    <m:r>
                      <a:rPr lang="en-US" i="1">
                        <a:latin typeface="Cambria Math" panose="02040503050406030204" pitchFamily="18" charset="0"/>
                      </a:rPr>
                      <m:t>𝜇</m:t>
                    </m:r>
                    <m:r>
                      <a:rPr lang="en-US" b="0" i="0"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𝛼</m:t>
                        </m:r>
                      </m:num>
                      <m:den>
                        <m:r>
                          <a:rPr lang="en-US" i="1">
                            <a:latin typeface="Cambria Math" panose="02040503050406030204" pitchFamily="18" charset="0"/>
                          </a:rPr>
                          <m:t>𝐶</m:t>
                        </m:r>
                      </m:den>
                    </m:f>
                    <m:r>
                      <a:rPr lang="en-US" b="0" i="1" smtClean="0">
                        <a:latin typeface="Cambria Math" panose="02040503050406030204" pitchFamily="18" charset="0"/>
                      </a:rPr>
                      <m:t> , </m:t>
                    </m:r>
                    <m:r>
                      <a:rPr lang="en-US" b="0" i="1" smtClean="0">
                        <a:latin typeface="Cambria Math" panose="02040503050406030204" pitchFamily="18" charset="0"/>
                      </a:rPr>
                      <m:t>𝑟</m:t>
                    </m:r>
                    <m:r>
                      <a:rPr lang="en-US" b="0" i="1" smtClean="0">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𝜎</m:t>
                            </m:r>
                          </m:num>
                          <m:den>
                            <m:r>
                              <a:rPr lang="en-US" i="1">
                                <a:latin typeface="Cambria Math" panose="02040503050406030204" pitchFamily="18" charset="0"/>
                              </a:rPr>
                              <m:t>𝛼</m:t>
                            </m:r>
                          </m:den>
                        </m:f>
                      </m:e>
                    </m:rad>
                  </m:oMath>
                </a14:m>
                <a:r>
                  <a:rPr lang="en-US">
                    <a:latin typeface="Times New Roman" panose="02020603050405020304" pitchFamily="18" charset="0"/>
                    <a:cs typeface="Times New Roman" panose="02020603050405020304" pitchFamily="18" charset="0"/>
                  </a:rPr>
                  <a:t> , </a:t>
                </a:r>
                <a:r>
                  <a:rPr lang="en-US" err="1">
                    <a:latin typeface="Times New Roman" panose="02020603050405020304" pitchFamily="18" charset="0"/>
                    <a:cs typeface="Times New Roman" panose="02020603050405020304" pitchFamily="18" charset="0"/>
                  </a:rPr>
                  <a:t>thay</a:t>
                </a:r>
                <a:r>
                  <a:rPr lang="en-US">
                    <a:latin typeface="Times New Roman" panose="02020603050405020304" pitchFamily="18" charset="0"/>
                    <a:cs typeface="Times New Roman" panose="02020603050405020304" pitchFamily="18" charset="0"/>
                  </a:rPr>
                  <a:t> vào (1)</a:t>
                </a:r>
              </a:p>
            </p:txBody>
          </p:sp>
        </mc:Choice>
        <mc:Fallback xmlns="">
          <p:sp>
            <p:nvSpPr>
              <p:cNvPr id="17" name="TextBox 16"/>
              <p:cNvSpPr txBox="1">
                <a:spLocks noRot="1" noChangeAspect="1" noMove="1" noResize="1" noEditPoints="1" noAdjustHandles="1" noChangeArrowheads="1" noChangeShapeType="1" noTextEdit="1"/>
              </p:cNvSpPr>
              <p:nvPr/>
            </p:nvSpPr>
            <p:spPr>
              <a:xfrm>
                <a:off x="510284" y="3102927"/>
                <a:ext cx="7334721" cy="656013"/>
              </a:xfrm>
              <a:prstGeom prst="rect">
                <a:avLst/>
              </a:prstGeom>
              <a:blipFill>
                <a:blip r:embed="rId3"/>
                <a:stretch>
                  <a:fillRect l="-748"/>
                </a:stretch>
              </a:blipFill>
            </p:spPr>
            <p:txBody>
              <a:bodyPr/>
              <a:lstStyle/>
              <a:p>
                <a:r>
                  <a:rPr lang="en-US">
                    <a:noFill/>
                  </a:rPr>
                  <a:t> </a:t>
                </a:r>
              </a:p>
            </p:txBody>
          </p:sp>
        </mc:Fallback>
      </mc:AlternateContent>
      <p:sp>
        <p:nvSpPr>
          <p:cNvPr id="20" name="TextBox 19"/>
          <p:cNvSpPr txBox="1"/>
          <p:nvPr/>
        </p:nvSpPr>
        <p:spPr>
          <a:xfrm>
            <a:off x="11247806" y="2565316"/>
            <a:ext cx="551136"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(1)</a:t>
            </a:r>
          </a:p>
        </p:txBody>
      </p:sp>
      <p:graphicFrame>
        <p:nvGraphicFramePr>
          <p:cNvPr id="4" name="Object 3">
            <a:extLst>
              <a:ext uri="{FF2B5EF4-FFF2-40B4-BE49-F238E27FC236}">
                <a16:creationId xmlns:a16="http://schemas.microsoft.com/office/drawing/2014/main" id="{2622A318-8E81-8B7A-4484-496EAE9A8CE9}"/>
              </a:ext>
            </a:extLst>
          </p:cNvPr>
          <p:cNvGraphicFramePr>
            <a:graphicFrameLocks noChangeAspect="1"/>
          </p:cNvGraphicFramePr>
          <p:nvPr>
            <p:extLst>
              <p:ext uri="{D42A27DB-BD31-4B8C-83A1-F6EECF244321}">
                <p14:modId xmlns:p14="http://schemas.microsoft.com/office/powerpoint/2010/main" val="3910393188"/>
              </p:ext>
            </p:extLst>
          </p:nvPr>
        </p:nvGraphicFramePr>
        <p:xfrm>
          <a:off x="1231879" y="2235458"/>
          <a:ext cx="2886382" cy="812500"/>
        </p:xfrm>
        <a:graphic>
          <a:graphicData uri="http://schemas.openxmlformats.org/presentationml/2006/ole">
            <mc:AlternateContent xmlns:mc="http://schemas.openxmlformats.org/markup-compatibility/2006">
              <mc:Choice xmlns:v="urn:schemas-microsoft-com:vml" Requires="v">
                <p:oleObj name="Equation" r:id="rId4" imgW="1827093" imgH="514021" progId="Equation.DSMT4">
                  <p:embed/>
                </p:oleObj>
              </mc:Choice>
              <mc:Fallback>
                <p:oleObj name="Equation" r:id="rId4" imgW="1827093" imgH="514021" progId="Equation.DSMT4">
                  <p:embed/>
                  <p:pic>
                    <p:nvPicPr>
                      <p:cNvPr id="4" name="Object 3">
                        <a:extLst>
                          <a:ext uri="{FF2B5EF4-FFF2-40B4-BE49-F238E27FC236}">
                            <a16:creationId xmlns:a16="http://schemas.microsoft.com/office/drawing/2014/main" id="{2622A318-8E81-8B7A-4484-496EAE9A8CE9}"/>
                          </a:ext>
                        </a:extLst>
                      </p:cNvPr>
                      <p:cNvPicPr/>
                      <p:nvPr/>
                    </p:nvPicPr>
                    <p:blipFill>
                      <a:blip r:embed="rId5"/>
                      <a:stretch>
                        <a:fillRect/>
                      </a:stretch>
                    </p:blipFill>
                    <p:spPr>
                      <a:xfrm>
                        <a:off x="1231879" y="2235458"/>
                        <a:ext cx="2886382" cy="8125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5C09C314-F359-3B49-576B-E108540B1263}"/>
              </a:ext>
            </a:extLst>
          </p:cNvPr>
          <p:cNvGraphicFramePr>
            <a:graphicFrameLocks noChangeAspect="1"/>
          </p:cNvGraphicFramePr>
          <p:nvPr>
            <p:extLst>
              <p:ext uri="{D42A27DB-BD31-4B8C-83A1-F6EECF244321}">
                <p14:modId xmlns:p14="http://schemas.microsoft.com/office/powerpoint/2010/main" val="4286881736"/>
              </p:ext>
            </p:extLst>
          </p:nvPr>
        </p:nvGraphicFramePr>
        <p:xfrm>
          <a:off x="1193800" y="3916363"/>
          <a:ext cx="4324350" cy="2044700"/>
        </p:xfrm>
        <a:graphic>
          <a:graphicData uri="http://schemas.openxmlformats.org/presentationml/2006/ole">
            <mc:AlternateContent xmlns:mc="http://schemas.openxmlformats.org/markup-compatibility/2006">
              <mc:Choice xmlns:v="urn:schemas-microsoft-com:vml" Requires="v">
                <p:oleObj name="Equation" r:id="rId6" imgW="2577960" imgH="1218960" progId="Equation.DSMT4">
                  <p:embed/>
                </p:oleObj>
              </mc:Choice>
              <mc:Fallback>
                <p:oleObj name="Equation" r:id="rId6" imgW="2577960" imgH="1218960" progId="Equation.DSMT4">
                  <p:embed/>
                  <p:pic>
                    <p:nvPicPr>
                      <p:cNvPr id="5" name="Object 4">
                        <a:extLst>
                          <a:ext uri="{FF2B5EF4-FFF2-40B4-BE49-F238E27FC236}">
                            <a16:creationId xmlns:a16="http://schemas.microsoft.com/office/drawing/2014/main" id="{5C09C314-F359-3B49-576B-E108540B1263}"/>
                          </a:ext>
                        </a:extLst>
                      </p:cNvPr>
                      <p:cNvPicPr/>
                      <p:nvPr/>
                    </p:nvPicPr>
                    <p:blipFill>
                      <a:blip r:embed="rId7"/>
                      <a:stretch>
                        <a:fillRect/>
                      </a:stretch>
                    </p:blipFill>
                    <p:spPr>
                      <a:xfrm>
                        <a:off x="1193800" y="3916363"/>
                        <a:ext cx="4324350" cy="2044700"/>
                      </a:xfrm>
                      <a:prstGeom prst="rect">
                        <a:avLst/>
                      </a:prstGeom>
                    </p:spPr>
                  </p:pic>
                </p:oleObj>
              </mc:Fallback>
            </mc:AlternateContent>
          </a:graphicData>
        </a:graphic>
      </p:graphicFrame>
      <p:grpSp>
        <p:nvGrpSpPr>
          <p:cNvPr id="7" name="Group 6">
            <a:extLst>
              <a:ext uri="{FF2B5EF4-FFF2-40B4-BE49-F238E27FC236}">
                <a16:creationId xmlns:a16="http://schemas.microsoft.com/office/drawing/2014/main" id="{EB79BB12-F004-66C1-D05B-000A83638D22}"/>
              </a:ext>
            </a:extLst>
          </p:cNvPr>
          <p:cNvGrpSpPr/>
          <p:nvPr/>
        </p:nvGrpSpPr>
        <p:grpSpPr>
          <a:xfrm>
            <a:off x="510284" y="324255"/>
            <a:ext cx="9501431" cy="748796"/>
            <a:chOff x="1793005" y="1746584"/>
            <a:chExt cx="9501431" cy="748794"/>
          </a:xfrm>
        </p:grpSpPr>
        <p:sp>
          <p:nvSpPr>
            <p:cNvPr id="8" name="TextBox 7">
              <a:extLst>
                <a:ext uri="{FF2B5EF4-FFF2-40B4-BE49-F238E27FC236}">
                  <a16:creationId xmlns:a16="http://schemas.microsoft.com/office/drawing/2014/main" id="{69DC17EC-EC4E-4F8B-02A0-208DEAE13FBB}"/>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9" name="Rectangle 8">
              <a:extLst>
                <a:ext uri="{FF2B5EF4-FFF2-40B4-BE49-F238E27FC236}">
                  <a16:creationId xmlns:a16="http://schemas.microsoft.com/office/drawing/2014/main" id="{579FF2FA-DF82-249F-BB5A-0224360C8955}"/>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Tree>
    <p:extLst>
      <p:ext uri="{BB962C8B-B14F-4D97-AF65-F5344CB8AC3E}">
        <p14:creationId xmlns:p14="http://schemas.microsoft.com/office/powerpoint/2010/main" val="842619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11</a:t>
            </a:fld>
            <a:endParaRPr lang="en-US"/>
          </a:p>
        </p:txBody>
      </p:sp>
      <mc:AlternateContent xmlns:mc="http://schemas.openxmlformats.org/markup-compatibility/2006" xmlns:a14="http://schemas.microsoft.com/office/drawing/2010/main">
        <mc:Choice Requires="a14">
          <p:sp>
            <p:nvSpPr>
              <p:cNvPr id="22" name="Rectangle 21"/>
              <p:cNvSpPr/>
              <p:nvPr/>
            </p:nvSpPr>
            <p:spPr>
              <a:xfrm>
                <a:off x="696931" y="1625794"/>
                <a:ext cx="5371342" cy="656013"/>
              </a:xfrm>
              <a:prstGeom prst="rect">
                <a:avLst/>
              </a:prstGeom>
            </p:spPr>
            <p:txBody>
              <a:bodyPr wrap="none">
                <a:spAutoFit/>
              </a:bodyPr>
              <a:lstStyle/>
              <a:p>
                <a:r>
                  <a:rPr lang="en-US" b="0">
                    <a:latin typeface="Times New Roman" panose="02020603050405020304" pitchFamily="18" charset="0"/>
                    <a:cs typeface="Times New Roman" panose="02020603050405020304" pitchFamily="18" charset="0"/>
                  </a:rPr>
                  <a:t>Thay </a:t>
                </a:r>
                <a14:m>
                  <m:oMath xmlns:m="http://schemas.openxmlformats.org/officeDocument/2006/math">
                    <m:r>
                      <a:rPr lang="el-GR" b="0" i="1" smtClean="0">
                        <a:latin typeface="Cambria Math" panose="02040503050406030204" pitchFamily="18" charset="0"/>
                      </a:rPr>
                      <m:t>𝜔</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𝐿𝐶</m:t>
                            </m:r>
                          </m:e>
                        </m:rad>
                      </m:den>
                    </m:f>
                    <m:r>
                      <a:rPr lang="en-US" b="0" i="1" smtClean="0">
                        <a:latin typeface="Cambria Math" panose="02040503050406030204" pitchFamily="18" charset="0"/>
                      </a:rPr>
                      <m:t>,</m:t>
                    </m:r>
                    <m:r>
                      <a:rPr lang="en-US" i="1" smtClean="0">
                        <a:latin typeface="Cambria Math" panose="02040503050406030204" pitchFamily="18" charset="0"/>
                      </a:rPr>
                      <m:t>𝜀</m:t>
                    </m:r>
                    <m:r>
                      <a:rPr lang="en-US" b="0" i="1" smtClean="0">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𝐿</m:t>
                            </m:r>
                          </m:num>
                          <m:den>
                            <m:r>
                              <a:rPr lang="en-US" i="1">
                                <a:latin typeface="Cambria Math" panose="02040503050406030204" pitchFamily="18" charset="0"/>
                              </a:rPr>
                              <m:t>𝐶</m:t>
                            </m:r>
                          </m:den>
                        </m:f>
                      </m:e>
                    </m:rad>
                    <m:r>
                      <a:rPr lang="en-US" b="0" i="1" smtClean="0">
                        <a:latin typeface="Cambria Math" panose="02040503050406030204" pitchFamily="18" charset="0"/>
                      </a:rPr>
                      <m:t> </m:t>
                    </m:r>
                  </m:oMath>
                </a14:m>
                <a:r>
                  <a:rPr lang="en-US" i="1">
                    <a:latin typeface="Times New Roman" panose="02020603050405020304" pitchFamily="18" charset="0"/>
                    <a:cs typeface="Times New Roman" panose="02020603050405020304" pitchFamily="18" charset="0"/>
                  </a:rPr>
                  <a:t>,</a:t>
                </a:r>
                <a:r>
                  <a:rPr lang="en-US"/>
                  <a:t> </a:t>
                </a:r>
                <a14:m>
                  <m:oMath xmlns:m="http://schemas.openxmlformats.org/officeDocument/2006/math">
                    <m:r>
                      <m:rPr>
                        <m:sty m:val="p"/>
                      </m:rPr>
                      <a:rPr lang="en-US" i="0">
                        <a:latin typeface="Cambria Math" panose="02040503050406030204" pitchFamily="18" charset="0"/>
                      </a:rPr>
                      <m:t>ε</m:t>
                    </m:r>
                  </m:oMath>
                </a14:m>
                <a:r>
                  <a:rPr lang="en-US">
                    <a:latin typeface="Times New Roman" panose="02020603050405020304" pitchFamily="18" charset="0"/>
                    <a:cs typeface="Times New Roman" panose="02020603050405020304" pitchFamily="18" charset="0"/>
                  </a:rPr>
                  <a:t> </a:t>
                </a:r>
                <a:r>
                  <a:rPr lang="vi-VN">
                    <a:latin typeface="Times New Roman" panose="02020603050405020304" pitchFamily="18" charset="0"/>
                    <a:cs typeface="Times New Roman" panose="02020603050405020304" pitchFamily="18" charset="0"/>
                  </a:rPr>
                  <a:t>là giá trị trở kháng đặc trưng</a:t>
                </a:r>
                <a:endParaRPr lang="en-US">
                  <a:latin typeface="Times New Roman" panose="02020603050405020304" pitchFamily="18" charset="0"/>
                  <a:cs typeface="Times New Roman" panose="02020603050405020304" pitchFamily="18" charset="0"/>
                </a:endParaRPr>
              </a:p>
            </p:txBody>
          </p:sp>
        </mc:Choice>
        <mc:Fallback xmlns="">
          <p:sp>
            <p:nvSpPr>
              <p:cNvPr id="22" name="Rectangle 21"/>
              <p:cNvSpPr>
                <a:spLocks noRot="1" noChangeAspect="1" noMove="1" noResize="1" noEditPoints="1" noAdjustHandles="1" noChangeArrowheads="1" noChangeShapeType="1" noTextEdit="1"/>
              </p:cNvSpPr>
              <p:nvPr/>
            </p:nvSpPr>
            <p:spPr>
              <a:xfrm>
                <a:off x="696931" y="1625794"/>
                <a:ext cx="5371342" cy="656013"/>
              </a:xfrm>
              <a:prstGeom prst="rect">
                <a:avLst/>
              </a:prstGeom>
              <a:blipFill>
                <a:blip r:embed="rId2"/>
                <a:stretch>
                  <a:fillRect l="-908"/>
                </a:stretch>
              </a:blipFill>
            </p:spPr>
            <p:txBody>
              <a:bodyPr/>
              <a:lstStyle/>
              <a:p>
                <a:r>
                  <a:rPr lang="vi-VN">
                    <a:noFill/>
                  </a:rPr>
                  <a:t> </a:t>
                </a:r>
              </a:p>
            </p:txBody>
          </p:sp>
        </mc:Fallback>
      </mc:AlternateContent>
      <p:sp>
        <p:nvSpPr>
          <p:cNvPr id="7" name="TextBox 6">
            <a:extLst>
              <a:ext uri="{FF2B5EF4-FFF2-40B4-BE49-F238E27FC236}">
                <a16:creationId xmlns:a16="http://schemas.microsoft.com/office/drawing/2014/main" id="{C3327F8E-1201-DA82-00FA-DA014D8D4CC7}"/>
              </a:ext>
            </a:extLst>
          </p:cNvPr>
          <p:cNvSpPr txBox="1"/>
          <p:nvPr/>
        </p:nvSpPr>
        <p:spPr>
          <a:xfrm>
            <a:off x="510284" y="1071238"/>
            <a:ext cx="5840381" cy="400110"/>
          </a:xfrm>
          <a:prstGeom prst="rect">
            <a:avLst/>
          </a:prstGeom>
          <a:noFill/>
        </p:spPr>
        <p:txBody>
          <a:bodyPr wrap="none" rtlCol="0">
            <a:spAutoFit/>
          </a:bodyPr>
          <a:lstStyle/>
          <a:p>
            <a:r>
              <a:rPr lang="en-US" sz="2000" b="1">
                <a:latin typeface="Times New Roman" panose="02020603050405020304" pitchFamily="18" charset="0"/>
                <a:cs typeface="Times New Roman" panose="02020603050405020304" pitchFamily="18" charset="0"/>
              </a:rPr>
              <a:t>2.2. </a:t>
            </a:r>
            <a:r>
              <a:rPr lang="en-US" sz="2000" b="1" err="1">
                <a:latin typeface="Times New Roman" panose="02020603050405020304" pitchFamily="18" charset="0"/>
                <a:cs typeface="Times New Roman" panose="02020603050405020304" pitchFamily="18" charset="0"/>
              </a:rPr>
              <a:t>Xây</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dựng</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sơ</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đồ</a:t>
            </a:r>
            <a:r>
              <a:rPr lang="en-US" sz="2000" b="1">
                <a:latin typeface="Times New Roman" panose="02020603050405020304" pitchFamily="18" charset="0"/>
                <a:cs typeface="Times New Roman" panose="02020603050405020304" pitchFamily="18" charset="0"/>
              </a:rPr>
              <a:t> VOC </a:t>
            </a:r>
            <a:r>
              <a:rPr lang="en-US" sz="2000" b="1" err="1">
                <a:latin typeface="Times New Roman" panose="02020603050405020304" pitchFamily="18" charset="0"/>
                <a:cs typeface="Times New Roman" panose="02020603050405020304" pitchFamily="18" charset="0"/>
              </a:rPr>
              <a:t>dao</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động</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Andronov-Hopf</a:t>
            </a:r>
            <a:endParaRPr lang="en-US" sz="2000" b="1">
              <a:latin typeface="Times New Roman" panose="02020603050405020304" pitchFamily="18" charset="0"/>
              <a:cs typeface="Times New Roman" panose="02020603050405020304" pitchFamily="18" charset="0"/>
            </a:endParaRPr>
          </a:p>
        </p:txBody>
      </p:sp>
      <p:graphicFrame>
        <p:nvGraphicFramePr>
          <p:cNvPr id="8" name="Object 7">
            <a:extLst>
              <a:ext uri="{FF2B5EF4-FFF2-40B4-BE49-F238E27FC236}">
                <a16:creationId xmlns:a16="http://schemas.microsoft.com/office/drawing/2014/main" id="{1989BE03-AC9C-E239-BFAC-EBCAE929682D}"/>
              </a:ext>
            </a:extLst>
          </p:cNvPr>
          <p:cNvGraphicFramePr>
            <a:graphicFrameLocks noChangeAspect="1"/>
          </p:cNvGraphicFramePr>
          <p:nvPr>
            <p:extLst>
              <p:ext uri="{D42A27DB-BD31-4B8C-83A1-F6EECF244321}">
                <p14:modId xmlns:p14="http://schemas.microsoft.com/office/powerpoint/2010/main" val="1576673720"/>
              </p:ext>
            </p:extLst>
          </p:nvPr>
        </p:nvGraphicFramePr>
        <p:xfrm>
          <a:off x="666750" y="2505075"/>
          <a:ext cx="3838575" cy="1581150"/>
        </p:xfrm>
        <a:graphic>
          <a:graphicData uri="http://schemas.openxmlformats.org/presentationml/2006/ole">
            <mc:AlternateContent xmlns:mc="http://schemas.openxmlformats.org/markup-compatibility/2006">
              <mc:Choice xmlns:v="urn:schemas-microsoft-com:vml" Requires="v">
                <p:oleObj name="Equation" r:id="rId3" imgW="2958840" imgH="1218960" progId="Equation.DSMT4">
                  <p:embed/>
                </p:oleObj>
              </mc:Choice>
              <mc:Fallback>
                <p:oleObj name="Equation" r:id="rId3" imgW="2958840" imgH="1218960" progId="Equation.DSMT4">
                  <p:embed/>
                  <p:pic>
                    <p:nvPicPr>
                      <p:cNvPr id="8" name="Object 7">
                        <a:extLst>
                          <a:ext uri="{FF2B5EF4-FFF2-40B4-BE49-F238E27FC236}">
                            <a16:creationId xmlns:a16="http://schemas.microsoft.com/office/drawing/2014/main" id="{1989BE03-AC9C-E239-BFAC-EBCAE929682D}"/>
                          </a:ext>
                        </a:extLst>
                      </p:cNvPr>
                      <p:cNvPicPr/>
                      <p:nvPr/>
                    </p:nvPicPr>
                    <p:blipFill>
                      <a:blip r:embed="rId4"/>
                      <a:stretch>
                        <a:fillRect/>
                      </a:stretch>
                    </p:blipFill>
                    <p:spPr>
                      <a:xfrm>
                        <a:off x="666750" y="2505075"/>
                        <a:ext cx="3838575" cy="158115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13255E72-CEC5-4391-C8C5-CEA39BD9805F}"/>
              </a:ext>
            </a:extLst>
          </p:cNvPr>
          <p:cNvGraphicFramePr>
            <a:graphicFrameLocks noChangeAspect="1"/>
          </p:cNvGraphicFramePr>
          <p:nvPr>
            <p:extLst>
              <p:ext uri="{D42A27DB-BD31-4B8C-83A1-F6EECF244321}">
                <p14:modId xmlns:p14="http://schemas.microsoft.com/office/powerpoint/2010/main" val="3717437202"/>
              </p:ext>
            </p:extLst>
          </p:nvPr>
        </p:nvGraphicFramePr>
        <p:xfrm>
          <a:off x="636588" y="4446588"/>
          <a:ext cx="4513262" cy="1430337"/>
        </p:xfrm>
        <a:graphic>
          <a:graphicData uri="http://schemas.openxmlformats.org/presentationml/2006/ole">
            <mc:AlternateContent xmlns:mc="http://schemas.openxmlformats.org/markup-compatibility/2006">
              <mc:Choice xmlns:v="urn:schemas-microsoft-com:vml" Requires="v">
                <p:oleObj name="Equation" r:id="rId5" imgW="2806560" imgH="888840" progId="Equation.DSMT4">
                  <p:embed/>
                </p:oleObj>
              </mc:Choice>
              <mc:Fallback>
                <p:oleObj name="Equation" r:id="rId5" imgW="2806560" imgH="888840" progId="Equation.DSMT4">
                  <p:embed/>
                  <p:pic>
                    <p:nvPicPr>
                      <p:cNvPr id="9" name="Object 8">
                        <a:extLst>
                          <a:ext uri="{FF2B5EF4-FFF2-40B4-BE49-F238E27FC236}">
                            <a16:creationId xmlns:a16="http://schemas.microsoft.com/office/drawing/2014/main" id="{13255E72-CEC5-4391-C8C5-CEA39BD9805F}"/>
                          </a:ext>
                        </a:extLst>
                      </p:cNvPr>
                      <p:cNvPicPr/>
                      <p:nvPr/>
                    </p:nvPicPr>
                    <p:blipFill>
                      <a:blip r:embed="rId6"/>
                      <a:stretch>
                        <a:fillRect/>
                      </a:stretch>
                    </p:blipFill>
                    <p:spPr>
                      <a:xfrm>
                        <a:off x="636588" y="4446588"/>
                        <a:ext cx="4513262" cy="1430337"/>
                      </a:xfrm>
                      <a:prstGeom prst="rect">
                        <a:avLst/>
                      </a:prstGeom>
                    </p:spPr>
                  </p:pic>
                </p:oleObj>
              </mc:Fallback>
            </mc:AlternateContent>
          </a:graphicData>
        </a:graphic>
      </p:graphicFrame>
      <p:grpSp>
        <p:nvGrpSpPr>
          <p:cNvPr id="10" name="Group 9">
            <a:extLst>
              <a:ext uri="{FF2B5EF4-FFF2-40B4-BE49-F238E27FC236}">
                <a16:creationId xmlns:a16="http://schemas.microsoft.com/office/drawing/2014/main" id="{2ABD8102-A5AC-F299-1025-672114177F38}"/>
              </a:ext>
            </a:extLst>
          </p:cNvPr>
          <p:cNvGrpSpPr/>
          <p:nvPr/>
        </p:nvGrpSpPr>
        <p:grpSpPr>
          <a:xfrm>
            <a:off x="510284" y="324255"/>
            <a:ext cx="9501431" cy="748796"/>
            <a:chOff x="1793005" y="1746584"/>
            <a:chExt cx="9501431" cy="748794"/>
          </a:xfrm>
        </p:grpSpPr>
        <p:sp>
          <p:nvSpPr>
            <p:cNvPr id="11" name="TextBox 10">
              <a:extLst>
                <a:ext uri="{FF2B5EF4-FFF2-40B4-BE49-F238E27FC236}">
                  <a16:creationId xmlns:a16="http://schemas.microsoft.com/office/drawing/2014/main" id="{86A4F79B-85E3-D3A8-C87A-BD7669C4847A}"/>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12" name="Rectangle 11">
              <a:extLst>
                <a:ext uri="{FF2B5EF4-FFF2-40B4-BE49-F238E27FC236}">
                  <a16:creationId xmlns:a16="http://schemas.microsoft.com/office/drawing/2014/main" id="{8EE063A4-10E8-E1D0-F7DD-82E64C82C530}"/>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Tree>
    <p:extLst>
      <p:ext uri="{BB962C8B-B14F-4D97-AF65-F5344CB8AC3E}">
        <p14:creationId xmlns:p14="http://schemas.microsoft.com/office/powerpoint/2010/main" val="3785835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12</a:t>
            </a:fld>
            <a:endParaRPr lang="en-US"/>
          </a:p>
        </p:txBody>
      </p:sp>
      <p:sp>
        <p:nvSpPr>
          <p:cNvPr id="21" name="TextBox 20"/>
          <p:cNvSpPr txBox="1"/>
          <p:nvPr/>
        </p:nvSpPr>
        <p:spPr>
          <a:xfrm>
            <a:off x="904399" y="3727669"/>
            <a:ext cx="8931530"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Nhân 2 vế phương trình trên với C, nhân 2 vế phương trình dưới với L, ta được:</a:t>
            </a:r>
          </a:p>
        </p:txBody>
      </p:sp>
      <mc:AlternateContent xmlns:mc="http://schemas.openxmlformats.org/markup-compatibility/2006" xmlns:a14="http://schemas.microsoft.com/office/drawing/2010/main">
        <mc:Choice Requires="a14">
          <p:sp>
            <p:nvSpPr>
              <p:cNvPr id="26" name="TextBox 25"/>
              <p:cNvSpPr txBox="1"/>
              <p:nvPr/>
            </p:nvSpPr>
            <p:spPr>
              <a:xfrm>
                <a:off x="904399" y="1697636"/>
                <a:ext cx="5336267"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Chia 2 </a:t>
                </a:r>
                <a:r>
                  <a:rPr lang="en-US" err="1">
                    <a:latin typeface="Times New Roman" panose="02020603050405020304" pitchFamily="18" charset="0"/>
                    <a:cs typeface="Times New Roman" panose="02020603050405020304" pitchFamily="18" charset="0"/>
                  </a:rPr>
                  <a:t>vế</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phương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trình</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dưới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với</a:t>
                </a:r>
                <a:r>
                  <a:rPr lang="en-US">
                    <a:latin typeface="Times New Roman" panose="02020603050405020304" pitchFamily="18" charset="0"/>
                    <a:cs typeface="Times New Roman" panose="02020603050405020304" pitchFamily="18" charset="0"/>
                  </a:rPr>
                  <a:t> </a:t>
                </a:r>
                <a14:m>
                  <m:oMath xmlns:m="http://schemas.openxmlformats.org/officeDocument/2006/math">
                    <m:r>
                      <a:rPr lang="en-US" i="1">
                        <a:latin typeface="Cambria Math" panose="02040503050406030204" pitchFamily="18" charset="0"/>
                      </a:rPr>
                      <m:t>𝜀</m:t>
                    </m:r>
                  </m:oMath>
                </a14:m>
                <a:r>
                  <a:rPr lang="en-US">
                    <a:latin typeface="Times New Roman" panose="02020603050405020304" pitchFamily="18" charset="0"/>
                    <a:cs typeface="Times New Roman" panose="02020603050405020304" pitchFamily="18" charset="0"/>
                  </a:rPr>
                  <a:t> </a:t>
                </a:r>
              </a:p>
            </p:txBody>
          </p:sp>
        </mc:Choice>
        <mc:Fallback xmlns="">
          <p:sp>
            <p:nvSpPr>
              <p:cNvPr id="26" name="TextBox 25"/>
              <p:cNvSpPr txBox="1">
                <a:spLocks noRot="1" noChangeAspect="1" noMove="1" noResize="1" noEditPoints="1" noAdjustHandles="1" noChangeArrowheads="1" noChangeShapeType="1" noTextEdit="1"/>
              </p:cNvSpPr>
              <p:nvPr/>
            </p:nvSpPr>
            <p:spPr>
              <a:xfrm>
                <a:off x="904399" y="1697636"/>
                <a:ext cx="5336267" cy="369332"/>
              </a:xfrm>
              <a:prstGeom prst="rect">
                <a:avLst/>
              </a:prstGeom>
              <a:blipFill>
                <a:blip r:embed="rId2"/>
                <a:stretch>
                  <a:fillRect l="-913" t="-8197" b="-24590"/>
                </a:stretch>
              </a:blipFill>
            </p:spPr>
            <p:txBody>
              <a:bodyPr/>
              <a:lstStyle/>
              <a:p>
                <a:r>
                  <a:rPr lang="en-US">
                    <a:noFill/>
                  </a:rPr>
                  <a:t> </a:t>
                </a:r>
              </a:p>
            </p:txBody>
          </p:sp>
        </mc:Fallback>
      </mc:AlternateContent>
      <p:sp>
        <p:nvSpPr>
          <p:cNvPr id="6" name="Rectangle 5"/>
          <p:cNvSpPr/>
          <p:nvPr/>
        </p:nvSpPr>
        <p:spPr>
          <a:xfrm>
            <a:off x="11305222" y="4439212"/>
            <a:ext cx="482824" cy="400110"/>
          </a:xfrm>
          <a:prstGeom prst="rect">
            <a:avLst/>
          </a:prstGeom>
        </p:spPr>
        <p:txBody>
          <a:bodyPr wrap="none">
            <a:spAutoFit/>
          </a:bodyPr>
          <a:lstStyle/>
          <a:p>
            <a:r>
              <a:rPr lang="en-US" sz="2000">
                <a:latin typeface="Times New Roman" panose="02020603050405020304" pitchFamily="18" charset="0"/>
                <a:cs typeface="Times New Roman" panose="02020603050405020304" pitchFamily="18" charset="0"/>
              </a:rPr>
              <a:t>(2)</a:t>
            </a:r>
            <a:endParaRPr lang="en-US" sz="2000"/>
          </a:p>
        </p:txBody>
      </p:sp>
      <p:sp>
        <p:nvSpPr>
          <p:cNvPr id="7" name="TextBox 6">
            <a:extLst>
              <a:ext uri="{FF2B5EF4-FFF2-40B4-BE49-F238E27FC236}">
                <a16:creationId xmlns:a16="http://schemas.microsoft.com/office/drawing/2014/main" id="{8CB48CB1-E3C4-645C-4F80-45465580C75F}"/>
              </a:ext>
            </a:extLst>
          </p:cNvPr>
          <p:cNvSpPr txBox="1"/>
          <p:nvPr/>
        </p:nvSpPr>
        <p:spPr>
          <a:xfrm>
            <a:off x="510284" y="1073051"/>
            <a:ext cx="5840381" cy="400110"/>
          </a:xfrm>
          <a:prstGeom prst="rect">
            <a:avLst/>
          </a:prstGeom>
          <a:noFill/>
        </p:spPr>
        <p:txBody>
          <a:bodyPr wrap="none" rtlCol="0">
            <a:spAutoFit/>
          </a:bodyPr>
          <a:lstStyle/>
          <a:p>
            <a:r>
              <a:rPr lang="en-US" sz="2000" b="1">
                <a:latin typeface="Times New Roman" panose="02020603050405020304" pitchFamily="18" charset="0"/>
                <a:cs typeface="Times New Roman" panose="02020603050405020304" pitchFamily="18" charset="0"/>
              </a:rPr>
              <a:t>2.2. </a:t>
            </a:r>
            <a:r>
              <a:rPr lang="en-US" sz="2000" b="1" err="1">
                <a:latin typeface="Times New Roman" panose="02020603050405020304" pitchFamily="18" charset="0"/>
                <a:cs typeface="Times New Roman" panose="02020603050405020304" pitchFamily="18" charset="0"/>
              </a:rPr>
              <a:t>Xây</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dựng</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sơ</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đồ</a:t>
            </a:r>
            <a:r>
              <a:rPr lang="en-US" sz="2000" b="1">
                <a:latin typeface="Times New Roman" panose="02020603050405020304" pitchFamily="18" charset="0"/>
                <a:cs typeface="Times New Roman" panose="02020603050405020304" pitchFamily="18" charset="0"/>
              </a:rPr>
              <a:t> VOC </a:t>
            </a:r>
            <a:r>
              <a:rPr lang="en-US" sz="2000" b="1" err="1">
                <a:latin typeface="Times New Roman" panose="02020603050405020304" pitchFamily="18" charset="0"/>
                <a:cs typeface="Times New Roman" panose="02020603050405020304" pitchFamily="18" charset="0"/>
              </a:rPr>
              <a:t>dao</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động</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Andronov-Hopf</a:t>
            </a:r>
            <a:endParaRPr lang="en-US" sz="2000" b="1">
              <a:latin typeface="Times New Roman" panose="02020603050405020304" pitchFamily="18" charset="0"/>
              <a:cs typeface="Times New Roman" panose="02020603050405020304" pitchFamily="18" charset="0"/>
            </a:endParaRPr>
          </a:p>
        </p:txBody>
      </p:sp>
      <p:graphicFrame>
        <p:nvGraphicFramePr>
          <p:cNvPr id="8" name="Object 7">
            <a:extLst>
              <a:ext uri="{FF2B5EF4-FFF2-40B4-BE49-F238E27FC236}">
                <a16:creationId xmlns:a16="http://schemas.microsoft.com/office/drawing/2014/main" id="{796A923A-B4AB-EB60-6031-B9237C8C2BBA}"/>
              </a:ext>
            </a:extLst>
          </p:cNvPr>
          <p:cNvGraphicFramePr>
            <a:graphicFrameLocks noChangeAspect="1"/>
          </p:cNvGraphicFramePr>
          <p:nvPr>
            <p:extLst>
              <p:ext uri="{D42A27DB-BD31-4B8C-83A1-F6EECF244321}">
                <p14:modId xmlns:p14="http://schemas.microsoft.com/office/powerpoint/2010/main" val="69004720"/>
              </p:ext>
            </p:extLst>
          </p:nvPr>
        </p:nvGraphicFramePr>
        <p:xfrm>
          <a:off x="969963" y="2254250"/>
          <a:ext cx="4013200" cy="1331913"/>
        </p:xfrm>
        <a:graphic>
          <a:graphicData uri="http://schemas.openxmlformats.org/presentationml/2006/ole">
            <mc:AlternateContent xmlns:mc="http://schemas.openxmlformats.org/markup-compatibility/2006">
              <mc:Choice xmlns:v="urn:schemas-microsoft-com:vml" Requires="v">
                <p:oleObj name="Equation" r:id="rId3" imgW="2679480" imgH="888840" progId="Equation.DSMT4">
                  <p:embed/>
                </p:oleObj>
              </mc:Choice>
              <mc:Fallback>
                <p:oleObj name="Equation" r:id="rId3" imgW="2679480" imgH="888840" progId="Equation.DSMT4">
                  <p:embed/>
                  <p:pic>
                    <p:nvPicPr>
                      <p:cNvPr id="8" name="Object 7">
                        <a:extLst>
                          <a:ext uri="{FF2B5EF4-FFF2-40B4-BE49-F238E27FC236}">
                            <a16:creationId xmlns:a16="http://schemas.microsoft.com/office/drawing/2014/main" id="{796A923A-B4AB-EB60-6031-B9237C8C2BBA}"/>
                          </a:ext>
                        </a:extLst>
                      </p:cNvPr>
                      <p:cNvPicPr/>
                      <p:nvPr/>
                    </p:nvPicPr>
                    <p:blipFill>
                      <a:blip r:embed="rId4"/>
                      <a:stretch>
                        <a:fillRect/>
                      </a:stretch>
                    </p:blipFill>
                    <p:spPr>
                      <a:xfrm>
                        <a:off x="969963" y="2254250"/>
                        <a:ext cx="4013200" cy="1331913"/>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85F79745-806F-9D4C-4711-2930ABDE266C}"/>
              </a:ext>
            </a:extLst>
          </p:cNvPr>
          <p:cNvGraphicFramePr>
            <a:graphicFrameLocks noChangeAspect="1"/>
          </p:cNvGraphicFramePr>
          <p:nvPr>
            <p:extLst>
              <p:ext uri="{D42A27DB-BD31-4B8C-83A1-F6EECF244321}">
                <p14:modId xmlns:p14="http://schemas.microsoft.com/office/powerpoint/2010/main" val="2941353842"/>
              </p:ext>
            </p:extLst>
          </p:nvPr>
        </p:nvGraphicFramePr>
        <p:xfrm>
          <a:off x="946150" y="4314825"/>
          <a:ext cx="3798888" cy="976313"/>
        </p:xfrm>
        <a:graphic>
          <a:graphicData uri="http://schemas.openxmlformats.org/presentationml/2006/ole">
            <mc:AlternateContent xmlns:mc="http://schemas.openxmlformats.org/markup-compatibility/2006">
              <mc:Choice xmlns:v="urn:schemas-microsoft-com:vml" Requires="v">
                <p:oleObj name="Equation" r:id="rId5" imgW="2374560" imgH="609480" progId="Equation.DSMT4">
                  <p:embed/>
                </p:oleObj>
              </mc:Choice>
              <mc:Fallback>
                <p:oleObj name="Equation" r:id="rId5" imgW="2374560" imgH="609480" progId="Equation.DSMT4">
                  <p:embed/>
                  <p:pic>
                    <p:nvPicPr>
                      <p:cNvPr id="9" name="Object 8">
                        <a:extLst>
                          <a:ext uri="{FF2B5EF4-FFF2-40B4-BE49-F238E27FC236}">
                            <a16:creationId xmlns:a16="http://schemas.microsoft.com/office/drawing/2014/main" id="{85F79745-806F-9D4C-4711-2930ABDE266C}"/>
                          </a:ext>
                        </a:extLst>
                      </p:cNvPr>
                      <p:cNvPicPr/>
                      <p:nvPr/>
                    </p:nvPicPr>
                    <p:blipFill>
                      <a:blip r:embed="rId6"/>
                      <a:stretch>
                        <a:fillRect/>
                      </a:stretch>
                    </p:blipFill>
                    <p:spPr>
                      <a:xfrm>
                        <a:off x="946150" y="4314825"/>
                        <a:ext cx="3798888" cy="976313"/>
                      </a:xfrm>
                      <a:prstGeom prst="rect">
                        <a:avLst/>
                      </a:prstGeom>
                    </p:spPr>
                  </p:pic>
                </p:oleObj>
              </mc:Fallback>
            </mc:AlternateContent>
          </a:graphicData>
        </a:graphic>
      </p:graphicFrame>
      <p:grpSp>
        <p:nvGrpSpPr>
          <p:cNvPr id="10" name="Group 9">
            <a:extLst>
              <a:ext uri="{FF2B5EF4-FFF2-40B4-BE49-F238E27FC236}">
                <a16:creationId xmlns:a16="http://schemas.microsoft.com/office/drawing/2014/main" id="{A712E55F-F0FB-162C-035C-B7C3B893081F}"/>
              </a:ext>
            </a:extLst>
          </p:cNvPr>
          <p:cNvGrpSpPr/>
          <p:nvPr/>
        </p:nvGrpSpPr>
        <p:grpSpPr>
          <a:xfrm>
            <a:off x="510284" y="324255"/>
            <a:ext cx="9501431" cy="748796"/>
            <a:chOff x="1793005" y="1746584"/>
            <a:chExt cx="9501431" cy="748794"/>
          </a:xfrm>
        </p:grpSpPr>
        <p:sp>
          <p:nvSpPr>
            <p:cNvPr id="11" name="TextBox 10">
              <a:extLst>
                <a:ext uri="{FF2B5EF4-FFF2-40B4-BE49-F238E27FC236}">
                  <a16:creationId xmlns:a16="http://schemas.microsoft.com/office/drawing/2014/main" id="{B0F78857-F9AC-E53F-EAA2-327C91C8E09B}"/>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12" name="Rectangle 11">
              <a:extLst>
                <a:ext uri="{FF2B5EF4-FFF2-40B4-BE49-F238E27FC236}">
                  <a16:creationId xmlns:a16="http://schemas.microsoft.com/office/drawing/2014/main" id="{2A65CC12-93C9-B5E6-891F-D182FF48508A}"/>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Tree>
    <p:extLst>
      <p:ext uri="{BB962C8B-B14F-4D97-AF65-F5344CB8AC3E}">
        <p14:creationId xmlns:p14="http://schemas.microsoft.com/office/powerpoint/2010/main" val="808681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13</a:t>
            </a:fld>
            <a:endParaRPr lang="en-US"/>
          </a:p>
        </p:txBody>
      </p:sp>
      <p:sp>
        <p:nvSpPr>
          <p:cNvPr id="22" name="TextBox 21"/>
          <p:cNvSpPr txBox="1"/>
          <p:nvPr/>
        </p:nvSpPr>
        <p:spPr>
          <a:xfrm>
            <a:off x="426542" y="2708172"/>
            <a:ext cx="4520428"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Thay </a:t>
            </a:r>
            <a:r>
              <a:rPr lang="en-US" i="1">
                <a:latin typeface="Times New Roman" panose="02020603050405020304" pitchFamily="18" charset="0"/>
                <a:cs typeface="Times New Roman" panose="02020603050405020304" pitchFamily="18" charset="0"/>
              </a:rPr>
              <a:t>g</a:t>
            </a:r>
            <a:r>
              <a:rPr lang="en-US" i="1" baseline="-25000">
                <a:latin typeface="Times New Roman" panose="02020603050405020304" pitchFamily="18" charset="0"/>
                <a:cs typeface="Times New Roman" panose="02020603050405020304" pitchFamily="18" charset="0"/>
              </a:rPr>
              <a:t>v</a:t>
            </a:r>
            <a:r>
              <a:rPr lang="en-US" i="1">
                <a:latin typeface="Times New Roman" panose="02020603050405020304" pitchFamily="18" charset="0"/>
                <a:cs typeface="Times New Roman" panose="02020603050405020304" pitchFamily="18" charset="0"/>
              </a:rPr>
              <a:t>, , g</a:t>
            </a:r>
            <a:r>
              <a:rPr lang="en-US" i="1" baseline="-25000">
                <a:latin typeface="Times New Roman" panose="02020603050405020304" pitchFamily="18" charset="0"/>
                <a:cs typeface="Times New Roman" panose="02020603050405020304" pitchFamily="18" charset="0"/>
              </a:rPr>
              <a:t>i</a:t>
            </a:r>
            <a:r>
              <a:rPr lang="en-US">
                <a:latin typeface="Times New Roman" panose="02020603050405020304" pitchFamily="18" charset="0"/>
                <a:cs typeface="Times New Roman" panose="02020603050405020304" pitchFamily="18" charset="0"/>
              </a:rPr>
              <a:t> vào (2), ta có:</a:t>
            </a:r>
          </a:p>
        </p:txBody>
      </p:sp>
      <p:sp>
        <p:nvSpPr>
          <p:cNvPr id="24" name="TextBox 23"/>
          <p:cNvSpPr txBox="1"/>
          <p:nvPr/>
        </p:nvSpPr>
        <p:spPr>
          <a:xfrm>
            <a:off x="519185" y="1980418"/>
            <a:ext cx="721595"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Với</a:t>
            </a:r>
          </a:p>
        </p:txBody>
      </p:sp>
      <p:sp>
        <p:nvSpPr>
          <p:cNvPr id="29" name="TextBox 28"/>
          <p:cNvSpPr txBox="1"/>
          <p:nvPr/>
        </p:nvSpPr>
        <p:spPr>
          <a:xfrm>
            <a:off x="519185" y="3989349"/>
            <a:ext cx="4427785" cy="1477328"/>
          </a:xfrm>
          <a:prstGeom prst="rect">
            <a:avLst/>
          </a:prstGeom>
          <a:noFill/>
        </p:spPr>
        <p:txBody>
          <a:bodyPr wrap="square" rtlCol="0">
            <a:spAutoFit/>
          </a:bodyPr>
          <a:lstStyle/>
          <a:p>
            <a:r>
              <a:rPr lang="en-US" err="1">
                <a:latin typeface="Times New Roman" panose="02020603050405020304" pitchFamily="18" charset="0"/>
                <a:cs typeface="Times New Roman" panose="02020603050405020304" pitchFamily="18" charset="0"/>
              </a:rPr>
              <a:t>Từ</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đó</a:t>
            </a:r>
            <a:r>
              <a:rPr lang="en-US">
                <a:latin typeface="Times New Roman" panose="02020603050405020304" pitchFamily="18" charset="0"/>
                <a:cs typeface="Times New Roman" panose="02020603050405020304" pitchFamily="18" charset="0"/>
              </a:rPr>
              <a:t> ta </a:t>
            </a:r>
            <a:r>
              <a:rPr lang="en-US" err="1">
                <a:latin typeface="Times New Roman" panose="02020603050405020304" pitchFamily="18" charset="0"/>
                <a:cs typeface="Times New Roman" panose="02020603050405020304" pitchFamily="18" charset="0"/>
              </a:rPr>
              <a:t>xây</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dựng</a:t>
            </a:r>
            <a:r>
              <a:rPr lang="en-US">
                <a:latin typeface="Times New Roman" panose="02020603050405020304" pitchFamily="18" charset="0"/>
                <a:cs typeface="Times New Roman" panose="02020603050405020304" pitchFamily="18" charset="0"/>
              </a:rPr>
              <a:t> được </a:t>
            </a:r>
            <a:r>
              <a:rPr lang="en-US" err="1">
                <a:latin typeface="Times New Roman" panose="02020603050405020304" pitchFamily="18" charset="0"/>
                <a:cs typeface="Times New Roman" panose="02020603050405020304" pitchFamily="18" charset="0"/>
              </a:rPr>
              <a:t>mạch</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tạo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dao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động</a:t>
            </a:r>
            <a:r>
              <a:rPr lang="en-US">
                <a:latin typeface="Times New Roman" panose="02020603050405020304" pitchFamily="18" charset="0"/>
                <a:cs typeface="Times New Roman" panose="02020603050405020304" pitchFamily="18" charset="0"/>
              </a:rPr>
              <a:t> bên </a:t>
            </a:r>
            <a:r>
              <a:rPr lang="en-US" err="1">
                <a:latin typeface="Times New Roman" panose="02020603050405020304" pitchFamily="18" charset="0"/>
                <a:cs typeface="Times New Roman" panose="02020603050405020304" pitchFamily="18" charset="0"/>
              </a:rPr>
              <a:t>trong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bộ</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dao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động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Hopf</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như</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hình</a:t>
            </a:r>
            <a:r>
              <a:rPr lang="en-US">
                <a:latin typeface="Times New Roman" panose="02020603050405020304" pitchFamily="18" charset="0"/>
                <a:cs typeface="Times New Roman" panose="02020603050405020304" pitchFamily="18" charset="0"/>
              </a:rPr>
              <a:t> bên</a:t>
            </a:r>
          </a:p>
          <a:p>
            <a:r>
              <a:rPr lang="en-US" err="1">
                <a:latin typeface="Times New Roman" panose="02020603050405020304" pitchFamily="18" charset="0"/>
                <a:cs typeface="Times New Roman" panose="02020603050405020304" pitchFamily="18" charset="0"/>
              </a:rPr>
              <a:t>Với</a:t>
            </a:r>
            <a:r>
              <a:rPr lang="en-US">
                <a:latin typeface="Times New Roman" panose="02020603050405020304" pitchFamily="18" charset="0"/>
                <a:cs typeface="Times New Roman" panose="02020603050405020304" pitchFamily="18" charset="0"/>
              </a:rPr>
              <a:t> các thành </a:t>
            </a:r>
            <a:r>
              <a:rPr lang="en-US" err="1">
                <a:latin typeface="Times New Roman" panose="02020603050405020304" pitchFamily="18" charset="0"/>
                <a:cs typeface="Times New Roman" panose="02020603050405020304" pitchFamily="18" charset="0"/>
              </a:rPr>
              <a:t>phần</a:t>
            </a:r>
            <a:r>
              <a:rPr lang="en-US">
                <a:latin typeface="Times New Roman" panose="02020603050405020304" pitchFamily="18" charset="0"/>
                <a:cs typeface="Times New Roman" panose="02020603050405020304" pitchFamily="18" charset="0"/>
              </a:rPr>
              <a:t> </a:t>
            </a:r>
            <a:r>
              <a:rPr lang="en-US" i="1">
                <a:latin typeface="Times New Roman" panose="02020603050405020304" pitchFamily="18" charset="0"/>
                <a:cs typeface="Times New Roman" panose="02020603050405020304" pitchFamily="18" charset="0"/>
              </a:rPr>
              <a:t>L,C</a:t>
            </a:r>
            <a:r>
              <a:rPr lang="en-US">
                <a:latin typeface="Times New Roman" panose="02020603050405020304" pitchFamily="18" charset="0"/>
                <a:cs typeface="Times New Roman" panose="02020603050405020304" pitchFamily="18" charset="0"/>
              </a:rPr>
              <a:t> là </a:t>
            </a:r>
            <a:r>
              <a:rPr lang="en-US" err="1">
                <a:latin typeface="Times New Roman" panose="02020603050405020304" pitchFamily="18" charset="0"/>
                <a:cs typeface="Times New Roman" panose="02020603050405020304" pitchFamily="18" charset="0"/>
              </a:rPr>
              <a:t>hằng</a:t>
            </a:r>
            <a:r>
              <a:rPr lang="en-US">
                <a:latin typeface="Times New Roman" panose="02020603050405020304" pitchFamily="18" charset="0"/>
                <a:cs typeface="Times New Roman" panose="02020603050405020304" pitchFamily="18" charset="0"/>
              </a:rPr>
              <a:t> số, </a:t>
            </a:r>
            <a:r>
              <a:rPr lang="en-US" err="1">
                <a:latin typeface="Times New Roman" panose="02020603050405020304" pitchFamily="18" charset="0"/>
                <a:cs typeface="Times New Roman" panose="02020603050405020304" pitchFamily="18" charset="0"/>
              </a:rPr>
              <a:t>cùng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với</a:t>
            </a:r>
            <a:r>
              <a:rPr lang="en-US">
                <a:latin typeface="Times New Roman" panose="02020603050405020304" pitchFamily="18" charset="0"/>
                <a:cs typeface="Times New Roman" panose="02020603050405020304" pitchFamily="18" charset="0"/>
              </a:rPr>
              <a:t> 2 </a:t>
            </a:r>
            <a:r>
              <a:rPr lang="en-US" err="1">
                <a:latin typeface="Times New Roman" panose="02020603050405020304" pitchFamily="18" charset="0"/>
                <a:cs typeface="Times New Roman" panose="02020603050405020304" pitchFamily="18" charset="0"/>
              </a:rPr>
              <a:t>điện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trở</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có</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giá</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trị</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như</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hình</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a:t>
            </a:r>
            <a:r>
              <a:rPr lang="en-US">
                <a:latin typeface="Times New Roman" panose="02020603050405020304" pitchFamily="18" charset="0"/>
                <a:cs typeface="Times New Roman" panose="02020603050405020304" pitchFamily="18" charset="0"/>
              </a:rPr>
              <a:t> các </a:t>
            </a:r>
            <a:r>
              <a:rPr lang="en-US" err="1">
                <a:latin typeface="Times New Roman" panose="02020603050405020304" pitchFamily="18" charset="0"/>
                <a:cs typeface="Times New Roman" panose="02020603050405020304" pitchFamily="18" charset="0"/>
              </a:rPr>
              <a:t>khối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nguồn</a:t>
            </a:r>
            <a:r>
              <a:rPr lang="en-US">
                <a:latin typeface="Times New Roman" panose="02020603050405020304" pitchFamily="18" charset="0"/>
                <a:cs typeface="Times New Roman" panose="02020603050405020304" pitchFamily="18" charset="0"/>
              </a:rPr>
              <a:t> </a:t>
            </a:r>
            <a:r>
              <a:rPr lang="en-US" i="1">
                <a:latin typeface="Times New Roman" panose="02020603050405020304" pitchFamily="18" charset="0"/>
                <a:cs typeface="Times New Roman" panose="02020603050405020304" pitchFamily="18" charset="0"/>
              </a:rPr>
              <a:t>g(v), g(</a:t>
            </a:r>
            <a:r>
              <a:rPr lang="en-US" i="1" err="1">
                <a:latin typeface="Times New Roman" panose="02020603050405020304" pitchFamily="18" charset="0"/>
                <a:cs typeface="Times New Roman" panose="02020603050405020304" pitchFamily="18" charset="0"/>
              </a:rPr>
              <a:t>i</a:t>
            </a:r>
            <a:r>
              <a:rPr lang="en-US" i="1">
                <a:latin typeface="Times New Roman" panose="02020603050405020304" pitchFamily="18" charset="0"/>
                <a:cs typeface="Times New Roman" panose="02020603050405020304" pitchFamily="18" charset="0"/>
              </a:rPr>
              <a:t>)</a:t>
            </a:r>
            <a:endParaRPr lang="en-US">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EC7907D-7152-5202-4C1B-614EB768DDDB}"/>
              </a:ext>
            </a:extLst>
          </p:cNvPr>
          <p:cNvSpPr txBox="1"/>
          <p:nvPr/>
        </p:nvSpPr>
        <p:spPr>
          <a:xfrm>
            <a:off x="426542" y="1073051"/>
            <a:ext cx="5868914" cy="400110"/>
          </a:xfrm>
          <a:prstGeom prst="rect">
            <a:avLst/>
          </a:prstGeom>
          <a:noFill/>
        </p:spPr>
        <p:txBody>
          <a:bodyPr wrap="none" rtlCol="0">
            <a:spAutoFit/>
          </a:bodyPr>
          <a:lstStyle/>
          <a:p>
            <a:r>
              <a:rPr lang="en-US" sz="2000" b="1">
                <a:latin typeface="Times New Roman" panose="02020603050405020304" pitchFamily="18" charset="0"/>
                <a:cs typeface="Times New Roman" panose="02020603050405020304" pitchFamily="18" charset="0"/>
              </a:rPr>
              <a:t>2.2. </a:t>
            </a:r>
            <a:r>
              <a:rPr lang="en-US" sz="2000" b="1" err="1">
                <a:latin typeface="Times New Roman" panose="02020603050405020304" pitchFamily="18" charset="0"/>
                <a:cs typeface="Times New Roman" panose="02020603050405020304" pitchFamily="18" charset="0"/>
              </a:rPr>
              <a:t>Xây</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dựng</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sơ</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đồ</a:t>
            </a:r>
            <a:r>
              <a:rPr lang="en-US" sz="2000" b="1">
                <a:latin typeface="Times New Roman" panose="02020603050405020304" pitchFamily="18" charset="0"/>
                <a:cs typeface="Times New Roman" panose="02020603050405020304" pitchFamily="18" charset="0"/>
              </a:rPr>
              <a:t> VOC </a:t>
            </a:r>
            <a:r>
              <a:rPr lang="en-US" sz="2000" b="1" err="1">
                <a:latin typeface="Times New Roman" panose="02020603050405020304" pitchFamily="18" charset="0"/>
                <a:cs typeface="Times New Roman" panose="02020603050405020304" pitchFamily="18" charset="0"/>
              </a:rPr>
              <a:t>dao</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động</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Andronov-Hopf</a:t>
            </a:r>
            <a:endParaRPr lang="en-US" sz="2000" b="1">
              <a:latin typeface="Times New Roman" panose="02020603050405020304" pitchFamily="18" charset="0"/>
              <a:cs typeface="Times New Roman" panose="02020603050405020304" pitchFamily="18" charset="0"/>
            </a:endParaRPr>
          </a:p>
        </p:txBody>
      </p:sp>
      <p:graphicFrame>
        <p:nvGraphicFramePr>
          <p:cNvPr id="12" name="Object 11">
            <a:extLst>
              <a:ext uri="{FF2B5EF4-FFF2-40B4-BE49-F238E27FC236}">
                <a16:creationId xmlns:a16="http://schemas.microsoft.com/office/drawing/2014/main" id="{CE0B267C-4488-C4E0-A307-9DFEA8AE06D8}"/>
              </a:ext>
            </a:extLst>
          </p:cNvPr>
          <p:cNvGraphicFramePr>
            <a:graphicFrameLocks noChangeAspect="1"/>
          </p:cNvGraphicFramePr>
          <p:nvPr>
            <p:extLst>
              <p:ext uri="{D42A27DB-BD31-4B8C-83A1-F6EECF244321}">
                <p14:modId xmlns:p14="http://schemas.microsoft.com/office/powerpoint/2010/main" val="1902175668"/>
              </p:ext>
            </p:extLst>
          </p:nvPr>
        </p:nvGraphicFramePr>
        <p:xfrm>
          <a:off x="1116013" y="1647825"/>
          <a:ext cx="2454275" cy="1033463"/>
        </p:xfrm>
        <a:graphic>
          <a:graphicData uri="http://schemas.openxmlformats.org/presentationml/2006/ole">
            <mc:AlternateContent xmlns:mc="http://schemas.openxmlformats.org/markup-compatibility/2006">
              <mc:Choice xmlns:v="urn:schemas-microsoft-com:vml" Requires="v">
                <p:oleObj name="Equation" r:id="rId2" imgW="1447560" imgH="609480" progId="Equation.DSMT4">
                  <p:embed/>
                </p:oleObj>
              </mc:Choice>
              <mc:Fallback>
                <p:oleObj name="Equation" r:id="rId2" imgW="1447560" imgH="609480" progId="Equation.DSMT4">
                  <p:embed/>
                  <p:pic>
                    <p:nvPicPr>
                      <p:cNvPr id="12" name="Object 11">
                        <a:extLst>
                          <a:ext uri="{FF2B5EF4-FFF2-40B4-BE49-F238E27FC236}">
                            <a16:creationId xmlns:a16="http://schemas.microsoft.com/office/drawing/2014/main" id="{CE0B267C-4488-C4E0-A307-9DFEA8AE06D8}"/>
                          </a:ext>
                        </a:extLst>
                      </p:cNvPr>
                      <p:cNvPicPr/>
                      <p:nvPr/>
                    </p:nvPicPr>
                    <p:blipFill>
                      <a:blip r:embed="rId3"/>
                      <a:stretch>
                        <a:fillRect/>
                      </a:stretch>
                    </p:blipFill>
                    <p:spPr>
                      <a:xfrm>
                        <a:off x="1116013" y="1647825"/>
                        <a:ext cx="2454275" cy="1033463"/>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A4038D7D-D60C-417D-9A7C-9645DABC3B8C}"/>
              </a:ext>
            </a:extLst>
          </p:cNvPr>
          <p:cNvGraphicFramePr>
            <a:graphicFrameLocks noChangeAspect="1"/>
          </p:cNvGraphicFramePr>
          <p:nvPr>
            <p:extLst>
              <p:ext uri="{D42A27DB-BD31-4B8C-83A1-F6EECF244321}">
                <p14:modId xmlns:p14="http://schemas.microsoft.com/office/powerpoint/2010/main" val="2262865687"/>
              </p:ext>
            </p:extLst>
          </p:nvPr>
        </p:nvGraphicFramePr>
        <p:xfrm>
          <a:off x="1108075" y="3148013"/>
          <a:ext cx="2276475" cy="769937"/>
        </p:xfrm>
        <a:graphic>
          <a:graphicData uri="http://schemas.openxmlformats.org/presentationml/2006/ole">
            <mc:AlternateContent xmlns:mc="http://schemas.openxmlformats.org/markup-compatibility/2006">
              <mc:Choice xmlns:v="urn:schemas-microsoft-com:vml" Requires="v">
                <p:oleObj name="Equation" r:id="rId4" imgW="1498320" imgH="507960" progId="Equation.DSMT4">
                  <p:embed/>
                </p:oleObj>
              </mc:Choice>
              <mc:Fallback>
                <p:oleObj name="Equation" r:id="rId4" imgW="1498320" imgH="507960" progId="Equation.DSMT4">
                  <p:embed/>
                  <p:pic>
                    <p:nvPicPr>
                      <p:cNvPr id="13" name="Object 12">
                        <a:extLst>
                          <a:ext uri="{FF2B5EF4-FFF2-40B4-BE49-F238E27FC236}">
                            <a16:creationId xmlns:a16="http://schemas.microsoft.com/office/drawing/2014/main" id="{A4038D7D-D60C-417D-9A7C-9645DABC3B8C}"/>
                          </a:ext>
                        </a:extLst>
                      </p:cNvPr>
                      <p:cNvPicPr/>
                      <p:nvPr/>
                    </p:nvPicPr>
                    <p:blipFill>
                      <a:blip r:embed="rId5"/>
                      <a:stretch>
                        <a:fillRect/>
                      </a:stretch>
                    </p:blipFill>
                    <p:spPr>
                      <a:xfrm>
                        <a:off x="1108075" y="3148013"/>
                        <a:ext cx="2276475" cy="769937"/>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78CC98B0-5151-8A02-FE89-A95BC0456874}"/>
              </a:ext>
            </a:extLst>
          </p:cNvPr>
          <p:cNvSpPr txBox="1"/>
          <p:nvPr/>
        </p:nvSpPr>
        <p:spPr>
          <a:xfrm>
            <a:off x="7495540" y="4728013"/>
            <a:ext cx="2743200" cy="369332"/>
          </a:xfrm>
          <a:prstGeom prst="rect">
            <a:avLst/>
          </a:prstGeom>
          <a:noFill/>
        </p:spPr>
        <p:txBody>
          <a:bodyPr wrap="square">
            <a:spAutoFit/>
          </a:bodyPr>
          <a:lstStyle/>
          <a:p>
            <a:r>
              <a:rPr lang="en-US" sz="1800" err="1">
                <a:effectLst/>
                <a:latin typeface="Times New Roman" panose="02020603050405020304" pitchFamily="18" charset="0"/>
                <a:ea typeface="Aptos" panose="020B0004020202020204" pitchFamily="34" charset="0"/>
              </a:rPr>
              <a:t>Mạch</a:t>
            </a:r>
            <a:r>
              <a:rPr lang="en-US" sz="1800">
                <a:effectLst/>
                <a:latin typeface="Times New Roman" panose="02020603050405020304" pitchFamily="18" charset="0"/>
                <a:ea typeface="Aptos" panose="020B0004020202020204" pitchFamily="34" charset="0"/>
              </a:rPr>
              <a:t> </a:t>
            </a:r>
            <a:r>
              <a:rPr lang="en-US" sz="1800" err="1">
                <a:effectLst/>
                <a:latin typeface="Times New Roman" panose="02020603050405020304" pitchFamily="18" charset="0"/>
                <a:ea typeface="Aptos" panose="020B0004020202020204" pitchFamily="34" charset="0"/>
              </a:rPr>
              <a:t>điện</a:t>
            </a:r>
            <a:r>
              <a:rPr lang="en-US" sz="1800">
                <a:effectLst/>
                <a:latin typeface="Times New Roman" panose="02020603050405020304" pitchFamily="18" charset="0"/>
                <a:ea typeface="Aptos" panose="020B0004020202020204" pitchFamily="34" charset="0"/>
              </a:rPr>
              <a:t> dao </a:t>
            </a:r>
            <a:r>
              <a:rPr lang="en-US" sz="1800" err="1">
                <a:effectLst/>
                <a:latin typeface="Times New Roman" panose="02020603050405020304" pitchFamily="18" charset="0"/>
                <a:ea typeface="Aptos" panose="020B0004020202020204" pitchFamily="34" charset="0"/>
              </a:rPr>
              <a:t>động</a:t>
            </a:r>
            <a:r>
              <a:rPr lang="en-US" sz="1800">
                <a:effectLst/>
                <a:latin typeface="Times New Roman" panose="02020603050405020304" pitchFamily="18" charset="0"/>
                <a:ea typeface="Aptos" panose="020B0004020202020204" pitchFamily="34" charset="0"/>
              </a:rPr>
              <a:t> </a:t>
            </a:r>
            <a:r>
              <a:rPr lang="en-US" sz="1800" err="1">
                <a:effectLst/>
                <a:latin typeface="Times New Roman" panose="02020603050405020304" pitchFamily="18" charset="0"/>
                <a:ea typeface="Aptos" panose="020B0004020202020204" pitchFamily="34" charset="0"/>
              </a:rPr>
              <a:t>ảo</a:t>
            </a:r>
            <a:endParaRPr lang="en-US"/>
          </a:p>
        </p:txBody>
      </p:sp>
      <p:grpSp>
        <p:nvGrpSpPr>
          <p:cNvPr id="8" name="Group 7">
            <a:extLst>
              <a:ext uri="{FF2B5EF4-FFF2-40B4-BE49-F238E27FC236}">
                <a16:creationId xmlns:a16="http://schemas.microsoft.com/office/drawing/2014/main" id="{508C94CA-2D65-3BAE-1871-51CF98E1CAA4}"/>
              </a:ext>
            </a:extLst>
          </p:cNvPr>
          <p:cNvGrpSpPr/>
          <p:nvPr/>
        </p:nvGrpSpPr>
        <p:grpSpPr>
          <a:xfrm>
            <a:off x="510284" y="324255"/>
            <a:ext cx="9501431" cy="748796"/>
            <a:chOff x="1793005" y="1746584"/>
            <a:chExt cx="9501431" cy="748794"/>
          </a:xfrm>
        </p:grpSpPr>
        <p:sp>
          <p:nvSpPr>
            <p:cNvPr id="9" name="TextBox 8">
              <a:extLst>
                <a:ext uri="{FF2B5EF4-FFF2-40B4-BE49-F238E27FC236}">
                  <a16:creationId xmlns:a16="http://schemas.microsoft.com/office/drawing/2014/main" id="{D772328A-ECD7-6F4F-55A2-EE22AEA3EBD1}"/>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14" name="Rectangle 13">
              <a:extLst>
                <a:ext uri="{FF2B5EF4-FFF2-40B4-BE49-F238E27FC236}">
                  <a16:creationId xmlns:a16="http://schemas.microsoft.com/office/drawing/2014/main" id="{3CED4027-30A2-EC94-0012-59B29630744E}"/>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pic>
        <p:nvPicPr>
          <p:cNvPr id="4" name="Picture 3" descr="A diagram of a circuit&#10;&#10;Description automatically generated">
            <a:extLst>
              <a:ext uri="{FF2B5EF4-FFF2-40B4-BE49-F238E27FC236}">
                <a16:creationId xmlns:a16="http://schemas.microsoft.com/office/drawing/2014/main" id="{20A5F064-F9CC-ADEC-2546-4EC6DB2D7EC5}"/>
              </a:ext>
            </a:extLst>
          </p:cNvPr>
          <p:cNvPicPr>
            <a:picLocks noChangeAspect="1"/>
          </p:cNvPicPr>
          <p:nvPr/>
        </p:nvPicPr>
        <p:blipFill>
          <a:blip r:embed="rId6"/>
          <a:stretch>
            <a:fillRect/>
          </a:stretch>
        </p:blipFill>
        <p:spPr>
          <a:xfrm>
            <a:off x="6309855" y="1814513"/>
            <a:ext cx="4663440" cy="2667000"/>
          </a:xfrm>
          <a:prstGeom prst="rect">
            <a:avLst/>
          </a:prstGeom>
        </p:spPr>
      </p:pic>
      <p:sp>
        <p:nvSpPr>
          <p:cNvPr id="15" name="TextBox 14">
            <a:extLst>
              <a:ext uri="{FF2B5EF4-FFF2-40B4-BE49-F238E27FC236}">
                <a16:creationId xmlns:a16="http://schemas.microsoft.com/office/drawing/2014/main" id="{51BF5DC2-7C91-EE9C-273F-C738DB0D753A}"/>
              </a:ext>
            </a:extLst>
          </p:cNvPr>
          <p:cNvSpPr txBox="1"/>
          <p:nvPr/>
        </p:nvSpPr>
        <p:spPr>
          <a:xfrm>
            <a:off x="5260258" y="3244334"/>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ts val="800"/>
              </a:spcAft>
              <a:buClrTx/>
              <a:buSzTx/>
              <a:buFontTx/>
              <a:buNone/>
              <a:tabLst/>
            </a:pPr>
            <a:r>
              <a:rPr lang="en-US" altLang="en-US" sz="1800">
                <a:latin typeface="Times New Roman" panose="02020603050405020304" pitchFamily="18" charset="0"/>
                <a:cs typeface="Times New Roman" panose="02020603050405020304" pitchFamily="18" charset="0"/>
              </a:rPr>
              <a:t>(3)</a:t>
            </a: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7975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latin typeface="Times New Roman" panose="02020603050405020304" pitchFamily="18" charset="0"/>
                <a:cs typeface="Times New Roman" panose="02020603050405020304" pitchFamily="18" charset="0"/>
              </a:rPr>
              <a:t>9/19/2026</a:t>
            </a:fld>
            <a:endParaRPr lang="en-US">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14</a:t>
            </a:fld>
            <a:endParaRPr lang="en-US"/>
          </a:p>
        </p:txBody>
      </p:sp>
      <p:sp>
        <p:nvSpPr>
          <p:cNvPr id="18" name="TextBox 17">
            <a:extLst>
              <a:ext uri="{FF2B5EF4-FFF2-40B4-BE49-F238E27FC236}">
                <a16:creationId xmlns:a16="http://schemas.microsoft.com/office/drawing/2014/main" id="{4EE74951-FDE3-0057-DE74-2EB82404BF6D}"/>
              </a:ext>
            </a:extLst>
          </p:cNvPr>
          <p:cNvSpPr txBox="1"/>
          <p:nvPr/>
        </p:nvSpPr>
        <p:spPr>
          <a:xfrm>
            <a:off x="365617" y="1064121"/>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2.3. </a:t>
            </a:r>
            <a:r>
              <a:rPr lang="en-US" sz="1800" b="1" err="1">
                <a:effectLst/>
                <a:latin typeface="Times New Roman" panose="02020603050405020304" pitchFamily="18" charset="0"/>
                <a:ea typeface="Aptos" panose="020B0004020202020204" pitchFamily="34" charset="0"/>
              </a:rPr>
              <a:t>Xây</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dựng</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cấu</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trúc</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điều</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khiển</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cho</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hai</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bộ</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nghịch</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lưu</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mắc</a:t>
            </a:r>
            <a:r>
              <a:rPr lang="en-US" sz="1800" b="1">
                <a:effectLst/>
                <a:latin typeface="Times New Roman" panose="02020603050405020304" pitchFamily="18" charset="0"/>
                <a:ea typeface="Aptos" panose="020B0004020202020204" pitchFamily="34" charset="0"/>
              </a:rPr>
              <a:t> song </a:t>
            </a:r>
            <a:r>
              <a:rPr lang="en-US" sz="1800" b="1" err="1">
                <a:effectLst/>
                <a:latin typeface="Times New Roman" panose="02020603050405020304" pitchFamily="18" charset="0"/>
                <a:ea typeface="Aptos" panose="020B0004020202020204" pitchFamily="34" charset="0"/>
              </a:rPr>
              <a:t>song</a:t>
            </a:r>
            <a:endParaRPr lang="en-US" sz="2000" b="1">
              <a:solidFill>
                <a:prstClr val="black"/>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751DDCF-101B-8C4F-596F-F595B26400A7}"/>
              </a:ext>
            </a:extLst>
          </p:cNvPr>
          <p:cNvSpPr txBox="1"/>
          <p:nvPr/>
        </p:nvSpPr>
        <p:spPr>
          <a:xfrm>
            <a:off x="365617" y="1464231"/>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2.3.1. </a:t>
            </a:r>
            <a:r>
              <a:rPr lang="en-US" sz="1800" b="1" err="1">
                <a:effectLst/>
                <a:latin typeface="Times New Roman" panose="02020603050405020304" pitchFamily="18" charset="0"/>
                <a:ea typeface="Aptos" panose="020B0004020202020204" pitchFamily="34" charset="0"/>
              </a:rPr>
              <a:t>Sơ</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đồ</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khối</a:t>
            </a:r>
            <a:endParaRPr lang="en-US" sz="2000" b="1">
              <a:solidFill>
                <a:prstClr val="black"/>
              </a:solidFill>
              <a:latin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F6E1F382-9F3D-00E0-97F9-2A739B640C46}"/>
              </a:ext>
            </a:extLst>
          </p:cNvPr>
          <p:cNvGrpSpPr/>
          <p:nvPr/>
        </p:nvGrpSpPr>
        <p:grpSpPr>
          <a:xfrm>
            <a:off x="510284" y="324255"/>
            <a:ext cx="9501431" cy="748796"/>
            <a:chOff x="1793005" y="1746584"/>
            <a:chExt cx="9501431" cy="748794"/>
          </a:xfrm>
        </p:grpSpPr>
        <p:sp>
          <p:nvSpPr>
            <p:cNvPr id="12" name="TextBox 11">
              <a:extLst>
                <a:ext uri="{FF2B5EF4-FFF2-40B4-BE49-F238E27FC236}">
                  <a16:creationId xmlns:a16="http://schemas.microsoft.com/office/drawing/2014/main" id="{C1B5D7A7-FB39-C5B1-0D8D-B767841D9089}"/>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13" name="Rectangle 12">
              <a:extLst>
                <a:ext uri="{FF2B5EF4-FFF2-40B4-BE49-F238E27FC236}">
                  <a16:creationId xmlns:a16="http://schemas.microsoft.com/office/drawing/2014/main" id="{4CDFE0CB-CA1E-5E05-A94B-807B7824584B}"/>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pic>
        <p:nvPicPr>
          <p:cNvPr id="4" name="Picture 3" descr="A diagram of a block diagram&#10;&#10;Description automatically generated">
            <a:extLst>
              <a:ext uri="{FF2B5EF4-FFF2-40B4-BE49-F238E27FC236}">
                <a16:creationId xmlns:a16="http://schemas.microsoft.com/office/drawing/2014/main" id="{FC7CB54D-6418-396A-8229-7B16D9332F9B}"/>
              </a:ext>
            </a:extLst>
          </p:cNvPr>
          <p:cNvPicPr>
            <a:picLocks noChangeAspect="1"/>
          </p:cNvPicPr>
          <p:nvPr/>
        </p:nvPicPr>
        <p:blipFill>
          <a:blip r:embed="rId2"/>
          <a:stretch>
            <a:fillRect/>
          </a:stretch>
        </p:blipFill>
        <p:spPr>
          <a:xfrm>
            <a:off x="3826827" y="1812916"/>
            <a:ext cx="4538345" cy="3627120"/>
          </a:xfrm>
          <a:prstGeom prst="rect">
            <a:avLst/>
          </a:prstGeom>
          <a:ln>
            <a:solidFill>
              <a:schemeClr val="tx1"/>
            </a:solidFill>
          </a:ln>
        </p:spPr>
      </p:pic>
      <p:sp>
        <p:nvSpPr>
          <p:cNvPr id="5" name="TextBox 4">
            <a:extLst>
              <a:ext uri="{FF2B5EF4-FFF2-40B4-BE49-F238E27FC236}">
                <a16:creationId xmlns:a16="http://schemas.microsoft.com/office/drawing/2014/main" id="{F068557F-DF4D-2945-D5CE-993B9B1B8A07}"/>
              </a:ext>
            </a:extLst>
          </p:cNvPr>
          <p:cNvSpPr txBox="1"/>
          <p:nvPr/>
        </p:nvSpPr>
        <p:spPr>
          <a:xfrm>
            <a:off x="4503175" y="5788721"/>
            <a:ext cx="3012363" cy="369332"/>
          </a:xfrm>
          <a:prstGeom prst="rect">
            <a:avLst/>
          </a:prstGeom>
          <a:noFill/>
        </p:spPr>
        <p:txBody>
          <a:bodyPr wrap="none" rtlCol="0">
            <a:spAutoFit/>
          </a:bodyPr>
          <a:lstStyle/>
          <a:p>
            <a:r>
              <a:rPr lang="en-US" sz="1800" err="1">
                <a:effectLst/>
                <a:latin typeface="Times New Roman" panose="02020603050405020304" pitchFamily="18" charset="0"/>
                <a:ea typeface="Aptos" panose="020B0004020202020204" pitchFamily="34" charset="0"/>
              </a:rPr>
              <a:t>Sơ</a:t>
            </a:r>
            <a:r>
              <a:rPr lang="en-US" sz="1800">
                <a:effectLst/>
                <a:latin typeface="Times New Roman" panose="02020603050405020304" pitchFamily="18" charset="0"/>
                <a:ea typeface="Aptos" panose="020B0004020202020204" pitchFamily="34" charset="0"/>
              </a:rPr>
              <a:t> </a:t>
            </a:r>
            <a:r>
              <a:rPr lang="en-US" sz="1800" err="1">
                <a:effectLst/>
                <a:latin typeface="Times New Roman" panose="02020603050405020304" pitchFamily="18" charset="0"/>
                <a:ea typeface="Aptos" panose="020B0004020202020204" pitchFamily="34" charset="0"/>
              </a:rPr>
              <a:t>đồ</a:t>
            </a:r>
            <a:r>
              <a:rPr lang="en-US" sz="1800">
                <a:effectLst/>
                <a:latin typeface="Times New Roman" panose="02020603050405020304" pitchFamily="18" charset="0"/>
                <a:ea typeface="Aptos" panose="020B0004020202020204" pitchFamily="34" charset="0"/>
              </a:rPr>
              <a:t> </a:t>
            </a:r>
            <a:r>
              <a:rPr lang="en-US" sz="1800" err="1">
                <a:effectLst/>
                <a:latin typeface="Times New Roman" panose="02020603050405020304" pitchFamily="18" charset="0"/>
                <a:ea typeface="Aptos" panose="020B0004020202020204" pitchFamily="34" charset="0"/>
              </a:rPr>
              <a:t>khối</a:t>
            </a:r>
            <a:r>
              <a:rPr lang="en-US" sz="1800">
                <a:effectLst/>
                <a:latin typeface="Times New Roman" panose="02020603050405020304" pitchFamily="18" charset="0"/>
                <a:ea typeface="Aptos" panose="020B0004020202020204" pitchFamily="34" charset="0"/>
              </a:rPr>
              <a:t> </a:t>
            </a:r>
            <a:r>
              <a:rPr lang="en-US" sz="1800" err="1">
                <a:effectLst/>
                <a:latin typeface="Times New Roman" panose="02020603050405020304" pitchFamily="18" charset="0"/>
                <a:ea typeface="Aptos" panose="020B0004020202020204" pitchFamily="34" charset="0"/>
              </a:rPr>
              <a:t>cấu</a:t>
            </a:r>
            <a:r>
              <a:rPr lang="en-US" sz="1800">
                <a:effectLst/>
                <a:latin typeface="Times New Roman" panose="02020603050405020304" pitchFamily="18" charset="0"/>
                <a:ea typeface="Aptos" panose="020B0004020202020204" pitchFamily="34" charset="0"/>
              </a:rPr>
              <a:t> </a:t>
            </a:r>
            <a:r>
              <a:rPr lang="en-US" sz="1800" err="1">
                <a:effectLst/>
                <a:latin typeface="Times New Roman" panose="02020603050405020304" pitchFamily="18" charset="0"/>
                <a:ea typeface="Aptos" panose="020B0004020202020204" pitchFamily="34" charset="0"/>
              </a:rPr>
              <a:t>trúc</a:t>
            </a:r>
            <a:r>
              <a:rPr lang="en-US" sz="1800">
                <a:effectLst/>
                <a:latin typeface="Times New Roman" panose="02020603050405020304" pitchFamily="18" charset="0"/>
                <a:ea typeface="Aptos" panose="020B0004020202020204" pitchFamily="34" charset="0"/>
              </a:rPr>
              <a:t> </a:t>
            </a:r>
            <a:r>
              <a:rPr lang="en-US" sz="1800" err="1">
                <a:effectLst/>
                <a:latin typeface="Times New Roman" panose="02020603050405020304" pitchFamily="18" charset="0"/>
                <a:ea typeface="Aptos" panose="020B0004020202020204" pitchFamily="34" charset="0"/>
              </a:rPr>
              <a:t>điều</a:t>
            </a:r>
            <a:r>
              <a:rPr lang="en-US" sz="1800">
                <a:effectLst/>
                <a:latin typeface="Times New Roman" panose="02020603050405020304" pitchFamily="18" charset="0"/>
                <a:ea typeface="Aptos" panose="020B0004020202020204" pitchFamily="34" charset="0"/>
              </a:rPr>
              <a:t> </a:t>
            </a:r>
            <a:r>
              <a:rPr lang="en-US" sz="1800" err="1">
                <a:effectLst/>
                <a:latin typeface="Times New Roman" panose="02020603050405020304" pitchFamily="18" charset="0"/>
                <a:ea typeface="Aptos" panose="020B0004020202020204" pitchFamily="34" charset="0"/>
              </a:rPr>
              <a:t>khiển</a:t>
            </a:r>
            <a:endParaRPr lang="vi-VN"/>
          </a:p>
        </p:txBody>
      </p:sp>
    </p:spTree>
    <p:extLst>
      <p:ext uri="{BB962C8B-B14F-4D97-AF65-F5344CB8AC3E}">
        <p14:creationId xmlns:p14="http://schemas.microsoft.com/office/powerpoint/2010/main" val="2576787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2144C6A-2326-4D65-5D35-6895A17E56FA}"/>
              </a:ext>
            </a:extLst>
          </p:cNvPr>
          <p:cNvPicPr>
            <a:picLocks noChangeAspect="1"/>
          </p:cNvPicPr>
          <p:nvPr/>
        </p:nvPicPr>
        <p:blipFill>
          <a:blip r:embed="rId3"/>
          <a:stretch>
            <a:fillRect/>
          </a:stretch>
        </p:blipFill>
        <p:spPr>
          <a:xfrm>
            <a:off x="7729144" y="1064121"/>
            <a:ext cx="3391194" cy="5029636"/>
          </a:xfrm>
          <a:prstGeom prst="rect">
            <a:avLst/>
          </a:prstGeom>
        </p:spPr>
      </p:pic>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latin typeface="Times New Roman" panose="02020603050405020304" pitchFamily="18" charset="0"/>
                <a:cs typeface="Times New Roman" panose="02020603050405020304" pitchFamily="18" charset="0"/>
              </a:rPr>
              <a:t>9/19/2026</a:t>
            </a:fld>
            <a:endParaRPr lang="en-US">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15</a:t>
            </a:fld>
            <a:endParaRPr lang="en-US"/>
          </a:p>
        </p:txBody>
      </p:sp>
      <p:sp>
        <p:nvSpPr>
          <p:cNvPr id="18" name="TextBox 17">
            <a:extLst>
              <a:ext uri="{FF2B5EF4-FFF2-40B4-BE49-F238E27FC236}">
                <a16:creationId xmlns:a16="http://schemas.microsoft.com/office/drawing/2014/main" id="{4EE74951-FDE3-0057-DE74-2EB82404BF6D}"/>
              </a:ext>
            </a:extLst>
          </p:cNvPr>
          <p:cNvSpPr txBox="1"/>
          <p:nvPr/>
        </p:nvSpPr>
        <p:spPr>
          <a:xfrm>
            <a:off x="365617" y="1064121"/>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2.3. </a:t>
            </a:r>
            <a:r>
              <a:rPr lang="en-US" sz="1800" b="1" err="1">
                <a:effectLst/>
                <a:latin typeface="Times New Roman" panose="02020603050405020304" pitchFamily="18" charset="0"/>
                <a:ea typeface="Aptos" panose="020B0004020202020204" pitchFamily="34" charset="0"/>
              </a:rPr>
              <a:t>Xây</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dựng</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cấu</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trúc</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điều</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khiển</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cho</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hai</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bộ</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nghịch</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lưu</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mắc</a:t>
            </a:r>
            <a:r>
              <a:rPr lang="en-US" sz="1800" b="1">
                <a:effectLst/>
                <a:latin typeface="Times New Roman" panose="02020603050405020304" pitchFamily="18" charset="0"/>
                <a:ea typeface="Aptos" panose="020B0004020202020204" pitchFamily="34" charset="0"/>
              </a:rPr>
              <a:t> song </a:t>
            </a:r>
            <a:r>
              <a:rPr lang="en-US" sz="1800" b="1" err="1">
                <a:effectLst/>
                <a:latin typeface="Times New Roman" panose="02020603050405020304" pitchFamily="18" charset="0"/>
                <a:ea typeface="Aptos" panose="020B0004020202020204" pitchFamily="34" charset="0"/>
              </a:rPr>
              <a:t>song</a:t>
            </a:r>
            <a:endParaRPr lang="en-US" sz="2000" b="1">
              <a:solidFill>
                <a:prstClr val="black"/>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751DDCF-101B-8C4F-596F-F595B26400A7}"/>
              </a:ext>
            </a:extLst>
          </p:cNvPr>
          <p:cNvSpPr txBox="1"/>
          <p:nvPr/>
        </p:nvSpPr>
        <p:spPr>
          <a:xfrm>
            <a:off x="365617" y="1464231"/>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2.3.2. </a:t>
            </a:r>
            <a:r>
              <a:rPr lang="en-US" sz="1800" b="1" err="1">
                <a:effectLst/>
                <a:latin typeface="Times New Roman" panose="02020603050405020304" pitchFamily="18" charset="0"/>
                <a:ea typeface="Aptos" panose="020B0004020202020204" pitchFamily="34" charset="0"/>
              </a:rPr>
              <a:t>Sơ</a:t>
            </a:r>
            <a:r>
              <a:rPr lang="en-US" sz="1800" b="1">
                <a:effectLst/>
                <a:latin typeface="Times New Roman" panose="02020603050405020304" pitchFamily="18" charset="0"/>
                <a:ea typeface="Aptos" panose="020B0004020202020204" pitchFamily="34" charset="0"/>
              </a:rPr>
              <a:t> </a:t>
            </a:r>
            <a:r>
              <a:rPr lang="en-US" sz="1800" b="1" err="1">
                <a:effectLst/>
                <a:latin typeface="Times New Roman" panose="02020603050405020304" pitchFamily="18" charset="0"/>
                <a:ea typeface="Aptos" panose="020B0004020202020204" pitchFamily="34" charset="0"/>
              </a:rPr>
              <a:t>đồ</a:t>
            </a:r>
            <a:r>
              <a:rPr lang="en-US" sz="1800" b="1">
                <a:effectLst/>
                <a:latin typeface="Times New Roman" panose="02020603050405020304" pitchFamily="18" charset="0"/>
                <a:ea typeface="Aptos" panose="020B0004020202020204" pitchFamily="34" charset="0"/>
              </a:rPr>
              <a:t> </a:t>
            </a:r>
            <a:r>
              <a:rPr lang="en-US" b="1" err="1">
                <a:latin typeface="Times New Roman" panose="02020603050405020304" pitchFamily="18" charset="0"/>
                <a:ea typeface="Aptos" panose="020B0004020202020204" pitchFamily="34" charset="0"/>
              </a:rPr>
              <a:t>cấu</a:t>
            </a:r>
            <a:r>
              <a:rPr lang="en-US" b="1">
                <a:latin typeface="Times New Roman" panose="02020603050405020304" pitchFamily="18" charset="0"/>
                <a:ea typeface="Aptos" panose="020B0004020202020204" pitchFamily="34" charset="0"/>
              </a:rPr>
              <a:t> </a:t>
            </a:r>
            <a:r>
              <a:rPr lang="en-US" b="1" err="1">
                <a:latin typeface="Times New Roman" panose="02020603050405020304" pitchFamily="18" charset="0"/>
                <a:ea typeface="Aptos" panose="020B0004020202020204" pitchFamily="34" charset="0"/>
              </a:rPr>
              <a:t>trúc</a:t>
            </a:r>
            <a:endParaRPr lang="en-US" sz="2000" b="1">
              <a:solidFill>
                <a:prstClr val="black"/>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1881FB2-3F4D-CEBC-2AD3-33000F5BB8E3}"/>
              </a:ext>
            </a:extLst>
          </p:cNvPr>
          <p:cNvSpPr txBox="1"/>
          <p:nvPr/>
        </p:nvSpPr>
        <p:spPr>
          <a:xfrm>
            <a:off x="846536" y="2163894"/>
            <a:ext cx="4348065" cy="2056332"/>
          </a:xfrm>
          <a:prstGeom prst="rect">
            <a:avLst/>
          </a:prstGeom>
          <a:noFill/>
        </p:spPr>
        <p:txBody>
          <a:bodyPr wrap="square" rtlCol="0">
            <a:spAutoFit/>
          </a:bodyPr>
          <a:lstStyle/>
          <a:p>
            <a:pPr>
              <a:lnSpc>
                <a:spcPct val="107000"/>
              </a:lnSpc>
              <a:spcAft>
                <a:spcPts val="800"/>
              </a:spcAft>
            </a:pPr>
            <a:r>
              <a:rPr lang="en-US" sz="1800" kern="100">
                <a:effectLst/>
                <a:latin typeface="Times New Roman" panose="02020603050405020304" pitchFamily="18" charset="0"/>
                <a:ea typeface="Aptos" panose="020B0004020202020204" pitchFamily="34" charset="0"/>
                <a:cs typeface="Times New Roman" panose="02020603050405020304" pitchFamily="18" charset="0"/>
              </a:rPr>
              <a:t>Theo [2],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để</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kiểm</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soát</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chất</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lượng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đầu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ra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ta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bổ</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sung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thêm</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nguồn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dòng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i</a:t>
            </a:r>
            <a:r>
              <a:rPr lang="en-US" sz="1800" kern="100" baseline="-25000">
                <a:effectLst/>
                <a:latin typeface="Times New Roman" panose="02020603050405020304" pitchFamily="18" charset="0"/>
                <a:ea typeface="Aptos" panose="020B0004020202020204" pitchFamily="34" charset="0"/>
                <a:cs typeface="Times New Roman" panose="02020603050405020304" pitchFamily="18" charset="0"/>
              </a:rPr>
              <a:t>1</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ki.i</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là đầu vào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bộ</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điều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khiển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dao</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động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nhằm</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đánh</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giá</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nhiễu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định kỳ. </a:t>
            </a:r>
          </a:p>
          <a:p>
            <a:pPr>
              <a:lnSpc>
                <a:spcPct val="107000"/>
              </a:lnSpc>
              <a:spcAft>
                <a:spcPts val="800"/>
              </a:spcAft>
            </a:pPr>
            <a:r>
              <a:rPr lang="en-US" sz="1800" kern="100">
                <a:effectLst/>
                <a:latin typeface="Times New Roman" panose="02020603050405020304" pitchFamily="18" charset="0"/>
                <a:ea typeface="Aptos" panose="020B0004020202020204" pitchFamily="34" charset="0"/>
                <a:cs typeface="Times New Roman" panose="02020603050405020304" pitchFamily="18" charset="0"/>
              </a:rPr>
              <a:t>Kết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hợp</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(3), ta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thu</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được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phương</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trình:</a:t>
            </a:r>
          </a:p>
          <a:p>
            <a:endParaRPr lang="en-US"/>
          </a:p>
        </p:txBody>
      </p:sp>
      <p:graphicFrame>
        <p:nvGraphicFramePr>
          <p:cNvPr id="8" name="Object 7">
            <a:extLst>
              <a:ext uri="{FF2B5EF4-FFF2-40B4-BE49-F238E27FC236}">
                <a16:creationId xmlns:a16="http://schemas.microsoft.com/office/drawing/2014/main" id="{E2B40266-147E-1860-8D3B-0BFD02911A42}"/>
              </a:ext>
            </a:extLst>
          </p:cNvPr>
          <p:cNvGraphicFramePr>
            <a:graphicFrameLocks noChangeAspect="1"/>
          </p:cNvGraphicFramePr>
          <p:nvPr>
            <p:extLst>
              <p:ext uri="{D42A27DB-BD31-4B8C-83A1-F6EECF244321}">
                <p14:modId xmlns:p14="http://schemas.microsoft.com/office/powerpoint/2010/main" val="2844047842"/>
              </p:ext>
            </p:extLst>
          </p:nvPr>
        </p:nvGraphicFramePr>
        <p:xfrm>
          <a:off x="830263" y="3921125"/>
          <a:ext cx="2416175" cy="766763"/>
        </p:xfrm>
        <a:graphic>
          <a:graphicData uri="http://schemas.openxmlformats.org/presentationml/2006/ole">
            <mc:AlternateContent xmlns:mc="http://schemas.openxmlformats.org/markup-compatibility/2006">
              <mc:Choice xmlns:v="urn:schemas-microsoft-com:vml" Requires="v">
                <p:oleObj name="Equation" r:id="rId4" imgW="1600200" imgH="507960" progId="Equation.DSMT4">
                  <p:embed/>
                </p:oleObj>
              </mc:Choice>
              <mc:Fallback>
                <p:oleObj name="Equation" r:id="rId4" imgW="1600200" imgH="507960" progId="Equation.DSMT4">
                  <p:embed/>
                  <p:pic>
                    <p:nvPicPr>
                      <p:cNvPr id="8" name="Object 7">
                        <a:extLst>
                          <a:ext uri="{FF2B5EF4-FFF2-40B4-BE49-F238E27FC236}">
                            <a16:creationId xmlns:a16="http://schemas.microsoft.com/office/drawing/2014/main" id="{E2B40266-147E-1860-8D3B-0BFD02911A42}"/>
                          </a:ext>
                        </a:extLst>
                      </p:cNvPr>
                      <p:cNvPicPr/>
                      <p:nvPr/>
                    </p:nvPicPr>
                    <p:blipFill>
                      <a:blip r:embed="rId5"/>
                      <a:stretch>
                        <a:fillRect/>
                      </a:stretch>
                    </p:blipFill>
                    <p:spPr>
                      <a:xfrm>
                        <a:off x="830263" y="3921125"/>
                        <a:ext cx="2416175" cy="766763"/>
                      </a:xfrm>
                      <a:prstGeom prst="rect">
                        <a:avLst/>
                      </a:prstGeom>
                    </p:spPr>
                  </p:pic>
                </p:oleObj>
              </mc:Fallback>
            </mc:AlternateContent>
          </a:graphicData>
        </a:graphic>
      </p:graphicFrame>
      <p:sp>
        <p:nvSpPr>
          <p:cNvPr id="10" name="TextBox 9">
            <a:extLst>
              <a:ext uri="{FF2B5EF4-FFF2-40B4-BE49-F238E27FC236}">
                <a16:creationId xmlns:a16="http://schemas.microsoft.com/office/drawing/2014/main" id="{43145351-8285-D096-F147-8BDE171ED478}"/>
              </a:ext>
            </a:extLst>
          </p:cNvPr>
          <p:cNvSpPr txBox="1"/>
          <p:nvPr/>
        </p:nvSpPr>
        <p:spPr>
          <a:xfrm>
            <a:off x="846536" y="4848701"/>
            <a:ext cx="4201325" cy="665118"/>
          </a:xfrm>
          <a:prstGeom prst="rect">
            <a:avLst/>
          </a:prstGeom>
          <a:noFill/>
        </p:spPr>
        <p:txBody>
          <a:bodyPr wrap="square" rtlCol="0">
            <a:spAutoFit/>
          </a:bodyPr>
          <a:lstStyle/>
          <a:p>
            <a:pPr>
              <a:lnSpc>
                <a:spcPct val="107000"/>
              </a:lnSpc>
              <a:spcAft>
                <a:spcPts val="800"/>
              </a:spcAft>
            </a:pPr>
            <a:r>
              <a:rPr lang="en-US" sz="1800" kern="100">
                <a:effectLst/>
                <a:latin typeface="Times New Roman" panose="02020603050405020304" pitchFamily="18" charset="0"/>
                <a:ea typeface="Aptos" panose="020B0004020202020204" pitchFamily="34" charset="0"/>
                <a:cs typeface="Times New Roman" panose="02020603050405020304" pitchFamily="18" charset="0"/>
              </a:rPr>
              <a:t>Từ (4), ta sẽ xây dựng được điều khiển cho hai bộ nghịch lưu mắc song song như sau:</a:t>
            </a:r>
          </a:p>
        </p:txBody>
      </p:sp>
      <p:sp>
        <p:nvSpPr>
          <p:cNvPr id="16" name="Text Box 2">
            <a:extLst>
              <a:ext uri="{FF2B5EF4-FFF2-40B4-BE49-F238E27FC236}">
                <a16:creationId xmlns:a16="http://schemas.microsoft.com/office/drawing/2014/main" id="{2C9619AD-6345-B7A3-7BB6-09C1A0F40CCD}"/>
              </a:ext>
            </a:extLst>
          </p:cNvPr>
          <p:cNvSpPr txBox="1">
            <a:spLocks noChangeArrowheads="1"/>
          </p:cNvSpPr>
          <p:nvPr/>
        </p:nvSpPr>
        <p:spPr bwMode="auto">
          <a:xfrm>
            <a:off x="4278045" y="4122506"/>
            <a:ext cx="625150" cy="397273"/>
          </a:xfrm>
          <a:prstGeom prst="rect">
            <a:avLst/>
          </a:prstGeom>
          <a:solidFill>
            <a:srgbClr val="FFFFFF"/>
          </a:solidFill>
          <a:ln>
            <a:noFill/>
          </a:ln>
          <a:effectLst/>
          <a:extLst>
            <a:ext uri="{91240B29-F687-4F45-9708-019B960494DF}">
              <a14:hiddenLine xmlns:a14="http://schemas.microsoft.com/office/drawing/2010/main" w="12700">
                <a:solidFill>
                  <a:srgbClr val="000000"/>
                </a:solidFill>
                <a:prstDash val="dash"/>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ts val="800"/>
              </a:spcAft>
              <a:buClrTx/>
              <a:buSzTx/>
              <a:buFontTx/>
              <a:buNone/>
              <a:tabLst/>
            </a:pPr>
            <a:r>
              <a:rPr lang="en-US" altLang="en-US" sz="1600">
                <a:latin typeface="Times New Roman" panose="02020603050405020304" pitchFamily="18" charset="0"/>
                <a:cs typeface="Times New Roman" panose="02020603050405020304" pitchFamily="18" charset="0"/>
              </a:rPr>
              <a:t>(4)</a:t>
            </a:r>
            <a:endPar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C32BC280-75CA-A414-75EC-4059C7A8EA35}"/>
              </a:ext>
            </a:extLst>
          </p:cNvPr>
          <p:cNvSpPr/>
          <p:nvPr/>
        </p:nvSpPr>
        <p:spPr>
          <a:xfrm>
            <a:off x="7667028" y="6018519"/>
            <a:ext cx="3190832" cy="584775"/>
          </a:xfrm>
          <a:prstGeom prst="rect">
            <a:avLst/>
          </a:prstGeom>
        </p:spPr>
        <p:txBody>
          <a:bodyPr wrap="square">
            <a:spAutoFit/>
          </a:bodyPr>
          <a:lstStyle/>
          <a:p>
            <a:pPr algn="ctr"/>
            <a:r>
              <a:rPr lang="en-US" sz="1600" err="1">
                <a:latin typeface="Times New Roman" panose="02020603050405020304" pitchFamily="18" charset="0"/>
                <a:cs typeface="Times New Roman" panose="02020603050405020304" pitchFamily="18" charset="0"/>
              </a:rPr>
              <a:t>Sơ</a:t>
            </a:r>
            <a:r>
              <a:rPr lang="en-US" sz="160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đồ</a:t>
            </a:r>
            <a:r>
              <a:rPr lang="en-US" sz="160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cấu</a:t>
            </a:r>
            <a:r>
              <a:rPr lang="en-US" sz="160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trúc</a:t>
            </a:r>
            <a:r>
              <a:rPr lang="en-US" sz="160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điều</a:t>
            </a:r>
            <a:r>
              <a:rPr lang="en-US" sz="160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khiển</a:t>
            </a:r>
            <a:r>
              <a:rPr lang="en-US" sz="160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cho</a:t>
            </a:r>
            <a:r>
              <a:rPr lang="en-US" sz="160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hai</a:t>
            </a:r>
            <a:r>
              <a:rPr lang="en-US" sz="160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bộ</a:t>
            </a:r>
            <a:r>
              <a:rPr lang="en-US" sz="160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nghịch</a:t>
            </a:r>
            <a:r>
              <a:rPr lang="en-US" sz="160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lưu</a:t>
            </a:r>
            <a:r>
              <a:rPr lang="en-US" sz="160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mắc</a:t>
            </a:r>
            <a:r>
              <a:rPr lang="en-US" sz="1600">
                <a:latin typeface="Times New Roman" panose="02020603050405020304" pitchFamily="18" charset="0"/>
                <a:cs typeface="Times New Roman" panose="02020603050405020304" pitchFamily="18" charset="0"/>
              </a:rPr>
              <a:t> song </a:t>
            </a:r>
            <a:r>
              <a:rPr lang="en-US" sz="1600" err="1">
                <a:latin typeface="Times New Roman" panose="02020603050405020304" pitchFamily="18" charset="0"/>
                <a:cs typeface="Times New Roman" panose="02020603050405020304" pitchFamily="18" charset="0"/>
              </a:rPr>
              <a:t>song</a:t>
            </a:r>
            <a:endParaRPr lang="en-US" sz="1600">
              <a:latin typeface="Times New Roman" panose="02020603050405020304" pitchFamily="18" charset="0"/>
              <a:cs typeface="Times New Roman" panose="02020603050405020304" pitchFamily="18" charset="0"/>
            </a:endParaRPr>
          </a:p>
        </p:txBody>
      </p:sp>
      <p:grpSp>
        <p:nvGrpSpPr>
          <p:cNvPr id="5" name="Group 4">
            <a:extLst>
              <a:ext uri="{FF2B5EF4-FFF2-40B4-BE49-F238E27FC236}">
                <a16:creationId xmlns:a16="http://schemas.microsoft.com/office/drawing/2014/main" id="{768DE158-E0FB-B6BD-8182-BD6ECE44F24B}"/>
              </a:ext>
            </a:extLst>
          </p:cNvPr>
          <p:cNvGrpSpPr/>
          <p:nvPr/>
        </p:nvGrpSpPr>
        <p:grpSpPr>
          <a:xfrm>
            <a:off x="510284" y="324255"/>
            <a:ext cx="9501431" cy="748796"/>
            <a:chOff x="1793005" y="1746584"/>
            <a:chExt cx="9501431" cy="748794"/>
          </a:xfrm>
        </p:grpSpPr>
        <p:sp>
          <p:nvSpPr>
            <p:cNvPr id="13" name="TextBox 12">
              <a:extLst>
                <a:ext uri="{FF2B5EF4-FFF2-40B4-BE49-F238E27FC236}">
                  <a16:creationId xmlns:a16="http://schemas.microsoft.com/office/drawing/2014/main" id="{2E7DA258-4223-C47B-3AC0-95CFF6E783E8}"/>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14" name="Rectangle 13">
              <a:extLst>
                <a:ext uri="{FF2B5EF4-FFF2-40B4-BE49-F238E27FC236}">
                  <a16:creationId xmlns:a16="http://schemas.microsoft.com/office/drawing/2014/main" id="{73065E71-2AA5-61F4-F226-81ED7F6BC0B8}"/>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Tree>
    <p:extLst>
      <p:ext uri="{BB962C8B-B14F-4D97-AF65-F5344CB8AC3E}">
        <p14:creationId xmlns:p14="http://schemas.microsoft.com/office/powerpoint/2010/main" val="1609737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85CB569-B612-B194-3247-E198BD6AAE0F}"/>
              </a:ext>
            </a:extLst>
          </p:cNvPr>
          <p:cNvPicPr>
            <a:picLocks noChangeAspect="1"/>
          </p:cNvPicPr>
          <p:nvPr/>
        </p:nvPicPr>
        <p:blipFill>
          <a:blip r:embed="rId2"/>
          <a:stretch>
            <a:fillRect/>
          </a:stretch>
        </p:blipFill>
        <p:spPr>
          <a:xfrm>
            <a:off x="6567198" y="1830331"/>
            <a:ext cx="4625741" cy="4572396"/>
          </a:xfrm>
          <a:prstGeom prst="rect">
            <a:avLst/>
          </a:prstGeom>
        </p:spPr>
      </p:pic>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latin typeface="Times New Roman" panose="02020603050405020304" pitchFamily="18" charset="0"/>
                <a:cs typeface="Times New Roman" panose="02020603050405020304" pitchFamily="18" charset="0"/>
              </a:rPr>
              <a:t>9/19/2026</a:t>
            </a:fld>
            <a:endParaRPr lang="en-US">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16</a:t>
            </a:fld>
            <a:endParaRPr lang="en-US"/>
          </a:p>
        </p:txBody>
      </p:sp>
      <p:sp>
        <p:nvSpPr>
          <p:cNvPr id="8" name="TextBox 7">
            <a:extLst>
              <a:ext uri="{FF2B5EF4-FFF2-40B4-BE49-F238E27FC236}">
                <a16:creationId xmlns:a16="http://schemas.microsoft.com/office/drawing/2014/main" id="{AC6F6901-61B9-1351-8FEE-3C3D7CEE1880}"/>
              </a:ext>
            </a:extLst>
          </p:cNvPr>
          <p:cNvSpPr txBox="1"/>
          <p:nvPr/>
        </p:nvSpPr>
        <p:spPr>
          <a:xfrm>
            <a:off x="485739" y="2011956"/>
            <a:ext cx="3059492"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Theo định </a:t>
            </a:r>
            <a:r>
              <a:rPr lang="en-US" err="1">
                <a:latin typeface="Times New Roman" panose="02020603050405020304" pitchFamily="18" charset="0"/>
                <a:cs typeface="Times New Roman" panose="02020603050405020304" pitchFamily="18" charset="0"/>
              </a:rPr>
              <a:t>luật</a:t>
            </a:r>
            <a:r>
              <a:rPr lang="en-US">
                <a:latin typeface="Times New Roman" panose="02020603050405020304" pitchFamily="18" charset="0"/>
                <a:cs typeface="Times New Roman" panose="02020603050405020304" pitchFamily="18" charset="0"/>
              </a:rPr>
              <a:t> Kirchhoff ta </a:t>
            </a:r>
            <a:r>
              <a:rPr lang="en-US" err="1">
                <a:latin typeface="Times New Roman" panose="02020603050405020304" pitchFamily="18" charset="0"/>
                <a:cs typeface="Times New Roman" panose="02020603050405020304" pitchFamily="18" charset="0"/>
              </a:rPr>
              <a:t>có</a:t>
            </a:r>
            <a:r>
              <a:rPr lang="en-US">
                <a:latin typeface="Times New Roman" panose="02020603050405020304" pitchFamily="18" charset="0"/>
                <a:cs typeface="Times New Roman" panose="02020603050405020304" pitchFamily="18" charset="0"/>
              </a:rPr>
              <a:t>:</a:t>
            </a:r>
          </a:p>
        </p:txBody>
      </p:sp>
      <p:sp>
        <p:nvSpPr>
          <p:cNvPr id="15" name="TextBox 14">
            <a:extLst>
              <a:ext uri="{FF2B5EF4-FFF2-40B4-BE49-F238E27FC236}">
                <a16:creationId xmlns:a16="http://schemas.microsoft.com/office/drawing/2014/main" id="{416ED3AF-4012-0865-EDFC-99E6F430076D}"/>
              </a:ext>
            </a:extLst>
          </p:cNvPr>
          <p:cNvSpPr txBox="1"/>
          <p:nvPr/>
        </p:nvSpPr>
        <p:spPr>
          <a:xfrm>
            <a:off x="4745051" y="2526858"/>
            <a:ext cx="453970"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(5)</a:t>
            </a:r>
          </a:p>
        </p:txBody>
      </p:sp>
      <p:sp>
        <p:nvSpPr>
          <p:cNvPr id="17" name="TextBox 16">
            <a:extLst>
              <a:ext uri="{FF2B5EF4-FFF2-40B4-BE49-F238E27FC236}">
                <a16:creationId xmlns:a16="http://schemas.microsoft.com/office/drawing/2014/main" id="{EEEA86EA-C364-3A5F-DF05-677D7D8C83E0}"/>
              </a:ext>
            </a:extLst>
          </p:cNvPr>
          <p:cNvSpPr txBox="1"/>
          <p:nvPr/>
        </p:nvSpPr>
        <p:spPr>
          <a:xfrm>
            <a:off x="4745051" y="3001855"/>
            <a:ext cx="453970"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(6)</a:t>
            </a:r>
          </a:p>
        </p:txBody>
      </p:sp>
      <p:graphicFrame>
        <p:nvGraphicFramePr>
          <p:cNvPr id="10" name="Object 9">
            <a:extLst>
              <a:ext uri="{FF2B5EF4-FFF2-40B4-BE49-F238E27FC236}">
                <a16:creationId xmlns:a16="http://schemas.microsoft.com/office/drawing/2014/main" id="{BFCE6315-062E-3ED9-F67F-1AB5FA5A2BB5}"/>
              </a:ext>
            </a:extLst>
          </p:cNvPr>
          <p:cNvGraphicFramePr>
            <a:graphicFrameLocks noChangeAspect="1"/>
          </p:cNvGraphicFramePr>
          <p:nvPr>
            <p:extLst>
              <p:ext uri="{D42A27DB-BD31-4B8C-83A1-F6EECF244321}">
                <p14:modId xmlns:p14="http://schemas.microsoft.com/office/powerpoint/2010/main" val="668218692"/>
              </p:ext>
            </p:extLst>
          </p:nvPr>
        </p:nvGraphicFramePr>
        <p:xfrm>
          <a:off x="465138" y="2490788"/>
          <a:ext cx="3238500" cy="938212"/>
        </p:xfrm>
        <a:graphic>
          <a:graphicData uri="http://schemas.openxmlformats.org/presentationml/2006/ole">
            <mc:AlternateContent xmlns:mc="http://schemas.openxmlformats.org/markup-compatibility/2006">
              <mc:Choice xmlns:v="urn:schemas-microsoft-com:vml" Requires="v">
                <p:oleObj name="Equation" r:id="rId3" imgW="1752480" imgH="507960" progId="Equation.DSMT4">
                  <p:embed/>
                </p:oleObj>
              </mc:Choice>
              <mc:Fallback>
                <p:oleObj name="Equation" r:id="rId3" imgW="1752480" imgH="507960" progId="Equation.DSMT4">
                  <p:embed/>
                  <p:pic>
                    <p:nvPicPr>
                      <p:cNvPr id="10" name="Object 9">
                        <a:extLst>
                          <a:ext uri="{FF2B5EF4-FFF2-40B4-BE49-F238E27FC236}">
                            <a16:creationId xmlns:a16="http://schemas.microsoft.com/office/drawing/2014/main" id="{BFCE6315-062E-3ED9-F67F-1AB5FA5A2BB5}"/>
                          </a:ext>
                        </a:extLst>
                      </p:cNvPr>
                      <p:cNvPicPr/>
                      <p:nvPr/>
                    </p:nvPicPr>
                    <p:blipFill>
                      <a:blip r:embed="rId4"/>
                      <a:stretch>
                        <a:fillRect/>
                      </a:stretch>
                    </p:blipFill>
                    <p:spPr>
                      <a:xfrm>
                        <a:off x="465138" y="2490788"/>
                        <a:ext cx="3238500" cy="938212"/>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370D089F-E0D9-4A56-395B-1044AF34CE6B}"/>
              </a:ext>
            </a:extLst>
          </p:cNvPr>
          <p:cNvSpPr txBox="1"/>
          <p:nvPr/>
        </p:nvSpPr>
        <p:spPr>
          <a:xfrm>
            <a:off x="374948" y="1036129"/>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 </a:t>
            </a:r>
            <a:r>
              <a:rPr lang="en-US" sz="2000" b="1" err="1">
                <a:solidFill>
                  <a:prstClr val="black"/>
                </a:solidFill>
                <a:latin typeface="Times New Roman" panose="02020603050405020304" pitchFamily="18" charset="0"/>
                <a:cs typeface="Times New Roman" panose="02020603050405020304" pitchFamily="18" charset="0"/>
              </a:rPr>
              <a:t>Tính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toán</a:t>
            </a:r>
            <a:r>
              <a:rPr lang="en-US" sz="2000" b="1">
                <a:solidFill>
                  <a:prstClr val="black"/>
                </a:solidFill>
                <a:latin typeface="Times New Roman" panose="02020603050405020304" pitchFamily="18" charset="0"/>
                <a:cs typeface="Times New Roman" panose="02020603050405020304" pitchFamily="18" charset="0"/>
              </a:rPr>
              <a:t> thông số</a:t>
            </a:r>
          </a:p>
        </p:txBody>
      </p:sp>
      <p:sp>
        <p:nvSpPr>
          <p:cNvPr id="5" name="TextBox 4">
            <a:extLst>
              <a:ext uri="{FF2B5EF4-FFF2-40B4-BE49-F238E27FC236}">
                <a16:creationId xmlns:a16="http://schemas.microsoft.com/office/drawing/2014/main" id="{CBE5F32C-800C-6A95-EA2F-DA71463ABEAB}"/>
              </a:ext>
            </a:extLst>
          </p:cNvPr>
          <p:cNvSpPr txBox="1"/>
          <p:nvPr/>
        </p:nvSpPr>
        <p:spPr>
          <a:xfrm>
            <a:off x="374948" y="1430221"/>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2.4.1.  </a:t>
            </a:r>
            <a:r>
              <a:rPr lang="en-US" sz="2000" b="1" err="1">
                <a:solidFill>
                  <a:prstClr val="black"/>
                </a:solidFill>
                <a:latin typeface="Times New Roman" panose="02020603050405020304" pitchFamily="18" charset="0"/>
                <a:cs typeface="Times New Roman" panose="02020603050405020304" pitchFamily="18" charset="0"/>
              </a:rPr>
              <a:t>Mô</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hình</a:t>
            </a:r>
            <a:r>
              <a:rPr lang="en-US" sz="2000" b="1">
                <a:solidFill>
                  <a:prstClr val="black"/>
                </a:solidFill>
                <a:latin typeface="Times New Roman" panose="02020603050405020304" pitchFamily="18" charset="0"/>
                <a:cs typeface="Times New Roman" panose="02020603050405020304" pitchFamily="18" charset="0"/>
              </a:rPr>
              <a:t> hóa </a:t>
            </a:r>
            <a:r>
              <a:rPr lang="en-US" sz="2000" b="1" err="1">
                <a:solidFill>
                  <a:prstClr val="black"/>
                </a:solidFill>
                <a:latin typeface="Times New Roman" panose="02020603050405020304" pitchFamily="18" charset="0"/>
                <a:cs typeface="Times New Roman" panose="02020603050405020304" pitchFamily="18" charset="0"/>
              </a:rPr>
              <a:t>bộ</a:t>
            </a:r>
            <a:r>
              <a:rPr lang="en-US" sz="2000" b="1">
                <a:solidFill>
                  <a:prstClr val="black"/>
                </a:solidFill>
                <a:latin typeface="Times New Roman" panose="02020603050405020304" pitchFamily="18" charset="0"/>
                <a:cs typeface="Times New Roman" panose="02020603050405020304" pitchFamily="18" charset="0"/>
              </a:rPr>
              <a:t> VOC </a:t>
            </a:r>
            <a:r>
              <a:rPr lang="en-US" sz="2000" b="1" err="1">
                <a:solidFill>
                  <a:prstClr val="black"/>
                </a:solidFill>
                <a:latin typeface="Times New Roman" panose="02020603050405020304" pitchFamily="18" charset="0"/>
                <a:cs typeface="Times New Roman" panose="02020603050405020304" pitchFamily="18" charset="0"/>
              </a:rPr>
              <a:t>điều</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khiển</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mạch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nghịch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lưu</a:t>
            </a:r>
            <a:r>
              <a:rPr lang="en-US" sz="2000" b="1">
                <a:solidFill>
                  <a:prstClr val="black"/>
                </a:solidFill>
                <a:latin typeface="Times New Roman" panose="02020603050405020304" pitchFamily="18" charset="0"/>
                <a:cs typeface="Times New Roman" panose="02020603050405020304" pitchFamily="18" charset="0"/>
              </a:rPr>
              <a:t> một </a:t>
            </a:r>
            <a:r>
              <a:rPr lang="en-US" sz="2000" b="1" err="1">
                <a:solidFill>
                  <a:prstClr val="black"/>
                </a:solidFill>
                <a:latin typeface="Times New Roman" panose="02020603050405020304" pitchFamily="18" charset="0"/>
                <a:cs typeface="Times New Roman" panose="02020603050405020304" pitchFamily="18" charset="0"/>
              </a:rPr>
              <a:t>pha</a:t>
            </a:r>
            <a:r>
              <a:rPr lang="en-US" sz="2000" b="1">
                <a:solidFill>
                  <a:prstClr val="black"/>
                </a:solidFill>
                <a:latin typeface="Times New Roman" panose="02020603050405020304" pitchFamily="18" charset="0"/>
                <a:cs typeface="Times New Roman" panose="02020603050405020304" pitchFamily="18" charset="0"/>
              </a:rPr>
              <a:t> </a:t>
            </a:r>
          </a:p>
        </p:txBody>
      </p:sp>
      <p:grpSp>
        <p:nvGrpSpPr>
          <p:cNvPr id="6" name="Group 5">
            <a:extLst>
              <a:ext uri="{FF2B5EF4-FFF2-40B4-BE49-F238E27FC236}">
                <a16:creationId xmlns:a16="http://schemas.microsoft.com/office/drawing/2014/main" id="{128F4F78-3AA5-D282-FE7B-C3BB83670DFD}"/>
              </a:ext>
            </a:extLst>
          </p:cNvPr>
          <p:cNvGrpSpPr/>
          <p:nvPr/>
        </p:nvGrpSpPr>
        <p:grpSpPr>
          <a:xfrm>
            <a:off x="510284" y="324255"/>
            <a:ext cx="9501431" cy="748796"/>
            <a:chOff x="1793005" y="1746584"/>
            <a:chExt cx="9501431" cy="748794"/>
          </a:xfrm>
        </p:grpSpPr>
        <p:sp>
          <p:nvSpPr>
            <p:cNvPr id="7" name="TextBox 6">
              <a:extLst>
                <a:ext uri="{FF2B5EF4-FFF2-40B4-BE49-F238E27FC236}">
                  <a16:creationId xmlns:a16="http://schemas.microsoft.com/office/drawing/2014/main" id="{07E7C29E-9065-711B-B7A2-770C13A4CB81}"/>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11" name="Rectangle 10">
              <a:extLst>
                <a:ext uri="{FF2B5EF4-FFF2-40B4-BE49-F238E27FC236}">
                  <a16:creationId xmlns:a16="http://schemas.microsoft.com/office/drawing/2014/main" id="{D86D8FF7-99D6-F1FA-9BDD-0D7F78115AC0}"/>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Tree>
    <p:extLst>
      <p:ext uri="{BB962C8B-B14F-4D97-AF65-F5344CB8AC3E}">
        <p14:creationId xmlns:p14="http://schemas.microsoft.com/office/powerpoint/2010/main" val="971402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6C7DA35C-DFE5-388C-D2E4-7003F5DC652B}"/>
              </a:ext>
            </a:extLst>
          </p:cNvPr>
          <p:cNvSpPr/>
          <p:nvPr/>
        </p:nvSpPr>
        <p:spPr>
          <a:xfrm>
            <a:off x="2262559" y="5433314"/>
            <a:ext cx="5766565" cy="81108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17</a:t>
            </a:fld>
            <a:endParaRPr lang="en-US"/>
          </a:p>
        </p:txBody>
      </p:sp>
      <p:graphicFrame>
        <p:nvGraphicFramePr>
          <p:cNvPr id="5" name="Object 4">
            <a:extLst>
              <a:ext uri="{FF2B5EF4-FFF2-40B4-BE49-F238E27FC236}">
                <a16:creationId xmlns:a16="http://schemas.microsoft.com/office/drawing/2014/main" id="{C8D45BE8-782C-2DD2-11BC-FC53566B9782}"/>
              </a:ext>
            </a:extLst>
          </p:cNvPr>
          <p:cNvGraphicFramePr>
            <a:graphicFrameLocks noChangeAspect="1"/>
          </p:cNvGraphicFramePr>
          <p:nvPr>
            <p:extLst>
              <p:ext uri="{D42A27DB-BD31-4B8C-83A1-F6EECF244321}">
                <p14:modId xmlns:p14="http://schemas.microsoft.com/office/powerpoint/2010/main" val="1758353330"/>
              </p:ext>
            </p:extLst>
          </p:nvPr>
        </p:nvGraphicFramePr>
        <p:xfrm>
          <a:off x="2470905" y="1800174"/>
          <a:ext cx="5349875" cy="3460750"/>
        </p:xfrm>
        <a:graphic>
          <a:graphicData uri="http://schemas.openxmlformats.org/presentationml/2006/ole">
            <mc:AlternateContent xmlns:mc="http://schemas.openxmlformats.org/markup-compatibility/2006">
              <mc:Choice xmlns:v="urn:schemas-microsoft-com:vml" Requires="v">
                <p:oleObj name="Equation" r:id="rId2" imgW="3454200" imgH="2234880" progId="Equation.DSMT4">
                  <p:embed/>
                </p:oleObj>
              </mc:Choice>
              <mc:Fallback>
                <p:oleObj name="Equation" r:id="rId2" imgW="3454200" imgH="2234880" progId="Equation.DSMT4">
                  <p:embed/>
                  <p:pic>
                    <p:nvPicPr>
                      <p:cNvPr id="5" name="Object 4">
                        <a:extLst>
                          <a:ext uri="{FF2B5EF4-FFF2-40B4-BE49-F238E27FC236}">
                            <a16:creationId xmlns:a16="http://schemas.microsoft.com/office/drawing/2014/main" id="{C8D45BE8-782C-2DD2-11BC-FC53566B9782}"/>
                          </a:ext>
                        </a:extLst>
                      </p:cNvPr>
                      <p:cNvPicPr/>
                      <p:nvPr/>
                    </p:nvPicPr>
                    <p:blipFill>
                      <a:blip r:embed="rId3"/>
                      <a:stretch>
                        <a:fillRect/>
                      </a:stretch>
                    </p:blipFill>
                    <p:spPr>
                      <a:xfrm>
                        <a:off x="2470905" y="1800174"/>
                        <a:ext cx="5349875" cy="346075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51E199C7-1770-9AD3-A58B-71E7BBC22517}"/>
              </a:ext>
            </a:extLst>
          </p:cNvPr>
          <p:cNvGraphicFramePr>
            <a:graphicFrameLocks noChangeAspect="1"/>
          </p:cNvGraphicFramePr>
          <p:nvPr>
            <p:extLst>
              <p:ext uri="{D42A27DB-BD31-4B8C-83A1-F6EECF244321}">
                <p14:modId xmlns:p14="http://schemas.microsoft.com/office/powerpoint/2010/main" val="1863344779"/>
              </p:ext>
            </p:extLst>
          </p:nvPr>
        </p:nvGraphicFramePr>
        <p:xfrm>
          <a:off x="2701464" y="5423481"/>
          <a:ext cx="4687887" cy="828675"/>
        </p:xfrm>
        <a:graphic>
          <a:graphicData uri="http://schemas.openxmlformats.org/presentationml/2006/ole">
            <mc:AlternateContent xmlns:mc="http://schemas.openxmlformats.org/markup-compatibility/2006">
              <mc:Choice xmlns:v="urn:schemas-microsoft-com:vml" Requires="v">
                <p:oleObj name="Equation" r:id="rId4" imgW="2438280" imgH="431640" progId="Equation.DSMT4">
                  <p:embed/>
                </p:oleObj>
              </mc:Choice>
              <mc:Fallback>
                <p:oleObj name="Equation" r:id="rId4" imgW="2438280" imgH="431640" progId="Equation.DSMT4">
                  <p:embed/>
                  <p:pic>
                    <p:nvPicPr>
                      <p:cNvPr id="8" name="Object 7">
                        <a:extLst>
                          <a:ext uri="{FF2B5EF4-FFF2-40B4-BE49-F238E27FC236}">
                            <a16:creationId xmlns:a16="http://schemas.microsoft.com/office/drawing/2014/main" id="{51E199C7-1770-9AD3-A58B-71E7BBC22517}"/>
                          </a:ext>
                        </a:extLst>
                      </p:cNvPr>
                      <p:cNvPicPr/>
                      <p:nvPr/>
                    </p:nvPicPr>
                    <p:blipFill>
                      <a:blip r:embed="rId5"/>
                      <a:stretch>
                        <a:fillRect/>
                      </a:stretch>
                    </p:blipFill>
                    <p:spPr>
                      <a:xfrm>
                        <a:off x="2701464" y="5423481"/>
                        <a:ext cx="4687887" cy="828675"/>
                      </a:xfrm>
                      <a:prstGeom prst="rect">
                        <a:avLst/>
                      </a:prstGeom>
                    </p:spPr>
                  </p:pic>
                </p:oleObj>
              </mc:Fallback>
            </mc:AlternateContent>
          </a:graphicData>
        </a:graphic>
      </p:graphicFrame>
      <p:sp>
        <p:nvSpPr>
          <p:cNvPr id="11" name="Arrow: Right 10">
            <a:extLst>
              <a:ext uri="{FF2B5EF4-FFF2-40B4-BE49-F238E27FC236}">
                <a16:creationId xmlns:a16="http://schemas.microsoft.com/office/drawing/2014/main" id="{DD343AA2-AD8D-0320-45E4-C92ABB1A8647}"/>
              </a:ext>
            </a:extLst>
          </p:cNvPr>
          <p:cNvSpPr/>
          <p:nvPr/>
        </p:nvSpPr>
        <p:spPr>
          <a:xfrm>
            <a:off x="577128" y="3276293"/>
            <a:ext cx="459699" cy="365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Arrow: Right 11">
            <a:extLst>
              <a:ext uri="{FF2B5EF4-FFF2-40B4-BE49-F238E27FC236}">
                <a16:creationId xmlns:a16="http://schemas.microsoft.com/office/drawing/2014/main" id="{9643AA09-61A5-5407-3151-FA679DBF514C}"/>
              </a:ext>
            </a:extLst>
          </p:cNvPr>
          <p:cNvSpPr/>
          <p:nvPr/>
        </p:nvSpPr>
        <p:spPr>
          <a:xfrm>
            <a:off x="577128" y="3974402"/>
            <a:ext cx="459699" cy="365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Arrow: Right 12">
            <a:extLst>
              <a:ext uri="{FF2B5EF4-FFF2-40B4-BE49-F238E27FC236}">
                <a16:creationId xmlns:a16="http://schemas.microsoft.com/office/drawing/2014/main" id="{99872200-9C28-8B2C-2065-9197CCD09E22}"/>
              </a:ext>
            </a:extLst>
          </p:cNvPr>
          <p:cNvSpPr/>
          <p:nvPr/>
        </p:nvSpPr>
        <p:spPr>
          <a:xfrm>
            <a:off x="599670" y="4697901"/>
            <a:ext cx="459699" cy="365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Box 13">
            <a:extLst>
              <a:ext uri="{FF2B5EF4-FFF2-40B4-BE49-F238E27FC236}">
                <a16:creationId xmlns:a16="http://schemas.microsoft.com/office/drawing/2014/main" id="{5A0068D5-AA5B-0B53-97E1-38652B95D97F}"/>
              </a:ext>
            </a:extLst>
          </p:cNvPr>
          <p:cNvSpPr txBox="1"/>
          <p:nvPr/>
        </p:nvSpPr>
        <p:spPr>
          <a:xfrm>
            <a:off x="8855276" y="3700640"/>
            <a:ext cx="554960" cy="400110"/>
          </a:xfrm>
          <a:prstGeom prst="rect">
            <a:avLst/>
          </a:prstGeom>
          <a:noFill/>
        </p:spPr>
        <p:txBody>
          <a:bodyPr wrap="none" rtlCol="0">
            <a:spAutoFit/>
          </a:bodyPr>
          <a:lstStyle/>
          <a:p>
            <a:r>
              <a:rPr lang="en-US" sz="2000" err="1">
                <a:latin typeface="Times New Roman" panose="02020603050405020304" pitchFamily="18" charset="0"/>
                <a:cs typeface="Times New Roman" panose="02020603050405020304" pitchFamily="18" charset="0"/>
              </a:rPr>
              <a:t>Đặt</a:t>
            </a:r>
            <a:endParaRPr lang="en-US" sz="2000">
              <a:latin typeface="Times New Roman" panose="02020603050405020304" pitchFamily="18" charset="0"/>
              <a:cs typeface="Times New Roman" panose="02020603050405020304" pitchFamily="18" charset="0"/>
            </a:endParaRPr>
          </a:p>
        </p:txBody>
      </p:sp>
      <p:graphicFrame>
        <p:nvGraphicFramePr>
          <p:cNvPr id="15" name="Object 14">
            <a:extLst>
              <a:ext uri="{FF2B5EF4-FFF2-40B4-BE49-F238E27FC236}">
                <a16:creationId xmlns:a16="http://schemas.microsoft.com/office/drawing/2014/main" id="{4B39DFFB-DBBD-1273-C725-05EE96AA0CBC}"/>
              </a:ext>
            </a:extLst>
          </p:cNvPr>
          <p:cNvGraphicFramePr>
            <a:graphicFrameLocks noChangeAspect="1"/>
          </p:cNvGraphicFramePr>
          <p:nvPr>
            <p:extLst>
              <p:ext uri="{D42A27DB-BD31-4B8C-83A1-F6EECF244321}">
                <p14:modId xmlns:p14="http://schemas.microsoft.com/office/powerpoint/2010/main" val="3085746106"/>
              </p:ext>
            </p:extLst>
          </p:nvPr>
        </p:nvGraphicFramePr>
        <p:xfrm>
          <a:off x="9538526" y="2163177"/>
          <a:ext cx="1930400" cy="3475037"/>
        </p:xfrm>
        <a:graphic>
          <a:graphicData uri="http://schemas.openxmlformats.org/presentationml/2006/ole">
            <mc:AlternateContent xmlns:mc="http://schemas.openxmlformats.org/markup-compatibility/2006">
              <mc:Choice xmlns:v="urn:schemas-microsoft-com:vml" Requires="v">
                <p:oleObj name="Equation" r:id="rId6" imgW="1143000" imgH="2057400" progId="Equation.DSMT4">
                  <p:embed/>
                </p:oleObj>
              </mc:Choice>
              <mc:Fallback>
                <p:oleObj name="Equation" r:id="rId6" imgW="1143000" imgH="2057400" progId="Equation.DSMT4">
                  <p:embed/>
                  <p:pic>
                    <p:nvPicPr>
                      <p:cNvPr id="15" name="Object 14">
                        <a:extLst>
                          <a:ext uri="{FF2B5EF4-FFF2-40B4-BE49-F238E27FC236}">
                            <a16:creationId xmlns:a16="http://schemas.microsoft.com/office/drawing/2014/main" id="{4B39DFFB-DBBD-1273-C725-05EE96AA0CBC}"/>
                          </a:ext>
                        </a:extLst>
                      </p:cNvPr>
                      <p:cNvPicPr/>
                      <p:nvPr/>
                    </p:nvPicPr>
                    <p:blipFill>
                      <a:blip r:embed="rId7"/>
                      <a:stretch>
                        <a:fillRect/>
                      </a:stretch>
                    </p:blipFill>
                    <p:spPr>
                      <a:xfrm>
                        <a:off x="9538526" y="2163177"/>
                        <a:ext cx="1930400" cy="3475037"/>
                      </a:xfrm>
                      <a:prstGeom prst="rect">
                        <a:avLst/>
                      </a:prstGeom>
                    </p:spPr>
                  </p:pic>
                </p:oleObj>
              </mc:Fallback>
            </mc:AlternateContent>
          </a:graphicData>
        </a:graphic>
      </p:graphicFrame>
      <p:sp>
        <p:nvSpPr>
          <p:cNvPr id="17" name="Arrow: Right 16">
            <a:extLst>
              <a:ext uri="{FF2B5EF4-FFF2-40B4-BE49-F238E27FC236}">
                <a16:creationId xmlns:a16="http://schemas.microsoft.com/office/drawing/2014/main" id="{01649E93-DFDF-A133-4E8C-DB988537E901}"/>
              </a:ext>
            </a:extLst>
          </p:cNvPr>
          <p:cNvSpPr/>
          <p:nvPr/>
        </p:nvSpPr>
        <p:spPr>
          <a:xfrm>
            <a:off x="599670" y="5638214"/>
            <a:ext cx="690881" cy="3797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 name="TextBox 22">
            <a:extLst>
              <a:ext uri="{FF2B5EF4-FFF2-40B4-BE49-F238E27FC236}">
                <a16:creationId xmlns:a16="http://schemas.microsoft.com/office/drawing/2014/main" id="{74F83C4D-CBDE-BE1A-C283-F832AA5E84EF}"/>
              </a:ext>
            </a:extLst>
          </p:cNvPr>
          <p:cNvSpPr txBox="1"/>
          <p:nvPr/>
        </p:nvSpPr>
        <p:spPr>
          <a:xfrm>
            <a:off x="577128" y="1823882"/>
            <a:ext cx="1074333" cy="400110"/>
          </a:xfrm>
          <a:prstGeom prst="rect">
            <a:avLst/>
          </a:prstGeom>
          <a:noFill/>
        </p:spPr>
        <p:txBody>
          <a:bodyPr wrap="none" rtlCol="0">
            <a:spAutoFit/>
          </a:bodyPr>
          <a:lstStyle/>
          <a:p>
            <a:r>
              <a:rPr lang="en-US" sz="2000">
                <a:latin typeface="Times New Roman" panose="02020603050405020304" pitchFamily="18" charset="0"/>
                <a:cs typeface="Times New Roman" panose="02020603050405020304" pitchFamily="18" charset="0"/>
              </a:rPr>
              <a:t>Theo (5)</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62A63F0-50C2-E4D7-D423-A3F832AE60AF}"/>
                  </a:ext>
                </a:extLst>
              </p:cNvPr>
              <p:cNvSpPr txBox="1"/>
              <p:nvPr/>
            </p:nvSpPr>
            <p:spPr>
              <a:xfrm>
                <a:off x="563588" y="2578341"/>
                <a:ext cx="1907317"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Nh</a:t>
                </a:r>
                <a:r>
                  <a:rPr lang="en-US" err="1">
                    <a:latin typeface="Times New Roman" panose="02020603050405020304" pitchFamily="18" charset="0"/>
                    <a:cs typeface="Times New Roman" panose="02020603050405020304" pitchFamily="18" charset="0"/>
                  </a:rPr>
                  <a:t>ân</a:t>
                </a:r>
                <a:r>
                  <a:rPr lang="en-US">
                    <a:latin typeface="Times New Roman" panose="02020603050405020304" pitchFamily="18" charset="0"/>
                    <a:cs typeface="Times New Roman" panose="02020603050405020304" pitchFamily="18" charset="0"/>
                  </a:rPr>
                  <a:t> 2 </a:t>
                </a:r>
                <a:r>
                  <a:rPr lang="en-US" err="1">
                    <a:latin typeface="Times New Roman" panose="02020603050405020304" pitchFamily="18" charset="0"/>
                    <a:cs typeface="Times New Roman" panose="02020603050405020304" pitchFamily="18" charset="0"/>
                  </a:rPr>
                  <a:t>vế</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với</a:t>
                </a:r>
                <a:r>
                  <a:rPr lang="en-US">
                    <a:latin typeface="Times New Roman" panose="02020603050405020304" pitchFamily="18" charset="0"/>
                    <a:cs typeface="Times New Roman" panose="02020603050405020304" pitchFamily="18" charset="0"/>
                  </a:rPr>
                  <a:t> </a:t>
                </a:r>
                <a14:m>
                  <m:oMath xmlns:m="http://schemas.openxmlformats.org/officeDocument/2006/math">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𝑘</m:t>
                        </m:r>
                      </m:e>
                      <m:sub>
                        <m:r>
                          <a:rPr lang="en-US" b="0" i="1" smtClean="0">
                            <a:latin typeface="Cambria Math" panose="02040503050406030204" pitchFamily="18" charset="0"/>
                            <a:cs typeface="Times New Roman" panose="02020603050405020304" pitchFamily="18" charset="0"/>
                          </a:rPr>
                          <m:t>𝑣</m:t>
                        </m:r>
                      </m:sub>
                    </m:sSub>
                  </m:oMath>
                </a14:m>
                <a:r>
                  <a:rPr lang="en-US">
                    <a:latin typeface="Times New Roman" panose="02020603050405020304" pitchFamily="18" charset="0"/>
                    <a:cs typeface="Times New Roman" panose="02020603050405020304" pitchFamily="18" charset="0"/>
                  </a:rPr>
                  <a:t>:</a:t>
                </a:r>
              </a:p>
            </p:txBody>
          </p:sp>
        </mc:Choice>
        <mc:Fallback xmlns="">
          <p:sp>
            <p:nvSpPr>
              <p:cNvPr id="24" name="TextBox 23">
                <a:extLst>
                  <a:ext uri="{FF2B5EF4-FFF2-40B4-BE49-F238E27FC236}">
                    <a16:creationId xmlns:a16="http://schemas.microsoft.com/office/drawing/2014/main" id="{E62A63F0-50C2-E4D7-D423-A3F832AE60AF}"/>
                  </a:ext>
                </a:extLst>
              </p:cNvPr>
              <p:cNvSpPr txBox="1">
                <a:spLocks noRot="1" noChangeAspect="1" noMove="1" noResize="1" noEditPoints="1" noAdjustHandles="1" noChangeArrowheads="1" noChangeShapeType="1" noTextEdit="1"/>
              </p:cNvSpPr>
              <p:nvPr/>
            </p:nvSpPr>
            <p:spPr>
              <a:xfrm>
                <a:off x="563588" y="2578341"/>
                <a:ext cx="1907317" cy="369332"/>
              </a:xfrm>
              <a:prstGeom prst="rect">
                <a:avLst/>
              </a:prstGeom>
              <a:blipFill>
                <a:blip r:embed="rId8"/>
                <a:stretch>
                  <a:fillRect l="-2556" t="-9836" b="-24590"/>
                </a:stretch>
              </a:blipFill>
            </p:spPr>
            <p:txBody>
              <a:bodyPr/>
              <a:lstStyle/>
              <a:p>
                <a:r>
                  <a:rPr lang="vi-VN">
                    <a:noFill/>
                  </a:rPr>
                  <a:t> </a:t>
                </a:r>
              </a:p>
            </p:txBody>
          </p:sp>
        </mc:Fallback>
      </mc:AlternateContent>
      <p:sp>
        <p:nvSpPr>
          <p:cNvPr id="4" name="TextBox 3">
            <a:extLst>
              <a:ext uri="{FF2B5EF4-FFF2-40B4-BE49-F238E27FC236}">
                <a16:creationId xmlns:a16="http://schemas.microsoft.com/office/drawing/2014/main" id="{D8FD6E33-8366-7A82-63C9-55E5C2493890}"/>
              </a:ext>
            </a:extLst>
          </p:cNvPr>
          <p:cNvSpPr txBox="1"/>
          <p:nvPr/>
        </p:nvSpPr>
        <p:spPr>
          <a:xfrm>
            <a:off x="374948" y="1036129"/>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 </a:t>
            </a:r>
            <a:r>
              <a:rPr lang="en-US" sz="2000" b="1" err="1">
                <a:solidFill>
                  <a:prstClr val="black"/>
                </a:solidFill>
                <a:latin typeface="Times New Roman" panose="02020603050405020304" pitchFamily="18" charset="0"/>
                <a:cs typeface="Times New Roman" panose="02020603050405020304" pitchFamily="18" charset="0"/>
              </a:rPr>
              <a:t>Tính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toán</a:t>
            </a:r>
            <a:r>
              <a:rPr lang="en-US" sz="2000" b="1">
                <a:solidFill>
                  <a:prstClr val="black"/>
                </a:solidFill>
                <a:latin typeface="Times New Roman" panose="02020603050405020304" pitchFamily="18" charset="0"/>
                <a:cs typeface="Times New Roman" panose="02020603050405020304" pitchFamily="18" charset="0"/>
              </a:rPr>
              <a:t> thông số</a:t>
            </a:r>
          </a:p>
        </p:txBody>
      </p:sp>
      <p:grpSp>
        <p:nvGrpSpPr>
          <p:cNvPr id="10" name="Group 9">
            <a:extLst>
              <a:ext uri="{FF2B5EF4-FFF2-40B4-BE49-F238E27FC236}">
                <a16:creationId xmlns:a16="http://schemas.microsoft.com/office/drawing/2014/main" id="{46464F1E-3CEF-88B4-8A0A-CFABD2F98689}"/>
              </a:ext>
            </a:extLst>
          </p:cNvPr>
          <p:cNvGrpSpPr/>
          <p:nvPr/>
        </p:nvGrpSpPr>
        <p:grpSpPr>
          <a:xfrm>
            <a:off x="510284" y="324255"/>
            <a:ext cx="9501431" cy="748796"/>
            <a:chOff x="1793005" y="1746584"/>
            <a:chExt cx="9501431" cy="748794"/>
          </a:xfrm>
        </p:grpSpPr>
        <p:sp>
          <p:nvSpPr>
            <p:cNvPr id="19" name="TextBox 18">
              <a:extLst>
                <a:ext uri="{FF2B5EF4-FFF2-40B4-BE49-F238E27FC236}">
                  <a16:creationId xmlns:a16="http://schemas.microsoft.com/office/drawing/2014/main" id="{23D300FD-CAD2-EA46-7DB9-E445FB81E59F}"/>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20" name="Rectangle 19">
              <a:extLst>
                <a:ext uri="{FF2B5EF4-FFF2-40B4-BE49-F238E27FC236}">
                  <a16:creationId xmlns:a16="http://schemas.microsoft.com/office/drawing/2014/main" id="{D95D30DB-9187-1304-6153-6D046FBD5EFC}"/>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6" name="TextBox 5">
            <a:extLst>
              <a:ext uri="{FF2B5EF4-FFF2-40B4-BE49-F238E27FC236}">
                <a16:creationId xmlns:a16="http://schemas.microsoft.com/office/drawing/2014/main" id="{56D91A8D-C3DB-A7FD-92B7-EB217D1EEC2A}"/>
              </a:ext>
            </a:extLst>
          </p:cNvPr>
          <p:cNvSpPr txBox="1"/>
          <p:nvPr/>
        </p:nvSpPr>
        <p:spPr>
          <a:xfrm>
            <a:off x="374948" y="1430221"/>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2.4.1.  </a:t>
            </a:r>
            <a:r>
              <a:rPr lang="en-US" sz="2000" b="1" err="1">
                <a:solidFill>
                  <a:prstClr val="black"/>
                </a:solidFill>
                <a:latin typeface="Times New Roman" panose="02020603050405020304" pitchFamily="18" charset="0"/>
                <a:cs typeface="Times New Roman" panose="02020603050405020304" pitchFamily="18" charset="0"/>
              </a:rPr>
              <a:t>Mô</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hình</a:t>
            </a:r>
            <a:r>
              <a:rPr lang="en-US" sz="2000" b="1">
                <a:solidFill>
                  <a:prstClr val="black"/>
                </a:solidFill>
                <a:latin typeface="Times New Roman" panose="02020603050405020304" pitchFamily="18" charset="0"/>
                <a:cs typeface="Times New Roman" panose="02020603050405020304" pitchFamily="18" charset="0"/>
              </a:rPr>
              <a:t> hóa </a:t>
            </a:r>
            <a:r>
              <a:rPr lang="en-US" sz="2000" b="1" err="1">
                <a:solidFill>
                  <a:prstClr val="black"/>
                </a:solidFill>
                <a:latin typeface="Times New Roman" panose="02020603050405020304" pitchFamily="18" charset="0"/>
                <a:cs typeface="Times New Roman" panose="02020603050405020304" pitchFamily="18" charset="0"/>
              </a:rPr>
              <a:t>bộ</a:t>
            </a:r>
            <a:r>
              <a:rPr lang="en-US" sz="2000" b="1">
                <a:solidFill>
                  <a:prstClr val="black"/>
                </a:solidFill>
                <a:latin typeface="Times New Roman" panose="02020603050405020304" pitchFamily="18" charset="0"/>
                <a:cs typeface="Times New Roman" panose="02020603050405020304" pitchFamily="18" charset="0"/>
              </a:rPr>
              <a:t> VOC </a:t>
            </a:r>
            <a:r>
              <a:rPr lang="en-US" sz="2000" b="1" err="1">
                <a:solidFill>
                  <a:prstClr val="black"/>
                </a:solidFill>
                <a:latin typeface="Times New Roman" panose="02020603050405020304" pitchFamily="18" charset="0"/>
                <a:cs typeface="Times New Roman" panose="02020603050405020304" pitchFamily="18" charset="0"/>
              </a:rPr>
              <a:t>điều</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khiển</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mạch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nghịch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lưu</a:t>
            </a:r>
            <a:r>
              <a:rPr lang="en-US" sz="2000" b="1">
                <a:solidFill>
                  <a:prstClr val="black"/>
                </a:solidFill>
                <a:latin typeface="Times New Roman" panose="02020603050405020304" pitchFamily="18" charset="0"/>
                <a:cs typeface="Times New Roman" panose="02020603050405020304" pitchFamily="18" charset="0"/>
              </a:rPr>
              <a:t> một </a:t>
            </a:r>
            <a:r>
              <a:rPr lang="en-US" sz="2000" b="1" err="1">
                <a:solidFill>
                  <a:prstClr val="black"/>
                </a:solidFill>
                <a:latin typeface="Times New Roman" panose="02020603050405020304" pitchFamily="18" charset="0"/>
                <a:cs typeface="Times New Roman" panose="02020603050405020304" pitchFamily="18" charset="0"/>
              </a:rPr>
              <a:t>pha</a:t>
            </a:r>
            <a:r>
              <a:rPr lang="en-US" sz="2000" b="1">
                <a:solidFill>
                  <a:prstClr val="black"/>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151726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6C7DA35C-DFE5-388C-D2E4-7003F5DC652B}"/>
              </a:ext>
            </a:extLst>
          </p:cNvPr>
          <p:cNvSpPr/>
          <p:nvPr/>
        </p:nvSpPr>
        <p:spPr>
          <a:xfrm>
            <a:off x="1248159" y="5892134"/>
            <a:ext cx="3041453" cy="6944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18</a:t>
            </a:fld>
            <a:endParaRPr lang="en-US"/>
          </a:p>
        </p:txBody>
      </p:sp>
      <p:graphicFrame>
        <p:nvGraphicFramePr>
          <p:cNvPr id="5" name="Object 4">
            <a:extLst>
              <a:ext uri="{FF2B5EF4-FFF2-40B4-BE49-F238E27FC236}">
                <a16:creationId xmlns:a16="http://schemas.microsoft.com/office/drawing/2014/main" id="{C8D45BE8-782C-2DD2-11BC-FC53566B9782}"/>
              </a:ext>
            </a:extLst>
          </p:cNvPr>
          <p:cNvGraphicFramePr>
            <a:graphicFrameLocks noChangeAspect="1"/>
          </p:cNvGraphicFramePr>
          <p:nvPr>
            <p:extLst>
              <p:ext uri="{D42A27DB-BD31-4B8C-83A1-F6EECF244321}">
                <p14:modId xmlns:p14="http://schemas.microsoft.com/office/powerpoint/2010/main" val="3925040780"/>
              </p:ext>
            </p:extLst>
          </p:nvPr>
        </p:nvGraphicFramePr>
        <p:xfrm>
          <a:off x="1349375" y="1847850"/>
          <a:ext cx="4054475" cy="4738688"/>
        </p:xfrm>
        <a:graphic>
          <a:graphicData uri="http://schemas.openxmlformats.org/presentationml/2006/ole">
            <mc:AlternateContent xmlns:mc="http://schemas.openxmlformats.org/markup-compatibility/2006">
              <mc:Choice xmlns:v="urn:schemas-microsoft-com:vml" Requires="v">
                <p:oleObj name="Equation" r:id="rId2" imgW="2616120" imgH="3060360" progId="Equation.DSMT4">
                  <p:embed/>
                </p:oleObj>
              </mc:Choice>
              <mc:Fallback>
                <p:oleObj name="Equation" r:id="rId2" imgW="2616120" imgH="3060360" progId="Equation.DSMT4">
                  <p:embed/>
                  <p:pic>
                    <p:nvPicPr>
                      <p:cNvPr id="5" name="Object 4">
                        <a:extLst>
                          <a:ext uri="{FF2B5EF4-FFF2-40B4-BE49-F238E27FC236}">
                            <a16:creationId xmlns:a16="http://schemas.microsoft.com/office/drawing/2014/main" id="{C8D45BE8-782C-2DD2-11BC-FC53566B9782}"/>
                          </a:ext>
                        </a:extLst>
                      </p:cNvPr>
                      <p:cNvPicPr/>
                      <p:nvPr/>
                    </p:nvPicPr>
                    <p:blipFill>
                      <a:blip r:embed="rId3"/>
                      <a:stretch>
                        <a:fillRect/>
                      </a:stretch>
                    </p:blipFill>
                    <p:spPr>
                      <a:xfrm>
                        <a:off x="1349375" y="1847850"/>
                        <a:ext cx="4054475" cy="4738688"/>
                      </a:xfrm>
                      <a:prstGeom prst="rect">
                        <a:avLst/>
                      </a:prstGeom>
                    </p:spPr>
                  </p:pic>
                </p:oleObj>
              </mc:Fallback>
            </mc:AlternateContent>
          </a:graphicData>
        </a:graphic>
      </p:graphicFrame>
      <p:sp>
        <p:nvSpPr>
          <p:cNvPr id="11" name="Arrow: Right 10">
            <a:extLst>
              <a:ext uri="{FF2B5EF4-FFF2-40B4-BE49-F238E27FC236}">
                <a16:creationId xmlns:a16="http://schemas.microsoft.com/office/drawing/2014/main" id="{DD343AA2-AD8D-0320-45E4-C92ABB1A8647}"/>
              </a:ext>
            </a:extLst>
          </p:cNvPr>
          <p:cNvSpPr/>
          <p:nvPr/>
        </p:nvSpPr>
        <p:spPr>
          <a:xfrm>
            <a:off x="749085" y="3061592"/>
            <a:ext cx="459699" cy="365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Arrow: Right 11">
            <a:extLst>
              <a:ext uri="{FF2B5EF4-FFF2-40B4-BE49-F238E27FC236}">
                <a16:creationId xmlns:a16="http://schemas.microsoft.com/office/drawing/2014/main" id="{9643AA09-61A5-5407-3151-FA679DBF514C}"/>
              </a:ext>
            </a:extLst>
          </p:cNvPr>
          <p:cNvSpPr/>
          <p:nvPr/>
        </p:nvSpPr>
        <p:spPr>
          <a:xfrm>
            <a:off x="788460" y="3868852"/>
            <a:ext cx="459699" cy="365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Arrow: Right 12">
            <a:extLst>
              <a:ext uri="{FF2B5EF4-FFF2-40B4-BE49-F238E27FC236}">
                <a16:creationId xmlns:a16="http://schemas.microsoft.com/office/drawing/2014/main" id="{99872200-9C28-8B2C-2065-9197CCD09E22}"/>
              </a:ext>
            </a:extLst>
          </p:cNvPr>
          <p:cNvSpPr/>
          <p:nvPr/>
        </p:nvSpPr>
        <p:spPr>
          <a:xfrm>
            <a:off x="749238" y="4610183"/>
            <a:ext cx="459699" cy="365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Box 13">
            <a:extLst>
              <a:ext uri="{FF2B5EF4-FFF2-40B4-BE49-F238E27FC236}">
                <a16:creationId xmlns:a16="http://schemas.microsoft.com/office/drawing/2014/main" id="{5A0068D5-AA5B-0B53-97E1-38652B95D97F}"/>
              </a:ext>
            </a:extLst>
          </p:cNvPr>
          <p:cNvSpPr txBox="1"/>
          <p:nvPr/>
        </p:nvSpPr>
        <p:spPr>
          <a:xfrm>
            <a:off x="6723909" y="3727587"/>
            <a:ext cx="554960" cy="400110"/>
          </a:xfrm>
          <a:prstGeom prst="rect">
            <a:avLst/>
          </a:prstGeom>
          <a:noFill/>
        </p:spPr>
        <p:txBody>
          <a:bodyPr wrap="none" rtlCol="0">
            <a:spAutoFit/>
          </a:bodyPr>
          <a:lstStyle/>
          <a:p>
            <a:r>
              <a:rPr lang="en-US" sz="2000" err="1">
                <a:latin typeface="Times New Roman" panose="02020603050405020304" pitchFamily="18" charset="0"/>
                <a:cs typeface="Times New Roman" panose="02020603050405020304" pitchFamily="18" charset="0"/>
              </a:rPr>
              <a:t>Đặt</a:t>
            </a:r>
            <a:endParaRPr lang="en-US" sz="2000">
              <a:latin typeface="Times New Roman" panose="02020603050405020304" pitchFamily="18" charset="0"/>
              <a:cs typeface="Times New Roman" panose="02020603050405020304" pitchFamily="18" charset="0"/>
            </a:endParaRPr>
          </a:p>
        </p:txBody>
      </p:sp>
      <p:graphicFrame>
        <p:nvGraphicFramePr>
          <p:cNvPr id="15" name="Object 14">
            <a:extLst>
              <a:ext uri="{FF2B5EF4-FFF2-40B4-BE49-F238E27FC236}">
                <a16:creationId xmlns:a16="http://schemas.microsoft.com/office/drawing/2014/main" id="{4B39DFFB-DBBD-1273-C725-05EE96AA0CBC}"/>
              </a:ext>
            </a:extLst>
          </p:cNvPr>
          <p:cNvGraphicFramePr>
            <a:graphicFrameLocks noChangeAspect="1"/>
          </p:cNvGraphicFramePr>
          <p:nvPr>
            <p:extLst>
              <p:ext uri="{D42A27DB-BD31-4B8C-83A1-F6EECF244321}">
                <p14:modId xmlns:p14="http://schemas.microsoft.com/office/powerpoint/2010/main" val="875843259"/>
              </p:ext>
            </p:extLst>
          </p:nvPr>
        </p:nvGraphicFramePr>
        <p:xfrm>
          <a:off x="7838656" y="2463914"/>
          <a:ext cx="1779588" cy="2809875"/>
        </p:xfrm>
        <a:graphic>
          <a:graphicData uri="http://schemas.openxmlformats.org/presentationml/2006/ole">
            <mc:AlternateContent xmlns:mc="http://schemas.openxmlformats.org/markup-compatibility/2006">
              <mc:Choice xmlns:v="urn:schemas-microsoft-com:vml" Requires="v">
                <p:oleObj name="Equation" r:id="rId4" imgW="1054080" imgH="1663560" progId="Equation.DSMT4">
                  <p:embed/>
                </p:oleObj>
              </mc:Choice>
              <mc:Fallback>
                <p:oleObj name="Equation" r:id="rId4" imgW="1054080" imgH="1663560" progId="Equation.DSMT4">
                  <p:embed/>
                  <p:pic>
                    <p:nvPicPr>
                      <p:cNvPr id="15" name="Object 14">
                        <a:extLst>
                          <a:ext uri="{FF2B5EF4-FFF2-40B4-BE49-F238E27FC236}">
                            <a16:creationId xmlns:a16="http://schemas.microsoft.com/office/drawing/2014/main" id="{4B39DFFB-DBBD-1273-C725-05EE96AA0CBC}"/>
                          </a:ext>
                        </a:extLst>
                      </p:cNvPr>
                      <p:cNvPicPr/>
                      <p:nvPr/>
                    </p:nvPicPr>
                    <p:blipFill>
                      <a:blip r:embed="rId5"/>
                      <a:stretch>
                        <a:fillRect/>
                      </a:stretch>
                    </p:blipFill>
                    <p:spPr>
                      <a:xfrm>
                        <a:off x="7838656" y="2463914"/>
                        <a:ext cx="1779588" cy="2809875"/>
                      </a:xfrm>
                      <a:prstGeom prst="rect">
                        <a:avLst/>
                      </a:prstGeom>
                    </p:spPr>
                  </p:pic>
                </p:oleObj>
              </mc:Fallback>
            </mc:AlternateContent>
          </a:graphicData>
        </a:graphic>
      </p:graphicFrame>
      <p:sp>
        <p:nvSpPr>
          <p:cNvPr id="16" name="Left Brace 15">
            <a:extLst>
              <a:ext uri="{FF2B5EF4-FFF2-40B4-BE49-F238E27FC236}">
                <a16:creationId xmlns:a16="http://schemas.microsoft.com/office/drawing/2014/main" id="{0D8600BD-B6A8-C627-DDAC-9FBFDB1961DF}"/>
              </a:ext>
            </a:extLst>
          </p:cNvPr>
          <p:cNvSpPr/>
          <p:nvPr/>
        </p:nvSpPr>
        <p:spPr>
          <a:xfrm>
            <a:off x="7388839" y="2497189"/>
            <a:ext cx="339776" cy="2841253"/>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2400"/>
          </a:p>
        </p:txBody>
      </p:sp>
      <p:sp>
        <p:nvSpPr>
          <p:cNvPr id="17" name="Arrow: Right 16">
            <a:extLst>
              <a:ext uri="{FF2B5EF4-FFF2-40B4-BE49-F238E27FC236}">
                <a16:creationId xmlns:a16="http://schemas.microsoft.com/office/drawing/2014/main" id="{01649E93-DFDF-A133-4E8C-DB988537E901}"/>
              </a:ext>
            </a:extLst>
          </p:cNvPr>
          <p:cNvSpPr/>
          <p:nvPr/>
        </p:nvSpPr>
        <p:spPr>
          <a:xfrm>
            <a:off x="466835" y="5968898"/>
            <a:ext cx="690881" cy="3797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 name="TextBox 22">
            <a:extLst>
              <a:ext uri="{FF2B5EF4-FFF2-40B4-BE49-F238E27FC236}">
                <a16:creationId xmlns:a16="http://schemas.microsoft.com/office/drawing/2014/main" id="{74F83C4D-CBDE-BE1A-C283-F832AA5E84EF}"/>
              </a:ext>
            </a:extLst>
          </p:cNvPr>
          <p:cNvSpPr txBox="1"/>
          <p:nvPr/>
        </p:nvSpPr>
        <p:spPr>
          <a:xfrm>
            <a:off x="164748" y="1852269"/>
            <a:ext cx="1074333" cy="400110"/>
          </a:xfrm>
          <a:prstGeom prst="rect">
            <a:avLst/>
          </a:prstGeom>
          <a:noFill/>
        </p:spPr>
        <p:txBody>
          <a:bodyPr wrap="none" rtlCol="0">
            <a:spAutoFit/>
          </a:bodyPr>
          <a:lstStyle/>
          <a:p>
            <a:r>
              <a:rPr lang="en-US" sz="2000">
                <a:latin typeface="Times New Roman" panose="02020603050405020304" pitchFamily="18" charset="0"/>
                <a:cs typeface="Times New Roman" panose="02020603050405020304" pitchFamily="18" charset="0"/>
              </a:rPr>
              <a:t>Theo (6)</a:t>
            </a:r>
          </a:p>
        </p:txBody>
      </p:sp>
      <p:sp>
        <p:nvSpPr>
          <p:cNvPr id="24" name="TextBox 23">
            <a:extLst>
              <a:ext uri="{FF2B5EF4-FFF2-40B4-BE49-F238E27FC236}">
                <a16:creationId xmlns:a16="http://schemas.microsoft.com/office/drawing/2014/main" id="{E62A63F0-50C2-E4D7-D423-A3F832AE60AF}"/>
              </a:ext>
            </a:extLst>
          </p:cNvPr>
          <p:cNvSpPr txBox="1"/>
          <p:nvPr/>
        </p:nvSpPr>
        <p:spPr>
          <a:xfrm>
            <a:off x="654983" y="2525254"/>
            <a:ext cx="518091"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Có:</a:t>
            </a:r>
          </a:p>
        </p:txBody>
      </p:sp>
      <p:sp>
        <p:nvSpPr>
          <p:cNvPr id="4" name="TextBox 3">
            <a:extLst>
              <a:ext uri="{FF2B5EF4-FFF2-40B4-BE49-F238E27FC236}">
                <a16:creationId xmlns:a16="http://schemas.microsoft.com/office/drawing/2014/main" id="{D8FD6E33-8366-7A82-63C9-55E5C2493890}"/>
              </a:ext>
            </a:extLst>
          </p:cNvPr>
          <p:cNvSpPr txBox="1"/>
          <p:nvPr/>
        </p:nvSpPr>
        <p:spPr>
          <a:xfrm>
            <a:off x="374948" y="1036129"/>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 </a:t>
            </a:r>
            <a:r>
              <a:rPr lang="en-US" sz="2000" b="1" err="1">
                <a:solidFill>
                  <a:prstClr val="black"/>
                </a:solidFill>
                <a:latin typeface="Times New Roman" panose="02020603050405020304" pitchFamily="18" charset="0"/>
                <a:cs typeface="Times New Roman" panose="02020603050405020304" pitchFamily="18" charset="0"/>
              </a:rPr>
              <a:t>Tính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toán</a:t>
            </a:r>
            <a:r>
              <a:rPr lang="en-US" sz="2000" b="1">
                <a:solidFill>
                  <a:prstClr val="black"/>
                </a:solidFill>
                <a:latin typeface="Times New Roman" panose="02020603050405020304" pitchFamily="18" charset="0"/>
                <a:cs typeface="Times New Roman" panose="02020603050405020304" pitchFamily="18" charset="0"/>
              </a:rPr>
              <a:t> thông số</a:t>
            </a:r>
          </a:p>
        </p:txBody>
      </p:sp>
      <p:sp>
        <p:nvSpPr>
          <p:cNvPr id="6" name="Arrow: Right 5">
            <a:extLst>
              <a:ext uri="{FF2B5EF4-FFF2-40B4-BE49-F238E27FC236}">
                <a16:creationId xmlns:a16="http://schemas.microsoft.com/office/drawing/2014/main" id="{38D54F7E-D1C7-B9F5-876F-46FD48F25246}"/>
              </a:ext>
            </a:extLst>
          </p:cNvPr>
          <p:cNvSpPr/>
          <p:nvPr/>
        </p:nvSpPr>
        <p:spPr>
          <a:xfrm>
            <a:off x="719375" y="5340998"/>
            <a:ext cx="459699" cy="365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10" name="Group 9">
            <a:extLst>
              <a:ext uri="{FF2B5EF4-FFF2-40B4-BE49-F238E27FC236}">
                <a16:creationId xmlns:a16="http://schemas.microsoft.com/office/drawing/2014/main" id="{6AAC68E4-9183-3AD2-2114-09CF3E4D1885}"/>
              </a:ext>
            </a:extLst>
          </p:cNvPr>
          <p:cNvGrpSpPr/>
          <p:nvPr/>
        </p:nvGrpSpPr>
        <p:grpSpPr>
          <a:xfrm>
            <a:off x="510284" y="324255"/>
            <a:ext cx="9501431" cy="748796"/>
            <a:chOff x="1793005" y="1746584"/>
            <a:chExt cx="9501431" cy="748794"/>
          </a:xfrm>
        </p:grpSpPr>
        <p:sp>
          <p:nvSpPr>
            <p:cNvPr id="19" name="TextBox 18">
              <a:extLst>
                <a:ext uri="{FF2B5EF4-FFF2-40B4-BE49-F238E27FC236}">
                  <a16:creationId xmlns:a16="http://schemas.microsoft.com/office/drawing/2014/main" id="{3CEE91C5-EE83-EFE3-DA4B-058791A972A1}"/>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20" name="Rectangle 19">
              <a:extLst>
                <a:ext uri="{FF2B5EF4-FFF2-40B4-BE49-F238E27FC236}">
                  <a16:creationId xmlns:a16="http://schemas.microsoft.com/office/drawing/2014/main" id="{34ED50A3-D2B5-6A5B-3418-F585692515AE}"/>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7" name="TextBox 6">
            <a:extLst>
              <a:ext uri="{FF2B5EF4-FFF2-40B4-BE49-F238E27FC236}">
                <a16:creationId xmlns:a16="http://schemas.microsoft.com/office/drawing/2014/main" id="{515E8028-DF28-05E9-A64A-88793194A0D1}"/>
              </a:ext>
            </a:extLst>
          </p:cNvPr>
          <p:cNvSpPr txBox="1"/>
          <p:nvPr/>
        </p:nvSpPr>
        <p:spPr>
          <a:xfrm>
            <a:off x="374948" y="1430221"/>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2.4.1.  </a:t>
            </a:r>
            <a:r>
              <a:rPr lang="en-US" sz="2000" b="1" err="1">
                <a:solidFill>
                  <a:prstClr val="black"/>
                </a:solidFill>
                <a:latin typeface="Times New Roman" panose="02020603050405020304" pitchFamily="18" charset="0"/>
                <a:cs typeface="Times New Roman" panose="02020603050405020304" pitchFamily="18" charset="0"/>
              </a:rPr>
              <a:t>Mô</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hình</a:t>
            </a:r>
            <a:r>
              <a:rPr lang="en-US" sz="2000" b="1">
                <a:solidFill>
                  <a:prstClr val="black"/>
                </a:solidFill>
                <a:latin typeface="Times New Roman" panose="02020603050405020304" pitchFamily="18" charset="0"/>
                <a:cs typeface="Times New Roman" panose="02020603050405020304" pitchFamily="18" charset="0"/>
              </a:rPr>
              <a:t> hóa </a:t>
            </a:r>
            <a:r>
              <a:rPr lang="en-US" sz="2000" b="1" err="1">
                <a:solidFill>
                  <a:prstClr val="black"/>
                </a:solidFill>
                <a:latin typeface="Times New Roman" panose="02020603050405020304" pitchFamily="18" charset="0"/>
                <a:cs typeface="Times New Roman" panose="02020603050405020304" pitchFamily="18" charset="0"/>
              </a:rPr>
              <a:t>bộ</a:t>
            </a:r>
            <a:r>
              <a:rPr lang="en-US" sz="2000" b="1">
                <a:solidFill>
                  <a:prstClr val="black"/>
                </a:solidFill>
                <a:latin typeface="Times New Roman" panose="02020603050405020304" pitchFamily="18" charset="0"/>
                <a:cs typeface="Times New Roman" panose="02020603050405020304" pitchFamily="18" charset="0"/>
              </a:rPr>
              <a:t> VOC </a:t>
            </a:r>
            <a:r>
              <a:rPr lang="en-US" sz="2000" b="1" err="1">
                <a:solidFill>
                  <a:prstClr val="black"/>
                </a:solidFill>
                <a:latin typeface="Times New Roman" panose="02020603050405020304" pitchFamily="18" charset="0"/>
                <a:cs typeface="Times New Roman" panose="02020603050405020304" pitchFamily="18" charset="0"/>
              </a:rPr>
              <a:t>điều</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khiển</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mạch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nghịch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lưu</a:t>
            </a:r>
            <a:r>
              <a:rPr lang="en-US" sz="2000" b="1">
                <a:solidFill>
                  <a:prstClr val="black"/>
                </a:solidFill>
                <a:latin typeface="Times New Roman" panose="02020603050405020304" pitchFamily="18" charset="0"/>
                <a:cs typeface="Times New Roman" panose="02020603050405020304" pitchFamily="18" charset="0"/>
              </a:rPr>
              <a:t> một </a:t>
            </a:r>
            <a:r>
              <a:rPr lang="en-US" sz="2000" b="1" err="1">
                <a:solidFill>
                  <a:prstClr val="black"/>
                </a:solidFill>
                <a:latin typeface="Times New Roman" panose="02020603050405020304" pitchFamily="18" charset="0"/>
                <a:cs typeface="Times New Roman" panose="02020603050405020304" pitchFamily="18" charset="0"/>
              </a:rPr>
              <a:t>pha</a:t>
            </a:r>
            <a:r>
              <a:rPr lang="en-US" sz="2000" b="1">
                <a:solidFill>
                  <a:prstClr val="black"/>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399579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19</a:t>
            </a:fld>
            <a:endParaRPr lang="en-US"/>
          </a:p>
        </p:txBody>
      </p:sp>
      <p:pic>
        <p:nvPicPr>
          <p:cNvPr id="20" name="Picture 19">
            <a:extLst>
              <a:ext uri="{FF2B5EF4-FFF2-40B4-BE49-F238E27FC236}">
                <a16:creationId xmlns:a16="http://schemas.microsoft.com/office/drawing/2014/main" id="{82362AA8-52D3-42BE-BB35-D12D4AEEB7EA}"/>
              </a:ext>
            </a:extLst>
          </p:cNvPr>
          <p:cNvPicPr>
            <a:picLocks noChangeAspect="1"/>
          </p:cNvPicPr>
          <p:nvPr/>
        </p:nvPicPr>
        <p:blipFill>
          <a:blip r:embed="rId2"/>
          <a:stretch>
            <a:fillRect/>
          </a:stretch>
        </p:blipFill>
        <p:spPr>
          <a:xfrm>
            <a:off x="8295856" y="1835596"/>
            <a:ext cx="3142511" cy="2920486"/>
          </a:xfrm>
          <a:prstGeom prst="rect">
            <a:avLst/>
          </a:prstGeom>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394E874-0EE8-2396-1F18-222C4A55C525}"/>
                  </a:ext>
                </a:extLst>
              </p:cNvPr>
              <p:cNvSpPr txBox="1"/>
              <p:nvPr/>
            </p:nvSpPr>
            <p:spPr>
              <a:xfrm>
                <a:off x="495070" y="4458341"/>
                <a:ext cx="7094932" cy="1754326"/>
              </a:xfrm>
              <a:prstGeom prst="rect">
                <a:avLst/>
              </a:prstGeom>
              <a:noFill/>
            </p:spPr>
            <p:txBody>
              <a:bodyPr wrap="square" rtlCol="0">
                <a:spAutoFit/>
              </a:bodyPr>
              <a:lstStyle/>
              <a:p>
                <a:pPr algn="just"/>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Phần</a:t>
                </a:r>
                <a:r>
                  <a:rPr lang="en-US">
                    <a:latin typeface="Times New Roman" panose="02020603050405020304" pitchFamily="18" charset="0"/>
                    <a:cs typeface="Times New Roman" panose="02020603050405020304" pitchFamily="18" charset="0"/>
                  </a:rPr>
                  <a:t> </a:t>
                </a:r>
                <a14:m>
                  <m:oMath xmlns:m="http://schemas.openxmlformats.org/officeDocument/2006/math">
                    <m:r>
                      <a:rPr lang="en-US" sz="1800" i="1" smtClean="0">
                        <a:latin typeface="Cambria Math" panose="02040503050406030204" pitchFamily="18" charset="0"/>
                      </a:rPr>
                      <m:t>𝜇</m:t>
                    </m:r>
                    <m:r>
                      <a:rPr lang="en-US" sz="1800" i="0">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𝑟</m:t>
                        </m:r>
                      </m:e>
                      <m:sup>
                        <m:r>
                          <a:rPr lang="en-US" sz="1800" i="0">
                            <a:latin typeface="Cambria Math" panose="02040503050406030204" pitchFamily="18" charset="0"/>
                          </a:rPr>
                          <m:t>2</m:t>
                        </m:r>
                      </m:sup>
                    </m:sSup>
                    <m:r>
                      <a:rPr lang="en-US" sz="1800" i="0">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r>
                          <a:rPr lang="en-US" sz="1800" i="0">
                            <a:latin typeface="Cambria Math" panose="02040503050406030204" pitchFamily="18" charset="0"/>
                          </a:rPr>
                          <m:t>2</m:t>
                        </m:r>
                      </m:sup>
                    </m:sSup>
                    <m:r>
                      <a:rPr lang="en-US" sz="1800" i="0">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𝑦</m:t>
                        </m:r>
                      </m:e>
                      <m:sup>
                        <m:r>
                          <a:rPr lang="en-US" sz="1800" i="0">
                            <a:latin typeface="Cambria Math" panose="02040503050406030204" pitchFamily="18" charset="0"/>
                          </a:rPr>
                          <m:t>2</m:t>
                        </m:r>
                      </m:sup>
                    </m:sSup>
                    <m:r>
                      <a:rPr lang="en-US" sz="1800" i="0">
                        <a:latin typeface="Cambria Math" panose="02040503050406030204" pitchFamily="18" charset="0"/>
                      </a:rPr>
                      <m:t>)</m:t>
                    </m:r>
                  </m:oMath>
                </a14:m>
                <a:r>
                  <a:rPr lang="en-US">
                    <a:latin typeface="Times New Roman" panose="02020603050405020304" pitchFamily="18" charset="0"/>
                    <a:cs typeface="Times New Roman" panose="02020603050405020304" pitchFamily="18" charset="0"/>
                  </a:rPr>
                  <a:t> là </a:t>
                </a:r>
                <a:r>
                  <a:rPr lang="en-US" err="1">
                    <a:latin typeface="Times New Roman" panose="02020603050405020304" pitchFamily="18" charset="0"/>
                    <a:cs typeface="Times New Roman" panose="02020603050405020304" pitchFamily="18" charset="0"/>
                  </a:rPr>
                  <a:t>phần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hiệu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chỉnh</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biên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độ</a:t>
                </a:r>
                <a:r>
                  <a:rPr lang="en-US">
                    <a:latin typeface="Times New Roman" panose="02020603050405020304" pitchFamily="18" charset="0"/>
                    <a:cs typeface="Times New Roman" panose="02020603050405020304" pitchFamily="18" charset="0"/>
                  </a:rPr>
                  <a:t> dao </a:t>
                </a:r>
                <a:r>
                  <a:rPr lang="en-US" err="1">
                    <a:latin typeface="Times New Roman" panose="02020603050405020304" pitchFamily="18" charset="0"/>
                    <a:cs typeface="Times New Roman" panose="02020603050405020304" pitchFamily="18" charset="0"/>
                  </a:rPr>
                  <a:t>động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tụ</a:t>
                </a:r>
                <a:r>
                  <a:rPr lang="en-US">
                    <a:latin typeface="Times New Roman" panose="02020603050405020304" pitchFamily="18" charset="0"/>
                    <a:cs typeface="Times New Roman" panose="02020603050405020304" pitchFamily="18" charset="0"/>
                  </a:rPr>
                  <a:t> về 0 </a:t>
                </a:r>
                <a:r>
                  <a:rPr lang="en-US" err="1">
                    <a:latin typeface="Times New Roman" panose="02020603050405020304" pitchFamily="18" charset="0"/>
                    <a:cs typeface="Times New Roman" panose="02020603050405020304" pitchFamily="18" charset="0"/>
                  </a:rPr>
                  <a:t>trong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mặt</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phẳng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pha</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Hình</a:t>
                </a:r>
                <a:r>
                  <a:rPr lang="en-US">
                    <a:latin typeface="Times New Roman" panose="02020603050405020304" pitchFamily="18" charset="0"/>
                    <a:cs typeface="Times New Roman" panose="02020603050405020304" pitchFamily="18" charset="0"/>
                  </a:rPr>
                  <a:t> bên là </a:t>
                </a:r>
                <a:r>
                  <a:rPr lang="en-US" err="1">
                    <a:latin typeface="Times New Roman" panose="02020603050405020304" pitchFamily="18" charset="0"/>
                    <a:cs typeface="Times New Roman" panose="02020603050405020304" pitchFamily="18" charset="0"/>
                  </a:rPr>
                  <a:t>vòng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giới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hạn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của</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hai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đặc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tính</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động</a:t>
                </a:r>
                <a:r>
                  <a:rPr lang="en-US">
                    <a:latin typeface="Times New Roman" panose="02020603050405020304" pitchFamily="18" charset="0"/>
                    <a:cs typeface="Times New Roman" panose="02020603050405020304" pitchFamily="18" charset="0"/>
                  </a:rPr>
                  <a:t> học </a:t>
                </a:r>
                <a:r>
                  <a:rPr lang="en-US" err="1">
                    <a:latin typeface="Times New Roman" panose="02020603050405020304" pitchFamily="18" charset="0"/>
                    <a:cs typeface="Times New Roman" panose="02020603050405020304" pitchFamily="18" charset="0"/>
                  </a:rPr>
                  <a:t>bình</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thường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đơn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giản</a:t>
                </a:r>
                <a:r>
                  <a:rPr lang="en-US">
                    <a:latin typeface="Times New Roman" panose="02020603050405020304" pitchFamily="18" charset="0"/>
                    <a:cs typeface="Times New Roman" panose="02020603050405020304" pitchFamily="18" charset="0"/>
                  </a:rPr>
                  <a:t> hóa Theo </a:t>
                </a:r>
                <a:r>
                  <a:rPr lang="en-US" err="1">
                    <a:latin typeface="Times New Roman" panose="02020603050405020304" pitchFamily="18" charset="0"/>
                    <a:cs typeface="Times New Roman" panose="02020603050405020304" pitchFamily="18" charset="0"/>
                  </a:rPr>
                  <a:t>hình</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hai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đặc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tính</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có</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sự</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sai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lệch</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trong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quá</a:t>
                </a:r>
                <a:r>
                  <a:rPr lang="en-US">
                    <a:latin typeface="Times New Roman" panose="02020603050405020304" pitchFamily="18" charset="0"/>
                    <a:cs typeface="Times New Roman" panose="02020603050405020304" pitchFamily="18" charset="0"/>
                  </a:rPr>
                  <a:t> trình </a:t>
                </a:r>
                <a:r>
                  <a:rPr lang="en-US" err="1">
                    <a:latin typeface="Times New Roman" panose="02020603050405020304" pitchFamily="18" charset="0"/>
                    <a:cs typeface="Times New Roman" panose="02020603050405020304" pitchFamily="18" charset="0"/>
                  </a:rPr>
                  <a:t>dao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động</a:t>
                </a:r>
                <a:r>
                  <a:rPr lang="en-US">
                    <a:latin typeface="Times New Roman" panose="02020603050405020304" pitchFamily="18" charset="0"/>
                    <a:cs typeface="Times New Roman" panose="02020603050405020304" pitchFamily="18" charset="0"/>
                  </a:rPr>
                  <a:t>, nhưng </a:t>
                </a:r>
                <a:r>
                  <a:rPr lang="en-US" err="1">
                    <a:latin typeface="Times New Roman" panose="02020603050405020304" pitchFamily="18" charset="0"/>
                    <a:cs typeface="Times New Roman" panose="02020603050405020304" pitchFamily="18" charset="0"/>
                  </a:rPr>
                  <a:t>chúng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đều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chạm</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tới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cùng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điểm</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làm</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việc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cân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bằng</a:t>
                </a:r>
                <a:r>
                  <a:rPr lang="en-US">
                    <a:latin typeface="Times New Roman" panose="02020603050405020304" pitchFamily="18" charset="0"/>
                    <a:cs typeface="Times New Roman" panose="02020603050405020304" pitchFamily="18" charset="0"/>
                  </a:rPr>
                  <a:t>. Vì </a:t>
                </a:r>
                <a:r>
                  <a:rPr lang="en-US" err="1">
                    <a:latin typeface="Times New Roman" panose="02020603050405020304" pitchFamily="18" charset="0"/>
                    <a:cs typeface="Times New Roman" panose="02020603050405020304" pitchFamily="18" charset="0"/>
                  </a:rPr>
                  <a:t>vậy</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phần</a:t>
                </a:r>
                <a:r>
                  <a:rPr lang="en-US">
                    <a:latin typeface="Times New Roman" panose="02020603050405020304" pitchFamily="18" charset="0"/>
                    <a:cs typeface="Times New Roman" panose="02020603050405020304" pitchFamily="18" charset="0"/>
                  </a:rPr>
                  <a:t> </a:t>
                </a:r>
                <a14:m>
                  <m:oMath xmlns:m="http://schemas.openxmlformats.org/officeDocument/2006/math">
                    <m:r>
                      <a:rPr lang="en-US" sz="1800" i="1" smtClean="0">
                        <a:latin typeface="Cambria Math" panose="02040503050406030204" pitchFamily="18" charset="0"/>
                      </a:rPr>
                      <m:t>𝜇</m:t>
                    </m:r>
                    <m:r>
                      <a:rPr lang="en-US" sz="1800" i="0">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𝑟</m:t>
                        </m:r>
                      </m:e>
                      <m:sup>
                        <m:r>
                          <a:rPr lang="en-US" sz="1800" i="0">
                            <a:latin typeface="Cambria Math" panose="02040503050406030204" pitchFamily="18" charset="0"/>
                          </a:rPr>
                          <m:t>2</m:t>
                        </m:r>
                      </m:sup>
                    </m:sSup>
                    <m:r>
                      <a:rPr lang="en-US" sz="1800" i="0">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r>
                          <a:rPr lang="en-US" sz="1800" i="0">
                            <a:latin typeface="Cambria Math" panose="02040503050406030204" pitchFamily="18" charset="0"/>
                          </a:rPr>
                          <m:t>2</m:t>
                        </m:r>
                      </m:sup>
                    </m:sSup>
                    <m:r>
                      <a:rPr lang="en-US" sz="1800" i="0">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𝑦</m:t>
                        </m:r>
                      </m:e>
                      <m:sup>
                        <m:r>
                          <a:rPr lang="en-US" sz="1800" i="0">
                            <a:latin typeface="Cambria Math" panose="02040503050406030204" pitchFamily="18" charset="0"/>
                          </a:rPr>
                          <m:t>2</m:t>
                        </m:r>
                      </m:sup>
                    </m:sSup>
                    <m:r>
                      <a:rPr lang="en-US" sz="1800" i="0">
                        <a:latin typeface="Cambria Math" panose="02040503050406030204" pitchFamily="18" charset="0"/>
                      </a:rPr>
                      <m:t>)</m:t>
                    </m:r>
                    <m:r>
                      <a:rPr lang="en-US" sz="1800" i="1">
                        <a:latin typeface="Cambria Math" panose="02040503050406030204" pitchFamily="18" charset="0"/>
                      </a:rPr>
                      <m:t>𝑥</m:t>
                    </m:r>
                  </m:oMath>
                </a14:m>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trong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phương</a:t>
                </a:r>
                <a:r>
                  <a:rPr lang="en-US">
                    <a:latin typeface="Times New Roman" panose="02020603050405020304" pitchFamily="18" charset="0"/>
                    <a:cs typeface="Times New Roman" panose="02020603050405020304" pitchFamily="18" charset="0"/>
                  </a:rPr>
                  <a:t> trình </a:t>
                </a:r>
                <a:r>
                  <a:rPr lang="en-US" err="1">
                    <a:latin typeface="Times New Roman" panose="02020603050405020304" pitchFamily="18" charset="0"/>
                    <a:cs typeface="Times New Roman" panose="02020603050405020304" pitchFamily="18" charset="0"/>
                  </a:rPr>
                  <a:t>dao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động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bình</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thường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có</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thể</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bỏ</a:t>
                </a:r>
                <a:r>
                  <a:rPr lang="en-US">
                    <a:latin typeface="Times New Roman" panose="02020603050405020304" pitchFamily="18" charset="0"/>
                    <a:cs typeface="Times New Roman" panose="02020603050405020304" pitchFamily="18" charset="0"/>
                  </a:rPr>
                  <a:t> qua   </a:t>
                </a:r>
              </a:p>
            </p:txBody>
          </p:sp>
        </mc:Choice>
        <mc:Fallback xmlns="">
          <p:sp>
            <p:nvSpPr>
              <p:cNvPr id="21" name="TextBox 20">
                <a:extLst>
                  <a:ext uri="{FF2B5EF4-FFF2-40B4-BE49-F238E27FC236}">
                    <a16:creationId xmlns:a16="http://schemas.microsoft.com/office/drawing/2014/main" id="{3394E874-0EE8-2396-1F18-222C4A55C525}"/>
                  </a:ext>
                </a:extLst>
              </p:cNvPr>
              <p:cNvSpPr txBox="1">
                <a:spLocks noRot="1" noChangeAspect="1" noMove="1" noResize="1" noEditPoints="1" noAdjustHandles="1" noChangeArrowheads="1" noChangeShapeType="1" noTextEdit="1"/>
              </p:cNvSpPr>
              <p:nvPr/>
            </p:nvSpPr>
            <p:spPr>
              <a:xfrm>
                <a:off x="495070" y="4458341"/>
                <a:ext cx="7094932" cy="1754326"/>
              </a:xfrm>
              <a:prstGeom prst="rect">
                <a:avLst/>
              </a:prstGeom>
              <a:blipFill>
                <a:blip r:embed="rId3"/>
                <a:stretch>
                  <a:fillRect l="-687" t="-1736" r="-773" b="-4514"/>
                </a:stretch>
              </a:blipFill>
            </p:spPr>
            <p:txBody>
              <a:bodyPr/>
              <a:lstStyle/>
              <a:p>
                <a:r>
                  <a:rPr lang="vi-VN">
                    <a:noFill/>
                  </a:rPr>
                  <a:t> </a:t>
                </a:r>
              </a:p>
            </p:txBody>
          </p:sp>
        </mc:Fallback>
      </mc:AlternateContent>
      <p:sp>
        <p:nvSpPr>
          <p:cNvPr id="12" name="TextBox 11">
            <a:extLst>
              <a:ext uri="{FF2B5EF4-FFF2-40B4-BE49-F238E27FC236}">
                <a16:creationId xmlns:a16="http://schemas.microsoft.com/office/drawing/2014/main" id="{3915945F-BF1A-743E-3B99-44925DBF8A9B}"/>
              </a:ext>
            </a:extLst>
          </p:cNvPr>
          <p:cNvSpPr txBox="1"/>
          <p:nvPr/>
        </p:nvSpPr>
        <p:spPr>
          <a:xfrm>
            <a:off x="374948" y="3467542"/>
            <a:ext cx="3616364" cy="646331"/>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(7) </a:t>
            </a:r>
            <a:r>
              <a:rPr lang="en-US" err="1">
                <a:latin typeface="Times New Roman" panose="02020603050405020304" pitchFamily="18" charset="0"/>
                <a:cs typeface="Times New Roman" panose="02020603050405020304" pitchFamily="18" charset="0"/>
              </a:rPr>
              <a:t>có</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dạng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phương</a:t>
            </a:r>
            <a:r>
              <a:rPr lang="en-US">
                <a:latin typeface="Times New Roman" panose="02020603050405020304" pitchFamily="18" charset="0"/>
                <a:cs typeface="Times New Roman" panose="02020603050405020304" pitchFamily="18" charset="0"/>
              </a:rPr>
              <a:t> trình </a:t>
            </a:r>
            <a:r>
              <a:rPr lang="en-US" err="1">
                <a:latin typeface="Times New Roman" panose="02020603050405020304" pitchFamily="18" charset="0"/>
                <a:cs typeface="Times New Roman" panose="02020603050405020304" pitchFamily="18" charset="0"/>
              </a:rPr>
              <a:t>động</a:t>
            </a:r>
            <a:r>
              <a:rPr lang="en-US">
                <a:latin typeface="Times New Roman" panose="02020603050405020304" pitchFamily="18" charset="0"/>
                <a:cs typeface="Times New Roman" panose="02020603050405020304" pitchFamily="18" charset="0"/>
              </a:rPr>
              <a:t> học </a:t>
            </a:r>
            <a:r>
              <a:rPr lang="en-US" err="1">
                <a:latin typeface="Times New Roman" panose="02020603050405020304" pitchFamily="18" charset="0"/>
                <a:cs typeface="Times New Roman" panose="02020603050405020304" pitchFamily="18" charset="0"/>
              </a:rPr>
              <a:t>cơ</a:t>
            </a:r>
            <a:r>
              <a:rPr lang="en-US">
                <a:latin typeface="Times New Roman" panose="02020603050405020304" pitchFamily="18" charset="0"/>
                <a:cs typeface="Times New Roman" panose="02020603050405020304" pitchFamily="18" charset="0"/>
              </a:rPr>
              <a:t> bản </a:t>
            </a:r>
            <a:r>
              <a:rPr lang="en-US" err="1">
                <a:latin typeface="Times New Roman" panose="02020603050405020304" pitchFamily="18" charset="0"/>
                <a:cs typeface="Times New Roman" panose="02020603050405020304" pitchFamily="18" charset="0"/>
              </a:rPr>
              <a:t>của</a:t>
            </a:r>
            <a:r>
              <a:rPr lang="en-US">
                <a:latin typeface="Times New Roman" panose="02020603050405020304" pitchFamily="18" charset="0"/>
                <a:cs typeface="Times New Roman" panose="02020603050405020304" pitchFamily="18" charset="0"/>
              </a:rPr>
              <a:t> dao </a:t>
            </a:r>
            <a:r>
              <a:rPr lang="en-US" err="1">
                <a:latin typeface="Times New Roman" panose="02020603050405020304" pitchFamily="18" charset="0"/>
                <a:cs typeface="Times New Roman" panose="02020603050405020304" pitchFamily="18" charset="0"/>
              </a:rPr>
              <a:t>động</a:t>
            </a:r>
            <a:r>
              <a:rPr lang="en-US">
                <a:latin typeface="Times New Roman" panose="02020603050405020304" pitchFamily="18" charset="0"/>
                <a:cs typeface="Times New Roman" panose="02020603050405020304" pitchFamily="18" charset="0"/>
              </a:rPr>
              <a:t> Hopf:</a:t>
            </a:r>
          </a:p>
        </p:txBody>
      </p:sp>
      <p:sp>
        <p:nvSpPr>
          <p:cNvPr id="14" name="TextBox 13">
            <a:extLst>
              <a:ext uri="{FF2B5EF4-FFF2-40B4-BE49-F238E27FC236}">
                <a16:creationId xmlns:a16="http://schemas.microsoft.com/office/drawing/2014/main" id="{3CAD8932-9A0E-1B35-D782-F513F139FFDA}"/>
              </a:ext>
            </a:extLst>
          </p:cNvPr>
          <p:cNvSpPr txBox="1"/>
          <p:nvPr/>
        </p:nvSpPr>
        <p:spPr>
          <a:xfrm>
            <a:off x="374948" y="1036129"/>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 </a:t>
            </a:r>
            <a:r>
              <a:rPr lang="en-US" sz="2000" b="1" err="1">
                <a:solidFill>
                  <a:prstClr val="black"/>
                </a:solidFill>
                <a:latin typeface="Times New Roman" panose="02020603050405020304" pitchFamily="18" charset="0"/>
                <a:cs typeface="Times New Roman" panose="02020603050405020304" pitchFamily="18" charset="0"/>
              </a:rPr>
              <a:t>Tính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toán</a:t>
            </a:r>
            <a:r>
              <a:rPr lang="en-US" sz="2000" b="1">
                <a:solidFill>
                  <a:prstClr val="black"/>
                </a:solidFill>
                <a:latin typeface="Times New Roman" panose="02020603050405020304" pitchFamily="18" charset="0"/>
                <a:cs typeface="Times New Roman" panose="02020603050405020304" pitchFamily="18" charset="0"/>
              </a:rPr>
              <a:t> thông số</a:t>
            </a:r>
          </a:p>
        </p:txBody>
      </p:sp>
      <p:sp>
        <p:nvSpPr>
          <p:cNvPr id="4" name="TextBox 3">
            <a:extLst>
              <a:ext uri="{FF2B5EF4-FFF2-40B4-BE49-F238E27FC236}">
                <a16:creationId xmlns:a16="http://schemas.microsoft.com/office/drawing/2014/main" id="{813F40F5-1AA2-1D69-D915-49CF8DE3EDD1}"/>
              </a:ext>
            </a:extLst>
          </p:cNvPr>
          <p:cNvSpPr txBox="1"/>
          <p:nvPr/>
        </p:nvSpPr>
        <p:spPr>
          <a:xfrm>
            <a:off x="8602813" y="4904288"/>
            <a:ext cx="2957804" cy="646331"/>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Limit cycle </a:t>
            </a:r>
            <a:r>
              <a:rPr lang="en-US" err="1">
                <a:latin typeface="Times New Roman" panose="02020603050405020304" pitchFamily="18" charset="0"/>
                <a:cs typeface="Times New Roman" panose="02020603050405020304" pitchFamily="18" charset="0"/>
              </a:rPr>
              <a:t>trong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trường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hợp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rút</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gọn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bình</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thường</a:t>
            </a:r>
            <a:endParaRPr lang="en-US">
              <a:latin typeface="Times New Roman" panose="02020603050405020304" pitchFamily="18" charset="0"/>
              <a:cs typeface="Times New Roman" panose="02020603050405020304" pitchFamily="18" charset="0"/>
            </a:endParaRPr>
          </a:p>
        </p:txBody>
      </p:sp>
      <p:graphicFrame>
        <p:nvGraphicFramePr>
          <p:cNvPr id="5" name="Object 4">
            <a:extLst>
              <a:ext uri="{FF2B5EF4-FFF2-40B4-BE49-F238E27FC236}">
                <a16:creationId xmlns:a16="http://schemas.microsoft.com/office/drawing/2014/main" id="{489D2104-7378-CBEF-7B4C-9CCC90A6B2CF}"/>
              </a:ext>
            </a:extLst>
          </p:cNvPr>
          <p:cNvGraphicFramePr>
            <a:graphicFrameLocks noChangeAspect="1"/>
          </p:cNvGraphicFramePr>
          <p:nvPr>
            <p:extLst>
              <p:ext uri="{D42A27DB-BD31-4B8C-83A1-F6EECF244321}">
                <p14:modId xmlns:p14="http://schemas.microsoft.com/office/powerpoint/2010/main" val="1108856218"/>
              </p:ext>
            </p:extLst>
          </p:nvPr>
        </p:nvGraphicFramePr>
        <p:xfrm>
          <a:off x="3832064" y="3429000"/>
          <a:ext cx="2918784" cy="821621"/>
        </p:xfrm>
        <a:graphic>
          <a:graphicData uri="http://schemas.openxmlformats.org/presentationml/2006/ole">
            <mc:AlternateContent xmlns:mc="http://schemas.openxmlformats.org/markup-compatibility/2006">
              <mc:Choice xmlns:v="urn:schemas-microsoft-com:vml" Requires="v">
                <p:oleObj name="Equation" r:id="rId4" imgW="1827093" imgH="514021" progId="Equation.DSMT4">
                  <p:embed/>
                </p:oleObj>
              </mc:Choice>
              <mc:Fallback>
                <p:oleObj name="Equation" r:id="rId4" imgW="1827093" imgH="514021" progId="Equation.DSMT4">
                  <p:embed/>
                  <p:pic>
                    <p:nvPicPr>
                      <p:cNvPr id="5" name="Object 4">
                        <a:extLst>
                          <a:ext uri="{FF2B5EF4-FFF2-40B4-BE49-F238E27FC236}">
                            <a16:creationId xmlns:a16="http://schemas.microsoft.com/office/drawing/2014/main" id="{489D2104-7378-CBEF-7B4C-9CCC90A6B2CF}"/>
                          </a:ext>
                        </a:extLst>
                      </p:cNvPr>
                      <p:cNvPicPr/>
                      <p:nvPr/>
                    </p:nvPicPr>
                    <p:blipFill>
                      <a:blip r:embed="rId5"/>
                      <a:stretch>
                        <a:fillRect/>
                      </a:stretch>
                    </p:blipFill>
                    <p:spPr>
                      <a:xfrm>
                        <a:off x="3832064" y="3429000"/>
                        <a:ext cx="2918784" cy="821621"/>
                      </a:xfrm>
                      <a:prstGeom prst="rect">
                        <a:avLst/>
                      </a:prstGeom>
                    </p:spPr>
                  </p:pic>
                </p:oleObj>
              </mc:Fallback>
            </mc:AlternateContent>
          </a:graphicData>
        </a:graphic>
      </p:graphicFrame>
      <p:sp>
        <p:nvSpPr>
          <p:cNvPr id="22" name="TextBox 21">
            <a:extLst>
              <a:ext uri="{FF2B5EF4-FFF2-40B4-BE49-F238E27FC236}">
                <a16:creationId xmlns:a16="http://schemas.microsoft.com/office/drawing/2014/main" id="{153CE7B3-1B85-6525-902F-9A5F3698BE65}"/>
              </a:ext>
            </a:extLst>
          </p:cNvPr>
          <p:cNvSpPr txBox="1"/>
          <p:nvPr/>
        </p:nvSpPr>
        <p:spPr>
          <a:xfrm>
            <a:off x="7487344" y="2199260"/>
            <a:ext cx="453970"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(7)</a:t>
            </a:r>
          </a:p>
        </p:txBody>
      </p:sp>
      <p:graphicFrame>
        <p:nvGraphicFramePr>
          <p:cNvPr id="6" name="Object 5">
            <a:extLst>
              <a:ext uri="{FF2B5EF4-FFF2-40B4-BE49-F238E27FC236}">
                <a16:creationId xmlns:a16="http://schemas.microsoft.com/office/drawing/2014/main" id="{0727F7AF-362D-51A7-42C4-397E2C5E6991}"/>
              </a:ext>
            </a:extLst>
          </p:cNvPr>
          <p:cNvGraphicFramePr>
            <a:graphicFrameLocks noChangeAspect="1"/>
          </p:cNvGraphicFramePr>
          <p:nvPr>
            <p:extLst>
              <p:ext uri="{D42A27DB-BD31-4B8C-83A1-F6EECF244321}">
                <p14:modId xmlns:p14="http://schemas.microsoft.com/office/powerpoint/2010/main" val="1145835667"/>
              </p:ext>
            </p:extLst>
          </p:nvPr>
        </p:nvGraphicFramePr>
        <p:xfrm>
          <a:off x="374948" y="1977449"/>
          <a:ext cx="6886218" cy="1265892"/>
        </p:xfrm>
        <a:graphic>
          <a:graphicData uri="http://schemas.openxmlformats.org/presentationml/2006/ole">
            <mc:AlternateContent xmlns:mc="http://schemas.openxmlformats.org/markup-compatibility/2006">
              <mc:Choice xmlns:v="urn:schemas-microsoft-com:vml" Requires="v">
                <p:oleObj name="Equation" r:id="rId6" imgW="4978080" imgH="914400" progId="Equation.DSMT4">
                  <p:embed/>
                </p:oleObj>
              </mc:Choice>
              <mc:Fallback>
                <p:oleObj name="Equation" r:id="rId6" imgW="4978080" imgH="914400" progId="Equation.DSMT4">
                  <p:embed/>
                  <p:pic>
                    <p:nvPicPr>
                      <p:cNvPr id="6" name="Object 5">
                        <a:extLst>
                          <a:ext uri="{FF2B5EF4-FFF2-40B4-BE49-F238E27FC236}">
                            <a16:creationId xmlns:a16="http://schemas.microsoft.com/office/drawing/2014/main" id="{0727F7AF-362D-51A7-42C4-397E2C5E6991}"/>
                          </a:ext>
                        </a:extLst>
                      </p:cNvPr>
                      <p:cNvPicPr/>
                      <p:nvPr/>
                    </p:nvPicPr>
                    <p:blipFill>
                      <a:blip r:embed="rId7"/>
                      <a:stretch>
                        <a:fillRect/>
                      </a:stretch>
                    </p:blipFill>
                    <p:spPr>
                      <a:xfrm>
                        <a:off x="374948" y="1977449"/>
                        <a:ext cx="6886218" cy="1265892"/>
                      </a:xfrm>
                      <a:prstGeom prst="rect">
                        <a:avLst/>
                      </a:prstGeom>
                    </p:spPr>
                  </p:pic>
                </p:oleObj>
              </mc:Fallback>
            </mc:AlternateContent>
          </a:graphicData>
        </a:graphic>
      </p:graphicFrame>
      <p:grpSp>
        <p:nvGrpSpPr>
          <p:cNvPr id="10" name="Group 9">
            <a:extLst>
              <a:ext uri="{FF2B5EF4-FFF2-40B4-BE49-F238E27FC236}">
                <a16:creationId xmlns:a16="http://schemas.microsoft.com/office/drawing/2014/main" id="{5621F440-9CD3-745F-E1E8-4B381940A9A3}"/>
              </a:ext>
            </a:extLst>
          </p:cNvPr>
          <p:cNvGrpSpPr/>
          <p:nvPr/>
        </p:nvGrpSpPr>
        <p:grpSpPr>
          <a:xfrm>
            <a:off x="510284" y="324255"/>
            <a:ext cx="9501431" cy="748796"/>
            <a:chOff x="1793005" y="1746584"/>
            <a:chExt cx="9501431" cy="748794"/>
          </a:xfrm>
        </p:grpSpPr>
        <p:sp>
          <p:nvSpPr>
            <p:cNvPr id="11" name="TextBox 10">
              <a:extLst>
                <a:ext uri="{FF2B5EF4-FFF2-40B4-BE49-F238E27FC236}">
                  <a16:creationId xmlns:a16="http://schemas.microsoft.com/office/drawing/2014/main" id="{C5153800-C051-BDD0-4586-5613F23E91D8}"/>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13" name="Rectangle 12">
              <a:extLst>
                <a:ext uri="{FF2B5EF4-FFF2-40B4-BE49-F238E27FC236}">
                  <a16:creationId xmlns:a16="http://schemas.microsoft.com/office/drawing/2014/main" id="{1316A53F-4230-B56F-1599-0BA66895502B}"/>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7" name="TextBox 6">
            <a:extLst>
              <a:ext uri="{FF2B5EF4-FFF2-40B4-BE49-F238E27FC236}">
                <a16:creationId xmlns:a16="http://schemas.microsoft.com/office/drawing/2014/main" id="{2B2A8192-D139-C597-5985-1C38FAC98C49}"/>
              </a:ext>
            </a:extLst>
          </p:cNvPr>
          <p:cNvSpPr txBox="1"/>
          <p:nvPr/>
        </p:nvSpPr>
        <p:spPr>
          <a:xfrm>
            <a:off x="374948" y="1430221"/>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2.4.1.  </a:t>
            </a:r>
            <a:r>
              <a:rPr lang="en-US" sz="2000" b="1" err="1">
                <a:solidFill>
                  <a:prstClr val="black"/>
                </a:solidFill>
                <a:latin typeface="Times New Roman" panose="02020603050405020304" pitchFamily="18" charset="0"/>
                <a:cs typeface="Times New Roman" panose="02020603050405020304" pitchFamily="18" charset="0"/>
              </a:rPr>
              <a:t>Mô</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hình</a:t>
            </a:r>
            <a:r>
              <a:rPr lang="en-US" sz="2000" b="1">
                <a:solidFill>
                  <a:prstClr val="black"/>
                </a:solidFill>
                <a:latin typeface="Times New Roman" panose="02020603050405020304" pitchFamily="18" charset="0"/>
                <a:cs typeface="Times New Roman" panose="02020603050405020304" pitchFamily="18" charset="0"/>
              </a:rPr>
              <a:t> hóa </a:t>
            </a:r>
            <a:r>
              <a:rPr lang="en-US" sz="2000" b="1" err="1">
                <a:solidFill>
                  <a:prstClr val="black"/>
                </a:solidFill>
                <a:latin typeface="Times New Roman" panose="02020603050405020304" pitchFamily="18" charset="0"/>
                <a:cs typeface="Times New Roman" panose="02020603050405020304" pitchFamily="18" charset="0"/>
              </a:rPr>
              <a:t>bộ</a:t>
            </a:r>
            <a:r>
              <a:rPr lang="en-US" sz="2000" b="1">
                <a:solidFill>
                  <a:prstClr val="black"/>
                </a:solidFill>
                <a:latin typeface="Times New Roman" panose="02020603050405020304" pitchFamily="18" charset="0"/>
                <a:cs typeface="Times New Roman" panose="02020603050405020304" pitchFamily="18" charset="0"/>
              </a:rPr>
              <a:t> VOC </a:t>
            </a:r>
            <a:r>
              <a:rPr lang="en-US" sz="2000" b="1" err="1">
                <a:solidFill>
                  <a:prstClr val="black"/>
                </a:solidFill>
                <a:latin typeface="Times New Roman" panose="02020603050405020304" pitchFamily="18" charset="0"/>
                <a:cs typeface="Times New Roman" panose="02020603050405020304" pitchFamily="18" charset="0"/>
              </a:rPr>
              <a:t>điều</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khiển</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mạch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nghịch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lưu</a:t>
            </a:r>
            <a:r>
              <a:rPr lang="en-US" sz="2000" b="1">
                <a:solidFill>
                  <a:prstClr val="black"/>
                </a:solidFill>
                <a:latin typeface="Times New Roman" panose="02020603050405020304" pitchFamily="18" charset="0"/>
                <a:cs typeface="Times New Roman" panose="02020603050405020304" pitchFamily="18" charset="0"/>
              </a:rPr>
              <a:t> một </a:t>
            </a:r>
            <a:r>
              <a:rPr lang="en-US" sz="2000" b="1" err="1">
                <a:solidFill>
                  <a:prstClr val="black"/>
                </a:solidFill>
                <a:latin typeface="Times New Roman" panose="02020603050405020304" pitchFamily="18" charset="0"/>
                <a:cs typeface="Times New Roman" panose="02020603050405020304" pitchFamily="18" charset="0"/>
              </a:rPr>
              <a:t>pha</a:t>
            </a:r>
            <a:r>
              <a:rPr lang="en-US" sz="2000" b="1">
                <a:solidFill>
                  <a:prstClr val="black"/>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252205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20</a:t>
            </a:fld>
            <a:endParaRPr lang="en-US"/>
          </a:p>
        </p:txBody>
      </p:sp>
      <p:sp>
        <p:nvSpPr>
          <p:cNvPr id="13" name="TextBox 12">
            <a:extLst>
              <a:ext uri="{FF2B5EF4-FFF2-40B4-BE49-F238E27FC236}">
                <a16:creationId xmlns:a16="http://schemas.microsoft.com/office/drawing/2014/main" id="{3884070D-A1BA-EB04-D65C-89263387E52A}"/>
              </a:ext>
            </a:extLst>
          </p:cNvPr>
          <p:cNvSpPr txBox="1"/>
          <p:nvPr/>
        </p:nvSpPr>
        <p:spPr>
          <a:xfrm>
            <a:off x="551187" y="1967401"/>
            <a:ext cx="4561826" cy="400110"/>
          </a:xfrm>
          <a:prstGeom prst="rect">
            <a:avLst/>
          </a:prstGeom>
          <a:noFill/>
        </p:spPr>
        <p:txBody>
          <a:bodyPr wrap="none" rtlCol="0">
            <a:spAutoFit/>
          </a:bodyPr>
          <a:lstStyle/>
          <a:p>
            <a:r>
              <a:rPr lang="en-US" sz="2000" err="1">
                <a:latin typeface="Times New Roman" panose="02020603050405020304" pitchFamily="18" charset="0"/>
                <a:cs typeface="Times New Roman" panose="02020603050405020304" pitchFamily="18" charset="0"/>
              </a:rPr>
              <a:t>Như</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vậy</a:t>
            </a:r>
            <a:r>
              <a:rPr lang="en-US" sz="2000">
                <a:latin typeface="Times New Roman" panose="02020603050405020304" pitchFamily="18" charset="0"/>
                <a:cs typeface="Times New Roman" panose="02020603050405020304" pitchFamily="18" charset="0"/>
              </a:rPr>
              <a:t>, (7) </a:t>
            </a:r>
            <a:r>
              <a:rPr lang="en-US" sz="2000" err="1">
                <a:latin typeface="Times New Roman" panose="02020603050405020304" pitchFamily="18" charset="0"/>
                <a:cs typeface="Times New Roman" panose="02020603050405020304" pitchFamily="18" charset="0"/>
              </a:rPr>
              <a:t>có</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thể</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đơn</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giản</a:t>
            </a:r>
            <a:r>
              <a:rPr lang="en-US" sz="2000">
                <a:latin typeface="Times New Roman" panose="02020603050405020304" pitchFamily="18" charset="0"/>
                <a:cs typeface="Times New Roman" panose="02020603050405020304" pitchFamily="18" charset="0"/>
              </a:rPr>
              <a:t> hóa </a:t>
            </a:r>
            <a:r>
              <a:rPr lang="en-US" sz="2000" err="1">
                <a:latin typeface="Times New Roman" panose="02020603050405020304" pitchFamily="18" charset="0"/>
                <a:cs typeface="Times New Roman" panose="02020603050405020304" pitchFamily="18" charset="0"/>
              </a:rPr>
              <a:t>như</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sau</a:t>
            </a:r>
            <a:r>
              <a:rPr lang="en-US" sz="2000">
                <a:latin typeface="Times New Roman" panose="02020603050405020304" pitchFamily="18" charset="0"/>
                <a:cs typeface="Times New Roman" panose="02020603050405020304" pitchFamily="18" charset="0"/>
              </a:rPr>
              <a:t>: </a:t>
            </a:r>
          </a:p>
        </p:txBody>
      </p:sp>
      <p:graphicFrame>
        <p:nvGraphicFramePr>
          <p:cNvPr id="15" name="Object 14">
            <a:extLst>
              <a:ext uri="{FF2B5EF4-FFF2-40B4-BE49-F238E27FC236}">
                <a16:creationId xmlns:a16="http://schemas.microsoft.com/office/drawing/2014/main" id="{2F19DB3B-A50B-E43B-BD09-33AB79AB6561}"/>
              </a:ext>
            </a:extLst>
          </p:cNvPr>
          <p:cNvGraphicFramePr>
            <a:graphicFrameLocks noChangeAspect="1"/>
          </p:cNvGraphicFramePr>
          <p:nvPr>
            <p:extLst>
              <p:ext uri="{D42A27DB-BD31-4B8C-83A1-F6EECF244321}">
                <p14:modId xmlns:p14="http://schemas.microsoft.com/office/powerpoint/2010/main" val="2520314641"/>
              </p:ext>
            </p:extLst>
          </p:nvPr>
        </p:nvGraphicFramePr>
        <p:xfrm>
          <a:off x="1579751" y="2701198"/>
          <a:ext cx="5773737" cy="1235075"/>
        </p:xfrm>
        <a:graphic>
          <a:graphicData uri="http://schemas.openxmlformats.org/presentationml/2006/ole">
            <mc:AlternateContent xmlns:mc="http://schemas.openxmlformats.org/markup-compatibility/2006">
              <mc:Choice xmlns:v="urn:schemas-microsoft-com:vml" Requires="v">
                <p:oleObj name="Equation" r:id="rId2" imgW="2616120" imgH="558720" progId="Equation.DSMT4">
                  <p:embed/>
                </p:oleObj>
              </mc:Choice>
              <mc:Fallback>
                <p:oleObj name="Equation" r:id="rId2" imgW="2616120" imgH="558720" progId="Equation.DSMT4">
                  <p:embed/>
                  <p:pic>
                    <p:nvPicPr>
                      <p:cNvPr id="15" name="Object 14">
                        <a:extLst>
                          <a:ext uri="{FF2B5EF4-FFF2-40B4-BE49-F238E27FC236}">
                            <a16:creationId xmlns:a16="http://schemas.microsoft.com/office/drawing/2014/main" id="{2F19DB3B-A50B-E43B-BD09-33AB79AB6561}"/>
                          </a:ext>
                        </a:extLst>
                      </p:cNvPr>
                      <p:cNvPicPr/>
                      <p:nvPr/>
                    </p:nvPicPr>
                    <p:blipFill>
                      <a:blip r:embed="rId3"/>
                      <a:stretch>
                        <a:fillRect/>
                      </a:stretch>
                    </p:blipFill>
                    <p:spPr>
                      <a:xfrm>
                        <a:off x="1579751" y="2701198"/>
                        <a:ext cx="5773737" cy="1235075"/>
                      </a:xfrm>
                      <a:prstGeom prst="rect">
                        <a:avLst/>
                      </a:prstGeom>
                    </p:spPr>
                  </p:pic>
                </p:oleObj>
              </mc:Fallback>
            </mc:AlternateContent>
          </a:graphicData>
        </a:graphic>
      </p:graphicFrame>
      <p:sp>
        <p:nvSpPr>
          <p:cNvPr id="16" name="TextBox 15">
            <a:extLst>
              <a:ext uri="{FF2B5EF4-FFF2-40B4-BE49-F238E27FC236}">
                <a16:creationId xmlns:a16="http://schemas.microsoft.com/office/drawing/2014/main" id="{826BB4C0-9602-8EDE-9112-50958AD13C4A}"/>
              </a:ext>
            </a:extLst>
          </p:cNvPr>
          <p:cNvSpPr txBox="1"/>
          <p:nvPr/>
        </p:nvSpPr>
        <p:spPr>
          <a:xfrm>
            <a:off x="10942648" y="2961991"/>
            <a:ext cx="511679"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(8) </a:t>
            </a:r>
          </a:p>
        </p:txBody>
      </p:sp>
      <p:sp>
        <p:nvSpPr>
          <p:cNvPr id="8" name="TextBox 7">
            <a:extLst>
              <a:ext uri="{FF2B5EF4-FFF2-40B4-BE49-F238E27FC236}">
                <a16:creationId xmlns:a16="http://schemas.microsoft.com/office/drawing/2014/main" id="{A1A2107B-1B61-34F7-A124-6CE003770BBF}"/>
              </a:ext>
            </a:extLst>
          </p:cNvPr>
          <p:cNvSpPr txBox="1"/>
          <p:nvPr/>
        </p:nvSpPr>
        <p:spPr>
          <a:xfrm>
            <a:off x="374948" y="1036129"/>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 </a:t>
            </a:r>
            <a:r>
              <a:rPr lang="en-US" sz="2000" b="1" err="1">
                <a:solidFill>
                  <a:prstClr val="black"/>
                </a:solidFill>
                <a:latin typeface="Times New Roman" panose="02020603050405020304" pitchFamily="18" charset="0"/>
                <a:cs typeface="Times New Roman" panose="02020603050405020304" pitchFamily="18" charset="0"/>
              </a:rPr>
              <a:t>Tính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toán</a:t>
            </a:r>
            <a:r>
              <a:rPr lang="en-US" sz="2000" b="1">
                <a:solidFill>
                  <a:prstClr val="black"/>
                </a:solidFill>
                <a:latin typeface="Times New Roman" panose="02020603050405020304" pitchFamily="18" charset="0"/>
                <a:cs typeface="Times New Roman" panose="02020603050405020304" pitchFamily="18" charset="0"/>
              </a:rPr>
              <a:t> thông số</a:t>
            </a:r>
          </a:p>
        </p:txBody>
      </p:sp>
      <p:grpSp>
        <p:nvGrpSpPr>
          <p:cNvPr id="5" name="Group 4">
            <a:extLst>
              <a:ext uri="{FF2B5EF4-FFF2-40B4-BE49-F238E27FC236}">
                <a16:creationId xmlns:a16="http://schemas.microsoft.com/office/drawing/2014/main" id="{A825F104-9857-658E-9BFE-75AEC59CE37C}"/>
              </a:ext>
            </a:extLst>
          </p:cNvPr>
          <p:cNvGrpSpPr/>
          <p:nvPr/>
        </p:nvGrpSpPr>
        <p:grpSpPr>
          <a:xfrm>
            <a:off x="510284" y="324255"/>
            <a:ext cx="9501431" cy="748796"/>
            <a:chOff x="1793005" y="1746584"/>
            <a:chExt cx="9501431" cy="748794"/>
          </a:xfrm>
        </p:grpSpPr>
        <p:sp>
          <p:nvSpPr>
            <p:cNvPr id="10" name="TextBox 9">
              <a:extLst>
                <a:ext uri="{FF2B5EF4-FFF2-40B4-BE49-F238E27FC236}">
                  <a16:creationId xmlns:a16="http://schemas.microsoft.com/office/drawing/2014/main" id="{54324A96-C3C7-05FD-7A00-82C4FABC470B}"/>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11" name="Rectangle 10">
              <a:extLst>
                <a:ext uri="{FF2B5EF4-FFF2-40B4-BE49-F238E27FC236}">
                  <a16:creationId xmlns:a16="http://schemas.microsoft.com/office/drawing/2014/main" id="{BC25DD97-A946-99B1-8B64-C20509AF4DEA}"/>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4" name="TextBox 3">
            <a:extLst>
              <a:ext uri="{FF2B5EF4-FFF2-40B4-BE49-F238E27FC236}">
                <a16:creationId xmlns:a16="http://schemas.microsoft.com/office/drawing/2014/main" id="{DA36531B-C77C-1CB7-29D1-A33BFACB86BC}"/>
              </a:ext>
            </a:extLst>
          </p:cNvPr>
          <p:cNvSpPr txBox="1"/>
          <p:nvPr/>
        </p:nvSpPr>
        <p:spPr>
          <a:xfrm>
            <a:off x="374948" y="1430221"/>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2.4.1.  </a:t>
            </a:r>
            <a:r>
              <a:rPr lang="en-US" sz="2000" b="1" err="1">
                <a:solidFill>
                  <a:prstClr val="black"/>
                </a:solidFill>
                <a:latin typeface="Times New Roman" panose="02020603050405020304" pitchFamily="18" charset="0"/>
                <a:cs typeface="Times New Roman" panose="02020603050405020304" pitchFamily="18" charset="0"/>
              </a:rPr>
              <a:t>Mô</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hình</a:t>
            </a:r>
            <a:r>
              <a:rPr lang="en-US" sz="2000" b="1">
                <a:solidFill>
                  <a:prstClr val="black"/>
                </a:solidFill>
                <a:latin typeface="Times New Roman" panose="02020603050405020304" pitchFamily="18" charset="0"/>
                <a:cs typeface="Times New Roman" panose="02020603050405020304" pitchFamily="18" charset="0"/>
              </a:rPr>
              <a:t> hóa </a:t>
            </a:r>
            <a:r>
              <a:rPr lang="en-US" sz="2000" b="1" err="1">
                <a:solidFill>
                  <a:prstClr val="black"/>
                </a:solidFill>
                <a:latin typeface="Times New Roman" panose="02020603050405020304" pitchFamily="18" charset="0"/>
                <a:cs typeface="Times New Roman" panose="02020603050405020304" pitchFamily="18" charset="0"/>
              </a:rPr>
              <a:t>bộ</a:t>
            </a:r>
            <a:r>
              <a:rPr lang="en-US" sz="2000" b="1">
                <a:solidFill>
                  <a:prstClr val="black"/>
                </a:solidFill>
                <a:latin typeface="Times New Roman" panose="02020603050405020304" pitchFamily="18" charset="0"/>
                <a:cs typeface="Times New Roman" panose="02020603050405020304" pitchFamily="18" charset="0"/>
              </a:rPr>
              <a:t> VOC </a:t>
            </a:r>
            <a:r>
              <a:rPr lang="en-US" sz="2000" b="1" err="1">
                <a:solidFill>
                  <a:prstClr val="black"/>
                </a:solidFill>
                <a:latin typeface="Times New Roman" panose="02020603050405020304" pitchFamily="18" charset="0"/>
                <a:cs typeface="Times New Roman" panose="02020603050405020304" pitchFamily="18" charset="0"/>
              </a:rPr>
              <a:t>điều</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khiển</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mạch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nghịch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lưu</a:t>
            </a:r>
            <a:r>
              <a:rPr lang="en-US" sz="2000" b="1">
                <a:solidFill>
                  <a:prstClr val="black"/>
                </a:solidFill>
                <a:latin typeface="Times New Roman" panose="02020603050405020304" pitchFamily="18" charset="0"/>
                <a:cs typeface="Times New Roman" panose="02020603050405020304" pitchFamily="18" charset="0"/>
              </a:rPr>
              <a:t> một </a:t>
            </a:r>
            <a:r>
              <a:rPr lang="en-US" sz="2000" b="1" err="1">
                <a:solidFill>
                  <a:prstClr val="black"/>
                </a:solidFill>
                <a:latin typeface="Times New Roman" panose="02020603050405020304" pitchFamily="18" charset="0"/>
                <a:cs typeface="Times New Roman" panose="02020603050405020304" pitchFamily="18" charset="0"/>
              </a:rPr>
              <a:t>pha</a:t>
            </a:r>
            <a:r>
              <a:rPr lang="en-US" sz="2000" b="1">
                <a:solidFill>
                  <a:prstClr val="black"/>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50904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21</a:t>
            </a:fld>
            <a:endParaRPr lang="en-US"/>
          </a:p>
        </p:txBody>
      </p:sp>
      <p:graphicFrame>
        <p:nvGraphicFramePr>
          <p:cNvPr id="5" name="Object 4">
            <a:extLst>
              <a:ext uri="{FF2B5EF4-FFF2-40B4-BE49-F238E27FC236}">
                <a16:creationId xmlns:a16="http://schemas.microsoft.com/office/drawing/2014/main" id="{08EF3977-FAB6-6D70-4EC6-8AE10D2BC2D3}"/>
              </a:ext>
            </a:extLst>
          </p:cNvPr>
          <p:cNvGraphicFramePr>
            <a:graphicFrameLocks noChangeAspect="1"/>
          </p:cNvGraphicFramePr>
          <p:nvPr>
            <p:extLst>
              <p:ext uri="{D42A27DB-BD31-4B8C-83A1-F6EECF244321}">
                <p14:modId xmlns:p14="http://schemas.microsoft.com/office/powerpoint/2010/main" val="2745066093"/>
              </p:ext>
            </p:extLst>
          </p:nvPr>
        </p:nvGraphicFramePr>
        <p:xfrm>
          <a:off x="1216665" y="3151184"/>
          <a:ext cx="3247732" cy="792644"/>
        </p:xfrm>
        <a:graphic>
          <a:graphicData uri="http://schemas.openxmlformats.org/presentationml/2006/ole">
            <mc:AlternateContent xmlns:mc="http://schemas.openxmlformats.org/markup-compatibility/2006">
              <mc:Choice xmlns:v="urn:schemas-microsoft-com:vml" Requires="v">
                <p:oleObj name="Equation" r:id="rId2" imgW="2205193" imgH="538742" progId="Equation.DSMT4">
                  <p:embed/>
                </p:oleObj>
              </mc:Choice>
              <mc:Fallback>
                <p:oleObj name="Equation" r:id="rId2" imgW="2205193" imgH="538742" progId="Equation.DSMT4">
                  <p:embed/>
                  <p:pic>
                    <p:nvPicPr>
                      <p:cNvPr id="5" name="Object 4">
                        <a:extLst>
                          <a:ext uri="{FF2B5EF4-FFF2-40B4-BE49-F238E27FC236}">
                            <a16:creationId xmlns:a16="http://schemas.microsoft.com/office/drawing/2014/main" id="{08EF3977-FAB6-6D70-4EC6-8AE10D2BC2D3}"/>
                          </a:ext>
                        </a:extLst>
                      </p:cNvPr>
                      <p:cNvPicPr/>
                      <p:nvPr/>
                    </p:nvPicPr>
                    <p:blipFill>
                      <a:blip r:embed="rId3"/>
                      <a:stretch>
                        <a:fillRect/>
                      </a:stretch>
                    </p:blipFill>
                    <p:spPr>
                      <a:xfrm>
                        <a:off x="1216665" y="3151184"/>
                        <a:ext cx="3247732" cy="792644"/>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79996967-C3D2-F5CD-2B11-CB79E3785DCF}"/>
              </a:ext>
            </a:extLst>
          </p:cNvPr>
          <p:cNvGraphicFramePr>
            <a:graphicFrameLocks noChangeAspect="1"/>
          </p:cNvGraphicFramePr>
          <p:nvPr>
            <p:extLst>
              <p:ext uri="{D42A27DB-BD31-4B8C-83A1-F6EECF244321}">
                <p14:modId xmlns:p14="http://schemas.microsoft.com/office/powerpoint/2010/main" val="1671216277"/>
              </p:ext>
            </p:extLst>
          </p:nvPr>
        </p:nvGraphicFramePr>
        <p:xfrm>
          <a:off x="947316" y="2025249"/>
          <a:ext cx="3395663" cy="915988"/>
        </p:xfrm>
        <a:graphic>
          <a:graphicData uri="http://schemas.openxmlformats.org/presentationml/2006/ole">
            <mc:AlternateContent xmlns:mc="http://schemas.openxmlformats.org/markup-compatibility/2006">
              <mc:Choice xmlns:v="urn:schemas-microsoft-com:vml" Requires="v">
                <p:oleObj name="Equation" r:id="rId4" imgW="1981080" imgH="533160" progId="Equation.DSMT4">
                  <p:embed/>
                </p:oleObj>
              </mc:Choice>
              <mc:Fallback>
                <p:oleObj name="Equation" r:id="rId4" imgW="1981080" imgH="533160" progId="Equation.DSMT4">
                  <p:embed/>
                  <p:pic>
                    <p:nvPicPr>
                      <p:cNvPr id="10" name="Object 9">
                        <a:extLst>
                          <a:ext uri="{FF2B5EF4-FFF2-40B4-BE49-F238E27FC236}">
                            <a16:creationId xmlns:a16="http://schemas.microsoft.com/office/drawing/2014/main" id="{79996967-C3D2-F5CD-2B11-CB79E3785DCF}"/>
                          </a:ext>
                        </a:extLst>
                      </p:cNvPr>
                      <p:cNvPicPr/>
                      <p:nvPr/>
                    </p:nvPicPr>
                    <p:blipFill>
                      <a:blip r:embed="rId5"/>
                      <a:stretch>
                        <a:fillRect/>
                      </a:stretch>
                    </p:blipFill>
                    <p:spPr>
                      <a:xfrm>
                        <a:off x="947316" y="2025249"/>
                        <a:ext cx="3395663" cy="915988"/>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F1E18CDE-FC88-8936-5FCC-172C06397578}"/>
              </a:ext>
            </a:extLst>
          </p:cNvPr>
          <p:cNvSpPr txBox="1"/>
          <p:nvPr/>
        </p:nvSpPr>
        <p:spPr>
          <a:xfrm>
            <a:off x="454438" y="2268383"/>
            <a:ext cx="833286" cy="369332"/>
          </a:xfrm>
          <a:prstGeom prst="rect">
            <a:avLst/>
          </a:prstGeom>
          <a:noFill/>
        </p:spPr>
        <p:txBody>
          <a:bodyPr wrap="square" rtlCol="0">
            <a:spAutoFit/>
          </a:bodyPr>
          <a:lstStyle/>
          <a:p>
            <a:r>
              <a:rPr lang="en-US" err="1">
                <a:latin typeface="Times New Roman" panose="02020603050405020304" pitchFamily="18" charset="0"/>
                <a:cs typeface="Times New Roman" panose="02020603050405020304" pitchFamily="18" charset="0"/>
              </a:rPr>
              <a:t>Đặt</a:t>
            </a:r>
            <a:endParaRPr lang="en-US">
              <a:latin typeface="Times New Roman" panose="02020603050405020304" pitchFamily="18" charset="0"/>
              <a:cs typeface="Times New Roman" panose="02020603050405020304" pitchFamily="18" charset="0"/>
            </a:endParaRPr>
          </a:p>
        </p:txBody>
      </p:sp>
      <p:sp>
        <p:nvSpPr>
          <p:cNvPr id="13" name="Arrow: Right 12">
            <a:extLst>
              <a:ext uri="{FF2B5EF4-FFF2-40B4-BE49-F238E27FC236}">
                <a16:creationId xmlns:a16="http://schemas.microsoft.com/office/drawing/2014/main" id="{61896A7E-C2E1-190C-C116-5F6BB5575838}"/>
              </a:ext>
            </a:extLst>
          </p:cNvPr>
          <p:cNvSpPr/>
          <p:nvPr/>
        </p:nvSpPr>
        <p:spPr>
          <a:xfrm>
            <a:off x="495070" y="3350465"/>
            <a:ext cx="621701" cy="3940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DF67B72-2B54-FDD5-25D2-4E740DCECD27}"/>
                  </a:ext>
                </a:extLst>
              </p:cNvPr>
              <p:cNvSpPr txBox="1"/>
              <p:nvPr/>
            </p:nvSpPr>
            <p:spPr>
              <a:xfrm>
                <a:off x="374948" y="4911976"/>
                <a:ext cx="3247732" cy="369332"/>
              </a:xfrm>
              <a:prstGeom prst="rect">
                <a:avLst/>
              </a:prstGeom>
              <a:noFill/>
            </p:spPr>
            <p:txBody>
              <a:bodyPr wrap="square" rtlCol="0">
                <a:spAutoFit/>
              </a:bodyPr>
              <a:lstStyle/>
              <a:p>
                <a:r>
                  <a:rPr lang="en-US" err="1">
                    <a:latin typeface="Times New Roman" panose="02020603050405020304" pitchFamily="18" charset="0"/>
                    <a:cs typeface="Times New Roman" panose="02020603050405020304" pitchFamily="18" charset="0"/>
                  </a:rPr>
                  <a:t>Đạo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hàm</a:t>
                </a:r>
                <a:r>
                  <a:rPr lang="en-US">
                    <a:latin typeface="Times New Roman" panose="02020603050405020304" pitchFamily="18" charset="0"/>
                    <a:cs typeface="Times New Roman" panose="02020603050405020304" pitchFamily="18" charset="0"/>
                  </a:rPr>
                  <a:t> V, </a:t>
                </a:r>
                <a14:m>
                  <m:oMath xmlns:m="http://schemas.openxmlformats.org/officeDocument/2006/math">
                    <m:r>
                      <a:rPr lang="en-US" i="1" smtClean="0">
                        <a:latin typeface="Cambria Math" panose="02040503050406030204" pitchFamily="18" charset="0"/>
                      </a:rPr>
                      <m:t>𝜙</m:t>
                    </m:r>
                  </m:oMath>
                </a14:m>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theo</a:t>
                </a:r>
                <a:r>
                  <a:rPr lang="en-US">
                    <a:latin typeface="Times New Roman" panose="02020603050405020304" pitchFamily="18" charset="0"/>
                    <a:cs typeface="Times New Roman" panose="02020603050405020304" pitchFamily="18" charset="0"/>
                  </a:rPr>
                  <a:t> t:</a:t>
                </a:r>
              </a:p>
            </p:txBody>
          </p:sp>
        </mc:Choice>
        <mc:Fallback xmlns="">
          <p:sp>
            <p:nvSpPr>
              <p:cNvPr id="14" name="TextBox 13">
                <a:extLst>
                  <a:ext uri="{FF2B5EF4-FFF2-40B4-BE49-F238E27FC236}">
                    <a16:creationId xmlns:a16="http://schemas.microsoft.com/office/drawing/2014/main" id="{EDF67B72-2B54-FDD5-25D2-4E740DCECD27}"/>
                  </a:ext>
                </a:extLst>
              </p:cNvPr>
              <p:cNvSpPr txBox="1">
                <a:spLocks noRot="1" noChangeAspect="1" noMove="1" noResize="1" noEditPoints="1" noAdjustHandles="1" noChangeArrowheads="1" noChangeShapeType="1" noTextEdit="1"/>
              </p:cNvSpPr>
              <p:nvPr/>
            </p:nvSpPr>
            <p:spPr>
              <a:xfrm>
                <a:off x="374948" y="4911976"/>
                <a:ext cx="3247732" cy="369332"/>
              </a:xfrm>
              <a:prstGeom prst="rect">
                <a:avLst/>
              </a:prstGeom>
              <a:blipFill>
                <a:blip r:embed="rId6"/>
                <a:stretch>
                  <a:fillRect l="-1692" t="-10000" b="-26667"/>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C4B44B4B-740C-DCFA-065D-86D50103C01A}"/>
              </a:ext>
            </a:extLst>
          </p:cNvPr>
          <p:cNvSpPr txBox="1"/>
          <p:nvPr/>
        </p:nvSpPr>
        <p:spPr>
          <a:xfrm>
            <a:off x="374948" y="1036129"/>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 </a:t>
            </a:r>
            <a:r>
              <a:rPr lang="en-US" sz="2000" b="1" err="1">
                <a:solidFill>
                  <a:prstClr val="black"/>
                </a:solidFill>
                <a:latin typeface="Times New Roman" panose="02020603050405020304" pitchFamily="18" charset="0"/>
                <a:cs typeface="Times New Roman" panose="02020603050405020304" pitchFamily="18" charset="0"/>
              </a:rPr>
              <a:t>Tính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toán</a:t>
            </a:r>
            <a:r>
              <a:rPr lang="en-US" sz="2000" b="1">
                <a:solidFill>
                  <a:prstClr val="black"/>
                </a:solidFill>
                <a:latin typeface="Times New Roman" panose="02020603050405020304" pitchFamily="18" charset="0"/>
                <a:cs typeface="Times New Roman" panose="02020603050405020304" pitchFamily="18" charset="0"/>
              </a:rPr>
              <a:t> thông số</a:t>
            </a:r>
          </a:p>
        </p:txBody>
      </p:sp>
      <p:graphicFrame>
        <p:nvGraphicFramePr>
          <p:cNvPr id="4" name="Object 3">
            <a:extLst>
              <a:ext uri="{FF2B5EF4-FFF2-40B4-BE49-F238E27FC236}">
                <a16:creationId xmlns:a16="http://schemas.microsoft.com/office/drawing/2014/main" id="{5DD0EC1B-067F-704C-D636-9A116E258561}"/>
              </a:ext>
            </a:extLst>
          </p:cNvPr>
          <p:cNvGraphicFramePr>
            <a:graphicFrameLocks noChangeAspect="1"/>
          </p:cNvGraphicFramePr>
          <p:nvPr>
            <p:extLst>
              <p:ext uri="{D42A27DB-BD31-4B8C-83A1-F6EECF244321}">
                <p14:modId xmlns:p14="http://schemas.microsoft.com/office/powerpoint/2010/main" val="1032416948"/>
              </p:ext>
            </p:extLst>
          </p:nvPr>
        </p:nvGraphicFramePr>
        <p:xfrm>
          <a:off x="2856646" y="4408891"/>
          <a:ext cx="2500312" cy="1393825"/>
        </p:xfrm>
        <a:graphic>
          <a:graphicData uri="http://schemas.openxmlformats.org/presentationml/2006/ole">
            <mc:AlternateContent xmlns:mc="http://schemas.openxmlformats.org/markup-compatibility/2006">
              <mc:Choice xmlns:v="urn:schemas-microsoft-com:vml" Requires="v">
                <p:oleObj name="Equation" r:id="rId7" imgW="1549080" imgH="863280" progId="Equation.DSMT4">
                  <p:embed/>
                </p:oleObj>
              </mc:Choice>
              <mc:Fallback>
                <p:oleObj name="Equation" r:id="rId7" imgW="1549080" imgH="863280" progId="Equation.DSMT4">
                  <p:embed/>
                  <p:pic>
                    <p:nvPicPr>
                      <p:cNvPr id="4" name="Object 3">
                        <a:extLst>
                          <a:ext uri="{FF2B5EF4-FFF2-40B4-BE49-F238E27FC236}">
                            <a16:creationId xmlns:a16="http://schemas.microsoft.com/office/drawing/2014/main" id="{5DD0EC1B-067F-704C-D636-9A116E258561}"/>
                          </a:ext>
                        </a:extLst>
                      </p:cNvPr>
                      <p:cNvPicPr/>
                      <p:nvPr/>
                    </p:nvPicPr>
                    <p:blipFill>
                      <a:blip r:embed="rId8"/>
                      <a:stretch>
                        <a:fillRect/>
                      </a:stretch>
                    </p:blipFill>
                    <p:spPr>
                      <a:xfrm>
                        <a:off x="2856646" y="4408891"/>
                        <a:ext cx="2500312" cy="1393825"/>
                      </a:xfrm>
                      <a:prstGeom prst="rect">
                        <a:avLst/>
                      </a:prstGeom>
                    </p:spPr>
                  </p:pic>
                </p:oleObj>
              </mc:Fallback>
            </mc:AlternateContent>
          </a:graphicData>
        </a:graphic>
      </p:graphicFrame>
      <p:grpSp>
        <p:nvGrpSpPr>
          <p:cNvPr id="9" name="Group 8">
            <a:extLst>
              <a:ext uri="{FF2B5EF4-FFF2-40B4-BE49-F238E27FC236}">
                <a16:creationId xmlns:a16="http://schemas.microsoft.com/office/drawing/2014/main" id="{983735CD-8E9B-B1B2-558E-81560C9E451C}"/>
              </a:ext>
            </a:extLst>
          </p:cNvPr>
          <p:cNvGrpSpPr/>
          <p:nvPr/>
        </p:nvGrpSpPr>
        <p:grpSpPr>
          <a:xfrm>
            <a:off x="510284" y="324255"/>
            <a:ext cx="9501431" cy="748796"/>
            <a:chOff x="1793005" y="1746584"/>
            <a:chExt cx="9501431" cy="748794"/>
          </a:xfrm>
        </p:grpSpPr>
        <p:sp>
          <p:nvSpPr>
            <p:cNvPr id="16" name="TextBox 15">
              <a:extLst>
                <a:ext uri="{FF2B5EF4-FFF2-40B4-BE49-F238E27FC236}">
                  <a16:creationId xmlns:a16="http://schemas.microsoft.com/office/drawing/2014/main" id="{7FBC1B9D-8AC0-1F89-81BB-B1B3507C2C95}"/>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17" name="Rectangle 16">
              <a:extLst>
                <a:ext uri="{FF2B5EF4-FFF2-40B4-BE49-F238E27FC236}">
                  <a16:creationId xmlns:a16="http://schemas.microsoft.com/office/drawing/2014/main" id="{9C3CBAED-37F3-F56C-4A48-1E0BFA211ED5}"/>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6" name="TextBox 5">
            <a:extLst>
              <a:ext uri="{FF2B5EF4-FFF2-40B4-BE49-F238E27FC236}">
                <a16:creationId xmlns:a16="http://schemas.microsoft.com/office/drawing/2014/main" id="{B38F90AB-45AA-5F10-DFC6-51ACE03E43A1}"/>
              </a:ext>
            </a:extLst>
          </p:cNvPr>
          <p:cNvSpPr txBox="1"/>
          <p:nvPr/>
        </p:nvSpPr>
        <p:spPr>
          <a:xfrm>
            <a:off x="374948" y="1430221"/>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2.4.1.  </a:t>
            </a:r>
            <a:r>
              <a:rPr lang="en-US" sz="2000" b="1" err="1">
                <a:solidFill>
                  <a:prstClr val="black"/>
                </a:solidFill>
                <a:latin typeface="Times New Roman" panose="02020603050405020304" pitchFamily="18" charset="0"/>
                <a:cs typeface="Times New Roman" panose="02020603050405020304" pitchFamily="18" charset="0"/>
              </a:rPr>
              <a:t>Mô</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hình</a:t>
            </a:r>
            <a:r>
              <a:rPr lang="en-US" sz="2000" b="1">
                <a:solidFill>
                  <a:prstClr val="black"/>
                </a:solidFill>
                <a:latin typeface="Times New Roman" panose="02020603050405020304" pitchFamily="18" charset="0"/>
                <a:cs typeface="Times New Roman" panose="02020603050405020304" pitchFamily="18" charset="0"/>
              </a:rPr>
              <a:t> hóa </a:t>
            </a:r>
            <a:r>
              <a:rPr lang="en-US" sz="2000" b="1" err="1">
                <a:solidFill>
                  <a:prstClr val="black"/>
                </a:solidFill>
                <a:latin typeface="Times New Roman" panose="02020603050405020304" pitchFamily="18" charset="0"/>
                <a:cs typeface="Times New Roman" panose="02020603050405020304" pitchFamily="18" charset="0"/>
              </a:rPr>
              <a:t>bộ</a:t>
            </a:r>
            <a:r>
              <a:rPr lang="en-US" sz="2000" b="1">
                <a:solidFill>
                  <a:prstClr val="black"/>
                </a:solidFill>
                <a:latin typeface="Times New Roman" panose="02020603050405020304" pitchFamily="18" charset="0"/>
                <a:cs typeface="Times New Roman" panose="02020603050405020304" pitchFamily="18" charset="0"/>
              </a:rPr>
              <a:t> VOC </a:t>
            </a:r>
            <a:r>
              <a:rPr lang="en-US" sz="2000" b="1" err="1">
                <a:solidFill>
                  <a:prstClr val="black"/>
                </a:solidFill>
                <a:latin typeface="Times New Roman" panose="02020603050405020304" pitchFamily="18" charset="0"/>
                <a:cs typeface="Times New Roman" panose="02020603050405020304" pitchFamily="18" charset="0"/>
              </a:rPr>
              <a:t>điều</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khiển</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mạch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nghịch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lưu</a:t>
            </a:r>
            <a:r>
              <a:rPr lang="en-US" sz="2000" b="1">
                <a:solidFill>
                  <a:prstClr val="black"/>
                </a:solidFill>
                <a:latin typeface="Times New Roman" panose="02020603050405020304" pitchFamily="18" charset="0"/>
                <a:cs typeface="Times New Roman" panose="02020603050405020304" pitchFamily="18" charset="0"/>
              </a:rPr>
              <a:t> một </a:t>
            </a:r>
            <a:r>
              <a:rPr lang="en-US" sz="2000" b="1" err="1">
                <a:solidFill>
                  <a:prstClr val="black"/>
                </a:solidFill>
                <a:latin typeface="Times New Roman" panose="02020603050405020304" pitchFamily="18" charset="0"/>
                <a:cs typeface="Times New Roman" panose="02020603050405020304" pitchFamily="18" charset="0"/>
              </a:rPr>
              <a:t>pha</a:t>
            </a:r>
            <a:r>
              <a:rPr lang="en-US" sz="2000" b="1">
                <a:solidFill>
                  <a:prstClr val="black"/>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091149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22</a:t>
            </a:fld>
            <a:endParaRPr lang="en-US"/>
          </a:p>
        </p:txBody>
      </p:sp>
      <p:sp>
        <p:nvSpPr>
          <p:cNvPr id="8" name="TextBox 7">
            <a:extLst>
              <a:ext uri="{FF2B5EF4-FFF2-40B4-BE49-F238E27FC236}">
                <a16:creationId xmlns:a16="http://schemas.microsoft.com/office/drawing/2014/main" id="{C4B44B4B-740C-DCFA-065D-86D50103C01A}"/>
              </a:ext>
            </a:extLst>
          </p:cNvPr>
          <p:cNvSpPr txBox="1"/>
          <p:nvPr/>
        </p:nvSpPr>
        <p:spPr>
          <a:xfrm>
            <a:off x="374948" y="1036129"/>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 </a:t>
            </a:r>
            <a:r>
              <a:rPr lang="en-US" sz="2000" b="1" err="1">
                <a:solidFill>
                  <a:prstClr val="black"/>
                </a:solidFill>
                <a:latin typeface="Times New Roman" panose="02020603050405020304" pitchFamily="18" charset="0"/>
                <a:cs typeface="Times New Roman" panose="02020603050405020304" pitchFamily="18" charset="0"/>
              </a:rPr>
              <a:t>Tính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toán</a:t>
            </a:r>
            <a:r>
              <a:rPr lang="en-US" sz="2000" b="1">
                <a:solidFill>
                  <a:prstClr val="black"/>
                </a:solidFill>
                <a:latin typeface="Times New Roman" panose="02020603050405020304" pitchFamily="18" charset="0"/>
                <a:cs typeface="Times New Roman" panose="02020603050405020304" pitchFamily="18" charset="0"/>
              </a:rPr>
              <a:t> thông số</a:t>
            </a:r>
          </a:p>
        </p:txBody>
      </p:sp>
      <p:grpSp>
        <p:nvGrpSpPr>
          <p:cNvPr id="9" name="Group 8">
            <a:extLst>
              <a:ext uri="{FF2B5EF4-FFF2-40B4-BE49-F238E27FC236}">
                <a16:creationId xmlns:a16="http://schemas.microsoft.com/office/drawing/2014/main" id="{983735CD-8E9B-B1B2-558E-81560C9E451C}"/>
              </a:ext>
            </a:extLst>
          </p:cNvPr>
          <p:cNvGrpSpPr/>
          <p:nvPr/>
        </p:nvGrpSpPr>
        <p:grpSpPr>
          <a:xfrm>
            <a:off x="510284" y="324255"/>
            <a:ext cx="9501431" cy="748796"/>
            <a:chOff x="1793005" y="1746584"/>
            <a:chExt cx="9501431" cy="748794"/>
          </a:xfrm>
        </p:grpSpPr>
        <p:sp>
          <p:nvSpPr>
            <p:cNvPr id="16" name="TextBox 15">
              <a:extLst>
                <a:ext uri="{FF2B5EF4-FFF2-40B4-BE49-F238E27FC236}">
                  <a16:creationId xmlns:a16="http://schemas.microsoft.com/office/drawing/2014/main" id="{7FBC1B9D-8AC0-1F89-81BB-B1B3507C2C95}"/>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17" name="Rectangle 16">
              <a:extLst>
                <a:ext uri="{FF2B5EF4-FFF2-40B4-BE49-F238E27FC236}">
                  <a16:creationId xmlns:a16="http://schemas.microsoft.com/office/drawing/2014/main" id="{9C3CBAED-37F3-F56C-4A48-1E0BFA211ED5}"/>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graphicFrame>
        <p:nvGraphicFramePr>
          <p:cNvPr id="6" name="Object 5">
            <a:extLst>
              <a:ext uri="{FF2B5EF4-FFF2-40B4-BE49-F238E27FC236}">
                <a16:creationId xmlns:a16="http://schemas.microsoft.com/office/drawing/2014/main" id="{1B04F10B-8A25-08EA-ED35-C58A55B344FD}"/>
              </a:ext>
            </a:extLst>
          </p:cNvPr>
          <p:cNvGraphicFramePr>
            <a:graphicFrameLocks noChangeAspect="1"/>
          </p:cNvGraphicFramePr>
          <p:nvPr>
            <p:extLst>
              <p:ext uri="{D42A27DB-BD31-4B8C-83A1-F6EECF244321}">
                <p14:modId xmlns:p14="http://schemas.microsoft.com/office/powerpoint/2010/main" val="1527350901"/>
              </p:ext>
            </p:extLst>
          </p:nvPr>
        </p:nvGraphicFramePr>
        <p:xfrm>
          <a:off x="635000" y="2225675"/>
          <a:ext cx="10167938" cy="1393825"/>
        </p:xfrm>
        <a:graphic>
          <a:graphicData uri="http://schemas.openxmlformats.org/presentationml/2006/ole">
            <mc:AlternateContent xmlns:mc="http://schemas.openxmlformats.org/markup-compatibility/2006">
              <mc:Choice xmlns:v="urn:schemas-microsoft-com:vml" Requires="v">
                <p:oleObj name="Equation" r:id="rId2" imgW="6298920" imgH="863280" progId="Equation.DSMT4">
                  <p:embed/>
                </p:oleObj>
              </mc:Choice>
              <mc:Fallback>
                <p:oleObj name="Equation" r:id="rId2" imgW="6298920" imgH="863280" progId="Equation.DSMT4">
                  <p:embed/>
                  <p:pic>
                    <p:nvPicPr>
                      <p:cNvPr id="6" name="Object 5">
                        <a:extLst>
                          <a:ext uri="{FF2B5EF4-FFF2-40B4-BE49-F238E27FC236}">
                            <a16:creationId xmlns:a16="http://schemas.microsoft.com/office/drawing/2014/main" id="{1B04F10B-8A25-08EA-ED35-C58A55B344FD}"/>
                          </a:ext>
                        </a:extLst>
                      </p:cNvPr>
                      <p:cNvPicPr/>
                      <p:nvPr/>
                    </p:nvPicPr>
                    <p:blipFill>
                      <a:blip r:embed="rId3"/>
                      <a:stretch>
                        <a:fillRect/>
                      </a:stretch>
                    </p:blipFill>
                    <p:spPr>
                      <a:xfrm>
                        <a:off x="635000" y="2225675"/>
                        <a:ext cx="10167938" cy="1393825"/>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7423FB0E-B47F-D816-2BBA-62FE610029EB}"/>
              </a:ext>
            </a:extLst>
          </p:cNvPr>
          <p:cNvSpPr txBox="1"/>
          <p:nvPr/>
        </p:nvSpPr>
        <p:spPr>
          <a:xfrm>
            <a:off x="10975921" y="4887521"/>
            <a:ext cx="511679"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(9) </a:t>
            </a:r>
          </a:p>
        </p:txBody>
      </p:sp>
      <p:graphicFrame>
        <p:nvGraphicFramePr>
          <p:cNvPr id="18" name="Object 17">
            <a:extLst>
              <a:ext uri="{FF2B5EF4-FFF2-40B4-BE49-F238E27FC236}">
                <a16:creationId xmlns:a16="http://schemas.microsoft.com/office/drawing/2014/main" id="{BA0700AC-65F0-A28D-3783-A7B9EF777A82}"/>
              </a:ext>
            </a:extLst>
          </p:cNvPr>
          <p:cNvGraphicFramePr>
            <a:graphicFrameLocks noChangeAspect="1"/>
          </p:cNvGraphicFramePr>
          <p:nvPr>
            <p:extLst>
              <p:ext uri="{D42A27DB-BD31-4B8C-83A1-F6EECF244321}">
                <p14:modId xmlns:p14="http://schemas.microsoft.com/office/powerpoint/2010/main" val="999647954"/>
              </p:ext>
            </p:extLst>
          </p:nvPr>
        </p:nvGraphicFramePr>
        <p:xfrm>
          <a:off x="1147763" y="4407618"/>
          <a:ext cx="6515100" cy="1393825"/>
        </p:xfrm>
        <a:graphic>
          <a:graphicData uri="http://schemas.openxmlformats.org/presentationml/2006/ole">
            <mc:AlternateContent xmlns:mc="http://schemas.openxmlformats.org/markup-compatibility/2006">
              <mc:Choice xmlns:v="urn:schemas-microsoft-com:vml" Requires="v">
                <p:oleObj name="Equation" r:id="rId4" imgW="4038480" imgH="863280" progId="Equation.DSMT4">
                  <p:embed/>
                </p:oleObj>
              </mc:Choice>
              <mc:Fallback>
                <p:oleObj name="Equation" r:id="rId4" imgW="4038480" imgH="863280" progId="Equation.DSMT4">
                  <p:embed/>
                  <p:pic>
                    <p:nvPicPr>
                      <p:cNvPr id="18" name="Object 17">
                        <a:extLst>
                          <a:ext uri="{FF2B5EF4-FFF2-40B4-BE49-F238E27FC236}">
                            <a16:creationId xmlns:a16="http://schemas.microsoft.com/office/drawing/2014/main" id="{BA0700AC-65F0-A28D-3783-A7B9EF777A82}"/>
                          </a:ext>
                        </a:extLst>
                      </p:cNvPr>
                      <p:cNvPicPr/>
                      <p:nvPr/>
                    </p:nvPicPr>
                    <p:blipFill>
                      <a:blip r:embed="rId5"/>
                      <a:stretch>
                        <a:fillRect/>
                      </a:stretch>
                    </p:blipFill>
                    <p:spPr>
                      <a:xfrm>
                        <a:off x="1147763" y="4407618"/>
                        <a:ext cx="6515100" cy="1393825"/>
                      </a:xfrm>
                      <a:prstGeom prst="rect">
                        <a:avLst/>
                      </a:prstGeom>
                    </p:spPr>
                  </p:pic>
                </p:oleObj>
              </mc:Fallback>
            </mc:AlternateContent>
          </a:graphicData>
        </a:graphic>
      </p:graphicFrame>
      <p:sp>
        <p:nvSpPr>
          <p:cNvPr id="5" name="Arrow: Right 4">
            <a:extLst>
              <a:ext uri="{FF2B5EF4-FFF2-40B4-BE49-F238E27FC236}">
                <a16:creationId xmlns:a16="http://schemas.microsoft.com/office/drawing/2014/main" id="{DDFF2879-0EA6-78F7-F346-BACEDBD3F054}"/>
              </a:ext>
            </a:extLst>
          </p:cNvPr>
          <p:cNvSpPr/>
          <p:nvPr/>
        </p:nvSpPr>
        <p:spPr>
          <a:xfrm>
            <a:off x="393250" y="4874144"/>
            <a:ext cx="622300" cy="4607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4343C37-2235-3549-8C88-4625FC5D9BC3}"/>
              </a:ext>
            </a:extLst>
          </p:cNvPr>
          <p:cNvSpPr txBox="1"/>
          <p:nvPr/>
        </p:nvSpPr>
        <p:spPr>
          <a:xfrm>
            <a:off x="374948" y="1430221"/>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2.4.1.  </a:t>
            </a:r>
            <a:r>
              <a:rPr lang="en-US" sz="2000" b="1" err="1">
                <a:solidFill>
                  <a:prstClr val="black"/>
                </a:solidFill>
                <a:latin typeface="Times New Roman" panose="02020603050405020304" pitchFamily="18" charset="0"/>
                <a:cs typeface="Times New Roman" panose="02020603050405020304" pitchFamily="18" charset="0"/>
              </a:rPr>
              <a:t>Mô</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hình</a:t>
            </a:r>
            <a:r>
              <a:rPr lang="en-US" sz="2000" b="1">
                <a:solidFill>
                  <a:prstClr val="black"/>
                </a:solidFill>
                <a:latin typeface="Times New Roman" panose="02020603050405020304" pitchFamily="18" charset="0"/>
                <a:cs typeface="Times New Roman" panose="02020603050405020304" pitchFamily="18" charset="0"/>
              </a:rPr>
              <a:t> hóa </a:t>
            </a:r>
            <a:r>
              <a:rPr lang="en-US" sz="2000" b="1" err="1">
                <a:solidFill>
                  <a:prstClr val="black"/>
                </a:solidFill>
                <a:latin typeface="Times New Roman" panose="02020603050405020304" pitchFamily="18" charset="0"/>
                <a:cs typeface="Times New Roman" panose="02020603050405020304" pitchFamily="18" charset="0"/>
              </a:rPr>
              <a:t>bộ</a:t>
            </a:r>
            <a:r>
              <a:rPr lang="en-US" sz="2000" b="1">
                <a:solidFill>
                  <a:prstClr val="black"/>
                </a:solidFill>
                <a:latin typeface="Times New Roman" panose="02020603050405020304" pitchFamily="18" charset="0"/>
                <a:cs typeface="Times New Roman" panose="02020603050405020304" pitchFamily="18" charset="0"/>
              </a:rPr>
              <a:t> VOC </a:t>
            </a:r>
            <a:r>
              <a:rPr lang="en-US" sz="2000" b="1" err="1">
                <a:solidFill>
                  <a:prstClr val="black"/>
                </a:solidFill>
                <a:latin typeface="Times New Roman" panose="02020603050405020304" pitchFamily="18" charset="0"/>
                <a:cs typeface="Times New Roman" panose="02020603050405020304" pitchFamily="18" charset="0"/>
              </a:rPr>
              <a:t>điều</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khiển</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mạch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nghịch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lưu</a:t>
            </a:r>
            <a:r>
              <a:rPr lang="en-US" sz="2000" b="1">
                <a:solidFill>
                  <a:prstClr val="black"/>
                </a:solidFill>
                <a:latin typeface="Times New Roman" panose="02020603050405020304" pitchFamily="18" charset="0"/>
                <a:cs typeface="Times New Roman" panose="02020603050405020304" pitchFamily="18" charset="0"/>
              </a:rPr>
              <a:t> một </a:t>
            </a:r>
            <a:r>
              <a:rPr lang="en-US" sz="2000" b="1" err="1">
                <a:solidFill>
                  <a:prstClr val="black"/>
                </a:solidFill>
                <a:latin typeface="Times New Roman" panose="02020603050405020304" pitchFamily="18" charset="0"/>
                <a:cs typeface="Times New Roman" panose="02020603050405020304" pitchFamily="18" charset="0"/>
              </a:rPr>
              <a:t>pha</a:t>
            </a:r>
            <a:r>
              <a:rPr lang="en-US" sz="2000" b="1">
                <a:solidFill>
                  <a:prstClr val="black"/>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061683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23</a:t>
            </a:fld>
            <a:endParaRPr lang="en-US"/>
          </a:p>
        </p:txBody>
      </p:sp>
      <p:graphicFrame>
        <p:nvGraphicFramePr>
          <p:cNvPr id="5" name="Object 4">
            <a:extLst>
              <a:ext uri="{FF2B5EF4-FFF2-40B4-BE49-F238E27FC236}">
                <a16:creationId xmlns:a16="http://schemas.microsoft.com/office/drawing/2014/main" id="{65775427-15A4-064F-076B-4BB9D444BE98}"/>
              </a:ext>
            </a:extLst>
          </p:cNvPr>
          <p:cNvGraphicFramePr>
            <a:graphicFrameLocks noChangeAspect="1"/>
          </p:cNvGraphicFramePr>
          <p:nvPr>
            <p:extLst>
              <p:ext uri="{D42A27DB-BD31-4B8C-83A1-F6EECF244321}">
                <p14:modId xmlns:p14="http://schemas.microsoft.com/office/powerpoint/2010/main" val="1820682331"/>
              </p:ext>
            </p:extLst>
          </p:nvPr>
        </p:nvGraphicFramePr>
        <p:xfrm>
          <a:off x="2581275" y="3444875"/>
          <a:ext cx="7689850" cy="1368425"/>
        </p:xfrm>
        <a:graphic>
          <a:graphicData uri="http://schemas.openxmlformats.org/presentationml/2006/ole">
            <mc:AlternateContent xmlns:mc="http://schemas.openxmlformats.org/markup-compatibility/2006">
              <mc:Choice xmlns:v="urn:schemas-microsoft-com:vml" Requires="v">
                <p:oleObj name="Equation" r:id="rId2" imgW="5574960" imgH="990360" progId="Equation.DSMT4">
                  <p:embed/>
                </p:oleObj>
              </mc:Choice>
              <mc:Fallback>
                <p:oleObj name="Equation" r:id="rId2" imgW="5574960" imgH="990360" progId="Equation.DSMT4">
                  <p:embed/>
                  <p:pic>
                    <p:nvPicPr>
                      <p:cNvPr id="5" name="Object 4">
                        <a:extLst>
                          <a:ext uri="{FF2B5EF4-FFF2-40B4-BE49-F238E27FC236}">
                            <a16:creationId xmlns:a16="http://schemas.microsoft.com/office/drawing/2014/main" id="{65775427-15A4-064F-076B-4BB9D444BE98}"/>
                          </a:ext>
                        </a:extLst>
                      </p:cNvPr>
                      <p:cNvPicPr/>
                      <p:nvPr/>
                    </p:nvPicPr>
                    <p:blipFill>
                      <a:blip r:embed="rId3"/>
                      <a:stretch>
                        <a:fillRect/>
                      </a:stretch>
                    </p:blipFill>
                    <p:spPr>
                      <a:xfrm>
                        <a:off x="2581275" y="3444875"/>
                        <a:ext cx="7689850" cy="1368425"/>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389EC1FC-C494-B87B-48E6-E605A2090AAC}"/>
              </a:ext>
            </a:extLst>
          </p:cNvPr>
          <p:cNvGraphicFramePr>
            <a:graphicFrameLocks noChangeAspect="1"/>
          </p:cNvGraphicFramePr>
          <p:nvPr>
            <p:extLst>
              <p:ext uri="{D42A27DB-BD31-4B8C-83A1-F6EECF244321}">
                <p14:modId xmlns:p14="http://schemas.microsoft.com/office/powerpoint/2010/main" val="2735383644"/>
              </p:ext>
            </p:extLst>
          </p:nvPr>
        </p:nvGraphicFramePr>
        <p:xfrm>
          <a:off x="1132798" y="5400507"/>
          <a:ext cx="2996701" cy="971153"/>
        </p:xfrm>
        <a:graphic>
          <a:graphicData uri="http://schemas.openxmlformats.org/presentationml/2006/ole">
            <mc:AlternateContent xmlns:mc="http://schemas.openxmlformats.org/markup-compatibility/2006">
              <mc:Choice xmlns:v="urn:schemas-microsoft-com:vml" Requires="v">
                <p:oleObj name="Equation" r:id="rId4" imgW="2400406" imgH="777994" progId="Equation.DSMT4">
                  <p:embed/>
                </p:oleObj>
              </mc:Choice>
              <mc:Fallback>
                <p:oleObj name="Equation" r:id="rId4" imgW="2400406" imgH="777994" progId="Equation.DSMT4">
                  <p:embed/>
                  <p:pic>
                    <p:nvPicPr>
                      <p:cNvPr id="8" name="Object 7">
                        <a:extLst>
                          <a:ext uri="{FF2B5EF4-FFF2-40B4-BE49-F238E27FC236}">
                            <a16:creationId xmlns:a16="http://schemas.microsoft.com/office/drawing/2014/main" id="{389EC1FC-C494-B87B-48E6-E605A2090AAC}"/>
                          </a:ext>
                        </a:extLst>
                      </p:cNvPr>
                      <p:cNvPicPr/>
                      <p:nvPr/>
                    </p:nvPicPr>
                    <p:blipFill>
                      <a:blip r:embed="rId5"/>
                      <a:stretch>
                        <a:fillRect/>
                      </a:stretch>
                    </p:blipFill>
                    <p:spPr>
                      <a:xfrm>
                        <a:off x="1132798" y="5400507"/>
                        <a:ext cx="2996701" cy="971153"/>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3E32ECA9-2E4E-C93E-9A07-F9F91BB472E3}"/>
              </a:ext>
            </a:extLst>
          </p:cNvPr>
          <p:cNvGraphicFramePr>
            <a:graphicFrameLocks noChangeAspect="1"/>
          </p:cNvGraphicFramePr>
          <p:nvPr>
            <p:extLst>
              <p:ext uri="{D42A27DB-BD31-4B8C-83A1-F6EECF244321}">
                <p14:modId xmlns:p14="http://schemas.microsoft.com/office/powerpoint/2010/main" val="878499886"/>
              </p:ext>
            </p:extLst>
          </p:nvPr>
        </p:nvGraphicFramePr>
        <p:xfrm>
          <a:off x="5510491" y="5211510"/>
          <a:ext cx="3417887" cy="1368425"/>
        </p:xfrm>
        <a:graphic>
          <a:graphicData uri="http://schemas.openxmlformats.org/presentationml/2006/ole">
            <mc:AlternateContent xmlns:mc="http://schemas.openxmlformats.org/markup-compatibility/2006">
              <mc:Choice xmlns:v="urn:schemas-microsoft-com:vml" Requires="v">
                <p:oleObj name="Equation" r:id="rId6" imgW="2476440" imgH="990360" progId="Equation.DSMT4">
                  <p:embed/>
                </p:oleObj>
              </mc:Choice>
              <mc:Fallback>
                <p:oleObj name="Equation" r:id="rId6" imgW="2476440" imgH="990360" progId="Equation.DSMT4">
                  <p:embed/>
                  <p:pic>
                    <p:nvPicPr>
                      <p:cNvPr id="9" name="Object 8">
                        <a:extLst>
                          <a:ext uri="{FF2B5EF4-FFF2-40B4-BE49-F238E27FC236}">
                            <a16:creationId xmlns:a16="http://schemas.microsoft.com/office/drawing/2014/main" id="{3E32ECA9-2E4E-C93E-9A07-F9F91BB472E3}"/>
                          </a:ext>
                        </a:extLst>
                      </p:cNvPr>
                      <p:cNvPicPr/>
                      <p:nvPr/>
                    </p:nvPicPr>
                    <p:blipFill>
                      <a:blip r:embed="rId7"/>
                      <a:stretch>
                        <a:fillRect/>
                      </a:stretch>
                    </p:blipFill>
                    <p:spPr>
                      <a:xfrm>
                        <a:off x="5510491" y="5211510"/>
                        <a:ext cx="3417887" cy="1368425"/>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C8F6A80F-4F8A-19AB-3E98-BE8D4BAEFF47}"/>
              </a:ext>
            </a:extLst>
          </p:cNvPr>
          <p:cNvGraphicFramePr>
            <a:graphicFrameLocks noChangeAspect="1"/>
          </p:cNvGraphicFramePr>
          <p:nvPr>
            <p:extLst>
              <p:ext uri="{D42A27DB-BD31-4B8C-83A1-F6EECF244321}">
                <p14:modId xmlns:p14="http://schemas.microsoft.com/office/powerpoint/2010/main" val="841647465"/>
              </p:ext>
            </p:extLst>
          </p:nvPr>
        </p:nvGraphicFramePr>
        <p:xfrm>
          <a:off x="2389731" y="2510477"/>
          <a:ext cx="1363146" cy="709864"/>
        </p:xfrm>
        <a:graphic>
          <a:graphicData uri="http://schemas.openxmlformats.org/presentationml/2006/ole">
            <mc:AlternateContent xmlns:mc="http://schemas.openxmlformats.org/markup-compatibility/2006">
              <mc:Choice xmlns:v="urn:schemas-microsoft-com:vml" Requires="v">
                <p:oleObj name="Equation" r:id="rId8" imgW="927000" imgH="482400" progId="Equation.DSMT4">
                  <p:embed/>
                </p:oleObj>
              </mc:Choice>
              <mc:Fallback>
                <p:oleObj name="Equation" r:id="rId8" imgW="927000" imgH="482400" progId="Equation.DSMT4">
                  <p:embed/>
                  <p:pic>
                    <p:nvPicPr>
                      <p:cNvPr id="10" name="Object 9">
                        <a:extLst>
                          <a:ext uri="{FF2B5EF4-FFF2-40B4-BE49-F238E27FC236}">
                            <a16:creationId xmlns:a16="http://schemas.microsoft.com/office/drawing/2014/main" id="{C8F6A80F-4F8A-19AB-3E98-BE8D4BAEFF47}"/>
                          </a:ext>
                        </a:extLst>
                      </p:cNvPr>
                      <p:cNvPicPr/>
                      <p:nvPr/>
                    </p:nvPicPr>
                    <p:blipFill>
                      <a:blip r:embed="rId9"/>
                      <a:stretch>
                        <a:fillRect/>
                      </a:stretch>
                    </p:blipFill>
                    <p:spPr>
                      <a:xfrm>
                        <a:off x="2389731" y="2510477"/>
                        <a:ext cx="1363146" cy="709864"/>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21CD79EC-B62B-742E-EEFF-55BD4D4B9B29}"/>
              </a:ext>
            </a:extLst>
          </p:cNvPr>
          <p:cNvSpPr txBox="1"/>
          <p:nvPr/>
        </p:nvSpPr>
        <p:spPr>
          <a:xfrm>
            <a:off x="562283" y="2701131"/>
            <a:ext cx="1647374"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Theo lý </a:t>
            </a:r>
            <a:r>
              <a:rPr lang="en-US" err="1">
                <a:latin typeface="Times New Roman" panose="02020603050405020304" pitchFamily="18" charset="0"/>
                <a:cs typeface="Times New Roman" panose="02020603050405020304" pitchFamily="18" charset="0"/>
              </a:rPr>
              <a:t>thuyết</a:t>
            </a:r>
            <a:r>
              <a:rPr lang="en-US">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0F2DBCEC-B3D7-6FC2-2CF5-55F89EFE5167}"/>
              </a:ext>
            </a:extLst>
          </p:cNvPr>
          <p:cNvSpPr txBox="1"/>
          <p:nvPr/>
        </p:nvSpPr>
        <p:spPr>
          <a:xfrm>
            <a:off x="702854" y="3853648"/>
            <a:ext cx="835485" cy="369332"/>
          </a:xfrm>
          <a:prstGeom prst="rect">
            <a:avLst/>
          </a:prstGeom>
          <a:noFill/>
        </p:spPr>
        <p:txBody>
          <a:bodyPr wrap="none" rtlCol="0">
            <a:spAutoFit/>
          </a:bodyPr>
          <a:lstStyle/>
          <a:p>
            <a:r>
              <a:rPr lang="en-US" err="1">
                <a:latin typeface="Times New Roman" panose="02020603050405020304" pitchFamily="18" charset="0"/>
                <a:cs typeface="Times New Roman" panose="02020603050405020304" pitchFamily="18" charset="0"/>
              </a:rPr>
              <a:t>Từ</a:t>
            </a:r>
            <a:r>
              <a:rPr lang="en-US">
                <a:latin typeface="Times New Roman" panose="02020603050405020304" pitchFamily="18" charset="0"/>
                <a:cs typeface="Times New Roman" panose="02020603050405020304" pitchFamily="18" charset="0"/>
              </a:rPr>
              <a:t> (5) </a:t>
            </a:r>
          </a:p>
        </p:txBody>
      </p:sp>
      <p:sp>
        <p:nvSpPr>
          <p:cNvPr id="13" name="Arrow: Right 12">
            <a:extLst>
              <a:ext uri="{FF2B5EF4-FFF2-40B4-BE49-F238E27FC236}">
                <a16:creationId xmlns:a16="http://schemas.microsoft.com/office/drawing/2014/main" id="{85861861-E22D-F41E-CEF6-C74F97083E8B}"/>
              </a:ext>
            </a:extLst>
          </p:cNvPr>
          <p:cNvSpPr/>
          <p:nvPr/>
        </p:nvSpPr>
        <p:spPr>
          <a:xfrm>
            <a:off x="1524180" y="3849613"/>
            <a:ext cx="622300" cy="4607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73306933-372B-27EA-58A1-8F426E4EF9B7}"/>
              </a:ext>
            </a:extLst>
          </p:cNvPr>
          <p:cNvSpPr txBox="1"/>
          <p:nvPr/>
        </p:nvSpPr>
        <p:spPr>
          <a:xfrm>
            <a:off x="562283" y="5701418"/>
            <a:ext cx="575799"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Có: </a:t>
            </a:r>
          </a:p>
        </p:txBody>
      </p:sp>
      <p:sp>
        <p:nvSpPr>
          <p:cNvPr id="15" name="Arrow: Right 14">
            <a:extLst>
              <a:ext uri="{FF2B5EF4-FFF2-40B4-BE49-F238E27FC236}">
                <a16:creationId xmlns:a16="http://schemas.microsoft.com/office/drawing/2014/main" id="{BABE8138-8B37-24BD-0E76-0D3D3ABA09B5}"/>
              </a:ext>
            </a:extLst>
          </p:cNvPr>
          <p:cNvSpPr/>
          <p:nvPr/>
        </p:nvSpPr>
        <p:spPr>
          <a:xfrm>
            <a:off x="4506463" y="5655697"/>
            <a:ext cx="622300" cy="4607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307D1CB9-2900-6B46-8F2D-41627AE1804D}"/>
              </a:ext>
            </a:extLst>
          </p:cNvPr>
          <p:cNvSpPr txBox="1"/>
          <p:nvPr/>
        </p:nvSpPr>
        <p:spPr>
          <a:xfrm>
            <a:off x="11065098" y="5747137"/>
            <a:ext cx="627095"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(10) </a:t>
            </a:r>
          </a:p>
        </p:txBody>
      </p:sp>
      <p:sp>
        <p:nvSpPr>
          <p:cNvPr id="17" name="TextBox 16">
            <a:extLst>
              <a:ext uri="{FF2B5EF4-FFF2-40B4-BE49-F238E27FC236}">
                <a16:creationId xmlns:a16="http://schemas.microsoft.com/office/drawing/2014/main" id="{3AEFB1D6-19E4-32B1-C065-6C2FA44E453E}"/>
              </a:ext>
            </a:extLst>
          </p:cNvPr>
          <p:cNvSpPr txBox="1"/>
          <p:nvPr/>
        </p:nvSpPr>
        <p:spPr>
          <a:xfrm>
            <a:off x="374948" y="1036129"/>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 </a:t>
            </a:r>
            <a:r>
              <a:rPr lang="en-US" sz="2000" b="1" err="1">
                <a:solidFill>
                  <a:prstClr val="black"/>
                </a:solidFill>
                <a:latin typeface="Times New Roman" panose="02020603050405020304" pitchFamily="18" charset="0"/>
                <a:cs typeface="Times New Roman" panose="02020603050405020304" pitchFamily="18" charset="0"/>
              </a:rPr>
              <a:t>Tính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toán</a:t>
            </a:r>
            <a:r>
              <a:rPr lang="en-US" sz="2000" b="1">
                <a:solidFill>
                  <a:prstClr val="black"/>
                </a:solidFill>
                <a:latin typeface="Times New Roman" panose="02020603050405020304" pitchFamily="18" charset="0"/>
                <a:cs typeface="Times New Roman" panose="02020603050405020304" pitchFamily="18" charset="0"/>
              </a:rPr>
              <a:t> thông số</a:t>
            </a:r>
          </a:p>
        </p:txBody>
      </p:sp>
      <p:sp>
        <p:nvSpPr>
          <p:cNvPr id="4" name="TextBox 3">
            <a:extLst>
              <a:ext uri="{FF2B5EF4-FFF2-40B4-BE49-F238E27FC236}">
                <a16:creationId xmlns:a16="http://schemas.microsoft.com/office/drawing/2014/main" id="{DD631719-C2C9-0B7D-E440-6FF725E942E5}"/>
              </a:ext>
            </a:extLst>
          </p:cNvPr>
          <p:cNvSpPr txBox="1"/>
          <p:nvPr/>
        </p:nvSpPr>
        <p:spPr>
          <a:xfrm>
            <a:off x="374948" y="1862715"/>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a:t>
            </a:r>
            <a:r>
              <a:rPr lang="en-US" sz="2000" b="1" err="1">
                <a:solidFill>
                  <a:prstClr val="black"/>
                </a:solidFill>
                <a:latin typeface="Times New Roman" panose="02020603050405020304" pitchFamily="18" charset="0"/>
                <a:cs typeface="Times New Roman" panose="02020603050405020304" pitchFamily="18" charset="0"/>
              </a:rPr>
              <a:t>Phương</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pháp</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mô</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hình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trung</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bình</a:t>
            </a:r>
            <a:r>
              <a:rPr lang="en-US" sz="2000" b="1">
                <a:solidFill>
                  <a:prstClr val="black"/>
                </a:solidFill>
                <a:latin typeface="Times New Roman" panose="02020603050405020304" pitchFamily="18" charset="0"/>
                <a:cs typeface="Times New Roman" panose="02020603050405020304" pitchFamily="18" charset="0"/>
              </a:rPr>
              <a:t> chu kỳ</a:t>
            </a:r>
          </a:p>
        </p:txBody>
      </p:sp>
      <p:grpSp>
        <p:nvGrpSpPr>
          <p:cNvPr id="20" name="Group 19">
            <a:extLst>
              <a:ext uri="{FF2B5EF4-FFF2-40B4-BE49-F238E27FC236}">
                <a16:creationId xmlns:a16="http://schemas.microsoft.com/office/drawing/2014/main" id="{8A47C752-A496-C865-3767-66495CE7D3E5}"/>
              </a:ext>
            </a:extLst>
          </p:cNvPr>
          <p:cNvGrpSpPr/>
          <p:nvPr/>
        </p:nvGrpSpPr>
        <p:grpSpPr>
          <a:xfrm>
            <a:off x="510284" y="324255"/>
            <a:ext cx="9501431" cy="748796"/>
            <a:chOff x="1793005" y="1746584"/>
            <a:chExt cx="9501431" cy="748794"/>
          </a:xfrm>
        </p:grpSpPr>
        <p:sp>
          <p:nvSpPr>
            <p:cNvPr id="21" name="TextBox 20">
              <a:extLst>
                <a:ext uri="{FF2B5EF4-FFF2-40B4-BE49-F238E27FC236}">
                  <a16:creationId xmlns:a16="http://schemas.microsoft.com/office/drawing/2014/main" id="{940099FF-2CDD-A9B2-53C4-EAC766A839BE}"/>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22" name="Rectangle 21">
              <a:extLst>
                <a:ext uri="{FF2B5EF4-FFF2-40B4-BE49-F238E27FC236}">
                  <a16:creationId xmlns:a16="http://schemas.microsoft.com/office/drawing/2014/main" id="{16DC2249-884C-8906-55BA-4A851366A242}"/>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6" name="TextBox 5">
            <a:extLst>
              <a:ext uri="{FF2B5EF4-FFF2-40B4-BE49-F238E27FC236}">
                <a16:creationId xmlns:a16="http://schemas.microsoft.com/office/drawing/2014/main" id="{7E2612A4-8570-B1B6-B953-17607E27B95A}"/>
              </a:ext>
            </a:extLst>
          </p:cNvPr>
          <p:cNvSpPr txBox="1"/>
          <p:nvPr/>
        </p:nvSpPr>
        <p:spPr>
          <a:xfrm>
            <a:off x="374948" y="1430221"/>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2.4.1.  </a:t>
            </a:r>
            <a:r>
              <a:rPr lang="en-US" sz="2000" b="1" err="1">
                <a:solidFill>
                  <a:prstClr val="black"/>
                </a:solidFill>
                <a:latin typeface="Times New Roman" panose="02020603050405020304" pitchFamily="18" charset="0"/>
                <a:cs typeface="Times New Roman" panose="02020603050405020304" pitchFamily="18" charset="0"/>
              </a:rPr>
              <a:t>Mô</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hình</a:t>
            </a:r>
            <a:r>
              <a:rPr lang="en-US" sz="2000" b="1">
                <a:solidFill>
                  <a:prstClr val="black"/>
                </a:solidFill>
                <a:latin typeface="Times New Roman" panose="02020603050405020304" pitchFamily="18" charset="0"/>
                <a:cs typeface="Times New Roman" panose="02020603050405020304" pitchFamily="18" charset="0"/>
              </a:rPr>
              <a:t> hóa </a:t>
            </a:r>
            <a:r>
              <a:rPr lang="en-US" sz="2000" b="1" err="1">
                <a:solidFill>
                  <a:prstClr val="black"/>
                </a:solidFill>
                <a:latin typeface="Times New Roman" panose="02020603050405020304" pitchFamily="18" charset="0"/>
                <a:cs typeface="Times New Roman" panose="02020603050405020304" pitchFamily="18" charset="0"/>
              </a:rPr>
              <a:t>bộ</a:t>
            </a:r>
            <a:r>
              <a:rPr lang="en-US" sz="2000" b="1">
                <a:solidFill>
                  <a:prstClr val="black"/>
                </a:solidFill>
                <a:latin typeface="Times New Roman" panose="02020603050405020304" pitchFamily="18" charset="0"/>
                <a:cs typeface="Times New Roman" panose="02020603050405020304" pitchFamily="18" charset="0"/>
              </a:rPr>
              <a:t> VOC </a:t>
            </a:r>
            <a:r>
              <a:rPr lang="en-US" sz="2000" b="1" err="1">
                <a:solidFill>
                  <a:prstClr val="black"/>
                </a:solidFill>
                <a:latin typeface="Times New Roman" panose="02020603050405020304" pitchFamily="18" charset="0"/>
                <a:cs typeface="Times New Roman" panose="02020603050405020304" pitchFamily="18" charset="0"/>
              </a:rPr>
              <a:t>điều</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khiển</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mạch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nghịch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lưu</a:t>
            </a:r>
            <a:r>
              <a:rPr lang="en-US" sz="2000" b="1">
                <a:solidFill>
                  <a:prstClr val="black"/>
                </a:solidFill>
                <a:latin typeface="Times New Roman" panose="02020603050405020304" pitchFamily="18" charset="0"/>
                <a:cs typeface="Times New Roman" panose="02020603050405020304" pitchFamily="18" charset="0"/>
              </a:rPr>
              <a:t> một </a:t>
            </a:r>
            <a:r>
              <a:rPr lang="en-US" sz="2000" b="1" err="1">
                <a:solidFill>
                  <a:prstClr val="black"/>
                </a:solidFill>
                <a:latin typeface="Times New Roman" panose="02020603050405020304" pitchFamily="18" charset="0"/>
                <a:cs typeface="Times New Roman" panose="02020603050405020304" pitchFamily="18" charset="0"/>
              </a:rPr>
              <a:t>pha</a:t>
            </a:r>
            <a:r>
              <a:rPr lang="en-US" sz="2000" b="1">
                <a:solidFill>
                  <a:prstClr val="black"/>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600985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9C58B3F-65DB-7986-8CA2-37360AF9C0E2}"/>
              </a:ext>
            </a:extLst>
          </p:cNvPr>
          <p:cNvSpPr/>
          <p:nvPr/>
        </p:nvSpPr>
        <p:spPr>
          <a:xfrm>
            <a:off x="5530351" y="1935464"/>
            <a:ext cx="3957403" cy="211861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a:p>
        </p:txBody>
      </p:sp>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24</a:t>
            </a:fld>
            <a:endParaRPr lang="en-US"/>
          </a:p>
        </p:txBody>
      </p:sp>
      <p:graphicFrame>
        <p:nvGraphicFramePr>
          <p:cNvPr id="8" name="Object 7">
            <a:extLst>
              <a:ext uri="{FF2B5EF4-FFF2-40B4-BE49-F238E27FC236}">
                <a16:creationId xmlns:a16="http://schemas.microsoft.com/office/drawing/2014/main" id="{01B18FFB-77C9-6329-8D42-613D90AC0BFD}"/>
              </a:ext>
            </a:extLst>
          </p:cNvPr>
          <p:cNvGraphicFramePr>
            <a:graphicFrameLocks noChangeAspect="1"/>
          </p:cNvGraphicFramePr>
          <p:nvPr>
            <p:extLst>
              <p:ext uri="{D42A27DB-BD31-4B8C-83A1-F6EECF244321}">
                <p14:modId xmlns:p14="http://schemas.microsoft.com/office/powerpoint/2010/main" val="2253387366"/>
              </p:ext>
            </p:extLst>
          </p:nvPr>
        </p:nvGraphicFramePr>
        <p:xfrm>
          <a:off x="5698704" y="2145587"/>
          <a:ext cx="3619500" cy="1697038"/>
        </p:xfrm>
        <a:graphic>
          <a:graphicData uri="http://schemas.openxmlformats.org/presentationml/2006/ole">
            <mc:AlternateContent xmlns:mc="http://schemas.openxmlformats.org/markup-compatibility/2006">
              <mc:Choice xmlns:v="urn:schemas-microsoft-com:vml" Requires="v">
                <p:oleObj name="Equation" r:id="rId2" imgW="1841400" imgH="863280" progId="Equation.DSMT4">
                  <p:embed/>
                </p:oleObj>
              </mc:Choice>
              <mc:Fallback>
                <p:oleObj name="Equation" r:id="rId2" imgW="1841400" imgH="863280" progId="Equation.DSMT4">
                  <p:embed/>
                  <p:pic>
                    <p:nvPicPr>
                      <p:cNvPr id="8" name="Object 7">
                        <a:extLst>
                          <a:ext uri="{FF2B5EF4-FFF2-40B4-BE49-F238E27FC236}">
                            <a16:creationId xmlns:a16="http://schemas.microsoft.com/office/drawing/2014/main" id="{01B18FFB-77C9-6329-8D42-613D90AC0BFD}"/>
                          </a:ext>
                        </a:extLst>
                      </p:cNvPr>
                      <p:cNvPicPr/>
                      <p:nvPr/>
                    </p:nvPicPr>
                    <p:blipFill>
                      <a:blip r:embed="rId3"/>
                      <a:stretch>
                        <a:fillRect/>
                      </a:stretch>
                    </p:blipFill>
                    <p:spPr>
                      <a:xfrm>
                        <a:off x="5698704" y="2145587"/>
                        <a:ext cx="3619500" cy="1697038"/>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13A82484-FF80-FE00-3C74-D18C41E15815}"/>
              </a:ext>
            </a:extLst>
          </p:cNvPr>
          <p:cNvSpPr txBox="1"/>
          <p:nvPr/>
        </p:nvSpPr>
        <p:spPr>
          <a:xfrm>
            <a:off x="10827384" y="2353503"/>
            <a:ext cx="569387"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(11)</a:t>
            </a:r>
          </a:p>
        </p:txBody>
      </p:sp>
      <p:sp>
        <p:nvSpPr>
          <p:cNvPr id="12" name="TextBox 11">
            <a:extLst>
              <a:ext uri="{FF2B5EF4-FFF2-40B4-BE49-F238E27FC236}">
                <a16:creationId xmlns:a16="http://schemas.microsoft.com/office/drawing/2014/main" id="{0B705C7C-959E-A273-0DD2-DA3BD335EA89}"/>
              </a:ext>
            </a:extLst>
          </p:cNvPr>
          <p:cNvSpPr txBox="1"/>
          <p:nvPr/>
        </p:nvSpPr>
        <p:spPr>
          <a:xfrm>
            <a:off x="10827383" y="3246280"/>
            <a:ext cx="569387"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(12)</a:t>
            </a:r>
          </a:p>
        </p:txBody>
      </p:sp>
      <p:graphicFrame>
        <p:nvGraphicFramePr>
          <p:cNvPr id="13" name="Object 12">
            <a:extLst>
              <a:ext uri="{FF2B5EF4-FFF2-40B4-BE49-F238E27FC236}">
                <a16:creationId xmlns:a16="http://schemas.microsoft.com/office/drawing/2014/main" id="{3EE6EB13-11A6-E60B-BC1D-AADC3926D05C}"/>
              </a:ext>
            </a:extLst>
          </p:cNvPr>
          <p:cNvGraphicFramePr>
            <a:graphicFrameLocks noChangeAspect="1"/>
          </p:cNvGraphicFramePr>
          <p:nvPr>
            <p:extLst>
              <p:ext uri="{D42A27DB-BD31-4B8C-83A1-F6EECF244321}">
                <p14:modId xmlns:p14="http://schemas.microsoft.com/office/powerpoint/2010/main" val="1963681439"/>
              </p:ext>
            </p:extLst>
          </p:nvPr>
        </p:nvGraphicFramePr>
        <p:xfrm>
          <a:off x="5687961" y="4421448"/>
          <a:ext cx="1179513" cy="1638300"/>
        </p:xfrm>
        <a:graphic>
          <a:graphicData uri="http://schemas.openxmlformats.org/presentationml/2006/ole">
            <mc:AlternateContent xmlns:mc="http://schemas.openxmlformats.org/markup-compatibility/2006">
              <mc:Choice xmlns:v="urn:schemas-microsoft-com:vml" Requires="v">
                <p:oleObj name="Equation" r:id="rId4" imgW="622080" imgH="863280" progId="Equation.DSMT4">
                  <p:embed/>
                </p:oleObj>
              </mc:Choice>
              <mc:Fallback>
                <p:oleObj name="Equation" r:id="rId4" imgW="622080" imgH="863280" progId="Equation.DSMT4">
                  <p:embed/>
                  <p:pic>
                    <p:nvPicPr>
                      <p:cNvPr id="13" name="Object 12">
                        <a:extLst>
                          <a:ext uri="{FF2B5EF4-FFF2-40B4-BE49-F238E27FC236}">
                            <a16:creationId xmlns:a16="http://schemas.microsoft.com/office/drawing/2014/main" id="{3EE6EB13-11A6-E60B-BC1D-AADC3926D05C}"/>
                          </a:ext>
                        </a:extLst>
                      </p:cNvPr>
                      <p:cNvPicPr/>
                      <p:nvPr/>
                    </p:nvPicPr>
                    <p:blipFill>
                      <a:blip r:embed="rId5"/>
                      <a:stretch>
                        <a:fillRect/>
                      </a:stretch>
                    </p:blipFill>
                    <p:spPr>
                      <a:xfrm>
                        <a:off x="5687961" y="4421448"/>
                        <a:ext cx="1179513" cy="1638300"/>
                      </a:xfrm>
                      <a:prstGeom prst="rect">
                        <a:avLst/>
                      </a:prstGeom>
                    </p:spPr>
                  </p:pic>
                </p:oleObj>
              </mc:Fallback>
            </mc:AlternateContent>
          </a:graphicData>
        </a:graphic>
      </p:graphicFrame>
      <p:sp>
        <p:nvSpPr>
          <p:cNvPr id="14" name="TextBox 13">
            <a:extLst>
              <a:ext uri="{FF2B5EF4-FFF2-40B4-BE49-F238E27FC236}">
                <a16:creationId xmlns:a16="http://schemas.microsoft.com/office/drawing/2014/main" id="{2B726A81-2196-A166-3B7D-88610B0EB3B9}"/>
              </a:ext>
            </a:extLst>
          </p:cNvPr>
          <p:cNvSpPr txBox="1"/>
          <p:nvPr/>
        </p:nvSpPr>
        <p:spPr>
          <a:xfrm>
            <a:off x="4536812" y="5075596"/>
            <a:ext cx="1151149"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Trong </a:t>
            </a:r>
            <a:r>
              <a:rPr lang="en-US" err="1">
                <a:latin typeface="Times New Roman" panose="02020603050405020304" pitchFamily="18" charset="0"/>
                <a:cs typeface="Times New Roman" panose="02020603050405020304" pitchFamily="18" charset="0"/>
              </a:rPr>
              <a:t>đó</a:t>
            </a:r>
            <a:r>
              <a:rPr lang="en-US">
                <a:latin typeface="Times New Roman" panose="02020603050405020304" pitchFamily="18" charset="0"/>
                <a:cs typeface="Times New Roman" panose="02020603050405020304" pitchFamily="18" charset="0"/>
              </a:rPr>
              <a:t>: </a:t>
            </a:r>
          </a:p>
        </p:txBody>
      </p:sp>
      <p:graphicFrame>
        <p:nvGraphicFramePr>
          <p:cNvPr id="9" name="Object 8">
            <a:extLst>
              <a:ext uri="{FF2B5EF4-FFF2-40B4-BE49-F238E27FC236}">
                <a16:creationId xmlns:a16="http://schemas.microsoft.com/office/drawing/2014/main" id="{16082B9B-B2A2-2882-3CED-70E8F17C8A9F}"/>
              </a:ext>
            </a:extLst>
          </p:cNvPr>
          <p:cNvGraphicFramePr>
            <a:graphicFrameLocks noChangeAspect="1"/>
          </p:cNvGraphicFramePr>
          <p:nvPr>
            <p:extLst>
              <p:ext uri="{D42A27DB-BD31-4B8C-83A1-F6EECF244321}">
                <p14:modId xmlns:p14="http://schemas.microsoft.com/office/powerpoint/2010/main" val="1402381776"/>
              </p:ext>
            </p:extLst>
          </p:nvPr>
        </p:nvGraphicFramePr>
        <p:xfrm>
          <a:off x="1497352" y="2145587"/>
          <a:ext cx="1905158" cy="1691180"/>
        </p:xfrm>
        <a:graphic>
          <a:graphicData uri="http://schemas.openxmlformats.org/presentationml/2006/ole">
            <mc:AlternateContent xmlns:mc="http://schemas.openxmlformats.org/markup-compatibility/2006">
              <mc:Choice xmlns:v="urn:schemas-microsoft-com:vml" Requires="v">
                <p:oleObj name="Equation" r:id="rId6" imgW="1117440" imgH="990360" progId="Equation.DSMT4">
                  <p:embed/>
                </p:oleObj>
              </mc:Choice>
              <mc:Fallback>
                <p:oleObj name="Equation" r:id="rId6" imgW="1117440" imgH="990360" progId="Equation.DSMT4">
                  <p:embed/>
                  <p:pic>
                    <p:nvPicPr>
                      <p:cNvPr id="9" name="Object 8">
                        <a:extLst>
                          <a:ext uri="{FF2B5EF4-FFF2-40B4-BE49-F238E27FC236}">
                            <a16:creationId xmlns:a16="http://schemas.microsoft.com/office/drawing/2014/main" id="{16082B9B-B2A2-2882-3CED-70E8F17C8A9F}"/>
                          </a:ext>
                        </a:extLst>
                      </p:cNvPr>
                      <p:cNvPicPr/>
                      <p:nvPr/>
                    </p:nvPicPr>
                    <p:blipFill>
                      <a:blip r:embed="rId7"/>
                      <a:stretch>
                        <a:fillRect/>
                      </a:stretch>
                    </p:blipFill>
                    <p:spPr>
                      <a:xfrm>
                        <a:off x="1497352" y="2145587"/>
                        <a:ext cx="1905158" cy="1691180"/>
                      </a:xfrm>
                      <a:prstGeom prst="rect">
                        <a:avLst/>
                      </a:prstGeom>
                    </p:spPr>
                  </p:pic>
                </p:oleObj>
              </mc:Fallback>
            </mc:AlternateContent>
          </a:graphicData>
        </a:graphic>
      </p:graphicFrame>
      <p:sp>
        <p:nvSpPr>
          <p:cNvPr id="16" name="TextBox 15">
            <a:extLst>
              <a:ext uri="{FF2B5EF4-FFF2-40B4-BE49-F238E27FC236}">
                <a16:creationId xmlns:a16="http://schemas.microsoft.com/office/drawing/2014/main" id="{5A6B48C3-704D-146D-A7CD-6A7A1603A5E4}"/>
              </a:ext>
            </a:extLst>
          </p:cNvPr>
          <p:cNvSpPr txBox="1"/>
          <p:nvPr/>
        </p:nvSpPr>
        <p:spPr>
          <a:xfrm>
            <a:off x="938515" y="2809440"/>
            <a:ext cx="524503"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Do </a:t>
            </a:r>
          </a:p>
        </p:txBody>
      </p:sp>
      <p:sp>
        <p:nvSpPr>
          <p:cNvPr id="17" name="Arrow: Right 16">
            <a:extLst>
              <a:ext uri="{FF2B5EF4-FFF2-40B4-BE49-F238E27FC236}">
                <a16:creationId xmlns:a16="http://schemas.microsoft.com/office/drawing/2014/main" id="{0040E39F-FCEF-5B83-AF9B-B9D64F49C9CF}"/>
              </a:ext>
            </a:extLst>
          </p:cNvPr>
          <p:cNvSpPr/>
          <p:nvPr/>
        </p:nvSpPr>
        <p:spPr>
          <a:xfrm>
            <a:off x="4372232" y="2718000"/>
            <a:ext cx="622300" cy="4607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7CFDD05C-DAD1-550C-26FE-3814B5A01B34}"/>
              </a:ext>
            </a:extLst>
          </p:cNvPr>
          <p:cNvSpPr txBox="1"/>
          <p:nvPr/>
        </p:nvSpPr>
        <p:spPr>
          <a:xfrm>
            <a:off x="4406566" y="2388580"/>
            <a:ext cx="453970"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(6)</a:t>
            </a:r>
          </a:p>
        </p:txBody>
      </p:sp>
      <p:sp>
        <p:nvSpPr>
          <p:cNvPr id="5" name="TextBox 4">
            <a:extLst>
              <a:ext uri="{FF2B5EF4-FFF2-40B4-BE49-F238E27FC236}">
                <a16:creationId xmlns:a16="http://schemas.microsoft.com/office/drawing/2014/main" id="{F6222087-564F-E195-6510-A83692CD65E6}"/>
              </a:ext>
            </a:extLst>
          </p:cNvPr>
          <p:cNvSpPr txBox="1"/>
          <p:nvPr/>
        </p:nvSpPr>
        <p:spPr>
          <a:xfrm>
            <a:off x="374948" y="1036129"/>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 </a:t>
            </a:r>
            <a:r>
              <a:rPr lang="en-US" sz="2000" b="1" err="1">
                <a:solidFill>
                  <a:prstClr val="black"/>
                </a:solidFill>
                <a:latin typeface="Times New Roman" panose="02020603050405020304" pitchFamily="18" charset="0"/>
                <a:cs typeface="Times New Roman" panose="02020603050405020304" pitchFamily="18" charset="0"/>
              </a:rPr>
              <a:t>Tính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toán</a:t>
            </a:r>
            <a:r>
              <a:rPr lang="en-US" sz="2000" b="1">
                <a:solidFill>
                  <a:prstClr val="black"/>
                </a:solidFill>
                <a:latin typeface="Times New Roman" panose="02020603050405020304" pitchFamily="18" charset="0"/>
                <a:cs typeface="Times New Roman" panose="02020603050405020304" pitchFamily="18" charset="0"/>
              </a:rPr>
              <a:t> thông số</a:t>
            </a:r>
          </a:p>
        </p:txBody>
      </p:sp>
      <p:grpSp>
        <p:nvGrpSpPr>
          <p:cNvPr id="18" name="Group 17">
            <a:extLst>
              <a:ext uri="{FF2B5EF4-FFF2-40B4-BE49-F238E27FC236}">
                <a16:creationId xmlns:a16="http://schemas.microsoft.com/office/drawing/2014/main" id="{171E9E32-FBB4-FEB0-09BD-2801DC7348E7}"/>
              </a:ext>
            </a:extLst>
          </p:cNvPr>
          <p:cNvGrpSpPr/>
          <p:nvPr/>
        </p:nvGrpSpPr>
        <p:grpSpPr>
          <a:xfrm>
            <a:off x="510284" y="324255"/>
            <a:ext cx="9501431" cy="748796"/>
            <a:chOff x="1793005" y="1746584"/>
            <a:chExt cx="9501431" cy="748794"/>
          </a:xfrm>
        </p:grpSpPr>
        <p:sp>
          <p:nvSpPr>
            <p:cNvPr id="20" name="TextBox 19">
              <a:extLst>
                <a:ext uri="{FF2B5EF4-FFF2-40B4-BE49-F238E27FC236}">
                  <a16:creationId xmlns:a16="http://schemas.microsoft.com/office/drawing/2014/main" id="{014D93F9-29D1-237C-B2C3-B4B3970BDBD9}"/>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21" name="Rectangle 20">
              <a:extLst>
                <a:ext uri="{FF2B5EF4-FFF2-40B4-BE49-F238E27FC236}">
                  <a16:creationId xmlns:a16="http://schemas.microsoft.com/office/drawing/2014/main" id="{16D47768-1097-6053-1700-58D558CFA9FA}"/>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4" name="TextBox 3">
            <a:extLst>
              <a:ext uri="{FF2B5EF4-FFF2-40B4-BE49-F238E27FC236}">
                <a16:creationId xmlns:a16="http://schemas.microsoft.com/office/drawing/2014/main" id="{F73DD2B3-2DC1-054F-7E0F-6D8C87BBC980}"/>
              </a:ext>
            </a:extLst>
          </p:cNvPr>
          <p:cNvSpPr txBox="1"/>
          <p:nvPr/>
        </p:nvSpPr>
        <p:spPr>
          <a:xfrm>
            <a:off x="374948" y="1430221"/>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2.4.1.  </a:t>
            </a:r>
            <a:r>
              <a:rPr lang="en-US" sz="2000" b="1" err="1">
                <a:solidFill>
                  <a:prstClr val="black"/>
                </a:solidFill>
                <a:latin typeface="Times New Roman" panose="02020603050405020304" pitchFamily="18" charset="0"/>
                <a:cs typeface="Times New Roman" panose="02020603050405020304" pitchFamily="18" charset="0"/>
              </a:rPr>
              <a:t>Mô</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hình</a:t>
            </a:r>
            <a:r>
              <a:rPr lang="en-US" sz="2000" b="1">
                <a:solidFill>
                  <a:prstClr val="black"/>
                </a:solidFill>
                <a:latin typeface="Times New Roman" panose="02020603050405020304" pitchFamily="18" charset="0"/>
                <a:cs typeface="Times New Roman" panose="02020603050405020304" pitchFamily="18" charset="0"/>
              </a:rPr>
              <a:t> hóa </a:t>
            </a:r>
            <a:r>
              <a:rPr lang="en-US" sz="2000" b="1" err="1">
                <a:solidFill>
                  <a:prstClr val="black"/>
                </a:solidFill>
                <a:latin typeface="Times New Roman" panose="02020603050405020304" pitchFamily="18" charset="0"/>
                <a:cs typeface="Times New Roman" panose="02020603050405020304" pitchFamily="18" charset="0"/>
              </a:rPr>
              <a:t>bộ</a:t>
            </a:r>
            <a:r>
              <a:rPr lang="en-US" sz="2000" b="1">
                <a:solidFill>
                  <a:prstClr val="black"/>
                </a:solidFill>
                <a:latin typeface="Times New Roman" panose="02020603050405020304" pitchFamily="18" charset="0"/>
                <a:cs typeface="Times New Roman" panose="02020603050405020304" pitchFamily="18" charset="0"/>
              </a:rPr>
              <a:t> VOC </a:t>
            </a:r>
            <a:r>
              <a:rPr lang="en-US" sz="2000" b="1" err="1">
                <a:solidFill>
                  <a:prstClr val="black"/>
                </a:solidFill>
                <a:latin typeface="Times New Roman" panose="02020603050405020304" pitchFamily="18" charset="0"/>
                <a:cs typeface="Times New Roman" panose="02020603050405020304" pitchFamily="18" charset="0"/>
              </a:rPr>
              <a:t>điều</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khiển</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mạch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nghịch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lưu</a:t>
            </a:r>
            <a:r>
              <a:rPr lang="en-US" sz="2000" b="1">
                <a:solidFill>
                  <a:prstClr val="black"/>
                </a:solidFill>
                <a:latin typeface="Times New Roman" panose="02020603050405020304" pitchFamily="18" charset="0"/>
                <a:cs typeface="Times New Roman" panose="02020603050405020304" pitchFamily="18" charset="0"/>
              </a:rPr>
              <a:t> một </a:t>
            </a:r>
            <a:r>
              <a:rPr lang="en-US" sz="2000" b="1" err="1">
                <a:solidFill>
                  <a:prstClr val="black"/>
                </a:solidFill>
                <a:latin typeface="Times New Roman" panose="02020603050405020304" pitchFamily="18" charset="0"/>
                <a:cs typeface="Times New Roman" panose="02020603050405020304" pitchFamily="18" charset="0"/>
              </a:rPr>
              <a:t>pha</a:t>
            </a:r>
            <a:r>
              <a:rPr lang="en-US" sz="2000" b="1">
                <a:solidFill>
                  <a:prstClr val="black"/>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843299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A0BD20-41A1-DADB-29A2-5581111210E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933A89-BC77-C51D-1B6B-0B83F7E69AF3}"/>
              </a:ext>
            </a:extLst>
          </p:cNvPr>
          <p:cNvSpPr>
            <a:spLocks noGrp="1"/>
          </p:cNvSpPr>
          <p:nvPr>
            <p:ph type="sldNum" sz="quarter" idx="12"/>
          </p:nvPr>
        </p:nvSpPr>
        <p:spPr/>
        <p:txBody>
          <a:bodyPr/>
          <a:lstStyle/>
          <a:p>
            <a:fld id="{931DD963-FD40-4A6D-88A9-402A489E81DE}" type="slidenum">
              <a:rPr lang="en-US" smtClean="0"/>
              <a:t>25</a:t>
            </a:fld>
            <a:endParaRPr lang="en-US"/>
          </a:p>
        </p:txBody>
      </p:sp>
      <p:sp>
        <p:nvSpPr>
          <p:cNvPr id="11" name="TextBox 10">
            <a:extLst>
              <a:ext uri="{FF2B5EF4-FFF2-40B4-BE49-F238E27FC236}">
                <a16:creationId xmlns:a16="http://schemas.microsoft.com/office/drawing/2014/main" id="{02B62063-D090-933A-6ADC-1530A5F18C19}"/>
              </a:ext>
            </a:extLst>
          </p:cNvPr>
          <p:cNvSpPr txBox="1"/>
          <p:nvPr/>
        </p:nvSpPr>
        <p:spPr>
          <a:xfrm>
            <a:off x="739724" y="1977766"/>
            <a:ext cx="3669594" cy="369332"/>
          </a:xfrm>
          <a:prstGeom prst="rect">
            <a:avLst/>
          </a:prstGeom>
          <a:noFill/>
        </p:spPr>
        <p:txBody>
          <a:bodyPr wrap="none" rtlCol="0">
            <a:spAutoFit/>
          </a:bodyPr>
          <a:lstStyle/>
          <a:p>
            <a:r>
              <a:rPr lang="en-US" err="1">
                <a:latin typeface="Times New Roman" panose="02020603050405020304" pitchFamily="18" charset="0"/>
                <a:cs typeface="Times New Roman" panose="02020603050405020304" pitchFamily="18" charset="0"/>
              </a:rPr>
              <a:t>Từ</a:t>
            </a:r>
            <a:r>
              <a:rPr lang="en-US">
                <a:latin typeface="Times New Roman" panose="02020603050405020304" pitchFamily="18" charset="0"/>
                <a:cs typeface="Times New Roman" panose="02020603050405020304" pitchFamily="18" charset="0"/>
              </a:rPr>
              <a:t> (11): </a:t>
            </a:r>
            <a:r>
              <a:rPr lang="en-US" err="1">
                <a:latin typeface="Times New Roman" panose="02020603050405020304" pitchFamily="18" charset="0"/>
                <a:cs typeface="Times New Roman" panose="02020603050405020304" pitchFamily="18" charset="0"/>
              </a:rPr>
              <a:t>Điểm</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làm</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việc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cân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bằng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khi</a:t>
            </a:r>
            <a:r>
              <a:rPr lang="en-US">
                <a:latin typeface="Times New Roman" panose="02020603050405020304" pitchFamily="18" charset="0"/>
                <a:cs typeface="Times New Roman" panose="02020603050405020304" pitchFamily="18" charset="0"/>
              </a:rPr>
              <a:t> </a:t>
            </a:r>
          </a:p>
        </p:txBody>
      </p:sp>
      <p:graphicFrame>
        <p:nvGraphicFramePr>
          <p:cNvPr id="12" name="Object 11">
            <a:extLst>
              <a:ext uri="{FF2B5EF4-FFF2-40B4-BE49-F238E27FC236}">
                <a16:creationId xmlns:a16="http://schemas.microsoft.com/office/drawing/2014/main" id="{B3732308-27BB-7B5C-93DD-13952E630524}"/>
              </a:ext>
            </a:extLst>
          </p:cNvPr>
          <p:cNvGraphicFramePr>
            <a:graphicFrameLocks noChangeAspect="1"/>
          </p:cNvGraphicFramePr>
          <p:nvPr>
            <p:extLst>
              <p:ext uri="{D42A27DB-BD31-4B8C-83A1-F6EECF244321}">
                <p14:modId xmlns:p14="http://schemas.microsoft.com/office/powerpoint/2010/main" val="2648993201"/>
              </p:ext>
            </p:extLst>
          </p:nvPr>
        </p:nvGraphicFramePr>
        <p:xfrm>
          <a:off x="4171929" y="1830331"/>
          <a:ext cx="861418" cy="704582"/>
        </p:xfrm>
        <a:graphic>
          <a:graphicData uri="http://schemas.openxmlformats.org/presentationml/2006/ole">
            <mc:AlternateContent xmlns:mc="http://schemas.openxmlformats.org/markup-compatibility/2006">
              <mc:Choice xmlns:v="urn:schemas-microsoft-com:vml" Requires="v">
                <p:oleObj name="Equation" r:id="rId2" imgW="584791" imgH="478505" progId="Equation.DSMT4">
                  <p:embed/>
                </p:oleObj>
              </mc:Choice>
              <mc:Fallback>
                <p:oleObj name="Equation" r:id="rId2" imgW="584791" imgH="478505" progId="Equation.DSMT4">
                  <p:embed/>
                  <p:pic>
                    <p:nvPicPr>
                      <p:cNvPr id="12" name="Object 11">
                        <a:extLst>
                          <a:ext uri="{FF2B5EF4-FFF2-40B4-BE49-F238E27FC236}">
                            <a16:creationId xmlns:a16="http://schemas.microsoft.com/office/drawing/2014/main" id="{B3732308-27BB-7B5C-93DD-13952E630524}"/>
                          </a:ext>
                        </a:extLst>
                      </p:cNvPr>
                      <p:cNvPicPr/>
                      <p:nvPr/>
                    </p:nvPicPr>
                    <p:blipFill>
                      <a:blip r:embed="rId3"/>
                      <a:stretch>
                        <a:fillRect/>
                      </a:stretch>
                    </p:blipFill>
                    <p:spPr>
                      <a:xfrm>
                        <a:off x="4171929" y="1830331"/>
                        <a:ext cx="861418" cy="704582"/>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98B01A94-C7E2-DF33-1EFC-42323222F61F}"/>
              </a:ext>
            </a:extLst>
          </p:cNvPr>
          <p:cNvGraphicFramePr>
            <a:graphicFrameLocks noChangeAspect="1"/>
          </p:cNvGraphicFramePr>
          <p:nvPr>
            <p:extLst>
              <p:ext uri="{D42A27DB-BD31-4B8C-83A1-F6EECF244321}">
                <p14:modId xmlns:p14="http://schemas.microsoft.com/office/powerpoint/2010/main" val="1419353016"/>
              </p:ext>
            </p:extLst>
          </p:nvPr>
        </p:nvGraphicFramePr>
        <p:xfrm>
          <a:off x="881063" y="2430889"/>
          <a:ext cx="3062321" cy="712685"/>
        </p:xfrm>
        <a:graphic>
          <a:graphicData uri="http://schemas.openxmlformats.org/presentationml/2006/ole">
            <mc:AlternateContent xmlns:mc="http://schemas.openxmlformats.org/markup-compatibility/2006">
              <mc:Choice xmlns:v="urn:schemas-microsoft-com:vml" Requires="v">
                <p:oleObj name="Equation" r:id="rId4" imgW="1650960" imgH="457200" progId="Equation.DSMT4">
                  <p:embed/>
                </p:oleObj>
              </mc:Choice>
              <mc:Fallback>
                <p:oleObj name="Equation" r:id="rId4" imgW="1650960" imgH="457200" progId="Equation.DSMT4">
                  <p:embed/>
                  <p:pic>
                    <p:nvPicPr>
                      <p:cNvPr id="13" name="Object 12">
                        <a:extLst>
                          <a:ext uri="{FF2B5EF4-FFF2-40B4-BE49-F238E27FC236}">
                            <a16:creationId xmlns:a16="http://schemas.microsoft.com/office/drawing/2014/main" id="{98B01A94-C7E2-DF33-1EFC-42323222F61F}"/>
                          </a:ext>
                        </a:extLst>
                      </p:cNvPr>
                      <p:cNvPicPr/>
                      <p:nvPr/>
                    </p:nvPicPr>
                    <p:blipFill>
                      <a:blip r:embed="rId5"/>
                      <a:stretch>
                        <a:fillRect/>
                      </a:stretch>
                    </p:blipFill>
                    <p:spPr>
                      <a:xfrm>
                        <a:off x="881063" y="2430889"/>
                        <a:ext cx="3062321" cy="712685"/>
                      </a:xfrm>
                      <a:prstGeom prst="rect">
                        <a:avLst/>
                      </a:prstGeom>
                    </p:spPr>
                  </p:pic>
                </p:oleObj>
              </mc:Fallback>
            </mc:AlternateContent>
          </a:graphicData>
        </a:graphic>
      </p:graphicFrame>
      <p:sp>
        <p:nvSpPr>
          <p:cNvPr id="14" name="TextBox 13">
            <a:extLst>
              <a:ext uri="{FF2B5EF4-FFF2-40B4-BE49-F238E27FC236}">
                <a16:creationId xmlns:a16="http://schemas.microsoft.com/office/drawing/2014/main" id="{1841A19D-8AB7-670D-09B0-D1B527A823A7}"/>
              </a:ext>
            </a:extLst>
          </p:cNvPr>
          <p:cNvSpPr txBox="1"/>
          <p:nvPr/>
        </p:nvSpPr>
        <p:spPr>
          <a:xfrm>
            <a:off x="822325" y="3121173"/>
            <a:ext cx="3887987" cy="369332"/>
          </a:xfrm>
          <a:prstGeom prst="rect">
            <a:avLst/>
          </a:prstGeom>
          <a:noFill/>
        </p:spPr>
        <p:txBody>
          <a:bodyPr wrap="none" rtlCol="0">
            <a:spAutoFit/>
          </a:bodyPr>
          <a:lstStyle/>
          <a:p>
            <a:r>
              <a:rPr lang="en-US" err="1">
                <a:latin typeface="Times New Roman" panose="02020603050405020304" pitchFamily="18" charset="0"/>
                <a:cs typeface="Times New Roman" panose="02020603050405020304" pitchFamily="18" charset="0"/>
              </a:rPr>
              <a:t>Giải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phương</a:t>
            </a:r>
            <a:r>
              <a:rPr lang="en-US">
                <a:latin typeface="Times New Roman" panose="02020603050405020304" pitchFamily="18" charset="0"/>
                <a:cs typeface="Times New Roman" panose="02020603050405020304" pitchFamily="18" charset="0"/>
              </a:rPr>
              <a:t> trình ta </a:t>
            </a:r>
            <a:r>
              <a:rPr lang="en-US" err="1">
                <a:latin typeface="Times New Roman" panose="02020603050405020304" pitchFamily="18" charset="0"/>
                <a:cs typeface="Times New Roman" panose="02020603050405020304" pitchFamily="18" charset="0"/>
              </a:rPr>
              <a:t>thu</a:t>
            </a:r>
            <a:r>
              <a:rPr lang="en-US">
                <a:latin typeface="Times New Roman" panose="02020603050405020304" pitchFamily="18" charset="0"/>
                <a:cs typeface="Times New Roman" panose="02020603050405020304" pitchFamily="18" charset="0"/>
              </a:rPr>
              <a:t> được </a:t>
            </a:r>
            <a:r>
              <a:rPr lang="en-US" err="1">
                <a:latin typeface="Times New Roman" panose="02020603050405020304" pitchFamily="18" charset="0"/>
                <a:cs typeface="Times New Roman" panose="02020603050405020304" pitchFamily="18" charset="0"/>
              </a:rPr>
              <a:t>nghiệm</a:t>
            </a:r>
            <a:r>
              <a:rPr lang="en-US">
                <a:latin typeface="Times New Roman" panose="02020603050405020304" pitchFamily="18" charset="0"/>
                <a:cs typeface="Times New Roman" panose="02020603050405020304" pitchFamily="18" charset="0"/>
              </a:rPr>
              <a:t>: </a:t>
            </a:r>
          </a:p>
        </p:txBody>
      </p:sp>
      <p:graphicFrame>
        <p:nvGraphicFramePr>
          <p:cNvPr id="15" name="Object 14">
            <a:extLst>
              <a:ext uri="{FF2B5EF4-FFF2-40B4-BE49-F238E27FC236}">
                <a16:creationId xmlns:a16="http://schemas.microsoft.com/office/drawing/2014/main" id="{A4053CDF-4DA7-4630-3B93-E1D2A07546FF}"/>
              </a:ext>
            </a:extLst>
          </p:cNvPr>
          <p:cNvGraphicFramePr>
            <a:graphicFrameLocks noChangeAspect="1"/>
          </p:cNvGraphicFramePr>
          <p:nvPr>
            <p:extLst>
              <p:ext uri="{D42A27DB-BD31-4B8C-83A1-F6EECF244321}">
                <p14:modId xmlns:p14="http://schemas.microsoft.com/office/powerpoint/2010/main" val="3693578660"/>
              </p:ext>
            </p:extLst>
          </p:nvPr>
        </p:nvGraphicFramePr>
        <p:xfrm>
          <a:off x="942975" y="3611990"/>
          <a:ext cx="3684933" cy="757649"/>
        </p:xfrm>
        <a:graphic>
          <a:graphicData uri="http://schemas.openxmlformats.org/presentationml/2006/ole">
            <mc:AlternateContent xmlns:mc="http://schemas.openxmlformats.org/markup-compatibility/2006">
              <mc:Choice xmlns:v="urn:schemas-microsoft-com:vml" Requires="v">
                <p:oleObj name="Equation" r:id="rId6" imgW="1955520" imgH="507960" progId="Equation.DSMT4">
                  <p:embed/>
                </p:oleObj>
              </mc:Choice>
              <mc:Fallback>
                <p:oleObj name="Equation" r:id="rId6" imgW="1955520" imgH="507960" progId="Equation.DSMT4">
                  <p:embed/>
                  <p:pic>
                    <p:nvPicPr>
                      <p:cNvPr id="15" name="Object 14">
                        <a:extLst>
                          <a:ext uri="{FF2B5EF4-FFF2-40B4-BE49-F238E27FC236}">
                            <a16:creationId xmlns:a16="http://schemas.microsoft.com/office/drawing/2014/main" id="{A4053CDF-4DA7-4630-3B93-E1D2A07546FF}"/>
                          </a:ext>
                        </a:extLst>
                      </p:cNvPr>
                      <p:cNvPicPr/>
                      <p:nvPr/>
                    </p:nvPicPr>
                    <p:blipFill>
                      <a:blip r:embed="rId7"/>
                      <a:stretch>
                        <a:fillRect/>
                      </a:stretch>
                    </p:blipFill>
                    <p:spPr>
                      <a:xfrm>
                        <a:off x="942975" y="3611990"/>
                        <a:ext cx="3684933" cy="757649"/>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DDADDB30-82A8-36E2-87BF-3424D026652F}"/>
              </a:ext>
            </a:extLst>
          </p:cNvPr>
          <p:cNvGraphicFramePr>
            <a:graphicFrameLocks noChangeAspect="1"/>
          </p:cNvGraphicFramePr>
          <p:nvPr>
            <p:extLst>
              <p:ext uri="{D42A27DB-BD31-4B8C-83A1-F6EECF244321}">
                <p14:modId xmlns:p14="http://schemas.microsoft.com/office/powerpoint/2010/main" val="2401711224"/>
              </p:ext>
            </p:extLst>
          </p:nvPr>
        </p:nvGraphicFramePr>
        <p:xfrm>
          <a:off x="1309688" y="4435444"/>
          <a:ext cx="1411623" cy="666703"/>
        </p:xfrm>
        <a:graphic>
          <a:graphicData uri="http://schemas.openxmlformats.org/presentationml/2006/ole">
            <mc:AlternateContent xmlns:mc="http://schemas.openxmlformats.org/markup-compatibility/2006">
              <mc:Choice xmlns:v="urn:schemas-microsoft-com:vml" Requires="v">
                <p:oleObj name="Equation" r:id="rId8" imgW="888840" imgH="419040" progId="Equation.DSMT4">
                  <p:embed/>
                </p:oleObj>
              </mc:Choice>
              <mc:Fallback>
                <p:oleObj name="Equation" r:id="rId8" imgW="888840" imgH="419040" progId="Equation.DSMT4">
                  <p:embed/>
                  <p:pic>
                    <p:nvPicPr>
                      <p:cNvPr id="16" name="Object 15">
                        <a:extLst>
                          <a:ext uri="{FF2B5EF4-FFF2-40B4-BE49-F238E27FC236}">
                            <a16:creationId xmlns:a16="http://schemas.microsoft.com/office/drawing/2014/main" id="{DDADDB30-82A8-36E2-87BF-3424D026652F}"/>
                          </a:ext>
                        </a:extLst>
                      </p:cNvPr>
                      <p:cNvPicPr/>
                      <p:nvPr/>
                    </p:nvPicPr>
                    <p:blipFill>
                      <a:blip r:embed="rId9"/>
                      <a:stretch>
                        <a:fillRect/>
                      </a:stretch>
                    </p:blipFill>
                    <p:spPr>
                      <a:xfrm>
                        <a:off x="1309688" y="4435444"/>
                        <a:ext cx="1411623" cy="666703"/>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CDB52073-7A85-AB67-6A06-477D88BE00FA}"/>
              </a:ext>
            </a:extLst>
          </p:cNvPr>
          <p:cNvGraphicFramePr>
            <a:graphicFrameLocks noChangeAspect="1"/>
          </p:cNvGraphicFramePr>
          <p:nvPr>
            <p:extLst>
              <p:ext uri="{D42A27DB-BD31-4B8C-83A1-F6EECF244321}">
                <p14:modId xmlns:p14="http://schemas.microsoft.com/office/powerpoint/2010/main" val="3402015215"/>
              </p:ext>
            </p:extLst>
          </p:nvPr>
        </p:nvGraphicFramePr>
        <p:xfrm>
          <a:off x="1309688" y="5161390"/>
          <a:ext cx="1563687" cy="1150938"/>
        </p:xfrm>
        <a:graphic>
          <a:graphicData uri="http://schemas.openxmlformats.org/presentationml/2006/ole">
            <mc:AlternateContent xmlns:mc="http://schemas.openxmlformats.org/markup-compatibility/2006">
              <mc:Choice xmlns:v="urn:schemas-microsoft-com:vml" Requires="v">
                <p:oleObj name="Equation" r:id="rId10" imgW="799920" imgH="736560" progId="Equation.DSMT4">
                  <p:embed/>
                </p:oleObj>
              </mc:Choice>
              <mc:Fallback>
                <p:oleObj name="Equation" r:id="rId10" imgW="799920" imgH="736560" progId="Equation.DSMT4">
                  <p:embed/>
                  <p:pic>
                    <p:nvPicPr>
                      <p:cNvPr id="20" name="Object 19">
                        <a:extLst>
                          <a:ext uri="{FF2B5EF4-FFF2-40B4-BE49-F238E27FC236}">
                            <a16:creationId xmlns:a16="http://schemas.microsoft.com/office/drawing/2014/main" id="{CDB52073-7A85-AB67-6A06-477D88BE00FA}"/>
                          </a:ext>
                        </a:extLst>
                      </p:cNvPr>
                      <p:cNvPicPr/>
                      <p:nvPr/>
                    </p:nvPicPr>
                    <p:blipFill>
                      <a:blip r:embed="rId11"/>
                      <a:stretch>
                        <a:fillRect/>
                      </a:stretch>
                    </p:blipFill>
                    <p:spPr>
                      <a:xfrm>
                        <a:off x="1309688" y="5161390"/>
                        <a:ext cx="1563687" cy="1150938"/>
                      </a:xfrm>
                      <a:prstGeom prst="rect">
                        <a:avLst/>
                      </a:prstGeom>
                    </p:spPr>
                  </p:pic>
                </p:oleObj>
              </mc:Fallback>
            </mc:AlternateContent>
          </a:graphicData>
        </a:graphic>
      </p:graphicFrame>
      <p:sp>
        <p:nvSpPr>
          <p:cNvPr id="21" name="TextBox 20">
            <a:extLst>
              <a:ext uri="{FF2B5EF4-FFF2-40B4-BE49-F238E27FC236}">
                <a16:creationId xmlns:a16="http://schemas.microsoft.com/office/drawing/2014/main" id="{79E7B393-06B7-D98F-CC6D-21423B337D64}"/>
              </a:ext>
            </a:extLst>
          </p:cNvPr>
          <p:cNvSpPr txBox="1"/>
          <p:nvPr/>
        </p:nvSpPr>
        <p:spPr>
          <a:xfrm>
            <a:off x="6466482" y="3121173"/>
            <a:ext cx="3669594" cy="369332"/>
          </a:xfrm>
          <a:prstGeom prst="rect">
            <a:avLst/>
          </a:prstGeom>
          <a:noFill/>
        </p:spPr>
        <p:txBody>
          <a:bodyPr wrap="none" rtlCol="0">
            <a:spAutoFit/>
          </a:bodyPr>
          <a:lstStyle/>
          <a:p>
            <a:r>
              <a:rPr lang="en-US" err="1">
                <a:latin typeface="Times New Roman" panose="02020603050405020304" pitchFamily="18" charset="0"/>
                <a:cs typeface="Times New Roman" panose="02020603050405020304" pitchFamily="18" charset="0"/>
              </a:rPr>
              <a:t>Từ</a:t>
            </a:r>
            <a:r>
              <a:rPr lang="en-US">
                <a:latin typeface="Times New Roman" panose="02020603050405020304" pitchFamily="18" charset="0"/>
                <a:cs typeface="Times New Roman" panose="02020603050405020304" pitchFamily="18" charset="0"/>
              </a:rPr>
              <a:t> (12): </a:t>
            </a:r>
            <a:r>
              <a:rPr lang="en-US" err="1">
                <a:latin typeface="Times New Roman" panose="02020603050405020304" pitchFamily="18" charset="0"/>
                <a:cs typeface="Times New Roman" panose="02020603050405020304" pitchFamily="18" charset="0"/>
              </a:rPr>
              <a:t>Điểm</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làm</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việc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cân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bằng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khi</a:t>
            </a:r>
            <a:r>
              <a:rPr lang="en-US">
                <a:latin typeface="Times New Roman" panose="02020603050405020304" pitchFamily="18" charset="0"/>
                <a:cs typeface="Times New Roman" panose="02020603050405020304" pitchFamily="18" charset="0"/>
              </a:rPr>
              <a:t> </a:t>
            </a:r>
          </a:p>
        </p:txBody>
      </p:sp>
      <p:graphicFrame>
        <p:nvGraphicFramePr>
          <p:cNvPr id="22" name="Object 21">
            <a:extLst>
              <a:ext uri="{FF2B5EF4-FFF2-40B4-BE49-F238E27FC236}">
                <a16:creationId xmlns:a16="http://schemas.microsoft.com/office/drawing/2014/main" id="{5AC7A28D-2C5E-C798-D390-CA620D67FA6A}"/>
              </a:ext>
            </a:extLst>
          </p:cNvPr>
          <p:cNvGraphicFramePr>
            <a:graphicFrameLocks noChangeAspect="1"/>
          </p:cNvGraphicFramePr>
          <p:nvPr>
            <p:extLst>
              <p:ext uri="{D42A27DB-BD31-4B8C-83A1-F6EECF244321}">
                <p14:modId xmlns:p14="http://schemas.microsoft.com/office/powerpoint/2010/main" val="2082530991"/>
              </p:ext>
            </p:extLst>
          </p:nvPr>
        </p:nvGraphicFramePr>
        <p:xfrm>
          <a:off x="9939337" y="2951967"/>
          <a:ext cx="2163763" cy="744537"/>
        </p:xfrm>
        <a:graphic>
          <a:graphicData uri="http://schemas.openxmlformats.org/presentationml/2006/ole">
            <mc:AlternateContent xmlns:mc="http://schemas.openxmlformats.org/markup-compatibility/2006">
              <mc:Choice xmlns:v="urn:schemas-microsoft-com:vml" Requires="v">
                <p:oleObj name="Equation" r:id="rId12" imgW="1218960" imgH="419040" progId="Equation.DSMT4">
                  <p:embed/>
                </p:oleObj>
              </mc:Choice>
              <mc:Fallback>
                <p:oleObj name="Equation" r:id="rId12" imgW="1218960" imgH="419040" progId="Equation.DSMT4">
                  <p:embed/>
                  <p:pic>
                    <p:nvPicPr>
                      <p:cNvPr id="22" name="Object 21">
                        <a:extLst>
                          <a:ext uri="{FF2B5EF4-FFF2-40B4-BE49-F238E27FC236}">
                            <a16:creationId xmlns:a16="http://schemas.microsoft.com/office/drawing/2014/main" id="{5AC7A28D-2C5E-C798-D390-CA620D67FA6A}"/>
                          </a:ext>
                        </a:extLst>
                      </p:cNvPr>
                      <p:cNvPicPr/>
                      <p:nvPr/>
                    </p:nvPicPr>
                    <p:blipFill>
                      <a:blip r:embed="rId13"/>
                      <a:stretch>
                        <a:fillRect/>
                      </a:stretch>
                    </p:blipFill>
                    <p:spPr>
                      <a:xfrm>
                        <a:off x="9939337" y="2951967"/>
                        <a:ext cx="2163763" cy="744537"/>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DD914B19-6FBE-ED78-AF77-FB92BB961FF9}"/>
              </a:ext>
            </a:extLst>
          </p:cNvPr>
          <p:cNvGraphicFramePr>
            <a:graphicFrameLocks noChangeAspect="1"/>
          </p:cNvGraphicFramePr>
          <p:nvPr>
            <p:extLst>
              <p:ext uri="{D42A27DB-BD31-4B8C-83A1-F6EECF244321}">
                <p14:modId xmlns:p14="http://schemas.microsoft.com/office/powerpoint/2010/main" val="974690453"/>
              </p:ext>
            </p:extLst>
          </p:nvPr>
        </p:nvGraphicFramePr>
        <p:xfrm>
          <a:off x="7445469" y="3870969"/>
          <a:ext cx="2023185" cy="859991"/>
        </p:xfrm>
        <a:graphic>
          <a:graphicData uri="http://schemas.openxmlformats.org/presentationml/2006/ole">
            <mc:AlternateContent xmlns:mc="http://schemas.openxmlformats.org/markup-compatibility/2006">
              <mc:Choice xmlns:v="urn:schemas-microsoft-com:vml" Requires="v">
                <p:oleObj name="Equation" r:id="rId14" imgW="1015920" imgH="431640" progId="Equation.DSMT4">
                  <p:embed/>
                </p:oleObj>
              </mc:Choice>
              <mc:Fallback>
                <p:oleObj name="Equation" r:id="rId14" imgW="1015920" imgH="431640" progId="Equation.DSMT4">
                  <p:embed/>
                  <p:pic>
                    <p:nvPicPr>
                      <p:cNvPr id="25" name="Object 24">
                        <a:extLst>
                          <a:ext uri="{FF2B5EF4-FFF2-40B4-BE49-F238E27FC236}">
                            <a16:creationId xmlns:a16="http://schemas.microsoft.com/office/drawing/2014/main" id="{DD914B19-6FBE-ED78-AF77-FB92BB961FF9}"/>
                          </a:ext>
                        </a:extLst>
                      </p:cNvPr>
                      <p:cNvPicPr/>
                      <p:nvPr/>
                    </p:nvPicPr>
                    <p:blipFill>
                      <a:blip r:embed="rId15"/>
                      <a:stretch>
                        <a:fillRect/>
                      </a:stretch>
                    </p:blipFill>
                    <p:spPr>
                      <a:xfrm>
                        <a:off x="7445469" y="3870969"/>
                        <a:ext cx="2023185" cy="859991"/>
                      </a:xfrm>
                      <a:prstGeom prst="rect">
                        <a:avLst/>
                      </a:prstGeom>
                    </p:spPr>
                  </p:pic>
                </p:oleObj>
              </mc:Fallback>
            </mc:AlternateContent>
          </a:graphicData>
        </a:graphic>
      </p:graphicFrame>
      <p:cxnSp>
        <p:nvCxnSpPr>
          <p:cNvPr id="8" name="Straight Connector 7">
            <a:extLst>
              <a:ext uri="{FF2B5EF4-FFF2-40B4-BE49-F238E27FC236}">
                <a16:creationId xmlns:a16="http://schemas.microsoft.com/office/drawing/2014/main" id="{530CE860-E5E6-5951-E121-A38A2097F14E}"/>
              </a:ext>
            </a:extLst>
          </p:cNvPr>
          <p:cNvCxnSpPr/>
          <p:nvPr/>
        </p:nvCxnSpPr>
        <p:spPr>
          <a:xfrm>
            <a:off x="6115964" y="1923513"/>
            <a:ext cx="68826" cy="4901581"/>
          </a:xfrm>
          <a:prstGeom prst="line">
            <a:avLst/>
          </a:prstGeom>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703606C6-AADF-41CE-19A3-BDE7BFCDC05D}"/>
              </a:ext>
            </a:extLst>
          </p:cNvPr>
          <p:cNvSpPr txBox="1"/>
          <p:nvPr/>
        </p:nvSpPr>
        <p:spPr>
          <a:xfrm>
            <a:off x="10931815" y="4066202"/>
            <a:ext cx="569387"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(14)</a:t>
            </a:r>
          </a:p>
        </p:txBody>
      </p:sp>
      <p:sp>
        <p:nvSpPr>
          <p:cNvPr id="9" name="TextBox 8">
            <a:extLst>
              <a:ext uri="{FF2B5EF4-FFF2-40B4-BE49-F238E27FC236}">
                <a16:creationId xmlns:a16="http://schemas.microsoft.com/office/drawing/2014/main" id="{3850DAF0-E77A-AFD8-6DF5-4CEFD5F4ADE0}"/>
              </a:ext>
            </a:extLst>
          </p:cNvPr>
          <p:cNvSpPr txBox="1"/>
          <p:nvPr/>
        </p:nvSpPr>
        <p:spPr>
          <a:xfrm>
            <a:off x="5199767" y="3772233"/>
            <a:ext cx="569387"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(13)</a:t>
            </a:r>
          </a:p>
        </p:txBody>
      </p:sp>
      <p:sp>
        <p:nvSpPr>
          <p:cNvPr id="10" name="TextBox 9">
            <a:extLst>
              <a:ext uri="{FF2B5EF4-FFF2-40B4-BE49-F238E27FC236}">
                <a16:creationId xmlns:a16="http://schemas.microsoft.com/office/drawing/2014/main" id="{5F9C157A-9007-1D8D-21D1-488DD1E5F53D}"/>
              </a:ext>
            </a:extLst>
          </p:cNvPr>
          <p:cNvSpPr txBox="1"/>
          <p:nvPr/>
        </p:nvSpPr>
        <p:spPr>
          <a:xfrm>
            <a:off x="739724" y="4588340"/>
            <a:ext cx="486030" cy="369332"/>
          </a:xfrm>
          <a:prstGeom prst="rect">
            <a:avLst/>
          </a:prstGeom>
          <a:noFill/>
        </p:spPr>
        <p:txBody>
          <a:bodyPr wrap="none" rtlCol="0">
            <a:spAutoFit/>
          </a:bodyPr>
          <a:lstStyle/>
          <a:p>
            <a:r>
              <a:rPr lang="en-US" err="1">
                <a:latin typeface="Times New Roman" panose="02020603050405020304" pitchFamily="18" charset="0"/>
                <a:cs typeface="Times New Roman" panose="02020603050405020304" pitchFamily="18" charset="0"/>
              </a:rPr>
              <a:t>với</a:t>
            </a:r>
            <a:endParaRPr lang="en-US">
              <a:latin typeface="Times New Roman" panose="02020603050405020304" pitchFamily="18" charset="0"/>
              <a:cs typeface="Times New Roman" panose="02020603050405020304" pitchFamily="18" charset="0"/>
            </a:endParaRPr>
          </a:p>
        </p:txBody>
      </p:sp>
      <p:sp>
        <p:nvSpPr>
          <p:cNvPr id="17" name="Arrow: Right 16">
            <a:extLst>
              <a:ext uri="{FF2B5EF4-FFF2-40B4-BE49-F238E27FC236}">
                <a16:creationId xmlns:a16="http://schemas.microsoft.com/office/drawing/2014/main" id="{5B279A64-AA8B-3F50-A753-E1AE65D1A000}"/>
              </a:ext>
            </a:extLst>
          </p:cNvPr>
          <p:cNvSpPr/>
          <p:nvPr/>
        </p:nvSpPr>
        <p:spPr>
          <a:xfrm>
            <a:off x="739724" y="5536576"/>
            <a:ext cx="486030" cy="365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Object 18">
            <a:extLst>
              <a:ext uri="{FF2B5EF4-FFF2-40B4-BE49-F238E27FC236}">
                <a16:creationId xmlns:a16="http://schemas.microsoft.com/office/drawing/2014/main" id="{E81ABFC7-20B3-96F5-5BEA-CFD071A707D6}"/>
              </a:ext>
            </a:extLst>
          </p:cNvPr>
          <p:cNvGraphicFramePr>
            <a:graphicFrameLocks noChangeAspect="1"/>
          </p:cNvGraphicFramePr>
          <p:nvPr>
            <p:extLst>
              <p:ext uri="{D42A27DB-BD31-4B8C-83A1-F6EECF244321}">
                <p14:modId xmlns:p14="http://schemas.microsoft.com/office/powerpoint/2010/main" val="3447551378"/>
              </p:ext>
            </p:extLst>
          </p:nvPr>
        </p:nvGraphicFramePr>
        <p:xfrm>
          <a:off x="8983902" y="2003754"/>
          <a:ext cx="2695525" cy="727068"/>
        </p:xfrm>
        <a:graphic>
          <a:graphicData uri="http://schemas.openxmlformats.org/presentationml/2006/ole">
            <mc:AlternateContent xmlns:mc="http://schemas.openxmlformats.org/markup-compatibility/2006">
              <mc:Choice xmlns:v="urn:schemas-microsoft-com:vml" Requires="v">
                <p:oleObj name="Equation" r:id="rId16" imgW="1830076" imgH="493776" progId="Equation.DSMT4">
                  <p:embed/>
                </p:oleObj>
              </mc:Choice>
              <mc:Fallback>
                <p:oleObj name="Equation" r:id="rId16" imgW="1830076" imgH="493776" progId="Equation.DSMT4">
                  <p:embed/>
                  <p:pic>
                    <p:nvPicPr>
                      <p:cNvPr id="19" name="Object 18">
                        <a:extLst>
                          <a:ext uri="{FF2B5EF4-FFF2-40B4-BE49-F238E27FC236}">
                            <a16:creationId xmlns:a16="http://schemas.microsoft.com/office/drawing/2014/main" id="{E81ABFC7-20B3-96F5-5BEA-CFD071A707D6}"/>
                          </a:ext>
                        </a:extLst>
                      </p:cNvPr>
                      <p:cNvPicPr/>
                      <p:nvPr/>
                    </p:nvPicPr>
                    <p:blipFill>
                      <a:blip r:embed="rId17"/>
                      <a:stretch>
                        <a:fillRect/>
                      </a:stretch>
                    </p:blipFill>
                    <p:spPr>
                      <a:xfrm>
                        <a:off x="8983902" y="2003754"/>
                        <a:ext cx="2695525" cy="727068"/>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255893D9-003F-16A3-104F-DA08572877F5}"/>
              </a:ext>
            </a:extLst>
          </p:cNvPr>
          <p:cNvSpPr txBox="1"/>
          <p:nvPr/>
        </p:nvSpPr>
        <p:spPr>
          <a:xfrm>
            <a:off x="6466482" y="2182622"/>
            <a:ext cx="2517420"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Theo [2], ta </a:t>
            </a:r>
            <a:r>
              <a:rPr lang="en-US" err="1">
                <a:latin typeface="Times New Roman" panose="02020603050405020304" pitchFamily="18" charset="0"/>
                <a:cs typeface="Times New Roman" panose="02020603050405020304" pitchFamily="18" charset="0"/>
              </a:rPr>
              <a:t>mong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muốn</a:t>
            </a:r>
            <a:r>
              <a:rPr lang="en-US">
                <a:latin typeface="Times New Roman" panose="02020603050405020304" pitchFamily="18" charset="0"/>
                <a:cs typeface="Times New Roman" panose="02020603050405020304" pitchFamily="18" charset="0"/>
              </a:rPr>
              <a:t>:</a:t>
            </a:r>
          </a:p>
        </p:txBody>
      </p:sp>
      <p:sp>
        <p:nvSpPr>
          <p:cNvPr id="24" name="TextBox 23">
            <a:extLst>
              <a:ext uri="{FF2B5EF4-FFF2-40B4-BE49-F238E27FC236}">
                <a16:creationId xmlns:a16="http://schemas.microsoft.com/office/drawing/2014/main" id="{70BFEA75-BE46-E60E-F092-E6005CC8CAE5}"/>
              </a:ext>
            </a:extLst>
          </p:cNvPr>
          <p:cNvSpPr txBox="1"/>
          <p:nvPr/>
        </p:nvSpPr>
        <p:spPr>
          <a:xfrm>
            <a:off x="374948" y="1036129"/>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 </a:t>
            </a:r>
            <a:r>
              <a:rPr lang="en-US" sz="2000" b="1" err="1">
                <a:solidFill>
                  <a:prstClr val="black"/>
                </a:solidFill>
                <a:latin typeface="Times New Roman" panose="02020603050405020304" pitchFamily="18" charset="0"/>
                <a:cs typeface="Times New Roman" panose="02020603050405020304" pitchFamily="18" charset="0"/>
              </a:rPr>
              <a:t>Tính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toán</a:t>
            </a:r>
            <a:r>
              <a:rPr lang="en-US" sz="2000" b="1">
                <a:solidFill>
                  <a:prstClr val="black"/>
                </a:solidFill>
                <a:latin typeface="Times New Roman" panose="02020603050405020304" pitchFamily="18" charset="0"/>
                <a:cs typeface="Times New Roman" panose="02020603050405020304" pitchFamily="18" charset="0"/>
              </a:rPr>
              <a:t> thông số</a:t>
            </a:r>
          </a:p>
        </p:txBody>
      </p:sp>
      <p:grpSp>
        <p:nvGrpSpPr>
          <p:cNvPr id="18" name="Group 17">
            <a:extLst>
              <a:ext uri="{FF2B5EF4-FFF2-40B4-BE49-F238E27FC236}">
                <a16:creationId xmlns:a16="http://schemas.microsoft.com/office/drawing/2014/main" id="{856924B5-F8BE-3522-663F-E1090407DF7B}"/>
              </a:ext>
            </a:extLst>
          </p:cNvPr>
          <p:cNvGrpSpPr/>
          <p:nvPr/>
        </p:nvGrpSpPr>
        <p:grpSpPr>
          <a:xfrm>
            <a:off x="510284" y="324255"/>
            <a:ext cx="9501431" cy="748796"/>
            <a:chOff x="1793005" y="1746584"/>
            <a:chExt cx="9501431" cy="748794"/>
          </a:xfrm>
        </p:grpSpPr>
        <p:sp>
          <p:nvSpPr>
            <p:cNvPr id="27" name="TextBox 26">
              <a:extLst>
                <a:ext uri="{FF2B5EF4-FFF2-40B4-BE49-F238E27FC236}">
                  <a16:creationId xmlns:a16="http://schemas.microsoft.com/office/drawing/2014/main" id="{56E12E1B-55DC-F311-1609-46F532ABD713}"/>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28" name="Rectangle 27">
              <a:extLst>
                <a:ext uri="{FF2B5EF4-FFF2-40B4-BE49-F238E27FC236}">
                  <a16:creationId xmlns:a16="http://schemas.microsoft.com/office/drawing/2014/main" id="{0088C025-C41F-5F52-6945-870723A66A93}"/>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4" name="TextBox 3">
            <a:extLst>
              <a:ext uri="{FF2B5EF4-FFF2-40B4-BE49-F238E27FC236}">
                <a16:creationId xmlns:a16="http://schemas.microsoft.com/office/drawing/2014/main" id="{E5AB824B-65CB-E003-5B06-924A04E880C8}"/>
              </a:ext>
            </a:extLst>
          </p:cNvPr>
          <p:cNvSpPr txBox="1"/>
          <p:nvPr/>
        </p:nvSpPr>
        <p:spPr>
          <a:xfrm>
            <a:off x="374948" y="1430221"/>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2.4.1.  </a:t>
            </a:r>
            <a:r>
              <a:rPr lang="en-US" sz="2000" b="1" err="1">
                <a:solidFill>
                  <a:prstClr val="black"/>
                </a:solidFill>
                <a:latin typeface="Times New Roman" panose="02020603050405020304" pitchFamily="18" charset="0"/>
                <a:cs typeface="Times New Roman" panose="02020603050405020304" pitchFamily="18" charset="0"/>
              </a:rPr>
              <a:t>Mô</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hình</a:t>
            </a:r>
            <a:r>
              <a:rPr lang="en-US" sz="2000" b="1">
                <a:solidFill>
                  <a:prstClr val="black"/>
                </a:solidFill>
                <a:latin typeface="Times New Roman" panose="02020603050405020304" pitchFamily="18" charset="0"/>
                <a:cs typeface="Times New Roman" panose="02020603050405020304" pitchFamily="18" charset="0"/>
              </a:rPr>
              <a:t> hóa </a:t>
            </a:r>
            <a:r>
              <a:rPr lang="en-US" sz="2000" b="1" err="1">
                <a:solidFill>
                  <a:prstClr val="black"/>
                </a:solidFill>
                <a:latin typeface="Times New Roman" panose="02020603050405020304" pitchFamily="18" charset="0"/>
                <a:cs typeface="Times New Roman" panose="02020603050405020304" pitchFamily="18" charset="0"/>
              </a:rPr>
              <a:t>bộ</a:t>
            </a:r>
            <a:r>
              <a:rPr lang="en-US" sz="2000" b="1">
                <a:solidFill>
                  <a:prstClr val="black"/>
                </a:solidFill>
                <a:latin typeface="Times New Roman" panose="02020603050405020304" pitchFamily="18" charset="0"/>
                <a:cs typeface="Times New Roman" panose="02020603050405020304" pitchFamily="18" charset="0"/>
              </a:rPr>
              <a:t> VOC </a:t>
            </a:r>
            <a:r>
              <a:rPr lang="en-US" sz="2000" b="1" err="1">
                <a:solidFill>
                  <a:prstClr val="black"/>
                </a:solidFill>
                <a:latin typeface="Times New Roman" panose="02020603050405020304" pitchFamily="18" charset="0"/>
                <a:cs typeface="Times New Roman" panose="02020603050405020304" pitchFamily="18" charset="0"/>
              </a:rPr>
              <a:t>điều</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khiển</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mạch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nghịch</a:t>
            </a:r>
            <a:r>
              <a:rPr lang="en-US" sz="2000" b="1">
                <a:solidFill>
                  <a:prstClr val="black"/>
                </a:solidFill>
                <a:latin typeface="Times New Roman" panose="02020603050405020304" pitchFamily="18" charset="0"/>
                <a:cs typeface="Times New Roman" panose="02020603050405020304" pitchFamily="18" charset="0"/>
              </a:rPr>
              <a:t> </a:t>
            </a:r>
            <a:r>
              <a:rPr lang="en-US" sz="2000" b="1" err="1">
                <a:solidFill>
                  <a:prstClr val="black"/>
                </a:solidFill>
                <a:latin typeface="Times New Roman" panose="02020603050405020304" pitchFamily="18" charset="0"/>
                <a:cs typeface="Times New Roman" panose="02020603050405020304" pitchFamily="18" charset="0"/>
              </a:rPr>
              <a:t>lưu</a:t>
            </a:r>
            <a:r>
              <a:rPr lang="en-US" sz="2000" b="1">
                <a:solidFill>
                  <a:prstClr val="black"/>
                </a:solidFill>
                <a:latin typeface="Times New Roman" panose="02020603050405020304" pitchFamily="18" charset="0"/>
                <a:cs typeface="Times New Roman" panose="02020603050405020304" pitchFamily="18" charset="0"/>
              </a:rPr>
              <a:t> một </a:t>
            </a:r>
            <a:r>
              <a:rPr lang="en-US" sz="2000" b="1" err="1">
                <a:solidFill>
                  <a:prstClr val="black"/>
                </a:solidFill>
                <a:latin typeface="Times New Roman" panose="02020603050405020304" pitchFamily="18" charset="0"/>
                <a:cs typeface="Times New Roman" panose="02020603050405020304" pitchFamily="18" charset="0"/>
              </a:rPr>
              <a:t>pha</a:t>
            </a:r>
            <a:r>
              <a:rPr lang="en-US" sz="2000" b="1">
                <a:solidFill>
                  <a:prstClr val="black"/>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363410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a:extLst>
              <a:ext uri="{FF2B5EF4-FFF2-40B4-BE49-F238E27FC236}">
                <a16:creationId xmlns:a16="http://schemas.microsoft.com/office/drawing/2014/main" id="{638043F5-A63B-6E6D-2ED2-C7D432E08F33}"/>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5A95C8F2-392B-E8C6-762E-B289568CC3E8}"/>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3A6E74FE-EB2A-B906-C051-A50AD37D2BE5}"/>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5" name="TextBox 23">
            <a:extLst>
              <a:ext uri="{FF2B5EF4-FFF2-40B4-BE49-F238E27FC236}">
                <a16:creationId xmlns:a16="http://schemas.microsoft.com/office/drawing/2014/main" id="{8F76BFFD-7757-E5A7-48F5-5FB6E5A11963}"/>
              </a:ext>
            </a:extLst>
          </p:cNvPr>
          <p:cNvSpPr txBox="1"/>
          <p:nvPr/>
        </p:nvSpPr>
        <p:spPr>
          <a:xfrm>
            <a:off x="374948" y="1036129"/>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2.6. </a:t>
            </a:r>
            <a:r>
              <a:rPr lang="vi-VN" sz="2000" b="1">
                <a:solidFill>
                  <a:prstClr val="black"/>
                </a:solidFill>
                <a:latin typeface="Times New Roman" panose="02020603050405020304" pitchFamily="18" charset="0"/>
                <a:cs typeface="Times New Roman" panose="02020603050405020304" pitchFamily="18" charset="0"/>
              </a:rPr>
              <a:t>Tính toán thông số bộ điều khiển VOC</a:t>
            </a:r>
          </a:p>
        </p:txBody>
      </p:sp>
      <mc:AlternateContent xmlns:mc="http://schemas.openxmlformats.org/markup-compatibility/2006" xmlns:a14="http://schemas.microsoft.com/office/drawing/2010/main">
        <mc:Choice Requires="a14">
          <p:sp>
            <p:nvSpPr>
              <p:cNvPr id="15" name="TextBox 3">
                <a:extLst>
                  <a:ext uri="{FF2B5EF4-FFF2-40B4-BE49-F238E27FC236}">
                    <a16:creationId xmlns:a16="http://schemas.microsoft.com/office/drawing/2014/main" id="{8DB7DA9F-7E64-E51A-AC33-366E5F34EF53}"/>
                  </a:ext>
                </a:extLst>
              </p:cNvPr>
              <p:cNvSpPr txBox="1"/>
              <p:nvPr/>
            </p:nvSpPr>
            <p:spPr>
              <a:xfrm>
                <a:off x="374948" y="1436239"/>
                <a:ext cx="7235816" cy="2815451"/>
              </a:xfrm>
              <a:prstGeom prst="rect">
                <a:avLst/>
              </a:prstGeom>
              <a:noFill/>
            </p:spPr>
            <p:txBody>
              <a:bodyPr wrap="square" rtlCol="0">
                <a:spAutoFit/>
              </a:bodyPr>
              <a:lstStyle/>
              <a:p>
                <a:pPr marL="285750" indent="-285750" defTabSz="457200">
                  <a:lnSpc>
                    <a:spcPct val="150000"/>
                  </a:lnSpc>
                  <a:buFontTx/>
                  <a:buChar char="-"/>
                </a:pPr>
                <a:r>
                  <a:rPr lang="en-US" sz="2000" err="1">
                    <a:solidFill>
                      <a:prstClr val="black"/>
                    </a:solidFill>
                    <a:latin typeface="Times New Roman" panose="02020603050405020304" pitchFamily="18" charset="0"/>
                    <a:cs typeface="Times New Roman" panose="02020603050405020304" pitchFamily="18" charset="0"/>
                  </a:rPr>
                  <a:t>Các</a:t>
                </a:r>
                <a:r>
                  <a:rPr lang="en-US" sz="2000">
                    <a:solidFill>
                      <a:prstClr val="black"/>
                    </a:solidFill>
                    <a:latin typeface="Times New Roman" panose="02020603050405020304" pitchFamily="18" charset="0"/>
                    <a:cs typeface="Times New Roman" panose="02020603050405020304" pitchFamily="18" charset="0"/>
                  </a:rPr>
                  <a:t> </a:t>
                </a:r>
                <a:r>
                  <a:rPr lang="en-US" sz="2000" err="1">
                    <a:solidFill>
                      <a:prstClr val="black"/>
                    </a:solidFill>
                    <a:latin typeface="Times New Roman" panose="02020603050405020304" pitchFamily="18" charset="0"/>
                    <a:cs typeface="Times New Roman" panose="02020603050405020304" pitchFamily="18" charset="0"/>
                  </a:rPr>
                  <a:t>thông</a:t>
                </a:r>
                <a:r>
                  <a:rPr lang="en-US" sz="2000">
                    <a:solidFill>
                      <a:prstClr val="black"/>
                    </a:solidFill>
                    <a:latin typeface="Times New Roman" panose="02020603050405020304" pitchFamily="18" charset="0"/>
                    <a:cs typeface="Times New Roman" panose="02020603050405020304" pitchFamily="18" charset="0"/>
                  </a:rPr>
                  <a:t> </a:t>
                </a:r>
                <a:r>
                  <a:rPr lang="en-US" sz="2000" err="1">
                    <a:solidFill>
                      <a:prstClr val="black"/>
                    </a:solidFill>
                    <a:latin typeface="Times New Roman" panose="02020603050405020304" pitchFamily="18" charset="0"/>
                    <a:cs typeface="Times New Roman" panose="02020603050405020304" pitchFamily="18" charset="0"/>
                  </a:rPr>
                  <a:t>số</a:t>
                </a:r>
                <a:r>
                  <a:rPr lang="en-US" sz="2000">
                    <a:solidFill>
                      <a:prstClr val="black"/>
                    </a:solidFill>
                    <a:latin typeface="Times New Roman" panose="02020603050405020304" pitchFamily="18" charset="0"/>
                    <a:cs typeface="Times New Roman" panose="02020603050405020304" pitchFamily="18" charset="0"/>
                  </a:rPr>
                  <a:t> </a:t>
                </a:r>
                <a:r>
                  <a:rPr lang="en-US" sz="2000" err="1">
                    <a:solidFill>
                      <a:prstClr val="black"/>
                    </a:solidFill>
                    <a:latin typeface="Times New Roman" panose="02020603050405020304" pitchFamily="18" charset="0"/>
                    <a:cs typeface="Times New Roman" panose="02020603050405020304" pitchFamily="18" charset="0"/>
                  </a:rPr>
                  <a:t>cần</a:t>
                </a:r>
                <a:r>
                  <a:rPr lang="en-US" sz="2000">
                    <a:solidFill>
                      <a:prstClr val="black"/>
                    </a:solidFill>
                    <a:latin typeface="Times New Roman" panose="02020603050405020304" pitchFamily="18" charset="0"/>
                    <a:cs typeface="Times New Roman" panose="02020603050405020304" pitchFamily="18" charset="0"/>
                  </a:rPr>
                  <a:t> </a:t>
                </a:r>
                <a:r>
                  <a:rPr lang="en-US" sz="2000" err="1">
                    <a:solidFill>
                      <a:prstClr val="black"/>
                    </a:solidFill>
                    <a:latin typeface="Times New Roman" panose="02020603050405020304" pitchFamily="18" charset="0"/>
                    <a:cs typeface="Times New Roman" panose="02020603050405020304" pitchFamily="18" charset="0"/>
                  </a:rPr>
                  <a:t>được</a:t>
                </a:r>
                <a:r>
                  <a:rPr lang="en-US" sz="2000">
                    <a:solidFill>
                      <a:prstClr val="black"/>
                    </a:solidFill>
                    <a:latin typeface="Times New Roman" panose="02020603050405020304" pitchFamily="18" charset="0"/>
                    <a:cs typeface="Times New Roman" panose="02020603050405020304" pitchFamily="18" charset="0"/>
                  </a:rPr>
                  <a:t> </a:t>
                </a:r>
                <a:r>
                  <a:rPr lang="en-US" sz="2000" err="1">
                    <a:solidFill>
                      <a:prstClr val="black"/>
                    </a:solidFill>
                    <a:latin typeface="Times New Roman" panose="02020603050405020304" pitchFamily="18" charset="0"/>
                    <a:cs typeface="Times New Roman" panose="02020603050405020304" pitchFamily="18" charset="0"/>
                  </a:rPr>
                  <a:t>đáp</a:t>
                </a:r>
                <a:r>
                  <a:rPr lang="en-US" sz="2000">
                    <a:solidFill>
                      <a:prstClr val="black"/>
                    </a:solidFill>
                    <a:latin typeface="Times New Roman" panose="02020603050405020304" pitchFamily="18" charset="0"/>
                    <a:cs typeface="Times New Roman" panose="02020603050405020304" pitchFamily="18" charset="0"/>
                  </a:rPr>
                  <a:t> </a:t>
                </a:r>
                <a:r>
                  <a:rPr lang="en-US" sz="2000" err="1">
                    <a:solidFill>
                      <a:prstClr val="black"/>
                    </a:solidFill>
                    <a:latin typeface="Times New Roman" panose="02020603050405020304" pitchFamily="18" charset="0"/>
                    <a:cs typeface="Times New Roman" panose="02020603050405020304" pitchFamily="18" charset="0"/>
                  </a:rPr>
                  <a:t>ứng</a:t>
                </a:r>
                <a:r>
                  <a:rPr lang="en-US" sz="2000">
                    <a:solidFill>
                      <a:prstClr val="black"/>
                    </a:solidFill>
                    <a:latin typeface="Times New Roman" panose="02020603050405020304" pitchFamily="18" charset="0"/>
                    <a:cs typeface="Times New Roman" panose="02020603050405020304" pitchFamily="18" charset="0"/>
                  </a:rPr>
                  <a:t>:</a:t>
                </a:r>
              </a:p>
              <a:p>
                <a:pPr marL="742950" lvl="1" indent="-285750" defTabSz="457200">
                  <a:lnSpc>
                    <a:spcPct val="150000"/>
                  </a:lnSpc>
                  <a:buFontTx/>
                  <a:buChar char="-"/>
                </a:pPr>
                <a:r>
                  <a:rPr lang="en-US" sz="2000" kern="100">
                    <a:solidFill>
                      <a:srgbClr val="000000"/>
                    </a:solidFill>
                    <a:latin typeface="Times New Roman" panose="02020603050405020304" pitchFamily="18" charset="0"/>
                    <a:ea typeface="Yu Mincho" panose="02020400000000000000" pitchFamily="18" charset="-128"/>
                    <a:cs typeface="Times New Roman" panose="02020603050405020304" pitchFamily="18" charset="0"/>
                  </a:rPr>
                  <a:t>Điện </a:t>
                </a:r>
                <a:r>
                  <a:rPr lang="en-US" sz="2000" kern="100" err="1">
                    <a:solidFill>
                      <a:srgbClr val="000000"/>
                    </a:solidFill>
                    <a:latin typeface="Times New Roman" panose="02020603050405020304" pitchFamily="18" charset="0"/>
                    <a:ea typeface="Yu Mincho" panose="02020400000000000000" pitchFamily="18" charset="-128"/>
                    <a:cs typeface="Times New Roman" panose="02020603050405020304" pitchFamily="18" charset="0"/>
                  </a:rPr>
                  <a:t>áp</a:t>
                </a:r>
                <a:r>
                  <a:rPr lang="en-US" sz="2000" kern="100">
                    <a:solidFill>
                      <a:srgbClr val="000000"/>
                    </a:solidFill>
                    <a:latin typeface="Times New Roman" panose="02020603050405020304" pitchFamily="18" charset="0"/>
                    <a:ea typeface="Yu Mincho" panose="02020400000000000000" pitchFamily="18" charset="-128"/>
                    <a:cs typeface="Times New Roman" panose="02020603050405020304" pitchFamily="18" charset="0"/>
                  </a:rPr>
                  <a:t> </a:t>
                </a:r>
                <a:r>
                  <a:rPr lang="en-US" sz="2000" kern="100" err="1">
                    <a:solidFill>
                      <a:srgbClr val="000000"/>
                    </a:solidFill>
                    <a:latin typeface="Times New Roman" panose="02020603050405020304" pitchFamily="18" charset="0"/>
                    <a:ea typeface="Yu Mincho" panose="02020400000000000000" pitchFamily="18" charset="-128"/>
                    <a:cs typeface="Times New Roman" panose="02020603050405020304" pitchFamily="18" charset="0"/>
                  </a:rPr>
                  <a:t>hở</a:t>
                </a:r>
                <a:r>
                  <a:rPr lang="en-US" sz="2000" kern="100">
                    <a:solidFill>
                      <a:srgbClr val="000000"/>
                    </a:solidFill>
                    <a:latin typeface="Times New Roman" panose="02020603050405020304" pitchFamily="18" charset="0"/>
                    <a:ea typeface="Yu Mincho" panose="02020400000000000000" pitchFamily="18" charset="-128"/>
                    <a:cs typeface="Times New Roman" panose="02020603050405020304" pitchFamily="18" charset="0"/>
                  </a:rPr>
                  <a:t> </a:t>
                </a:r>
                <a:r>
                  <a:rPr lang="en-US" sz="2000" kern="100" err="1">
                    <a:solidFill>
                      <a:srgbClr val="000000"/>
                    </a:solidFill>
                    <a:latin typeface="Times New Roman" panose="02020603050405020304" pitchFamily="18" charset="0"/>
                    <a:ea typeface="Yu Mincho" panose="02020400000000000000" pitchFamily="18" charset="-128"/>
                    <a:cs typeface="Times New Roman" panose="02020603050405020304" pitchFamily="18" charset="0"/>
                  </a:rPr>
                  <a:t>mạch</a:t>
                </a:r>
                <a:r>
                  <a:rPr lang="en-US" sz="2000" kern="100">
                    <a:solidFill>
                      <a:srgbClr val="000000"/>
                    </a:solidFill>
                    <a:latin typeface="Times New Roman" panose="02020603050405020304" pitchFamily="18" charset="0"/>
                    <a:ea typeface="Yu Mincho" panose="02020400000000000000" pitchFamily="18" charset="-128"/>
                    <a:cs typeface="Times New Roman" panose="02020603050405020304" pitchFamily="18" charset="0"/>
                  </a:rPr>
                  <a:t> : </a:t>
                </a:r>
                <a14:m>
                  <m:oMath xmlns:m="http://schemas.openxmlformats.org/officeDocument/2006/math">
                    <m:sSub>
                      <m:sSubPr>
                        <m:ctrlPr>
                          <a:rPr lang="en-US" sz="2000" i="1" kern="100">
                            <a:solidFill>
                              <a:srgbClr val="000000"/>
                            </a:solidFill>
                            <a:latin typeface="Cambria Math" panose="02040503050406030204" pitchFamily="18" charset="0"/>
                            <a:ea typeface="Yu Mincho" panose="02020400000000000000" pitchFamily="18" charset="-128"/>
                            <a:cs typeface="Times New Roman" panose="02020603050405020304" pitchFamily="18" charset="0"/>
                          </a:rPr>
                        </m:ctrlPr>
                      </m:sSubPr>
                      <m:e>
                        <m:acc>
                          <m:accPr>
                            <m:chr m:val="̅"/>
                            <m:ctrlPr>
                              <a:rPr lang="en-US" sz="2000" i="1" kern="100">
                                <a:solidFill>
                                  <a:srgbClr val="000000"/>
                                </a:solidFill>
                                <a:latin typeface="Cambria Math" panose="02040503050406030204" pitchFamily="18" charset="0"/>
                                <a:ea typeface="Yu Mincho" panose="02020400000000000000" pitchFamily="18" charset="-128"/>
                                <a:cs typeface="Times New Roman" panose="02020603050405020304" pitchFamily="18" charset="0"/>
                              </a:rPr>
                            </m:ctrlPr>
                          </m:accPr>
                          <m:e>
                            <m:r>
                              <a:rPr lang="en-US" sz="2000" i="1" kern="100">
                                <a:solidFill>
                                  <a:srgbClr val="000000"/>
                                </a:solidFill>
                                <a:latin typeface="Cambria Math" panose="02040503050406030204" pitchFamily="18" charset="0"/>
                                <a:ea typeface="Yu Mincho" panose="02020400000000000000" pitchFamily="18" charset="-128"/>
                                <a:cs typeface="Times New Roman" panose="02020603050405020304" pitchFamily="18" charset="0"/>
                              </a:rPr>
                              <m:t>𝑉</m:t>
                            </m:r>
                          </m:e>
                        </m:acc>
                      </m:e>
                      <m:sub>
                        <m:r>
                          <a:rPr lang="en-US" sz="2000" i="1" kern="100">
                            <a:solidFill>
                              <a:srgbClr val="000000"/>
                            </a:solidFill>
                            <a:latin typeface="Cambria Math" panose="02040503050406030204" pitchFamily="18" charset="0"/>
                            <a:ea typeface="Yu Mincho" panose="02020400000000000000" pitchFamily="18" charset="-128"/>
                            <a:cs typeface="Times New Roman" panose="02020603050405020304" pitchFamily="18" charset="0"/>
                          </a:rPr>
                          <m:t>𝑜𝑐</m:t>
                        </m:r>
                      </m:sub>
                    </m:sSub>
                  </m:oMath>
                </a14:m>
                <a:endParaRPr lang="en-US" sz="2000" kern="100">
                  <a:solidFill>
                    <a:prstClr val="black"/>
                  </a:solidFill>
                  <a:latin typeface="Times New Roman" panose="02020603050405020304" pitchFamily="18" charset="0"/>
                  <a:ea typeface="Yu Mincho" panose="02020400000000000000" pitchFamily="18" charset="-128"/>
                  <a:cs typeface="Times New Roman" panose="02020603050405020304" pitchFamily="18" charset="0"/>
                </a:endParaRPr>
              </a:p>
              <a:p>
                <a:pPr marL="742950" lvl="1" indent="-285750" defTabSz="457200">
                  <a:lnSpc>
                    <a:spcPct val="150000"/>
                  </a:lnSpc>
                  <a:buFontTx/>
                  <a:buChar char="-"/>
                </a:pPr>
                <a:r>
                  <a:rPr lang="en-US" sz="2000">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Công </a:t>
                </a:r>
                <a:r>
                  <a:rPr lang="en-US" sz="2000" err="1">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suất</a:t>
                </a:r>
                <a:r>
                  <a:rPr lang="en-US" sz="2000">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 </a:t>
                </a:r>
                <a:r>
                  <a:rPr lang="en-US" sz="2000" err="1">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định</a:t>
                </a:r>
                <a:r>
                  <a:rPr lang="en-US" sz="2000">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 </a:t>
                </a:r>
                <a:r>
                  <a:rPr lang="en-US" sz="2000" err="1">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mức</a:t>
                </a:r>
                <a:r>
                  <a:rPr lang="en-US" sz="2000">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 </a:t>
                </a:r>
                <a:r>
                  <a:rPr lang="en-US" sz="2000" err="1">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và</a:t>
                </a:r>
                <a:r>
                  <a:rPr lang="en-US" sz="2000">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 </a:t>
                </a:r>
                <a:r>
                  <a:rPr lang="en-US" sz="2000" err="1">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điện</a:t>
                </a:r>
                <a:r>
                  <a:rPr lang="en-US" sz="2000">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 </a:t>
                </a:r>
                <a:r>
                  <a:rPr lang="en-US" sz="2000" err="1">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áp</a:t>
                </a:r>
                <a:r>
                  <a:rPr lang="en-US" sz="2000">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 </a:t>
                </a:r>
                <a:r>
                  <a:rPr lang="en-US" sz="2000" err="1">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tương</a:t>
                </a:r>
                <a:r>
                  <a:rPr lang="en-US" sz="2000">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 </a:t>
                </a:r>
                <a:r>
                  <a:rPr lang="en-US" sz="2000" err="1">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ứng</a:t>
                </a:r>
                <a:r>
                  <a:rPr lang="en-US" sz="2000">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 </a:t>
                </a:r>
                <a14:m>
                  <m:oMath xmlns:m="http://schemas.openxmlformats.org/officeDocument/2006/math">
                    <m:sSub>
                      <m:sSubPr>
                        <m:ctrlPr>
                          <a:rPr lang="en-US" sz="2000" i="1" kern="100">
                            <a:solidFill>
                              <a:srgbClr val="000000"/>
                            </a:solidFill>
                            <a:latin typeface="Cambria Math" panose="02040503050406030204" pitchFamily="18" charset="0"/>
                            <a:ea typeface="Yu Mincho" panose="02020400000000000000" pitchFamily="18" charset="-128"/>
                            <a:cs typeface="Times New Roman" panose="02020603050405020304" pitchFamily="18" charset="0"/>
                          </a:rPr>
                        </m:ctrlPr>
                      </m:sSubPr>
                      <m:e>
                        <m:acc>
                          <m:accPr>
                            <m:chr m:val="̅"/>
                            <m:ctrlPr>
                              <a:rPr lang="en-US" sz="2000" i="1" kern="100" smtClean="0">
                                <a:solidFill>
                                  <a:srgbClr val="000000"/>
                                </a:solidFill>
                                <a:latin typeface="Cambria Math" panose="02040503050406030204" pitchFamily="18" charset="0"/>
                                <a:ea typeface="Yu Mincho" panose="02020400000000000000" pitchFamily="18" charset="-128"/>
                                <a:cs typeface="Times New Roman" panose="02020603050405020304" pitchFamily="18" charset="0"/>
                              </a:rPr>
                            </m:ctrlPr>
                          </m:accPr>
                          <m:e>
                            <m:r>
                              <a:rPr lang="en-US" sz="2000" i="1" kern="100" smtClean="0">
                                <a:solidFill>
                                  <a:srgbClr val="000000"/>
                                </a:solidFill>
                                <a:latin typeface="Cambria Math" panose="02040503050406030204" pitchFamily="18" charset="0"/>
                                <a:ea typeface="Yu Mincho" panose="02020400000000000000" pitchFamily="18" charset="-128"/>
                                <a:cs typeface="Times New Roman" panose="02020603050405020304" pitchFamily="18" charset="0"/>
                              </a:rPr>
                              <m:t>𝑃</m:t>
                            </m:r>
                          </m:e>
                        </m:acc>
                      </m:e>
                      <m:sub>
                        <m:r>
                          <a:rPr lang="en-US" sz="2000" i="1" kern="100" smtClean="0">
                            <a:solidFill>
                              <a:srgbClr val="000000"/>
                            </a:solidFill>
                            <a:latin typeface="Cambria Math" panose="02040503050406030204" pitchFamily="18" charset="0"/>
                            <a:ea typeface="Yu Mincho" panose="02020400000000000000" pitchFamily="18" charset="-128"/>
                            <a:cs typeface="Times New Roman" panose="02020603050405020304" pitchFamily="18" charset="0"/>
                          </a:rPr>
                          <m:t>𝑟𝑎𝑡𝑒</m:t>
                        </m:r>
                      </m:sub>
                    </m:sSub>
                  </m:oMath>
                </a14:m>
                <a:r>
                  <a:rPr lang="en-US" sz="2000">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a:t>
                </a:r>
                <a14:m>
                  <m:oMath xmlns:m="http://schemas.openxmlformats.org/officeDocument/2006/math">
                    <m:sSub>
                      <m:sSubPr>
                        <m:ctrlPr>
                          <a:rPr lang="en-US" sz="2000" i="1" kern="100">
                            <a:solidFill>
                              <a:srgbClr val="000000"/>
                            </a:solidFill>
                            <a:latin typeface="Cambria Math" panose="02040503050406030204" pitchFamily="18" charset="0"/>
                            <a:ea typeface="Yu Mincho" panose="02020400000000000000" pitchFamily="18" charset="-128"/>
                            <a:cs typeface="Times New Roman" panose="02020603050405020304" pitchFamily="18" charset="0"/>
                          </a:rPr>
                        </m:ctrlPr>
                      </m:sSubPr>
                      <m:e>
                        <m:acc>
                          <m:accPr>
                            <m:chr m:val="̅"/>
                            <m:ctrlPr>
                              <a:rPr lang="en-US" sz="2000" i="1" kern="100">
                                <a:solidFill>
                                  <a:srgbClr val="000000"/>
                                </a:solidFill>
                                <a:latin typeface="Cambria Math" panose="02040503050406030204" pitchFamily="18" charset="0"/>
                                <a:ea typeface="Yu Mincho" panose="02020400000000000000" pitchFamily="18" charset="-128"/>
                                <a:cs typeface="Times New Roman" panose="02020603050405020304" pitchFamily="18" charset="0"/>
                              </a:rPr>
                            </m:ctrlPr>
                          </m:accPr>
                          <m:e>
                            <m:r>
                              <a:rPr lang="en-US" sz="2000" i="1" kern="100">
                                <a:solidFill>
                                  <a:srgbClr val="000000"/>
                                </a:solidFill>
                                <a:latin typeface="Cambria Math" panose="02040503050406030204" pitchFamily="18" charset="0"/>
                                <a:ea typeface="Yu Mincho" panose="02020400000000000000" pitchFamily="18" charset="-128"/>
                                <a:cs typeface="Times New Roman" panose="02020603050405020304" pitchFamily="18" charset="0"/>
                              </a:rPr>
                              <m:t>𝑉</m:t>
                            </m:r>
                          </m:e>
                        </m:acc>
                      </m:e>
                      <m:sub>
                        <m:r>
                          <a:rPr lang="en-US" sz="2000" i="1" kern="100" smtClean="0">
                            <a:solidFill>
                              <a:srgbClr val="000000"/>
                            </a:solidFill>
                            <a:latin typeface="Cambria Math" panose="02040503050406030204" pitchFamily="18" charset="0"/>
                            <a:ea typeface="Yu Mincho" panose="02020400000000000000" pitchFamily="18" charset="-128"/>
                            <a:cs typeface="Times New Roman" panose="02020603050405020304" pitchFamily="18" charset="0"/>
                          </a:rPr>
                          <m:t>𝑚𝑖𝑛</m:t>
                        </m:r>
                      </m:sub>
                    </m:sSub>
                  </m:oMath>
                </a14:m>
                <a:endParaRPr lang="en-US" sz="2000">
                  <a:solidFill>
                    <a:prstClr val="black"/>
                  </a:solidFill>
                  <a:latin typeface="Times New Roman" panose="02020603050405020304" pitchFamily="18" charset="0"/>
                  <a:cs typeface="Times New Roman" panose="02020603050405020304" pitchFamily="18" charset="0"/>
                </a:endParaRPr>
              </a:p>
              <a:p>
                <a:pPr marL="742950" lvl="1" indent="-285750" defTabSz="457200">
                  <a:lnSpc>
                    <a:spcPct val="150000"/>
                  </a:lnSpc>
                  <a:buFontTx/>
                  <a:buChar char="-"/>
                </a:pPr>
                <a:r>
                  <a:rPr lang="en-US" sz="2000" kern="100">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Công </a:t>
                </a:r>
                <a:r>
                  <a:rPr lang="en-US" sz="2000" kern="100" err="1">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suất</a:t>
                </a:r>
                <a:r>
                  <a:rPr lang="en-US" sz="2000" kern="100">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 </a:t>
                </a:r>
                <a:r>
                  <a:rPr lang="en-US" sz="2000" kern="100" err="1">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phản</a:t>
                </a:r>
                <a:r>
                  <a:rPr lang="en-US" sz="2000" kern="100">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 </a:t>
                </a:r>
                <a:r>
                  <a:rPr lang="en-US" sz="2000" kern="100" err="1">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kháng</a:t>
                </a:r>
                <a:r>
                  <a:rPr lang="en-US" sz="2000" kern="100">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 </a:t>
                </a:r>
                <a:r>
                  <a:rPr lang="en-US" sz="2000" kern="100" err="1">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định</a:t>
                </a:r>
                <a:r>
                  <a:rPr lang="en-US" sz="2000" kern="100">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 </a:t>
                </a:r>
                <a:r>
                  <a:rPr lang="en-US" sz="2000" kern="100" err="1">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mức</a:t>
                </a:r>
                <a:r>
                  <a:rPr lang="en-US" sz="2000" kern="100">
                    <a:solidFill>
                      <a:prstClr val="black"/>
                    </a:solidFill>
                    <a:latin typeface="Times New Roman" panose="02020603050405020304" pitchFamily="18" charset="0"/>
                    <a:ea typeface="Yu Mincho" panose="02020400000000000000" pitchFamily="18" charset="-128"/>
                    <a:cs typeface="Times New Roman" panose="02020603050405020304" pitchFamily="18" charset="0"/>
                  </a:rPr>
                  <a:t>:</a:t>
                </a:r>
                <a14:m>
                  <m:oMath xmlns:m="http://schemas.openxmlformats.org/officeDocument/2006/math">
                    <m:sSub>
                      <m:sSubPr>
                        <m:ctrlPr>
                          <a:rPr lang="en-US" sz="2000" i="1" kern="100">
                            <a:solidFill>
                              <a:srgbClr val="000000"/>
                            </a:solidFill>
                            <a:latin typeface="Cambria Math" panose="02040503050406030204" pitchFamily="18" charset="0"/>
                            <a:ea typeface="Yu Mincho" panose="02020400000000000000" pitchFamily="18" charset="-128"/>
                            <a:cs typeface="Times New Roman" panose="02020603050405020304" pitchFamily="18" charset="0"/>
                          </a:rPr>
                        </m:ctrlPr>
                      </m:sSubPr>
                      <m:e>
                        <m:acc>
                          <m:accPr>
                            <m:chr m:val="̅"/>
                            <m:ctrlPr>
                              <a:rPr lang="en-US" sz="2000" i="1" kern="100" smtClean="0">
                                <a:solidFill>
                                  <a:srgbClr val="000000"/>
                                </a:solidFill>
                                <a:latin typeface="Cambria Math" panose="02040503050406030204" pitchFamily="18" charset="0"/>
                                <a:ea typeface="Yu Mincho" panose="02020400000000000000" pitchFamily="18" charset="-128"/>
                                <a:cs typeface="Times New Roman" panose="02020603050405020304" pitchFamily="18" charset="0"/>
                              </a:rPr>
                            </m:ctrlPr>
                          </m:accPr>
                          <m:e>
                            <m:r>
                              <a:rPr lang="en-US" sz="2000" i="1" kern="100" smtClean="0">
                                <a:solidFill>
                                  <a:srgbClr val="000000"/>
                                </a:solidFill>
                                <a:latin typeface="Cambria Math" panose="02040503050406030204" pitchFamily="18" charset="0"/>
                                <a:ea typeface="Yu Mincho" panose="02020400000000000000" pitchFamily="18" charset="-128"/>
                                <a:cs typeface="Times New Roman" panose="02020603050405020304" pitchFamily="18" charset="0"/>
                              </a:rPr>
                              <m:t>𝑄</m:t>
                            </m:r>
                          </m:e>
                        </m:acc>
                      </m:e>
                      <m:sub>
                        <m:r>
                          <a:rPr lang="en-US" sz="2000" i="1" kern="100">
                            <a:solidFill>
                              <a:srgbClr val="000000"/>
                            </a:solidFill>
                            <a:latin typeface="Cambria Math" panose="02040503050406030204" pitchFamily="18" charset="0"/>
                            <a:ea typeface="Yu Mincho" panose="02020400000000000000" pitchFamily="18" charset="-128"/>
                            <a:cs typeface="Times New Roman" panose="02020603050405020304" pitchFamily="18" charset="0"/>
                          </a:rPr>
                          <m:t>𝑟𝑎𝑡𝑒</m:t>
                        </m:r>
                      </m:sub>
                    </m:sSub>
                  </m:oMath>
                </a14:m>
                <a:endParaRPr lang="en-US" sz="2000" kern="100">
                  <a:solidFill>
                    <a:prstClr val="black"/>
                  </a:solidFill>
                  <a:ea typeface="Yu Mincho" panose="02020400000000000000" pitchFamily="18" charset="-128"/>
                  <a:cs typeface="Times New Roman" panose="02020603050405020304" pitchFamily="18" charset="0"/>
                </a:endParaRPr>
              </a:p>
              <a:p>
                <a:pPr marL="742950" lvl="1" indent="-285750" defTabSz="457200">
                  <a:lnSpc>
                    <a:spcPct val="150000"/>
                  </a:lnSpc>
                  <a:buFontTx/>
                  <a:buChar char="-"/>
                </a:pPr>
                <a:r>
                  <a:rPr lang="en-US" sz="2000">
                    <a:solidFill>
                      <a:prstClr val="black"/>
                    </a:solidFill>
                    <a:latin typeface="Times New Roman" panose="02020603050405020304" pitchFamily="18" charset="0"/>
                    <a:ea typeface="Yu Mincho" panose="02020400000000000000" pitchFamily="18" charset="-128"/>
                  </a:rPr>
                  <a:t>Độ </a:t>
                </a:r>
                <a:r>
                  <a:rPr lang="en-US" sz="2000" err="1">
                    <a:solidFill>
                      <a:prstClr val="black"/>
                    </a:solidFill>
                    <a:latin typeface="Times New Roman" panose="02020603050405020304" pitchFamily="18" charset="0"/>
                    <a:ea typeface="Yu Mincho" panose="02020400000000000000" pitchFamily="18" charset="-128"/>
                  </a:rPr>
                  <a:t>lệch</a:t>
                </a:r>
                <a:r>
                  <a:rPr lang="en-US" sz="2000">
                    <a:solidFill>
                      <a:prstClr val="black"/>
                    </a:solidFill>
                    <a:latin typeface="Times New Roman" panose="02020603050405020304" pitchFamily="18" charset="0"/>
                    <a:ea typeface="Yu Mincho" panose="02020400000000000000" pitchFamily="18" charset="-128"/>
                  </a:rPr>
                  <a:t> </a:t>
                </a:r>
                <a:r>
                  <a:rPr lang="en-US" sz="2000" err="1">
                    <a:solidFill>
                      <a:prstClr val="black"/>
                    </a:solidFill>
                    <a:latin typeface="Times New Roman" panose="02020603050405020304" pitchFamily="18" charset="0"/>
                    <a:ea typeface="Yu Mincho" panose="02020400000000000000" pitchFamily="18" charset="-128"/>
                  </a:rPr>
                  <a:t>tần</a:t>
                </a:r>
                <a:r>
                  <a:rPr lang="en-US" sz="2000">
                    <a:solidFill>
                      <a:prstClr val="black"/>
                    </a:solidFill>
                    <a:latin typeface="Times New Roman" panose="02020603050405020304" pitchFamily="18" charset="0"/>
                    <a:ea typeface="Yu Mincho" panose="02020400000000000000" pitchFamily="18" charset="-128"/>
                  </a:rPr>
                  <a:t> </a:t>
                </a:r>
                <a:r>
                  <a:rPr lang="en-US" sz="2000" err="1">
                    <a:solidFill>
                      <a:prstClr val="black"/>
                    </a:solidFill>
                    <a:latin typeface="Times New Roman" panose="02020603050405020304" pitchFamily="18" charset="0"/>
                    <a:ea typeface="Yu Mincho" panose="02020400000000000000" pitchFamily="18" charset="-128"/>
                  </a:rPr>
                  <a:t>số</a:t>
                </a:r>
                <a:r>
                  <a:rPr lang="en-US" sz="2000">
                    <a:solidFill>
                      <a:prstClr val="black"/>
                    </a:solidFill>
                    <a:latin typeface="Times New Roman" panose="02020603050405020304" pitchFamily="18" charset="0"/>
                    <a:ea typeface="Yu Mincho" panose="02020400000000000000" pitchFamily="18" charset="-128"/>
                  </a:rPr>
                  <a:t> </a:t>
                </a:r>
                <a:r>
                  <a:rPr lang="en-US" sz="2000" err="1">
                    <a:solidFill>
                      <a:prstClr val="black"/>
                    </a:solidFill>
                    <a:latin typeface="Times New Roman" panose="02020603050405020304" pitchFamily="18" charset="0"/>
                    <a:ea typeface="Yu Mincho" panose="02020400000000000000" pitchFamily="18" charset="-128"/>
                  </a:rPr>
                  <a:t>tối</a:t>
                </a:r>
                <a:r>
                  <a:rPr lang="en-US" sz="2000">
                    <a:solidFill>
                      <a:prstClr val="black"/>
                    </a:solidFill>
                    <a:latin typeface="Times New Roman" panose="02020603050405020304" pitchFamily="18" charset="0"/>
                    <a:ea typeface="Yu Mincho" panose="02020400000000000000" pitchFamily="18" charset="-128"/>
                  </a:rPr>
                  <a:t> </a:t>
                </a:r>
                <a:r>
                  <a:rPr lang="en-US" sz="2000" err="1">
                    <a:solidFill>
                      <a:prstClr val="black"/>
                    </a:solidFill>
                    <a:latin typeface="Times New Roman" panose="02020603050405020304" pitchFamily="18" charset="0"/>
                    <a:ea typeface="Yu Mincho" panose="02020400000000000000" pitchFamily="18" charset="-128"/>
                  </a:rPr>
                  <a:t>đa</a:t>
                </a:r>
                <a:r>
                  <a:rPr lang="en-US" sz="2000">
                    <a:solidFill>
                      <a:prstClr val="black"/>
                    </a:solidFill>
                    <a:latin typeface="Times New Roman" panose="02020603050405020304" pitchFamily="18" charset="0"/>
                    <a:ea typeface="Yu Mincho" panose="02020400000000000000" pitchFamily="18" charset="-128"/>
                  </a:rPr>
                  <a:t> </a:t>
                </a:r>
                <a:r>
                  <a:rPr lang="en-US" sz="2000" err="1">
                    <a:solidFill>
                      <a:prstClr val="black"/>
                    </a:solidFill>
                    <a:latin typeface="Times New Roman" panose="02020603050405020304" pitchFamily="18" charset="0"/>
                    <a:ea typeface="Yu Mincho" panose="02020400000000000000" pitchFamily="18" charset="-128"/>
                  </a:rPr>
                  <a:t>cho</a:t>
                </a:r>
                <a:r>
                  <a:rPr lang="en-US" sz="2000">
                    <a:solidFill>
                      <a:prstClr val="black"/>
                    </a:solidFill>
                    <a:latin typeface="Times New Roman" panose="02020603050405020304" pitchFamily="18" charset="0"/>
                    <a:ea typeface="Yu Mincho" panose="02020400000000000000" pitchFamily="18" charset="-128"/>
                  </a:rPr>
                  <a:t> </a:t>
                </a:r>
                <a:r>
                  <a:rPr lang="en-US" sz="2000" err="1">
                    <a:solidFill>
                      <a:prstClr val="black"/>
                    </a:solidFill>
                    <a:latin typeface="Times New Roman" panose="02020603050405020304" pitchFamily="18" charset="0"/>
                    <a:ea typeface="Yu Mincho" panose="02020400000000000000" pitchFamily="18" charset="-128"/>
                  </a:rPr>
                  <a:t>phép</a:t>
                </a:r>
                <a:r>
                  <a:rPr lang="en-US" sz="2000">
                    <a:solidFill>
                      <a:prstClr val="black"/>
                    </a:solidFill>
                    <a:latin typeface="Times New Roman" panose="02020603050405020304" pitchFamily="18" charset="0"/>
                    <a:ea typeface="Yu Mincho" panose="02020400000000000000" pitchFamily="18" charset="-128"/>
                  </a:rPr>
                  <a:t>:</a:t>
                </a:r>
                <a14:m>
                  <m:oMath xmlns:m="http://schemas.openxmlformats.org/officeDocument/2006/math">
                    <m:sSub>
                      <m:sSubPr>
                        <m:ctrlPr>
                          <a:rPr lang="en-US" sz="2000" i="1">
                            <a:solidFill>
                              <a:prstClr val="black"/>
                            </a:solidFill>
                            <a:latin typeface="Cambria Math" panose="02040503050406030204" pitchFamily="18" charset="0"/>
                          </a:rPr>
                        </m:ctrlPr>
                      </m:sSubPr>
                      <m:e>
                        <m:d>
                          <m:dPr>
                            <m:begChr m:val="|"/>
                            <m:endChr m:val="|"/>
                            <m:ctrlPr>
                              <a:rPr lang="en-US" sz="2000" i="1">
                                <a:solidFill>
                                  <a:prstClr val="black"/>
                                </a:solidFill>
                                <a:latin typeface="Cambria Math" panose="02040503050406030204" pitchFamily="18" charset="0"/>
                              </a:rPr>
                            </m:ctrlPr>
                          </m:dPr>
                          <m:e>
                            <m:r>
                              <a:rPr lang="en-US" sz="2000" i="1">
                                <a:solidFill>
                                  <a:prstClr val="black"/>
                                </a:solidFill>
                                <a:latin typeface="Cambria Math" panose="02040503050406030204" pitchFamily="18" charset="0"/>
                              </a:rPr>
                              <m:t>∆</m:t>
                            </m:r>
                            <m:r>
                              <a:rPr lang="en-US" sz="2000" i="1">
                                <a:solidFill>
                                  <a:prstClr val="black"/>
                                </a:solidFill>
                                <a:latin typeface="Cambria Math" panose="02040503050406030204" pitchFamily="18" charset="0"/>
                              </a:rPr>
                              <m:t>𝜔</m:t>
                            </m:r>
                          </m:e>
                        </m:d>
                      </m:e>
                      <m:sub>
                        <m:r>
                          <a:rPr lang="en-US" sz="2000" i="1">
                            <a:solidFill>
                              <a:prstClr val="black"/>
                            </a:solidFill>
                            <a:latin typeface="Cambria Math" panose="02040503050406030204" pitchFamily="18" charset="0"/>
                          </a:rPr>
                          <m:t>𝑚𝑎𝑥</m:t>
                        </m:r>
                      </m:sub>
                    </m:sSub>
                  </m:oMath>
                </a14:m>
                <a:endParaRPr lang="en-US" sz="2000">
                  <a:solidFill>
                    <a:prstClr val="black"/>
                  </a:solidFill>
                  <a:latin typeface="Arial" panose="020B0604020202020204"/>
                </a:endParaRPr>
              </a:p>
              <a:p>
                <a:pPr marL="742950" lvl="1" indent="-285750" defTabSz="457200">
                  <a:lnSpc>
                    <a:spcPct val="150000"/>
                  </a:lnSpc>
                  <a:buFontTx/>
                  <a:buChar char="-"/>
                </a:pPr>
                <a:r>
                  <a:rPr lang="vi-VN" sz="2000">
                    <a:solidFill>
                      <a:prstClr val="black"/>
                    </a:solidFill>
                    <a:latin typeface="Times New Roman" panose="02020603050405020304" pitchFamily="18" charset="0"/>
                    <a:cs typeface="Times New Roman" panose="02020603050405020304" pitchFamily="18" charset="0"/>
                  </a:rPr>
                  <a:t>Thời gian để điện áp từ 0.1V đến 0.9V: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𝑡</m:t>
                        </m:r>
                      </m:e>
                      <m:sub>
                        <m:r>
                          <a:rPr lang="en-US" sz="2000" i="1">
                            <a:latin typeface="Cambria Math" panose="02040503050406030204" pitchFamily="18" charset="0"/>
                          </a:rPr>
                          <m:t>𝑟𝑖𝑠𝑒</m:t>
                        </m:r>
                      </m:sub>
                      <m:sup>
                        <m:r>
                          <a:rPr lang="en-US" sz="2000" i="1">
                            <a:latin typeface="Cambria Math" panose="02040503050406030204" pitchFamily="18" charset="0"/>
                          </a:rPr>
                          <m:t>𝑚𝑎𝑥</m:t>
                        </m:r>
                      </m:sup>
                    </m:sSubSup>
                  </m:oMath>
                </a14:m>
                <a:endParaRPr lang="en-US" sz="2000"/>
              </a:p>
            </p:txBody>
          </p:sp>
        </mc:Choice>
        <mc:Fallback xmlns="">
          <p:sp>
            <p:nvSpPr>
              <p:cNvPr id="15" name="TextBox 3">
                <a:extLst>
                  <a:ext uri="{FF2B5EF4-FFF2-40B4-BE49-F238E27FC236}">
                    <a16:creationId xmlns:a16="http://schemas.microsoft.com/office/drawing/2014/main" id="{8DB7DA9F-7E64-E51A-AC33-366E5F34EF53}"/>
                  </a:ext>
                </a:extLst>
              </p:cNvPr>
              <p:cNvSpPr txBox="1">
                <a:spLocks noRot="1" noChangeAspect="1" noMove="1" noResize="1" noEditPoints="1" noAdjustHandles="1" noChangeArrowheads="1" noChangeShapeType="1" noTextEdit="1"/>
              </p:cNvSpPr>
              <p:nvPr/>
            </p:nvSpPr>
            <p:spPr>
              <a:xfrm>
                <a:off x="374948" y="1436239"/>
                <a:ext cx="7235816" cy="2815451"/>
              </a:xfrm>
              <a:prstGeom prst="rect">
                <a:avLst/>
              </a:prstGeom>
              <a:blipFill>
                <a:blip r:embed="rId2"/>
                <a:stretch>
                  <a:fillRect l="-759" b="-3037"/>
                </a:stretch>
              </a:blipFill>
            </p:spPr>
            <p:txBody>
              <a:bodyPr/>
              <a:lstStyle/>
              <a:p>
                <a:r>
                  <a:rPr lang="vi-VN">
                    <a:noFill/>
                  </a:rPr>
                  <a:t> </a:t>
                </a:r>
              </a:p>
            </p:txBody>
          </p:sp>
        </mc:Fallback>
      </mc:AlternateContent>
    </p:spTree>
    <p:extLst>
      <p:ext uri="{BB962C8B-B14F-4D97-AF65-F5344CB8AC3E}">
        <p14:creationId xmlns:p14="http://schemas.microsoft.com/office/powerpoint/2010/main" val="32384419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a:extLst>
              <a:ext uri="{FF2B5EF4-FFF2-40B4-BE49-F238E27FC236}">
                <a16:creationId xmlns:a16="http://schemas.microsoft.com/office/drawing/2014/main" id="{638043F5-A63B-6E6D-2ED2-C7D432E08F33}"/>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5A95C8F2-392B-E8C6-762E-B289568CC3E8}"/>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3A6E74FE-EB2A-B906-C051-A50AD37D2BE5}"/>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5" name="TextBox 23">
            <a:extLst>
              <a:ext uri="{FF2B5EF4-FFF2-40B4-BE49-F238E27FC236}">
                <a16:creationId xmlns:a16="http://schemas.microsoft.com/office/drawing/2014/main" id="{8F76BFFD-7757-E5A7-48F5-5FB6E5A11963}"/>
              </a:ext>
            </a:extLst>
          </p:cNvPr>
          <p:cNvSpPr txBox="1"/>
          <p:nvPr/>
        </p:nvSpPr>
        <p:spPr>
          <a:xfrm>
            <a:off x="374948" y="1036129"/>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2.6. </a:t>
            </a:r>
            <a:r>
              <a:rPr lang="vi-VN" sz="2000" b="1">
                <a:solidFill>
                  <a:prstClr val="black"/>
                </a:solidFill>
                <a:latin typeface="Times New Roman" panose="02020603050405020304" pitchFamily="18" charset="0"/>
                <a:cs typeface="Times New Roman" panose="02020603050405020304" pitchFamily="18" charset="0"/>
              </a:rPr>
              <a:t>Tính toán thông số bộ điều khiển VOC</a:t>
            </a:r>
          </a:p>
        </p:txBody>
      </p:sp>
      <mc:AlternateContent xmlns:mc="http://schemas.openxmlformats.org/markup-compatibility/2006" xmlns:a14="http://schemas.microsoft.com/office/drawing/2010/main">
        <mc:Choice Requires="a14">
          <p:sp>
            <p:nvSpPr>
              <p:cNvPr id="6" name="TextBox 4">
                <a:extLst>
                  <a:ext uri="{FF2B5EF4-FFF2-40B4-BE49-F238E27FC236}">
                    <a16:creationId xmlns:a16="http://schemas.microsoft.com/office/drawing/2014/main" id="{B533F288-F5B5-1362-12BA-7D00874521D7}"/>
                  </a:ext>
                </a:extLst>
              </p:cNvPr>
              <p:cNvSpPr txBox="1"/>
              <p:nvPr/>
            </p:nvSpPr>
            <p:spPr>
              <a:xfrm>
                <a:off x="374948" y="1436239"/>
                <a:ext cx="7935686" cy="369332"/>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2.6.1 </a:t>
                </a:r>
                <a:r>
                  <a:rPr lang="en-US" b="1" err="1">
                    <a:latin typeface="Times New Roman" panose="02020603050405020304" pitchFamily="18" charset="0"/>
                    <a:cs typeface="Times New Roman" panose="02020603050405020304" pitchFamily="18" charset="0"/>
                  </a:rPr>
                  <a:t>Tính</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toán</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hệ</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số</a:t>
                </a:r>
                <a:r>
                  <a:rPr lang="en-US" b="1">
                    <a:latin typeface="Times New Roman" panose="02020603050405020304" pitchFamily="18" charset="0"/>
                    <a:cs typeface="Times New Roman" panose="02020603050405020304" pitchFamily="18" charset="0"/>
                  </a:rPr>
                  <a:t> </a:t>
                </a:r>
                <a14:m>
                  <m:oMath xmlns:m="http://schemas.openxmlformats.org/officeDocument/2006/math">
                    <m:sSub>
                      <m:sSubPr>
                        <m:ctrlPr>
                          <a:rPr lang="vi-VN" sz="1800" i="1">
                            <a:effectLst/>
                            <a:latin typeface="Cambria Math" panose="02040503050406030204" pitchFamily="18" charset="0"/>
                            <a:ea typeface="Yu Mincho" panose="02020400000000000000" pitchFamily="18" charset="-128"/>
                            <a:cs typeface="Times New Roman" panose="02020603050405020304" pitchFamily="18" charset="0"/>
                          </a:rPr>
                        </m:ctrlPr>
                      </m:sSubPr>
                      <m:e>
                        <m:r>
                          <a:rPr lang="vi-VN" sz="1800" i="1">
                            <a:effectLst/>
                            <a:latin typeface="Cambria Math" panose="02040503050406030204" pitchFamily="18" charset="0"/>
                            <a:ea typeface="Yu Mincho" panose="02020400000000000000" pitchFamily="18" charset="-128"/>
                            <a:cs typeface="Times New Roman" panose="02020603050405020304" pitchFamily="18" charset="0"/>
                          </a:rPr>
                          <m:t>𝑘</m:t>
                        </m:r>
                      </m:e>
                      <m:sub>
                        <m:r>
                          <a:rPr lang="vi-VN" sz="1800" i="1">
                            <a:effectLst/>
                            <a:latin typeface="Cambria Math" panose="02040503050406030204" pitchFamily="18" charset="0"/>
                            <a:ea typeface="Yu Mincho" panose="02020400000000000000" pitchFamily="18" charset="-128"/>
                            <a:cs typeface="Times New Roman" panose="02020603050405020304" pitchFamily="18" charset="0"/>
                          </a:rPr>
                          <m:t>𝑣</m:t>
                        </m:r>
                      </m:sub>
                    </m:sSub>
                  </m:oMath>
                </a14:m>
                <a:r>
                  <a:rPr lang="en-US" b="1">
                    <a:latin typeface="Times New Roman" panose="02020603050405020304" pitchFamily="18" charset="0"/>
                    <a:cs typeface="Times New Roman" panose="02020603050405020304" pitchFamily="18" charset="0"/>
                  </a:rPr>
                  <a:t> và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𝑘</m:t>
                        </m:r>
                      </m:e>
                      <m:sub>
                        <m:r>
                          <a:rPr lang="vi-VN" i="1">
                            <a:latin typeface="Cambria Math" panose="02040503050406030204" pitchFamily="18" charset="0"/>
                          </a:rPr>
                          <m:t>𝑖</m:t>
                        </m:r>
                      </m:sub>
                    </m:sSub>
                  </m:oMath>
                </a14:m>
                <a:r>
                  <a:rPr lang="en-US" b="1">
                    <a:latin typeface="Times New Roman" panose="02020603050405020304" pitchFamily="18" charset="0"/>
                    <a:cs typeface="Times New Roman" panose="02020603050405020304" pitchFamily="18" charset="0"/>
                  </a:rPr>
                  <a:t>.</a:t>
                </a:r>
              </a:p>
            </p:txBody>
          </p:sp>
        </mc:Choice>
        <mc:Fallback xmlns="">
          <p:sp>
            <p:nvSpPr>
              <p:cNvPr id="6" name="TextBox 4">
                <a:extLst>
                  <a:ext uri="{FF2B5EF4-FFF2-40B4-BE49-F238E27FC236}">
                    <a16:creationId xmlns:a16="http://schemas.microsoft.com/office/drawing/2014/main" id="{B533F288-F5B5-1362-12BA-7D00874521D7}"/>
                  </a:ext>
                </a:extLst>
              </p:cNvPr>
              <p:cNvSpPr txBox="1">
                <a:spLocks noRot="1" noChangeAspect="1" noMove="1" noResize="1" noEditPoints="1" noAdjustHandles="1" noChangeArrowheads="1" noChangeShapeType="1" noTextEdit="1"/>
              </p:cNvSpPr>
              <p:nvPr/>
            </p:nvSpPr>
            <p:spPr>
              <a:xfrm>
                <a:off x="374948" y="1436239"/>
                <a:ext cx="7935686" cy="369332"/>
              </a:xfrm>
              <a:prstGeom prst="rect">
                <a:avLst/>
              </a:prstGeom>
              <a:blipFill>
                <a:blip r:embed="rId2"/>
                <a:stretch>
                  <a:fillRect l="-692" t="-10000" b="-26667"/>
                </a:stretch>
              </a:blipFill>
            </p:spPr>
            <p:txBody>
              <a:bodyPr/>
              <a:lstStyle/>
              <a:p>
                <a:r>
                  <a:rPr lang="vi-VN">
                    <a:noFill/>
                  </a:rPr>
                  <a:t> </a:t>
                </a:r>
              </a:p>
            </p:txBody>
          </p:sp>
        </mc:Fallback>
      </mc:AlternateContent>
      <p:cxnSp>
        <p:nvCxnSpPr>
          <p:cNvPr id="8" name="Straight Connector 6">
            <a:extLst>
              <a:ext uri="{FF2B5EF4-FFF2-40B4-BE49-F238E27FC236}">
                <a16:creationId xmlns:a16="http://schemas.microsoft.com/office/drawing/2014/main" id="{A847039A-70E7-6B6C-DCB5-2D4FFA9B7D90}"/>
              </a:ext>
            </a:extLst>
          </p:cNvPr>
          <p:cNvCxnSpPr>
            <a:cxnSpLocks/>
          </p:cNvCxnSpPr>
          <p:nvPr/>
        </p:nvCxnSpPr>
        <p:spPr>
          <a:xfrm>
            <a:off x="5547344" y="1805571"/>
            <a:ext cx="0" cy="3409868"/>
          </a:xfrm>
          <a:prstGeom prst="line">
            <a:avLst/>
          </a:prstGeom>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9" name="TextBox 13">
                <a:extLst>
                  <a:ext uri="{FF2B5EF4-FFF2-40B4-BE49-F238E27FC236}">
                    <a16:creationId xmlns:a16="http://schemas.microsoft.com/office/drawing/2014/main" id="{6367943E-66FB-D244-C636-55D7B69353AB}"/>
                  </a:ext>
                </a:extLst>
              </p:cNvPr>
              <p:cNvSpPr txBox="1"/>
              <p:nvPr/>
            </p:nvSpPr>
            <p:spPr>
              <a:xfrm>
                <a:off x="2929801" y="2338538"/>
                <a:ext cx="464694" cy="369332"/>
              </a:xfrm>
              <a:prstGeom prst="rect">
                <a:avLst/>
              </a:prstGeom>
              <a:noFill/>
            </p:spPr>
            <p:txBody>
              <a:bodyPr wrap="square">
                <a:spAutoFit/>
              </a:bodyPr>
              <a:lstStyle/>
              <a:p>
                <a14:m>
                  <m:oMath xmlns:m="http://schemas.openxmlformats.org/officeDocument/2006/math">
                    <m:sSub>
                      <m:sSubPr>
                        <m:ctrlPr>
                          <a:rPr lang="vi-VN" sz="1800" i="1">
                            <a:effectLst/>
                            <a:latin typeface="Cambria Math" panose="02040503050406030204" pitchFamily="18" charset="0"/>
                            <a:ea typeface="Yu Mincho" panose="02020400000000000000" pitchFamily="18" charset="-128"/>
                            <a:cs typeface="Times New Roman" panose="02020603050405020304" pitchFamily="18" charset="0"/>
                          </a:rPr>
                        </m:ctrlPr>
                      </m:sSubPr>
                      <m:e>
                        <m:r>
                          <a:rPr lang="vi-VN" sz="1800" i="1">
                            <a:effectLst/>
                            <a:latin typeface="Cambria Math" panose="02040503050406030204" pitchFamily="18" charset="0"/>
                            <a:ea typeface="Yu Mincho" panose="02020400000000000000" pitchFamily="18" charset="-128"/>
                            <a:cs typeface="Times New Roman" panose="02020603050405020304" pitchFamily="18" charset="0"/>
                          </a:rPr>
                          <m:t>𝑘</m:t>
                        </m:r>
                      </m:e>
                      <m:sub>
                        <m:r>
                          <a:rPr lang="vi-VN" sz="1800" i="1">
                            <a:effectLst/>
                            <a:latin typeface="Cambria Math" panose="02040503050406030204" pitchFamily="18" charset="0"/>
                            <a:ea typeface="Yu Mincho" panose="02020400000000000000" pitchFamily="18" charset="-128"/>
                            <a:cs typeface="Times New Roman" panose="02020603050405020304" pitchFamily="18" charset="0"/>
                          </a:rPr>
                          <m:t>𝑣</m:t>
                        </m:r>
                      </m:sub>
                    </m:sSub>
                  </m:oMath>
                </a14:m>
                <a:r>
                  <a:rPr lang="en-US" b="1">
                    <a:latin typeface="Times New Roman" panose="02020603050405020304" pitchFamily="18" charset="0"/>
                    <a:cs typeface="Times New Roman" panose="02020603050405020304" pitchFamily="18" charset="0"/>
                  </a:rPr>
                  <a:t> </a:t>
                </a:r>
                <a:endParaRPr lang="en-US"/>
              </a:p>
            </p:txBody>
          </p:sp>
        </mc:Choice>
        <mc:Fallback xmlns="">
          <p:sp>
            <p:nvSpPr>
              <p:cNvPr id="9" name="TextBox 13">
                <a:extLst>
                  <a:ext uri="{FF2B5EF4-FFF2-40B4-BE49-F238E27FC236}">
                    <a16:creationId xmlns:a16="http://schemas.microsoft.com/office/drawing/2014/main" id="{6367943E-66FB-D244-C636-55D7B69353AB}"/>
                  </a:ext>
                </a:extLst>
              </p:cNvPr>
              <p:cNvSpPr txBox="1">
                <a:spLocks noRot="1" noChangeAspect="1" noMove="1" noResize="1" noEditPoints="1" noAdjustHandles="1" noChangeArrowheads="1" noChangeShapeType="1" noTextEdit="1"/>
              </p:cNvSpPr>
              <p:nvPr/>
            </p:nvSpPr>
            <p:spPr>
              <a:xfrm>
                <a:off x="2929801" y="2338538"/>
                <a:ext cx="464694" cy="369332"/>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 name="TextBox 16">
                <a:extLst>
                  <a:ext uri="{FF2B5EF4-FFF2-40B4-BE49-F238E27FC236}">
                    <a16:creationId xmlns:a16="http://schemas.microsoft.com/office/drawing/2014/main" id="{4C24E404-F54B-A29B-994F-05B1C074D875}"/>
                  </a:ext>
                </a:extLst>
              </p:cNvPr>
              <p:cNvSpPr txBox="1"/>
              <p:nvPr/>
            </p:nvSpPr>
            <p:spPr>
              <a:xfrm>
                <a:off x="7741316" y="2205681"/>
                <a:ext cx="487179" cy="369332"/>
              </a:xfrm>
              <a:prstGeom prst="rect">
                <a:avLst/>
              </a:prstGeom>
              <a:noFill/>
            </p:spPr>
            <p:txBody>
              <a:bodyPr wrap="square">
                <a:spAutoFit/>
              </a:bodyPr>
              <a:lstStyle/>
              <a:p>
                <a:pPr/>
                <a14:m>
                  <m:oMathPara xmlns:m="http://schemas.openxmlformats.org/officeDocument/2006/math">
                    <m:oMath>
                      <m:sSub>
                        <m:sSubPr>
                          <m:ctrlPr>
                            <a:rPr lang="vi-VN" i="1">
                              <a:latin typeface="Cambria Math" panose="02040503050406030204" pitchFamily="18" charset="0"/>
                            </a:rPr>
                          </m:ctrlPr>
                        </m:sSubPr>
                        <m:e>
                          <m:r>
                            <a:rPr lang="vi-VN" i="1">
                              <a:latin typeface="Cambria Math" panose="02040503050406030204" pitchFamily="18" charset="0"/>
                            </a:rPr>
                            <m:t>𝑘</m:t>
                          </m:r>
                        </m:e>
                        <m:sub>
                          <m:r>
                            <a:rPr lang="vi-VN" i="1">
                              <a:latin typeface="Cambria Math" panose="02040503050406030204" pitchFamily="18" charset="0"/>
                            </a:rPr>
                            <m:t>𝑖</m:t>
                          </m:r>
                        </m:sub>
                      </m:sSub>
                    </m:oMath>
                  </m:oMathPara>
                </a14:m>
                <a:endParaRPr lang="en-US"/>
              </a:p>
            </p:txBody>
          </p:sp>
        </mc:Choice>
        <mc:Fallback xmlns="">
          <p:sp>
            <p:nvSpPr>
              <p:cNvPr id="10" name="TextBox 16">
                <a:extLst>
                  <a:ext uri="{FF2B5EF4-FFF2-40B4-BE49-F238E27FC236}">
                    <a16:creationId xmlns:a16="http://schemas.microsoft.com/office/drawing/2014/main" id="{4C24E404-F54B-A29B-994F-05B1C074D875}"/>
                  </a:ext>
                </a:extLst>
              </p:cNvPr>
              <p:cNvSpPr txBox="1">
                <a:spLocks noRot="1" noChangeAspect="1" noMove="1" noResize="1" noEditPoints="1" noAdjustHandles="1" noChangeArrowheads="1" noChangeShapeType="1" noTextEdit="1"/>
              </p:cNvSpPr>
              <p:nvPr/>
            </p:nvSpPr>
            <p:spPr>
              <a:xfrm>
                <a:off x="7741316" y="2205681"/>
                <a:ext cx="487179" cy="369332"/>
              </a:xfrm>
              <a:prstGeom prst="rect">
                <a:avLst/>
              </a:prstGeom>
              <a:blipFill>
                <a:blip r:embed="rId4"/>
                <a:stretch>
                  <a:fillRect b="-1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TextBox 19">
                <a:extLst>
                  <a:ext uri="{FF2B5EF4-FFF2-40B4-BE49-F238E27FC236}">
                    <a16:creationId xmlns:a16="http://schemas.microsoft.com/office/drawing/2014/main" id="{5266B488-6564-B014-3621-A6313BF189EA}"/>
                  </a:ext>
                </a:extLst>
              </p:cNvPr>
              <p:cNvSpPr txBox="1"/>
              <p:nvPr/>
            </p:nvSpPr>
            <p:spPr>
              <a:xfrm>
                <a:off x="637309" y="2641679"/>
                <a:ext cx="4925409" cy="923330"/>
              </a:xfrm>
              <a:prstGeom prst="rect">
                <a:avLst/>
              </a:prstGeom>
              <a:noFill/>
            </p:spPr>
            <p:txBody>
              <a:bodyPr wrap="square">
                <a:spAutoFit/>
              </a:bodyPr>
              <a:lstStyle/>
              <a:p>
                <a:r>
                  <a:rPr lang="en-US" err="1">
                    <a:effectLst/>
                    <a:latin typeface="Times New Roman" panose="02020603050405020304" pitchFamily="18" charset="0"/>
                    <a:ea typeface="Yu Mincho" panose="02020400000000000000" pitchFamily="18" charset="-128"/>
                    <a:cs typeface="Times New Roman" panose="02020603050405020304" pitchFamily="18" charset="0"/>
                  </a:rPr>
                  <a:t>Hệ</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số</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14:m>
                  <m:oMath xmlns:m="http://schemas.openxmlformats.org/officeDocument/2006/math">
                    <m:sSub>
                      <m:sSubPr>
                        <m:ctrlPr>
                          <a:rPr lang="vi-VN" i="1">
                            <a:effectLst/>
                            <a:latin typeface="Cambria Math" panose="02040503050406030204" pitchFamily="18" charset="0"/>
                            <a:ea typeface="Yu Mincho" panose="02020400000000000000" pitchFamily="18" charset="-128"/>
                            <a:cs typeface="Times New Roman" panose="02020603050405020304" pitchFamily="18" charset="0"/>
                          </a:rPr>
                        </m:ctrlPr>
                      </m:sSubPr>
                      <m:e>
                        <m:r>
                          <a:rPr lang="vi-VN" i="1">
                            <a:effectLst/>
                            <a:latin typeface="Cambria Math" panose="02040503050406030204" pitchFamily="18" charset="0"/>
                            <a:ea typeface="Yu Mincho" panose="02020400000000000000" pitchFamily="18" charset="-128"/>
                            <a:cs typeface="Times New Roman" panose="02020603050405020304" pitchFamily="18" charset="0"/>
                          </a:rPr>
                          <m:t>𝑘</m:t>
                        </m:r>
                      </m:e>
                      <m:sub>
                        <m:r>
                          <a:rPr lang="vi-VN" i="1">
                            <a:effectLst/>
                            <a:latin typeface="Cambria Math" panose="02040503050406030204" pitchFamily="18" charset="0"/>
                            <a:ea typeface="Yu Mincho" panose="02020400000000000000" pitchFamily="18" charset="-128"/>
                            <a:cs typeface="Times New Roman" panose="02020603050405020304" pitchFamily="18" charset="0"/>
                          </a:rPr>
                          <m:t>𝑣</m:t>
                        </m:r>
                      </m:sub>
                    </m:sSub>
                  </m:oMath>
                </a14:m>
                <a:r>
                  <a:rPr lang="en-US" b="1">
                    <a:latin typeface="Times New Roman" panose="02020603050405020304" pitchFamily="18" charset="0"/>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được</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chọn</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sao</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cho</a:t>
                </a:r>
                <a:r>
                  <a:rPr lang="vi-VN">
                    <a:effectLst/>
                    <a:latin typeface="Times New Roman" panose="02020603050405020304" pitchFamily="18" charset="0"/>
                    <a:ea typeface="Yu Mincho" panose="02020400000000000000" pitchFamily="18" charset="-128"/>
                    <a:cs typeface="Times New Roman" panose="02020603050405020304" pitchFamily="18" charset="0"/>
                  </a:rPr>
                  <a:t> khi</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điện</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áp</a:t>
                </a:r>
                <a:r>
                  <a:rPr lang="en-US">
                    <a:effectLst/>
                    <a:latin typeface="Times New Roman" panose="02020603050405020304" pitchFamily="18" charset="0"/>
                    <a:ea typeface="Yu Mincho" panose="02020400000000000000" pitchFamily="18" charset="-128"/>
                    <a:cs typeface="Times New Roman" panose="02020603050405020304" pitchFamily="18" charset="0"/>
                  </a:rPr>
                  <a:t> (𝑅𝑀𝑆)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trong</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bộ</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tạo</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dao</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động</a:t>
                </a:r>
                <a:r>
                  <a:rPr lang="vi-VN">
                    <a:effectLst/>
                    <a:latin typeface="Times New Roman" panose="02020603050405020304" pitchFamily="18" charset="0"/>
                    <a:ea typeface="Yu Mincho" panose="02020400000000000000" pitchFamily="18" charset="-128"/>
                    <a:cs typeface="Times New Roman" panose="02020603050405020304" pitchFamily="18" charset="0"/>
                  </a:rPr>
                  <a:t> đạt giá trị 1V thì</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tương</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ứng</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với</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giá</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trị</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điện</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áp</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hở</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mạch</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cho</a:t>
                </a:r>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en-US" err="1">
                    <a:effectLst/>
                    <a:latin typeface="Times New Roman" panose="02020603050405020304" pitchFamily="18" charset="0"/>
                    <a:ea typeface="Yu Mincho" panose="02020400000000000000" pitchFamily="18" charset="-128"/>
                    <a:cs typeface="Times New Roman" panose="02020603050405020304" pitchFamily="18" charset="0"/>
                  </a:rPr>
                  <a:t>phép</a:t>
                </a:r>
                <a:r>
                  <a:rPr lang="en-US">
                    <a:effectLst/>
                    <a:latin typeface="Times New Roman" panose="02020603050405020304" pitchFamily="18" charset="0"/>
                    <a:ea typeface="Yu Mincho" panose="02020400000000000000" pitchFamily="18" charset="-128"/>
                    <a:cs typeface="Times New Roman" panose="02020603050405020304" pitchFamily="18" charset="0"/>
                  </a:rPr>
                  <a:t>:</a:t>
                </a:r>
                <a:endParaRPr lang="en-US">
                  <a:latin typeface="Times New Roman" panose="02020603050405020304" pitchFamily="18" charset="0"/>
                  <a:cs typeface="Times New Roman" panose="02020603050405020304" pitchFamily="18" charset="0"/>
                </a:endParaRPr>
              </a:p>
            </p:txBody>
          </p:sp>
        </mc:Choice>
        <mc:Fallback xmlns="">
          <p:sp>
            <p:nvSpPr>
              <p:cNvPr id="11" name="TextBox 19">
                <a:extLst>
                  <a:ext uri="{FF2B5EF4-FFF2-40B4-BE49-F238E27FC236}">
                    <a16:creationId xmlns:a16="http://schemas.microsoft.com/office/drawing/2014/main" id="{5266B488-6564-B014-3621-A6313BF189EA}"/>
                  </a:ext>
                </a:extLst>
              </p:cNvPr>
              <p:cNvSpPr txBox="1">
                <a:spLocks noRot="1" noChangeAspect="1" noMove="1" noResize="1" noEditPoints="1" noAdjustHandles="1" noChangeArrowheads="1" noChangeShapeType="1" noTextEdit="1"/>
              </p:cNvSpPr>
              <p:nvPr/>
            </p:nvSpPr>
            <p:spPr>
              <a:xfrm>
                <a:off x="637309" y="2641679"/>
                <a:ext cx="4925409" cy="923330"/>
              </a:xfrm>
              <a:prstGeom prst="rect">
                <a:avLst/>
              </a:prstGeom>
              <a:blipFill>
                <a:blip r:embed="rId5"/>
                <a:stretch>
                  <a:fillRect l="-1114" t="-3947" b="-92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 name="TextBox 22">
                <a:extLst>
                  <a:ext uri="{FF2B5EF4-FFF2-40B4-BE49-F238E27FC236}">
                    <a16:creationId xmlns:a16="http://schemas.microsoft.com/office/drawing/2014/main" id="{34FF38C5-A2E0-7A57-2DD4-8CAEC33B3034}"/>
                  </a:ext>
                </a:extLst>
              </p:cNvPr>
              <p:cNvSpPr txBox="1"/>
              <p:nvPr/>
            </p:nvSpPr>
            <p:spPr>
              <a:xfrm>
                <a:off x="1398882" y="3560373"/>
                <a:ext cx="3884991" cy="517642"/>
              </a:xfrm>
              <a:prstGeom prst="rect">
                <a:avLst/>
              </a:prstGeom>
              <a:noFill/>
            </p:spPr>
            <p:txBody>
              <a:bodyPr wrap="square">
                <a:spAutoFit/>
              </a:bodyPr>
              <a:lstStyle/>
              <a:p>
                <a:pPr algn="ct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𝑘</m:t>
                        </m:r>
                      </m:e>
                      <m:sub>
                        <m:r>
                          <a:rPr lang="vi-VN" i="1">
                            <a:latin typeface="Cambria Math" panose="02040503050406030204" pitchFamily="18" charset="0"/>
                          </a:rPr>
                          <m:t>𝑣</m:t>
                        </m:r>
                      </m:sub>
                    </m:sSub>
                    <m:r>
                      <a:rPr lang="vi-VN" i="1">
                        <a:latin typeface="Cambria Math" panose="02040503050406030204" pitchFamily="18" charset="0"/>
                      </a:rPr>
                      <m:t>=</m:t>
                    </m:r>
                    <m:f>
                      <m:fPr>
                        <m:ctrlPr>
                          <a:rPr lang="vi-VN" i="1">
                            <a:latin typeface="Cambria Math" panose="02040503050406030204" pitchFamily="18" charset="0"/>
                          </a:rPr>
                        </m:ctrlPr>
                      </m:fPr>
                      <m:num>
                        <m:sSup>
                          <m:sSupPr>
                            <m:ctrlPr>
                              <a:rPr lang="vi-VN" i="1">
                                <a:latin typeface="Cambria Math" panose="02040503050406030204" pitchFamily="18" charset="0"/>
                              </a:rPr>
                            </m:ctrlPr>
                          </m:sSupPr>
                          <m:e>
                            <m:r>
                              <a:rPr lang="vi-VN" i="1">
                                <a:latin typeface="Cambria Math" panose="02040503050406030204" pitchFamily="18" charset="0"/>
                              </a:rPr>
                              <m:t>𝑉</m:t>
                            </m:r>
                          </m:e>
                          <m:sup>
                            <m:r>
                              <a:rPr lang="vi-VN" i="1">
                                <a:latin typeface="Cambria Math" panose="02040503050406030204" pitchFamily="18" charset="0"/>
                              </a:rPr>
                              <m:t>∗</m:t>
                            </m:r>
                          </m:sup>
                        </m:sSup>
                      </m:num>
                      <m:den>
                        <m:rad>
                          <m:radPr>
                            <m:degHide m:val="on"/>
                            <m:ctrlPr>
                              <a:rPr lang="vi-VN" i="1">
                                <a:latin typeface="Cambria Math" panose="02040503050406030204" pitchFamily="18" charset="0"/>
                              </a:rPr>
                            </m:ctrlPr>
                          </m:radPr>
                          <m:deg/>
                          <m:e>
                            <m:r>
                              <a:rPr lang="vi-VN" i="1">
                                <a:latin typeface="Cambria Math" panose="02040503050406030204" pitchFamily="18" charset="0"/>
                              </a:rPr>
                              <m:t>2</m:t>
                            </m:r>
                          </m:e>
                        </m:rad>
                      </m:den>
                    </m:f>
                  </m:oMath>
                </a14:m>
                <a:r>
                  <a:rPr lang="vi-VN"/>
                  <a:t>    </a:t>
                </a:r>
                <a:r>
                  <a:rPr lang="vi-VN">
                    <a:latin typeface="Times New Roman" panose="02020603050405020304" pitchFamily="18" charset="0"/>
                    <a:cs typeface="Times New Roman" panose="02020603050405020304" pitchFamily="18" charset="0"/>
                  </a:rPr>
                  <a:t>(14)</a:t>
                </a:r>
                <a:endParaRPr lang="en-US">
                  <a:latin typeface="Times New Roman" panose="02020603050405020304" pitchFamily="18" charset="0"/>
                  <a:cs typeface="Times New Roman" panose="02020603050405020304" pitchFamily="18" charset="0"/>
                </a:endParaRPr>
              </a:p>
            </p:txBody>
          </p:sp>
        </mc:Choice>
        <mc:Fallback xmlns="">
          <p:sp>
            <p:nvSpPr>
              <p:cNvPr id="12" name="TextBox 22">
                <a:extLst>
                  <a:ext uri="{FF2B5EF4-FFF2-40B4-BE49-F238E27FC236}">
                    <a16:creationId xmlns:a16="http://schemas.microsoft.com/office/drawing/2014/main" id="{34FF38C5-A2E0-7A57-2DD4-8CAEC33B3034}"/>
                  </a:ext>
                </a:extLst>
              </p:cNvPr>
              <p:cNvSpPr txBox="1">
                <a:spLocks noRot="1" noChangeAspect="1" noMove="1" noResize="1" noEditPoints="1" noAdjustHandles="1" noChangeArrowheads="1" noChangeShapeType="1" noTextEdit="1"/>
              </p:cNvSpPr>
              <p:nvPr/>
            </p:nvSpPr>
            <p:spPr>
              <a:xfrm>
                <a:off x="1398882" y="3560373"/>
                <a:ext cx="3884991" cy="517642"/>
              </a:xfrm>
              <a:prstGeom prst="rect">
                <a:avLst/>
              </a:prstGeom>
              <a:blipFill>
                <a:blip r:embed="rId6"/>
                <a:stretch>
                  <a:fillRect b="-352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 name="TextBox 24">
                <a:extLst>
                  <a:ext uri="{FF2B5EF4-FFF2-40B4-BE49-F238E27FC236}">
                    <a16:creationId xmlns:a16="http://schemas.microsoft.com/office/drawing/2014/main" id="{2547A574-48E4-8C0C-05DB-BBD9C819457B}"/>
                  </a:ext>
                </a:extLst>
              </p:cNvPr>
              <p:cNvSpPr txBox="1"/>
              <p:nvPr/>
            </p:nvSpPr>
            <p:spPr>
              <a:xfrm>
                <a:off x="5610073" y="2680119"/>
                <a:ext cx="4601980" cy="664797"/>
              </a:xfrm>
              <a:prstGeom prst="rect">
                <a:avLst/>
              </a:prstGeom>
              <a:noFill/>
            </p:spPr>
            <p:txBody>
              <a:bodyPr wrap="square">
                <a:spAutoFit/>
              </a:bodyPr>
              <a:lstStyle/>
              <a:p>
                <a:pPr marL="0" marR="0" algn="just">
                  <a:lnSpc>
                    <a:spcPct val="107000"/>
                  </a:lnSpc>
                  <a:spcBef>
                    <a:spcPts val="0"/>
                  </a:spcBef>
                  <a:spcAft>
                    <a:spcPts val="800"/>
                  </a:spcAft>
                </a:pPr>
                <a:r>
                  <a:rPr lang="en-US" kern="100" err="1">
                    <a:effectLst/>
                    <a:latin typeface="Times New Roman" panose="02020603050405020304" pitchFamily="18" charset="0"/>
                    <a:ea typeface="Yu Mincho" panose="02020400000000000000" pitchFamily="18" charset="-128"/>
                    <a:cs typeface="Times New Roman" panose="02020603050405020304" pitchFamily="18" charset="0"/>
                  </a:rPr>
                  <a:t>Hệ</a:t>
                </a:r>
                <a:r>
                  <a:rPr lang="en-US" kern="100">
                    <a:effectLst/>
                    <a:latin typeface="Times New Roman" panose="02020603050405020304" pitchFamily="18" charset="0"/>
                    <a:ea typeface="Yu Mincho" panose="02020400000000000000" pitchFamily="18" charset="-128"/>
                    <a:cs typeface="Times New Roman" panose="02020603050405020304" pitchFamily="18" charset="0"/>
                  </a:rPr>
                  <a:t> </a:t>
                </a:r>
                <a:r>
                  <a:rPr lang="en-US" kern="100" err="1">
                    <a:effectLst/>
                    <a:latin typeface="Times New Roman" panose="02020603050405020304" pitchFamily="18" charset="0"/>
                    <a:ea typeface="Yu Mincho" panose="02020400000000000000" pitchFamily="18" charset="-128"/>
                    <a:cs typeface="Times New Roman" panose="02020603050405020304" pitchFamily="18" charset="0"/>
                  </a:rPr>
                  <a:t>số</a:t>
                </a:r>
                <a:r>
                  <a:rPr lang="en-US" kern="100">
                    <a:effectLst/>
                    <a:latin typeface="Times New Roman" panose="02020603050405020304" pitchFamily="18" charset="0"/>
                    <a:ea typeface="Yu Mincho" panose="02020400000000000000" pitchFamily="18" charset="-128"/>
                    <a:cs typeface="Times New Roman" panose="02020603050405020304" pitchFamily="18" charset="0"/>
                  </a:rPr>
                  <a:t>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𝑘</m:t>
                        </m:r>
                      </m:e>
                      <m:sub>
                        <m:r>
                          <a:rPr lang="vi-VN" i="1">
                            <a:latin typeface="Cambria Math" panose="02040503050406030204" pitchFamily="18" charset="0"/>
                          </a:rPr>
                          <m:t>𝑖</m:t>
                        </m:r>
                      </m:sub>
                    </m:sSub>
                  </m:oMath>
                </a14:m>
                <a:r>
                  <a:rPr lang="en-US" kern="100">
                    <a:effectLst/>
                    <a:latin typeface="Times New Roman" panose="02020603050405020304" pitchFamily="18" charset="0"/>
                    <a:ea typeface="Yu Mincho" panose="02020400000000000000" pitchFamily="18" charset="-128"/>
                    <a:cs typeface="Times New Roman" panose="02020603050405020304" pitchFamily="18" charset="0"/>
                  </a:rPr>
                  <a:t> </a:t>
                </a:r>
                <a:r>
                  <a:rPr lang="en-US" kern="100" err="1">
                    <a:effectLst/>
                    <a:latin typeface="Times New Roman" panose="02020603050405020304" pitchFamily="18" charset="0"/>
                    <a:ea typeface="Yu Mincho" panose="02020400000000000000" pitchFamily="18" charset="-128"/>
                    <a:cs typeface="Times New Roman" panose="02020603050405020304" pitchFamily="18" charset="0"/>
                  </a:rPr>
                  <a:t>được</a:t>
                </a:r>
                <a:r>
                  <a:rPr lang="en-US" kern="100">
                    <a:effectLst/>
                    <a:latin typeface="Times New Roman" panose="02020603050405020304" pitchFamily="18" charset="0"/>
                    <a:ea typeface="Yu Mincho" panose="02020400000000000000" pitchFamily="18" charset="-128"/>
                    <a:cs typeface="Times New Roman" panose="02020603050405020304" pitchFamily="18" charset="0"/>
                  </a:rPr>
                  <a:t> </a:t>
                </a:r>
                <a:r>
                  <a:rPr lang="en-US" kern="100" err="1">
                    <a:effectLst/>
                    <a:latin typeface="Times New Roman" panose="02020603050405020304" pitchFamily="18" charset="0"/>
                    <a:ea typeface="Yu Mincho" panose="02020400000000000000" pitchFamily="18" charset="-128"/>
                    <a:cs typeface="Times New Roman" panose="02020603050405020304" pitchFamily="18" charset="0"/>
                  </a:rPr>
                  <a:t>chọn</a:t>
                </a:r>
                <a:r>
                  <a:rPr lang="en-US" kern="100">
                    <a:effectLst/>
                    <a:latin typeface="Times New Roman" panose="02020603050405020304" pitchFamily="18" charset="0"/>
                    <a:ea typeface="Yu Mincho" panose="02020400000000000000" pitchFamily="18" charset="-128"/>
                    <a:cs typeface="Times New Roman" panose="02020603050405020304" pitchFamily="18" charset="0"/>
                  </a:rPr>
                  <a:t> </a:t>
                </a:r>
                <a:r>
                  <a:rPr lang="en-US" kern="100" err="1">
                    <a:effectLst/>
                    <a:latin typeface="Times New Roman" panose="02020603050405020304" pitchFamily="18" charset="0"/>
                    <a:ea typeface="Yu Mincho" panose="02020400000000000000" pitchFamily="18" charset="-128"/>
                    <a:cs typeface="Times New Roman" panose="02020603050405020304" pitchFamily="18" charset="0"/>
                  </a:rPr>
                  <a:t>sao</a:t>
                </a:r>
                <a:r>
                  <a:rPr lang="en-US" kern="100">
                    <a:effectLst/>
                    <a:latin typeface="Times New Roman" panose="02020603050405020304" pitchFamily="18" charset="0"/>
                    <a:ea typeface="Yu Mincho" panose="02020400000000000000" pitchFamily="18" charset="-128"/>
                    <a:cs typeface="Times New Roman" panose="02020603050405020304" pitchFamily="18" charset="0"/>
                  </a:rPr>
                  <a:t> </a:t>
                </a:r>
                <a:r>
                  <a:rPr lang="en-US" kern="100" err="1">
                    <a:effectLst/>
                    <a:latin typeface="Times New Roman" panose="02020603050405020304" pitchFamily="18" charset="0"/>
                    <a:ea typeface="Yu Mincho" panose="02020400000000000000" pitchFamily="18" charset="-128"/>
                    <a:cs typeface="Times New Roman" panose="02020603050405020304" pitchFamily="18" charset="0"/>
                  </a:rPr>
                  <a:t>cho</a:t>
                </a:r>
                <a:r>
                  <a:rPr lang="en-US" kern="100">
                    <a:effectLst/>
                    <a:latin typeface="Times New Roman" panose="02020603050405020304" pitchFamily="18" charset="0"/>
                    <a:ea typeface="Yu Mincho" panose="02020400000000000000" pitchFamily="18" charset="-128"/>
                    <a:cs typeface="Times New Roman" panose="02020603050405020304" pitchFamily="18" charset="0"/>
                  </a:rPr>
                  <a:t> </a:t>
                </a:r>
                <a:r>
                  <a:rPr lang="en-US" kern="100" err="1">
                    <a:effectLst/>
                    <a:latin typeface="Times New Roman" panose="02020603050405020304" pitchFamily="18" charset="0"/>
                    <a:ea typeface="Yu Mincho" panose="02020400000000000000" pitchFamily="18" charset="-128"/>
                    <a:cs typeface="Times New Roman" panose="02020603050405020304" pitchFamily="18" charset="0"/>
                  </a:rPr>
                  <a:t>dòng</a:t>
                </a:r>
                <a:r>
                  <a:rPr lang="en-US" kern="100">
                    <a:effectLst/>
                    <a:latin typeface="Times New Roman" panose="02020603050405020304" pitchFamily="18" charset="0"/>
                    <a:ea typeface="Yu Mincho" panose="02020400000000000000" pitchFamily="18" charset="-128"/>
                    <a:cs typeface="Times New Roman" panose="02020603050405020304" pitchFamily="18" charset="0"/>
                  </a:rPr>
                  <a:t> </a:t>
                </a:r>
                <a:r>
                  <a:rPr lang="en-US" kern="100" err="1">
                    <a:effectLst/>
                    <a:latin typeface="Times New Roman" panose="02020603050405020304" pitchFamily="18" charset="0"/>
                    <a:ea typeface="Yu Mincho" panose="02020400000000000000" pitchFamily="18" charset="-128"/>
                    <a:cs typeface="Times New Roman" panose="02020603050405020304" pitchFamily="18" charset="0"/>
                  </a:rPr>
                  <a:t>điện</a:t>
                </a:r>
                <a:r>
                  <a:rPr lang="en-US" kern="100">
                    <a:effectLst/>
                    <a:latin typeface="Times New Roman" panose="02020603050405020304" pitchFamily="18" charset="0"/>
                    <a:ea typeface="Yu Mincho" panose="02020400000000000000" pitchFamily="18" charset="-128"/>
                    <a:cs typeface="Times New Roman" panose="02020603050405020304" pitchFamily="18" charset="0"/>
                  </a:rPr>
                  <a:t> </a:t>
                </a:r>
                <a:r>
                  <a:rPr lang="en-US" kern="100" err="1">
                    <a:effectLst/>
                    <a:latin typeface="Times New Roman" panose="02020603050405020304" pitchFamily="18" charset="0"/>
                    <a:ea typeface="Yu Mincho" panose="02020400000000000000" pitchFamily="18" charset="-128"/>
                    <a:cs typeface="Times New Roman" panose="02020603050405020304" pitchFamily="18" charset="0"/>
                  </a:rPr>
                  <a:t>cuả</a:t>
                </a:r>
                <a:r>
                  <a:rPr lang="en-US" kern="100">
                    <a:effectLst/>
                    <a:latin typeface="Times New Roman" panose="02020603050405020304" pitchFamily="18" charset="0"/>
                    <a:ea typeface="Yu Mincho" panose="02020400000000000000" pitchFamily="18" charset="-128"/>
                    <a:cs typeface="Times New Roman" panose="02020603050405020304" pitchFamily="18" charset="0"/>
                  </a:rPr>
                  <a:t> </a:t>
                </a:r>
                <a:r>
                  <a:rPr lang="en-US" kern="100" err="1">
                    <a:effectLst/>
                    <a:latin typeface="Times New Roman" panose="02020603050405020304" pitchFamily="18" charset="0"/>
                    <a:ea typeface="Yu Mincho" panose="02020400000000000000" pitchFamily="18" charset="-128"/>
                    <a:cs typeface="Times New Roman" panose="02020603050405020304" pitchFamily="18" charset="0"/>
                  </a:rPr>
                  <a:t>bộ</a:t>
                </a:r>
                <a:r>
                  <a:rPr lang="en-US" kern="100">
                    <a:effectLst/>
                    <a:latin typeface="Times New Roman" panose="02020603050405020304" pitchFamily="18" charset="0"/>
                    <a:ea typeface="Yu Mincho" panose="02020400000000000000" pitchFamily="18" charset="-128"/>
                    <a:cs typeface="Times New Roman" panose="02020603050405020304" pitchFamily="18" charset="0"/>
                  </a:rPr>
                  <a:t> </a:t>
                </a:r>
                <a:r>
                  <a:rPr lang="en-US" kern="100" err="1">
                    <a:effectLst/>
                    <a:latin typeface="Times New Roman" panose="02020603050405020304" pitchFamily="18" charset="0"/>
                    <a:ea typeface="Yu Mincho" panose="02020400000000000000" pitchFamily="18" charset="-128"/>
                    <a:cs typeface="Times New Roman" panose="02020603050405020304" pitchFamily="18" charset="0"/>
                  </a:rPr>
                  <a:t>dao</a:t>
                </a:r>
                <a:r>
                  <a:rPr lang="en-US" kern="100">
                    <a:effectLst/>
                    <a:latin typeface="Times New Roman" panose="02020603050405020304" pitchFamily="18" charset="0"/>
                    <a:ea typeface="Yu Mincho" panose="02020400000000000000" pitchFamily="18" charset="-128"/>
                    <a:cs typeface="Times New Roman" panose="02020603050405020304" pitchFamily="18" charset="0"/>
                  </a:rPr>
                  <a:t> </a:t>
                </a:r>
                <a:r>
                  <a:rPr lang="en-US" kern="100" err="1">
                    <a:effectLst/>
                    <a:latin typeface="Times New Roman" panose="02020603050405020304" pitchFamily="18" charset="0"/>
                    <a:ea typeface="Yu Mincho" panose="02020400000000000000" pitchFamily="18" charset="-128"/>
                    <a:cs typeface="Times New Roman" panose="02020603050405020304" pitchFamily="18" charset="0"/>
                  </a:rPr>
                  <a:t>động</a:t>
                </a:r>
                <a:r>
                  <a:rPr lang="en-US" kern="100">
                    <a:effectLst/>
                    <a:latin typeface="Times New Roman" panose="02020603050405020304" pitchFamily="18" charset="0"/>
                    <a:ea typeface="Yu Mincho" panose="02020400000000000000" pitchFamily="18" charset="-128"/>
                    <a:cs typeface="Times New Roman" panose="02020603050405020304" pitchFamily="18" charset="0"/>
                  </a:rPr>
                  <a:t> </a:t>
                </a:r>
                <a:r>
                  <a:rPr lang="en-US" kern="100" err="1">
                    <a:effectLst/>
                    <a:latin typeface="Times New Roman" panose="02020603050405020304" pitchFamily="18" charset="0"/>
                    <a:ea typeface="Yu Mincho" panose="02020400000000000000" pitchFamily="18" charset="-128"/>
                    <a:cs typeface="Times New Roman" panose="02020603050405020304" pitchFamily="18" charset="0"/>
                  </a:rPr>
                  <a:t>là</a:t>
                </a:r>
                <a:r>
                  <a:rPr lang="en-US" kern="100">
                    <a:effectLst/>
                    <a:latin typeface="Times New Roman" panose="02020603050405020304" pitchFamily="18" charset="0"/>
                    <a:ea typeface="Yu Mincho" panose="02020400000000000000" pitchFamily="18" charset="-128"/>
                    <a:cs typeface="Times New Roman" panose="02020603050405020304" pitchFamily="18" charset="0"/>
                  </a:rPr>
                  <a:t> 1𝐴 (𝑅𝑀𝑆) </a:t>
                </a:r>
                <a:r>
                  <a:rPr lang="en-US" kern="100" err="1">
                    <a:effectLst/>
                    <a:latin typeface="Times New Roman" panose="02020603050405020304" pitchFamily="18" charset="0"/>
                    <a:ea typeface="Yu Mincho" panose="02020400000000000000" pitchFamily="18" charset="-128"/>
                    <a:cs typeface="Times New Roman" panose="02020603050405020304" pitchFamily="18" charset="0"/>
                  </a:rPr>
                  <a:t>khi</a:t>
                </a:r>
                <a:r>
                  <a:rPr lang="en-US" kern="100">
                    <a:effectLst/>
                    <a:latin typeface="Times New Roman" panose="02020603050405020304" pitchFamily="18" charset="0"/>
                    <a:ea typeface="Yu Mincho" panose="02020400000000000000" pitchFamily="18" charset="-128"/>
                    <a:cs typeface="Times New Roman" panose="02020603050405020304" pitchFamily="18" charset="0"/>
                  </a:rPr>
                  <a:t> </a:t>
                </a:r>
                <a:r>
                  <a:rPr lang="en-US" kern="100" err="1">
                    <a:effectLst/>
                    <a:latin typeface="Times New Roman" panose="02020603050405020304" pitchFamily="18" charset="0"/>
                    <a:ea typeface="Yu Mincho" panose="02020400000000000000" pitchFamily="18" charset="-128"/>
                    <a:cs typeface="Times New Roman" panose="02020603050405020304" pitchFamily="18" charset="0"/>
                  </a:rPr>
                  <a:t>đầy</a:t>
                </a:r>
                <a:r>
                  <a:rPr lang="en-US" kern="100">
                    <a:effectLst/>
                    <a:latin typeface="Times New Roman" panose="02020603050405020304" pitchFamily="18" charset="0"/>
                    <a:ea typeface="Yu Mincho" panose="02020400000000000000" pitchFamily="18" charset="-128"/>
                    <a:cs typeface="Times New Roman" panose="02020603050405020304" pitchFamily="18" charset="0"/>
                  </a:rPr>
                  <a:t> </a:t>
                </a:r>
                <a:r>
                  <a:rPr lang="en-US" kern="100" err="1">
                    <a:effectLst/>
                    <a:latin typeface="Times New Roman" panose="02020603050405020304" pitchFamily="18" charset="0"/>
                    <a:ea typeface="Yu Mincho" panose="02020400000000000000" pitchFamily="18" charset="-128"/>
                    <a:cs typeface="Times New Roman" panose="02020603050405020304" pitchFamily="18" charset="0"/>
                  </a:rPr>
                  <a:t>tải</a:t>
                </a:r>
                <a:r>
                  <a:rPr lang="vi-VN" kern="100">
                    <a:effectLst/>
                    <a:latin typeface="Times New Roman" panose="02020603050405020304" pitchFamily="18" charset="0"/>
                    <a:ea typeface="Yu Mincho" panose="02020400000000000000" pitchFamily="18" charset="-128"/>
                    <a:cs typeface="Times New Roman" panose="02020603050405020304" pitchFamily="18" charset="0"/>
                  </a:rPr>
                  <a:t>:</a:t>
                </a:r>
                <a:endParaRPr lang="en-US" kern="100">
                  <a:effectLst/>
                  <a:latin typeface="Times New Roman" panose="02020603050405020304" pitchFamily="18" charset="0"/>
                  <a:ea typeface="Yu Mincho" panose="02020400000000000000" pitchFamily="18" charset="-128"/>
                  <a:cs typeface="Times New Roman" panose="02020603050405020304" pitchFamily="18" charset="0"/>
                </a:endParaRPr>
              </a:p>
            </p:txBody>
          </p:sp>
        </mc:Choice>
        <mc:Fallback xmlns="">
          <p:sp>
            <p:nvSpPr>
              <p:cNvPr id="13" name="TextBox 24">
                <a:extLst>
                  <a:ext uri="{FF2B5EF4-FFF2-40B4-BE49-F238E27FC236}">
                    <a16:creationId xmlns:a16="http://schemas.microsoft.com/office/drawing/2014/main" id="{2547A574-48E4-8C0C-05DB-BBD9C819457B}"/>
                  </a:ext>
                </a:extLst>
              </p:cNvPr>
              <p:cNvSpPr txBox="1">
                <a:spLocks noRot="1" noChangeAspect="1" noMove="1" noResize="1" noEditPoints="1" noAdjustHandles="1" noChangeArrowheads="1" noChangeShapeType="1" noTextEdit="1"/>
              </p:cNvSpPr>
              <p:nvPr/>
            </p:nvSpPr>
            <p:spPr>
              <a:xfrm>
                <a:off x="5610073" y="2680119"/>
                <a:ext cx="4601980" cy="664797"/>
              </a:xfrm>
              <a:prstGeom prst="rect">
                <a:avLst/>
              </a:prstGeom>
              <a:blipFill>
                <a:blip r:embed="rId7"/>
                <a:stretch>
                  <a:fillRect l="-1060" t="-5505" r="-1192" b="-1376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4" name="TextBox 27">
                <a:extLst>
                  <a:ext uri="{FF2B5EF4-FFF2-40B4-BE49-F238E27FC236}">
                    <a16:creationId xmlns:a16="http://schemas.microsoft.com/office/drawing/2014/main" id="{769F6131-F4D7-A61D-B16D-715F4880391E}"/>
                  </a:ext>
                </a:extLst>
              </p:cNvPr>
              <p:cNvSpPr txBox="1"/>
              <p:nvPr/>
            </p:nvSpPr>
            <p:spPr>
              <a:xfrm>
                <a:off x="6624641" y="3365090"/>
                <a:ext cx="2181851" cy="889859"/>
              </a:xfrm>
              <a:prstGeom prst="rect">
                <a:avLst/>
              </a:prstGeom>
              <a:noFill/>
            </p:spPr>
            <p:txBody>
              <a:bodyPr wrap="square">
                <a:spAutoFit/>
              </a:bodyPr>
              <a:lstStyle/>
              <a:p>
                <a:pPr marL="0" marR="0" algn="ctr">
                  <a:lnSpc>
                    <a:spcPct val="107000"/>
                  </a:lnSpc>
                  <a:spcBef>
                    <a:spcPts val="0"/>
                  </a:spcBef>
                  <a:spcAft>
                    <a:spcPts val="800"/>
                  </a:spcAft>
                </a:pPr>
                <a14:m>
                  <m:oMathPara xmlns:m="http://schemas.openxmlformats.org/officeDocument/2006/math">
                    <m:oMath>
                      <m:sSub>
                        <m:sSubPr>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sSubPr>
                        <m:e>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𝑘</m:t>
                          </m:r>
                        </m:e>
                        <m:sub>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𝑖</m:t>
                          </m:r>
                        </m:sub>
                      </m:sSub>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m:t>
                      </m:r>
                      <m:f>
                        <m:fPr>
                          <m:ctrlP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ctrlPr>
                        </m:fPr>
                        <m:num>
                          <m:sSub>
                            <m:sSubPr>
                              <m:ctrlP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ctrlPr>
                            </m:sSubPr>
                            <m:e>
                              <m:acc>
                                <m:accPr>
                                  <m:chr m:val="̅"/>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accPr>
                                <m:e>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𝑉</m:t>
                                  </m:r>
                                </m:e>
                              </m:acc>
                            </m:e>
                            <m:sub>
                              <m:r>
                                <m:rPr>
                                  <m:sty m:val="p"/>
                                </m:rPr>
                                <a:rPr lang="vi-VN" i="1" kern="100">
                                  <a:latin typeface="Cambria Math" panose="02040503050406030204" pitchFamily="18" charset="0"/>
                                  <a:ea typeface="Yu Mincho" panose="02020400000000000000" pitchFamily="18" charset="-128"/>
                                  <a:cs typeface="Times New Roman" panose="02020603050405020304" pitchFamily="18" charset="0"/>
                                </a:rPr>
                                <m:t>e</m:t>
                              </m:r>
                            </m:sub>
                          </m:sSub>
                        </m:num>
                        <m:den>
                          <m:sSub>
                            <m:sSubPr>
                              <m:ctrlPr>
                                <a:rPr lang="en-US" sz="1800" i="1" kern="100" smtClean="0">
                                  <a:effectLst/>
                                  <a:latin typeface="Cambria Math" panose="02040503050406030204" pitchFamily="18" charset="0"/>
                                  <a:ea typeface="Yu Mincho" panose="02020400000000000000" pitchFamily="18" charset="-128"/>
                                  <a:cs typeface="Times New Roman" panose="02020603050405020304" pitchFamily="18" charset="0"/>
                                </a:rPr>
                              </m:ctrlPr>
                            </m:sSubPr>
                            <m:e>
                              <m:rad>
                                <m:radPr>
                                  <m:degHide m:val="on"/>
                                  <m:ctrlPr>
                                    <a:rPr lang="en-US" sz="1800" i="1" kern="100" smtClean="0">
                                      <a:effectLst/>
                                      <a:latin typeface="Cambria Math" panose="02040503050406030204" pitchFamily="18" charset="0"/>
                                      <a:ea typeface="Yu Mincho" panose="02020400000000000000" pitchFamily="18" charset="-128"/>
                                      <a:cs typeface="Times New Roman" panose="02020603050405020304" pitchFamily="18" charset="0"/>
                                    </a:rPr>
                                  </m:ctrlPr>
                                </m:radPr>
                                <m:deg/>
                                <m:e>
                                  <m:r>
                                    <a:rPr lang="en-US" sz="1800" b="0" i="1" kern="100" smtClean="0">
                                      <a:effectLst/>
                                      <a:latin typeface="Cambria Math" panose="02040503050406030204" pitchFamily="18" charset="0"/>
                                      <a:ea typeface="Yu Mincho" panose="02020400000000000000" pitchFamily="18" charset="-128"/>
                                      <a:cs typeface="Times New Roman" panose="02020603050405020304" pitchFamily="18" charset="0"/>
                                    </a:rPr>
                                    <m:t>2</m:t>
                                  </m:r>
                                </m:e>
                              </m:rad>
                              <m:acc>
                                <m:accPr>
                                  <m:chr m:val="̅"/>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accPr>
                                <m:e>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𝑃</m:t>
                                  </m:r>
                                </m:e>
                              </m:acc>
                            </m:e>
                            <m:sub>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𝑟𝑎𝑡𝑒</m:t>
                              </m:r>
                            </m:sub>
                          </m:sSub>
                        </m:den>
                      </m:f>
                    </m:oMath>
                  </m:oMathPara>
                </a14:m>
                <a:endParaRPr lang="en-US" sz="1200" kern="100">
                  <a:effectLst/>
                  <a:latin typeface="Calibri" panose="020F0502020204030204" pitchFamily="34" charset="0"/>
                  <a:ea typeface="Yu Mincho" panose="02020400000000000000" pitchFamily="18" charset="-128"/>
                  <a:cs typeface="Times New Roman" panose="02020603050405020304" pitchFamily="18" charset="0"/>
                </a:endParaRPr>
              </a:p>
            </p:txBody>
          </p:sp>
        </mc:Choice>
        <mc:Fallback xmlns="">
          <p:sp>
            <p:nvSpPr>
              <p:cNvPr id="14" name="TextBox 27">
                <a:extLst>
                  <a:ext uri="{FF2B5EF4-FFF2-40B4-BE49-F238E27FC236}">
                    <a16:creationId xmlns:a16="http://schemas.microsoft.com/office/drawing/2014/main" id="{769F6131-F4D7-A61D-B16D-715F4880391E}"/>
                  </a:ext>
                </a:extLst>
              </p:cNvPr>
              <p:cNvSpPr txBox="1">
                <a:spLocks noRot="1" noChangeAspect="1" noMove="1" noResize="1" noEditPoints="1" noAdjustHandles="1" noChangeArrowheads="1" noChangeShapeType="1" noTextEdit="1"/>
              </p:cNvSpPr>
              <p:nvPr/>
            </p:nvSpPr>
            <p:spPr>
              <a:xfrm>
                <a:off x="6624641" y="3365090"/>
                <a:ext cx="2181851" cy="889859"/>
              </a:xfrm>
              <a:prstGeom prst="rect">
                <a:avLst/>
              </a:prstGeom>
              <a:blipFill>
                <a:blip r:embed="rId8"/>
                <a:stretch>
                  <a:fillRect/>
                </a:stretch>
              </a:blipFill>
            </p:spPr>
            <p:txBody>
              <a:bodyPr/>
              <a:lstStyle/>
              <a:p>
                <a:r>
                  <a:rPr lang="vi-VN">
                    <a:noFill/>
                  </a:rPr>
                  <a:t> </a:t>
                </a:r>
              </a:p>
            </p:txBody>
          </p:sp>
        </mc:Fallback>
      </mc:AlternateContent>
      <p:sp>
        <p:nvSpPr>
          <p:cNvPr id="16" name="TextBox 30">
            <a:extLst>
              <a:ext uri="{FF2B5EF4-FFF2-40B4-BE49-F238E27FC236}">
                <a16:creationId xmlns:a16="http://schemas.microsoft.com/office/drawing/2014/main" id="{C1A6A338-1607-CED6-382B-B75B412FA295}"/>
              </a:ext>
            </a:extLst>
          </p:cNvPr>
          <p:cNvSpPr txBox="1"/>
          <p:nvPr/>
        </p:nvSpPr>
        <p:spPr>
          <a:xfrm>
            <a:off x="637309" y="4259944"/>
            <a:ext cx="4600163" cy="923330"/>
          </a:xfrm>
          <a:prstGeom prst="rect">
            <a:avLst/>
          </a:prstGeom>
          <a:noFill/>
        </p:spPr>
        <p:txBody>
          <a:bodyPr wrap="square">
            <a:spAutoFit/>
          </a:bodyPr>
          <a:lstStyle/>
          <a:p>
            <a:r>
              <a:rPr lang="en-US" err="1">
                <a:latin typeface="Times New Roman" panose="02020603050405020304" pitchFamily="18" charset="0"/>
                <a:ea typeface="Yu Mincho" panose="02020400000000000000" pitchFamily="18" charset="-128"/>
              </a:rPr>
              <a:t>Việc</a:t>
            </a:r>
            <a:r>
              <a:rPr lang="en-US">
                <a:latin typeface="Times New Roman" panose="02020603050405020304" pitchFamily="18" charset="0"/>
                <a:ea typeface="Yu Mincho" panose="02020400000000000000" pitchFamily="18" charset="-128"/>
              </a:rPr>
              <a:t> </a:t>
            </a:r>
            <a:r>
              <a:rPr lang="en-US" err="1">
                <a:latin typeface="Times New Roman" panose="02020603050405020304" pitchFamily="18" charset="0"/>
                <a:ea typeface="Yu Mincho" panose="02020400000000000000" pitchFamily="18" charset="-128"/>
              </a:rPr>
              <a:t>chọn</a:t>
            </a:r>
            <a:r>
              <a:rPr lang="en-US">
                <a:latin typeface="Times New Roman" panose="02020603050405020304" pitchFamily="18" charset="0"/>
                <a:ea typeface="Yu Mincho" panose="02020400000000000000" pitchFamily="18" charset="-128"/>
              </a:rPr>
              <a:t> </a:t>
            </a:r>
            <a:r>
              <a:rPr lang="en-US" err="1">
                <a:latin typeface="Times New Roman" panose="02020603050405020304" pitchFamily="18" charset="0"/>
                <a:ea typeface="Yu Mincho" panose="02020400000000000000" pitchFamily="18" charset="-128"/>
              </a:rPr>
              <a:t>hệ</a:t>
            </a:r>
            <a:r>
              <a:rPr lang="en-US">
                <a:latin typeface="Times New Roman" panose="02020603050405020304" pitchFamily="18" charset="0"/>
                <a:ea typeface="Yu Mincho" panose="02020400000000000000" pitchFamily="18" charset="-128"/>
              </a:rPr>
              <a:t> </a:t>
            </a:r>
            <a:r>
              <a:rPr lang="en-US" err="1">
                <a:latin typeface="Times New Roman" panose="02020603050405020304" pitchFamily="18" charset="0"/>
                <a:ea typeface="Yu Mincho" panose="02020400000000000000" pitchFamily="18" charset="-128"/>
              </a:rPr>
              <a:t>số</a:t>
            </a:r>
            <a:r>
              <a:rPr lang="en-US">
                <a:latin typeface="Times New Roman" panose="02020603050405020304" pitchFamily="18" charset="0"/>
                <a:ea typeface="Yu Mincho" panose="02020400000000000000" pitchFamily="18" charset="-128"/>
              </a:rPr>
              <a:t> </a:t>
            </a:r>
            <a:r>
              <a:rPr lang="en-US" err="1">
                <a:latin typeface="Times New Roman" panose="02020603050405020304" pitchFamily="18" charset="0"/>
                <a:ea typeface="Yu Mincho" panose="02020400000000000000" pitchFamily="18" charset="-128"/>
              </a:rPr>
              <a:t>điện</a:t>
            </a:r>
            <a:r>
              <a:rPr lang="en-US">
                <a:latin typeface="Times New Roman" panose="02020603050405020304" pitchFamily="18" charset="0"/>
                <a:ea typeface="Yu Mincho" panose="02020400000000000000" pitchFamily="18" charset="-128"/>
              </a:rPr>
              <a:t> </a:t>
            </a:r>
            <a:r>
              <a:rPr lang="en-US" err="1">
                <a:latin typeface="Times New Roman" panose="02020603050405020304" pitchFamily="18" charset="0"/>
                <a:ea typeface="Yu Mincho" panose="02020400000000000000" pitchFamily="18" charset="-128"/>
              </a:rPr>
              <a:t>áp</a:t>
            </a:r>
            <a:r>
              <a:rPr lang="en-US">
                <a:latin typeface="Times New Roman" panose="02020603050405020304" pitchFamily="18" charset="0"/>
                <a:ea typeface="Yu Mincho" panose="02020400000000000000" pitchFamily="18" charset="-128"/>
              </a:rPr>
              <a:t> </a:t>
            </a:r>
            <a:r>
              <a:rPr lang="en-US" err="1">
                <a:latin typeface="Times New Roman" panose="02020603050405020304" pitchFamily="18" charset="0"/>
                <a:ea typeface="Yu Mincho" panose="02020400000000000000" pitchFamily="18" charset="-128"/>
              </a:rPr>
              <a:t>như</a:t>
            </a:r>
            <a:r>
              <a:rPr lang="en-US">
                <a:latin typeface="Times New Roman" panose="02020603050405020304" pitchFamily="18" charset="0"/>
                <a:ea typeface="Yu Mincho" panose="02020400000000000000" pitchFamily="18" charset="-128"/>
              </a:rPr>
              <a:t> </a:t>
            </a:r>
            <a:r>
              <a:rPr lang="en-US" err="1">
                <a:latin typeface="Times New Roman" panose="02020603050405020304" pitchFamily="18" charset="0"/>
                <a:ea typeface="Yu Mincho" panose="02020400000000000000" pitchFamily="18" charset="-128"/>
              </a:rPr>
              <a:t>trên</a:t>
            </a:r>
            <a:r>
              <a:rPr lang="en-US">
                <a:latin typeface="Times New Roman" panose="02020603050405020304" pitchFamily="18" charset="0"/>
                <a:ea typeface="Yu Mincho" panose="02020400000000000000" pitchFamily="18" charset="-128"/>
              </a:rPr>
              <a:t>, </a:t>
            </a:r>
            <a:r>
              <a:rPr lang="en-US" err="1">
                <a:effectLst/>
                <a:latin typeface="Times New Roman" panose="02020603050405020304" pitchFamily="18" charset="0"/>
                <a:ea typeface="Yu Mincho" panose="02020400000000000000" pitchFamily="18" charset="-128"/>
              </a:rPr>
              <a:t>giảm</a:t>
            </a:r>
            <a:r>
              <a:rPr lang="en-US">
                <a:effectLst/>
                <a:latin typeface="Times New Roman" panose="02020603050405020304" pitchFamily="18" charset="0"/>
                <a:ea typeface="Yu Mincho" panose="02020400000000000000" pitchFamily="18" charset="-128"/>
              </a:rPr>
              <a:t> </a:t>
            </a:r>
            <a:r>
              <a:rPr lang="en-US" err="1">
                <a:effectLst/>
                <a:latin typeface="Times New Roman" panose="02020603050405020304" pitchFamily="18" charset="0"/>
                <a:ea typeface="Yu Mincho" panose="02020400000000000000" pitchFamily="18" charset="-128"/>
              </a:rPr>
              <a:t>sự</a:t>
            </a:r>
            <a:r>
              <a:rPr lang="en-US">
                <a:effectLst/>
                <a:latin typeface="Times New Roman" panose="02020603050405020304" pitchFamily="18" charset="0"/>
                <a:ea typeface="Yu Mincho" panose="02020400000000000000" pitchFamily="18" charset="-128"/>
              </a:rPr>
              <a:t> </a:t>
            </a:r>
            <a:r>
              <a:rPr lang="en-US" err="1">
                <a:effectLst/>
                <a:latin typeface="Times New Roman" panose="02020603050405020304" pitchFamily="18" charset="0"/>
                <a:ea typeface="Yu Mincho" panose="02020400000000000000" pitchFamily="18" charset="-128"/>
              </a:rPr>
              <a:t>phức</a:t>
            </a:r>
            <a:r>
              <a:rPr lang="en-US">
                <a:effectLst/>
                <a:latin typeface="Times New Roman" panose="02020603050405020304" pitchFamily="18" charset="0"/>
                <a:ea typeface="Yu Mincho" panose="02020400000000000000" pitchFamily="18" charset="-128"/>
              </a:rPr>
              <a:t> </a:t>
            </a:r>
            <a:r>
              <a:rPr lang="en-US" err="1">
                <a:effectLst/>
                <a:latin typeface="Times New Roman" panose="02020603050405020304" pitchFamily="18" charset="0"/>
                <a:ea typeface="Yu Mincho" panose="02020400000000000000" pitchFamily="18" charset="-128"/>
              </a:rPr>
              <a:t>tạp</a:t>
            </a:r>
            <a:r>
              <a:rPr lang="en-US">
                <a:effectLst/>
                <a:latin typeface="Times New Roman" panose="02020603050405020304" pitchFamily="18" charset="0"/>
                <a:ea typeface="Yu Mincho" panose="02020400000000000000" pitchFamily="18" charset="-128"/>
              </a:rPr>
              <a:t> </a:t>
            </a:r>
            <a:r>
              <a:rPr lang="en-US" err="1">
                <a:effectLst/>
                <a:latin typeface="Times New Roman" panose="02020603050405020304" pitchFamily="18" charset="0"/>
                <a:ea typeface="Yu Mincho" panose="02020400000000000000" pitchFamily="18" charset="-128"/>
              </a:rPr>
              <a:t>trong</a:t>
            </a:r>
            <a:r>
              <a:rPr lang="en-US">
                <a:effectLst/>
                <a:latin typeface="Times New Roman" panose="02020603050405020304" pitchFamily="18" charset="0"/>
                <a:ea typeface="Yu Mincho" panose="02020400000000000000" pitchFamily="18" charset="-128"/>
              </a:rPr>
              <a:t> </a:t>
            </a:r>
            <a:r>
              <a:rPr lang="en-US" err="1">
                <a:effectLst/>
                <a:latin typeface="Times New Roman" panose="02020603050405020304" pitchFamily="18" charset="0"/>
                <a:ea typeface="Yu Mincho" panose="02020400000000000000" pitchFamily="18" charset="-128"/>
              </a:rPr>
              <a:t>việc</a:t>
            </a:r>
            <a:r>
              <a:rPr lang="en-US">
                <a:effectLst/>
                <a:latin typeface="Times New Roman" panose="02020603050405020304" pitchFamily="18" charset="0"/>
                <a:ea typeface="Yu Mincho" panose="02020400000000000000" pitchFamily="18" charset="-128"/>
              </a:rPr>
              <a:t> </a:t>
            </a:r>
            <a:r>
              <a:rPr lang="en-US" err="1">
                <a:effectLst/>
                <a:latin typeface="Times New Roman" panose="02020603050405020304" pitchFamily="18" charset="0"/>
                <a:ea typeface="Yu Mincho" panose="02020400000000000000" pitchFamily="18" charset="-128"/>
              </a:rPr>
              <a:t>cài</a:t>
            </a:r>
            <a:r>
              <a:rPr lang="en-US">
                <a:effectLst/>
                <a:latin typeface="Times New Roman" panose="02020603050405020304" pitchFamily="18" charset="0"/>
                <a:ea typeface="Yu Mincho" panose="02020400000000000000" pitchFamily="18" charset="-128"/>
              </a:rPr>
              <a:t> </a:t>
            </a:r>
            <a:r>
              <a:rPr lang="en-US" err="1">
                <a:effectLst/>
                <a:latin typeface="Times New Roman" panose="02020603050405020304" pitchFamily="18" charset="0"/>
                <a:ea typeface="Yu Mincho" panose="02020400000000000000" pitchFamily="18" charset="-128"/>
              </a:rPr>
              <a:t>đặt</a:t>
            </a:r>
            <a:r>
              <a:rPr lang="en-US">
                <a:effectLst/>
                <a:latin typeface="Times New Roman" panose="02020603050405020304" pitchFamily="18" charset="0"/>
                <a:ea typeface="Yu Mincho" panose="02020400000000000000" pitchFamily="18" charset="-128"/>
              </a:rPr>
              <a:t> </a:t>
            </a:r>
            <a:r>
              <a:rPr lang="en-US" err="1">
                <a:effectLst/>
                <a:latin typeface="Times New Roman" panose="02020603050405020304" pitchFamily="18" charset="0"/>
                <a:ea typeface="Yu Mincho" panose="02020400000000000000" pitchFamily="18" charset="-128"/>
              </a:rPr>
              <a:t>và</a:t>
            </a:r>
            <a:r>
              <a:rPr lang="en-US">
                <a:effectLst/>
                <a:latin typeface="Times New Roman" panose="02020603050405020304" pitchFamily="18" charset="0"/>
                <a:ea typeface="Yu Mincho" panose="02020400000000000000" pitchFamily="18" charset="-128"/>
              </a:rPr>
              <a:t> </a:t>
            </a:r>
            <a:r>
              <a:rPr lang="en-US" err="1">
                <a:effectLst/>
                <a:latin typeface="Times New Roman" panose="02020603050405020304" pitchFamily="18" charset="0"/>
                <a:ea typeface="Yu Mincho" panose="02020400000000000000" pitchFamily="18" charset="-128"/>
              </a:rPr>
              <a:t>điều</a:t>
            </a:r>
            <a:r>
              <a:rPr lang="en-US">
                <a:effectLst/>
                <a:latin typeface="Times New Roman" panose="02020603050405020304" pitchFamily="18" charset="0"/>
                <a:ea typeface="Yu Mincho" panose="02020400000000000000" pitchFamily="18" charset="-128"/>
              </a:rPr>
              <a:t> </a:t>
            </a:r>
            <a:r>
              <a:rPr lang="en-US" err="1">
                <a:effectLst/>
                <a:latin typeface="Times New Roman" panose="02020603050405020304" pitchFamily="18" charset="0"/>
                <a:ea typeface="Yu Mincho" panose="02020400000000000000" pitchFamily="18" charset="-128"/>
              </a:rPr>
              <a:t>chỉnh</a:t>
            </a:r>
            <a:r>
              <a:rPr lang="en-US">
                <a:effectLst/>
                <a:latin typeface="Times New Roman" panose="02020603050405020304" pitchFamily="18" charset="0"/>
                <a:ea typeface="Yu Mincho" panose="02020400000000000000" pitchFamily="18" charset="-128"/>
              </a:rPr>
              <a:t> </a:t>
            </a:r>
            <a:r>
              <a:rPr lang="en-US" err="1">
                <a:effectLst/>
                <a:latin typeface="Times New Roman" panose="02020603050405020304" pitchFamily="18" charset="0"/>
                <a:ea typeface="Yu Mincho" panose="02020400000000000000" pitchFamily="18" charset="-128"/>
              </a:rPr>
              <a:t>bộ</a:t>
            </a:r>
            <a:r>
              <a:rPr lang="en-US">
                <a:effectLst/>
                <a:latin typeface="Times New Roman" panose="02020603050405020304" pitchFamily="18" charset="0"/>
                <a:ea typeface="Yu Mincho" panose="02020400000000000000" pitchFamily="18" charset="-128"/>
              </a:rPr>
              <a:t> </a:t>
            </a:r>
            <a:r>
              <a:rPr lang="en-US" err="1">
                <a:effectLst/>
                <a:latin typeface="Times New Roman" panose="02020603050405020304" pitchFamily="18" charset="0"/>
                <a:ea typeface="Yu Mincho" panose="02020400000000000000" pitchFamily="18" charset="-128"/>
              </a:rPr>
              <a:t>điều</a:t>
            </a:r>
            <a:r>
              <a:rPr lang="en-US">
                <a:effectLst/>
                <a:latin typeface="Times New Roman" panose="02020603050405020304" pitchFamily="18" charset="0"/>
                <a:ea typeface="Yu Mincho" panose="02020400000000000000" pitchFamily="18" charset="-128"/>
              </a:rPr>
              <a:t> </a:t>
            </a:r>
            <a:r>
              <a:rPr lang="en-US" err="1">
                <a:effectLst/>
                <a:latin typeface="Times New Roman" panose="02020603050405020304" pitchFamily="18" charset="0"/>
                <a:ea typeface="Yu Mincho" panose="02020400000000000000" pitchFamily="18" charset="-128"/>
              </a:rPr>
              <a:t>khiển</a:t>
            </a:r>
            <a:r>
              <a:rPr lang="en-US">
                <a:effectLst/>
                <a:latin typeface="Times New Roman" panose="02020603050405020304" pitchFamily="18" charset="0"/>
                <a:ea typeface="Yu Mincho" panose="02020400000000000000" pitchFamily="18" charset="-128"/>
              </a:rPr>
              <a:t>.</a:t>
            </a:r>
            <a:endParaRPr lang="en-US"/>
          </a:p>
        </p:txBody>
      </p:sp>
      <mc:AlternateContent xmlns:mc="http://schemas.openxmlformats.org/markup-compatibility/2006" xmlns:a14="http://schemas.microsoft.com/office/drawing/2010/main">
        <mc:Choice Requires="a14">
          <p:sp>
            <p:nvSpPr>
              <p:cNvPr id="17" name="TextBox 32">
                <a:extLst>
                  <a:ext uri="{FF2B5EF4-FFF2-40B4-BE49-F238E27FC236}">
                    <a16:creationId xmlns:a16="http://schemas.microsoft.com/office/drawing/2014/main" id="{CD8FD266-07F4-1716-CD0D-01C59B83304C}"/>
                  </a:ext>
                </a:extLst>
              </p:cNvPr>
              <p:cNvSpPr txBox="1"/>
              <p:nvPr/>
            </p:nvSpPr>
            <p:spPr>
              <a:xfrm>
                <a:off x="5610072" y="4007337"/>
                <a:ext cx="5183045" cy="1394228"/>
              </a:xfrm>
              <a:prstGeom prst="rect">
                <a:avLst/>
              </a:prstGeom>
              <a:noFill/>
            </p:spPr>
            <p:txBody>
              <a:bodyPr wrap="square">
                <a:spAutoFit/>
              </a:bodyPr>
              <a:lstStyle/>
              <a:p>
                <a:r>
                  <a:rPr lang="vi-VN">
                    <a:effectLst/>
                    <a:latin typeface="Times New Roman" panose="02020603050405020304" pitchFamily="18" charset="0"/>
                    <a:ea typeface="Yu Mincho" panose="02020400000000000000" pitchFamily="18" charset="-128"/>
                    <a:cs typeface="Times New Roman" panose="02020603050405020304" pitchFamily="18" charset="0"/>
                  </a:rPr>
                  <a:t>Khi đó, các biến tần có công suất khác nhau được mắc song song sẽ chia sẻ công xuất tải tương ứng nếu chúng ta chọn hệ số </a:t>
                </a:r>
                <a14:m>
                  <m:oMath xmlns:m="http://schemas.openxmlformats.org/officeDocument/2006/math">
                    <m:sSub>
                      <m:sSubPr>
                        <m:ctrlPr>
                          <a:rPr lang="vi-VN" i="1">
                            <a:effectLst/>
                            <a:latin typeface="Cambria Math" panose="02040503050406030204" pitchFamily="18" charset="0"/>
                            <a:ea typeface="Yu Mincho" panose="02020400000000000000" pitchFamily="18" charset="-128"/>
                            <a:cs typeface="Times New Roman" panose="02020603050405020304" pitchFamily="18" charset="0"/>
                          </a:rPr>
                        </m:ctrlPr>
                      </m:sSubPr>
                      <m:e>
                        <m:r>
                          <a:rPr lang="vi-VN" i="1">
                            <a:effectLst/>
                            <a:latin typeface="Cambria Math" panose="02040503050406030204" pitchFamily="18" charset="0"/>
                            <a:ea typeface="Yu Mincho" panose="02020400000000000000" pitchFamily="18" charset="-128"/>
                            <a:cs typeface="Times New Roman" panose="02020603050405020304" pitchFamily="18" charset="0"/>
                          </a:rPr>
                          <m:t>𝑘</m:t>
                        </m:r>
                      </m:e>
                      <m:sub>
                        <m:r>
                          <a:rPr lang="vi-VN" i="1">
                            <a:effectLst/>
                            <a:latin typeface="Cambria Math" panose="02040503050406030204" pitchFamily="18" charset="0"/>
                            <a:ea typeface="Yu Mincho" panose="02020400000000000000" pitchFamily="18" charset="-128"/>
                            <a:cs typeface="Times New Roman" panose="02020603050405020304" pitchFamily="18" charset="0"/>
                          </a:rPr>
                          <m:t>𝑖</m:t>
                        </m:r>
                      </m:sub>
                    </m:sSub>
                    <m:r>
                      <a:rPr lang="en-US" i="1">
                        <a:effectLst/>
                        <a:latin typeface="Cambria Math" panose="02040503050406030204" pitchFamily="18" charset="0"/>
                        <a:ea typeface="Yu Mincho" panose="02020400000000000000" pitchFamily="18" charset="-128"/>
                        <a:cs typeface="Times New Roman" panose="02020603050405020304" pitchFamily="18" charset="0"/>
                      </a:rPr>
                      <m:t> </m:t>
                    </m:r>
                  </m:oMath>
                </a14:m>
                <a:r>
                  <a:rPr lang="vi-VN">
                    <a:effectLst/>
                    <a:latin typeface="Times New Roman" panose="02020603050405020304" pitchFamily="18" charset="0"/>
                    <a:ea typeface="Yu Mincho" panose="02020400000000000000" pitchFamily="18" charset="-128"/>
                    <a:cs typeface="Times New Roman" panose="02020603050405020304" pitchFamily="18" charset="0"/>
                  </a:rPr>
                  <a:t>như trên.Khi đó, </a:t>
                </a:r>
                <a14:m>
                  <m:oMath xmlns:m="http://schemas.openxmlformats.org/officeDocument/2006/math">
                    <m:f>
                      <m:fPr>
                        <m:ctrlPr>
                          <a:rPr lang="en-US" i="1">
                            <a:effectLst/>
                            <a:latin typeface="Cambria Math" panose="02040503050406030204" pitchFamily="18" charset="0"/>
                            <a:cs typeface="Times New Roman" panose="02020603050405020304" pitchFamily="18" charset="0"/>
                          </a:rPr>
                        </m:ctrlPr>
                      </m:fPr>
                      <m:num>
                        <m:sSub>
                          <m:sSubPr>
                            <m:ctrlPr>
                              <a:rPr lang="en-US" i="1">
                                <a:effectLst/>
                                <a:latin typeface="Cambria Math" panose="02040503050406030204" pitchFamily="18" charset="0"/>
                                <a:cs typeface="Times New Roman" panose="02020603050405020304" pitchFamily="18" charset="0"/>
                              </a:rPr>
                            </m:ctrlPr>
                          </m:sSubPr>
                          <m:e>
                            <m:acc>
                              <m:accPr>
                                <m:chr m:val="̅"/>
                                <m:ctrlPr>
                                  <a:rPr lang="vi-VN" i="1">
                                    <a:effectLst/>
                                    <a:latin typeface="Cambria Math" panose="02040503050406030204" pitchFamily="18" charset="0"/>
                                    <a:ea typeface="Yu Mincho" panose="02020400000000000000" pitchFamily="18" charset="-128"/>
                                    <a:cs typeface="Times New Roman" panose="02020603050405020304" pitchFamily="18" charset="0"/>
                                  </a:rPr>
                                </m:ctrlPr>
                              </m:accPr>
                              <m:e>
                                <m:r>
                                  <a:rPr lang="vi-VN" i="1">
                                    <a:effectLst/>
                                    <a:latin typeface="Cambria Math" panose="02040503050406030204" pitchFamily="18" charset="0"/>
                                    <a:ea typeface="Yu Mincho" panose="02020400000000000000" pitchFamily="18" charset="-128"/>
                                    <a:cs typeface="Times New Roman" panose="02020603050405020304" pitchFamily="18" charset="0"/>
                                  </a:rPr>
                                  <m:t>𝑃</m:t>
                                </m:r>
                              </m:e>
                            </m:acc>
                          </m:e>
                          <m:sub>
                            <m:r>
                              <a:rPr lang="vi-VN" i="1">
                                <a:effectLst/>
                                <a:latin typeface="Cambria Math" panose="02040503050406030204" pitchFamily="18" charset="0"/>
                                <a:ea typeface="Yu Mincho" panose="02020400000000000000" pitchFamily="18" charset="-128"/>
                                <a:cs typeface="Times New Roman" panose="02020603050405020304" pitchFamily="18" charset="0"/>
                              </a:rPr>
                              <m:t>𝑒𝑞</m:t>
                            </m:r>
                          </m:sub>
                        </m:sSub>
                      </m:num>
                      <m:den>
                        <m:sSub>
                          <m:sSubPr>
                            <m:ctrlPr>
                              <a:rPr lang="en-US" i="1">
                                <a:effectLst/>
                                <a:latin typeface="Cambria Math" panose="02040503050406030204" pitchFamily="18" charset="0"/>
                                <a:cs typeface="Times New Roman" panose="02020603050405020304" pitchFamily="18" charset="0"/>
                              </a:rPr>
                            </m:ctrlPr>
                          </m:sSubPr>
                          <m:e>
                            <m:acc>
                              <m:accPr>
                                <m:chr m:val="̅"/>
                                <m:ctrlPr>
                                  <a:rPr lang="vi-VN" i="1">
                                    <a:effectLst/>
                                    <a:latin typeface="Cambria Math" panose="02040503050406030204" pitchFamily="18" charset="0"/>
                                    <a:ea typeface="Yu Mincho" panose="02020400000000000000" pitchFamily="18" charset="-128"/>
                                    <a:cs typeface="Times New Roman" panose="02020603050405020304" pitchFamily="18" charset="0"/>
                                  </a:rPr>
                                </m:ctrlPr>
                              </m:accPr>
                              <m:e>
                                <m:r>
                                  <a:rPr lang="vi-VN" i="1">
                                    <a:effectLst/>
                                    <a:latin typeface="Cambria Math" panose="02040503050406030204" pitchFamily="18" charset="0"/>
                                    <a:ea typeface="Yu Mincho" panose="02020400000000000000" pitchFamily="18" charset="-128"/>
                                    <a:cs typeface="Times New Roman" panose="02020603050405020304" pitchFamily="18" charset="0"/>
                                  </a:rPr>
                                  <m:t>𝑃</m:t>
                                </m:r>
                              </m:e>
                            </m:acc>
                          </m:e>
                          <m:sub>
                            <m:r>
                              <a:rPr lang="vi-VN" i="1">
                                <a:effectLst/>
                                <a:latin typeface="Cambria Math" panose="02040503050406030204" pitchFamily="18" charset="0"/>
                                <a:ea typeface="Yu Mincho" panose="02020400000000000000" pitchFamily="18" charset="-128"/>
                                <a:cs typeface="Times New Roman" panose="02020603050405020304" pitchFamily="18" charset="0"/>
                              </a:rPr>
                              <m:t>𝑟𝑎𝑡𝑒</m:t>
                            </m:r>
                          </m:sub>
                        </m:sSub>
                      </m:den>
                    </m:f>
                  </m:oMath>
                </a14:m>
                <a:r>
                  <a:rPr lang="en-US">
                    <a:effectLst/>
                    <a:latin typeface="Times New Roman" panose="02020603050405020304" pitchFamily="18" charset="0"/>
                    <a:ea typeface="Yu Mincho" panose="02020400000000000000" pitchFamily="18" charset="-128"/>
                    <a:cs typeface="Times New Roman" panose="02020603050405020304" pitchFamily="18" charset="0"/>
                  </a:rPr>
                  <a:t> </a:t>
                </a:r>
                <a:r>
                  <a:rPr lang="vi-VN">
                    <a:effectLst/>
                    <a:latin typeface="Times New Roman" panose="02020603050405020304" pitchFamily="18" charset="0"/>
                    <a:ea typeface="Yu Mincho" panose="02020400000000000000" pitchFamily="18" charset="-128"/>
                    <a:cs typeface="Times New Roman" panose="02020603050405020304" pitchFamily="18" charset="0"/>
                  </a:rPr>
                  <a:t>của các biến tần sẽ giống nhau.</a:t>
                </a:r>
                <a:endParaRPr lang="en-US">
                  <a:latin typeface="Times New Roman" panose="02020603050405020304" pitchFamily="18" charset="0"/>
                  <a:cs typeface="Times New Roman" panose="02020603050405020304" pitchFamily="18" charset="0"/>
                </a:endParaRPr>
              </a:p>
            </p:txBody>
          </p:sp>
        </mc:Choice>
        <mc:Fallback xmlns="">
          <p:sp>
            <p:nvSpPr>
              <p:cNvPr id="17" name="TextBox 32">
                <a:extLst>
                  <a:ext uri="{FF2B5EF4-FFF2-40B4-BE49-F238E27FC236}">
                    <a16:creationId xmlns:a16="http://schemas.microsoft.com/office/drawing/2014/main" id="{CD8FD266-07F4-1716-CD0D-01C59B83304C}"/>
                  </a:ext>
                </a:extLst>
              </p:cNvPr>
              <p:cNvSpPr txBox="1">
                <a:spLocks noRot="1" noChangeAspect="1" noMove="1" noResize="1" noEditPoints="1" noAdjustHandles="1" noChangeArrowheads="1" noChangeShapeType="1" noTextEdit="1"/>
              </p:cNvSpPr>
              <p:nvPr/>
            </p:nvSpPr>
            <p:spPr>
              <a:xfrm>
                <a:off x="5610072" y="4007337"/>
                <a:ext cx="5183045" cy="1394228"/>
              </a:xfrm>
              <a:prstGeom prst="rect">
                <a:avLst/>
              </a:prstGeom>
              <a:blipFill>
                <a:blip r:embed="rId9"/>
                <a:stretch>
                  <a:fillRect l="-940" t="-2183" r="-1763" b="-6114"/>
                </a:stretch>
              </a:blipFill>
            </p:spPr>
            <p:txBody>
              <a:bodyPr/>
              <a:lstStyle/>
              <a:p>
                <a:r>
                  <a:rPr lang="vi-VN">
                    <a:noFill/>
                  </a:rPr>
                  <a:t> </a:t>
                </a:r>
              </a:p>
            </p:txBody>
          </p:sp>
        </mc:Fallback>
      </mc:AlternateContent>
      <p:sp>
        <p:nvSpPr>
          <p:cNvPr id="18" name="TextBox 15">
            <a:extLst>
              <a:ext uri="{FF2B5EF4-FFF2-40B4-BE49-F238E27FC236}">
                <a16:creationId xmlns:a16="http://schemas.microsoft.com/office/drawing/2014/main" id="{3F7BA017-BFE9-0E22-5D68-47D024200988}"/>
              </a:ext>
            </a:extLst>
          </p:cNvPr>
          <p:cNvSpPr txBox="1"/>
          <p:nvPr/>
        </p:nvSpPr>
        <p:spPr>
          <a:xfrm>
            <a:off x="8550414" y="3531488"/>
            <a:ext cx="1333374" cy="338554"/>
          </a:xfrm>
          <a:prstGeom prst="rect">
            <a:avLst/>
          </a:prstGeom>
          <a:noFill/>
        </p:spPr>
        <p:txBody>
          <a:bodyPr wrap="square">
            <a:spAutoFit/>
          </a:bodyPr>
          <a:lstStyle/>
          <a:p>
            <a:r>
              <a:rPr lang="vi-VN" sz="1600" kern="100">
                <a:effectLst/>
                <a:latin typeface="Times New Roman" panose="02020603050405020304" pitchFamily="18" charset="0"/>
                <a:ea typeface="Yu Mincho" panose="02020400000000000000" pitchFamily="18" charset="-128"/>
                <a:cs typeface="Times New Roman" panose="02020603050405020304" pitchFamily="18" charset="0"/>
              </a:rPr>
              <a:t>(15)</a:t>
            </a:r>
            <a:r>
              <a:rPr lang="en-US" sz="1600" kern="100">
                <a:effectLst/>
                <a:latin typeface="Times New Roman" panose="02020603050405020304" pitchFamily="18" charset="0"/>
                <a:ea typeface="Yu Mincho" panose="02020400000000000000" pitchFamily="18" charset="-128"/>
                <a:cs typeface="Times New Roman" panose="02020603050405020304" pitchFamily="18" charset="0"/>
              </a:rPr>
              <a:t> </a:t>
            </a:r>
            <a:endParaRPr lang="en-US" sz="1600"/>
          </a:p>
        </p:txBody>
      </p:sp>
    </p:spTree>
    <p:extLst>
      <p:ext uri="{BB962C8B-B14F-4D97-AF65-F5344CB8AC3E}">
        <p14:creationId xmlns:p14="http://schemas.microsoft.com/office/powerpoint/2010/main" val="35904783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a:extLst>
              <a:ext uri="{FF2B5EF4-FFF2-40B4-BE49-F238E27FC236}">
                <a16:creationId xmlns:a16="http://schemas.microsoft.com/office/drawing/2014/main" id="{638043F5-A63B-6E6D-2ED2-C7D432E08F33}"/>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5A95C8F2-392B-E8C6-762E-B289568CC3E8}"/>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3A6E74FE-EB2A-B906-C051-A50AD37D2BE5}"/>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5" name="TextBox 23">
            <a:extLst>
              <a:ext uri="{FF2B5EF4-FFF2-40B4-BE49-F238E27FC236}">
                <a16:creationId xmlns:a16="http://schemas.microsoft.com/office/drawing/2014/main" id="{8F76BFFD-7757-E5A7-48F5-5FB6E5A11963}"/>
              </a:ext>
            </a:extLst>
          </p:cNvPr>
          <p:cNvSpPr txBox="1"/>
          <p:nvPr/>
        </p:nvSpPr>
        <p:spPr>
          <a:xfrm>
            <a:off x="374948" y="1036129"/>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2.6. </a:t>
            </a:r>
            <a:r>
              <a:rPr lang="vi-VN" sz="2000" b="1">
                <a:solidFill>
                  <a:prstClr val="black"/>
                </a:solidFill>
                <a:latin typeface="Times New Roman" panose="02020603050405020304" pitchFamily="18" charset="0"/>
                <a:cs typeface="Times New Roman" panose="02020603050405020304" pitchFamily="18" charset="0"/>
              </a:rPr>
              <a:t>Tính toán thông số bộ điều khiển VOC</a:t>
            </a:r>
          </a:p>
        </p:txBody>
      </p:sp>
      <mc:AlternateContent xmlns:mc="http://schemas.openxmlformats.org/markup-compatibility/2006" xmlns:a14="http://schemas.microsoft.com/office/drawing/2010/main">
        <mc:Choice Requires="a14">
          <p:sp>
            <p:nvSpPr>
              <p:cNvPr id="8" name="TextBox 10">
                <a:extLst>
                  <a:ext uri="{FF2B5EF4-FFF2-40B4-BE49-F238E27FC236}">
                    <a16:creationId xmlns:a16="http://schemas.microsoft.com/office/drawing/2014/main" id="{618AC52D-45BC-4DD6-7E30-09CBF7536F94}"/>
                  </a:ext>
                </a:extLst>
              </p:cNvPr>
              <p:cNvSpPr txBox="1"/>
              <p:nvPr/>
            </p:nvSpPr>
            <p:spPr>
              <a:xfrm>
                <a:off x="374948" y="1415592"/>
                <a:ext cx="7935686" cy="369332"/>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2.6.2 </a:t>
                </a:r>
                <a:r>
                  <a:rPr lang="en-US" b="1" err="1">
                    <a:latin typeface="Times New Roman" panose="02020603050405020304" pitchFamily="18" charset="0"/>
                    <a:cs typeface="Times New Roman" panose="02020603050405020304" pitchFamily="18" charset="0"/>
                  </a:rPr>
                  <a:t>Tính</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toán</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hệ</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số</a:t>
                </a:r>
                <a:r>
                  <a:rPr lang="en-US" b="1">
                    <a:latin typeface="Times New Roman" panose="02020603050405020304" pitchFamily="18" charset="0"/>
                    <a:cs typeface="Times New Roman" panose="02020603050405020304" pitchFamily="18" charset="0"/>
                  </a:rPr>
                  <a:t> </a:t>
                </a:r>
                <a14:m>
                  <m:oMath xmlns:m="http://schemas.openxmlformats.org/officeDocument/2006/math">
                    <m:r>
                      <a:rPr lang="en-US" i="1" kern="100">
                        <a:latin typeface="Cambria Math" panose="02040503050406030204" pitchFamily="18" charset="0"/>
                        <a:ea typeface="Calibri" panose="020F0502020204030204" pitchFamily="34" charset="0"/>
                        <a:cs typeface="Times New Roman" panose="02020603050405020304" pitchFamily="18" charset="0"/>
                      </a:rPr>
                      <m:t>𝛼</m:t>
                    </m:r>
                    <m:r>
                      <a:rPr lang="en-US" i="1" kern="100">
                        <a:latin typeface="Cambria Math" panose="02040503050406030204" pitchFamily="18" charset="0"/>
                        <a:ea typeface="Calibri" panose="020F0502020204030204" pitchFamily="34" charset="0"/>
                        <a:cs typeface="Times New Roman" panose="02020603050405020304" pitchFamily="18" charset="0"/>
                      </a:rPr>
                      <m:t> </m:t>
                    </m:r>
                  </m:oMath>
                </a14:m>
                <a:r>
                  <a:rPr lang="en-US" b="1">
                    <a:latin typeface="Times New Roman" panose="02020603050405020304" pitchFamily="18" charset="0"/>
                    <a:cs typeface="Times New Roman" panose="02020603050405020304" pitchFamily="18" charset="0"/>
                  </a:rPr>
                  <a:t>và </a:t>
                </a:r>
                <a14:m>
                  <m:oMath xmlns:m="http://schemas.openxmlformats.org/officeDocument/2006/math">
                    <m:r>
                      <a:rPr lang="en-US" i="1" kern="100">
                        <a:latin typeface="Cambria Math" panose="02040503050406030204" pitchFamily="18" charset="0"/>
                        <a:ea typeface="Times New Roman" panose="02020603050405020304" pitchFamily="18" charset="0"/>
                        <a:cs typeface="Times New Roman" panose="02020603050405020304" pitchFamily="18" charset="0"/>
                      </a:rPr>
                      <m:t>𝜎</m:t>
                    </m:r>
                  </m:oMath>
                </a14:m>
                <a:r>
                  <a:rPr lang="en-US" b="1">
                    <a:latin typeface="Times New Roman" panose="02020603050405020304" pitchFamily="18" charset="0"/>
                    <a:cs typeface="Times New Roman" panose="02020603050405020304" pitchFamily="18" charset="0"/>
                  </a:rPr>
                  <a:t>.</a:t>
                </a:r>
              </a:p>
            </p:txBody>
          </p:sp>
        </mc:Choice>
        <mc:Fallback xmlns="">
          <p:sp>
            <p:nvSpPr>
              <p:cNvPr id="8" name="TextBox 10">
                <a:extLst>
                  <a:ext uri="{FF2B5EF4-FFF2-40B4-BE49-F238E27FC236}">
                    <a16:creationId xmlns:a16="http://schemas.microsoft.com/office/drawing/2014/main" id="{618AC52D-45BC-4DD6-7E30-09CBF7536F94}"/>
                  </a:ext>
                </a:extLst>
              </p:cNvPr>
              <p:cNvSpPr txBox="1">
                <a:spLocks noRot="1" noChangeAspect="1" noMove="1" noResize="1" noEditPoints="1" noAdjustHandles="1" noChangeArrowheads="1" noChangeShapeType="1" noTextEdit="1"/>
              </p:cNvSpPr>
              <p:nvPr/>
            </p:nvSpPr>
            <p:spPr>
              <a:xfrm>
                <a:off x="374948" y="1415592"/>
                <a:ext cx="7935686" cy="369332"/>
              </a:xfrm>
              <a:prstGeom prst="rect">
                <a:avLst/>
              </a:prstGeom>
              <a:blipFill>
                <a:blip r:embed="rId2"/>
                <a:stretch>
                  <a:fillRect l="-692" t="-8197" b="-2459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 name="Hộp Văn bản 9">
                <a:extLst>
                  <a:ext uri="{FF2B5EF4-FFF2-40B4-BE49-F238E27FC236}">
                    <a16:creationId xmlns:a16="http://schemas.microsoft.com/office/drawing/2014/main" id="{C31B8538-CF01-DAFF-F890-09E01026E7B5}"/>
                  </a:ext>
                </a:extLst>
              </p:cNvPr>
              <p:cNvSpPr txBox="1"/>
              <p:nvPr/>
            </p:nvSpPr>
            <p:spPr>
              <a:xfrm>
                <a:off x="374948" y="1815702"/>
                <a:ext cx="3467379" cy="656013"/>
              </a:xfrm>
              <a:prstGeom prst="rect">
                <a:avLst/>
              </a:prstGeom>
              <a:noFill/>
            </p:spPr>
            <p:txBody>
              <a:bodyPr wrap="square">
                <a:spAutoFit/>
              </a:bodyPr>
              <a:lstStyle/>
              <a:p>
                <a:r>
                  <a:rPr lang="vi-VN">
                    <a:latin typeface="+mj-lt"/>
                  </a:rPr>
                  <a:t>- Từ (14) và </a:t>
                </a:r>
                <a14:m>
                  <m:oMath xmlns:m="http://schemas.openxmlformats.org/officeDocument/2006/math">
                    <m:sSup>
                      <m:sSupPr>
                        <m:ctrlP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𝑉</m:t>
                        </m:r>
                      </m:e>
                      <m:sup>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𝑘</m:t>
                        </m:r>
                      </m:e>
                      <m:sub>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𝑣</m:t>
                        </m:r>
                      </m:sub>
                    </m:sSub>
                    <m:rad>
                      <m:radPr>
                        <m:degHide m:val="on"/>
                        <m:ctrlP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ctrlPr>
                      </m:radPr>
                      <m:deg/>
                      <m:e>
                        <m:f>
                          <m:fPr>
                            <m:ctrlP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𝜎</m:t>
                            </m:r>
                          </m:num>
                          <m:den>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𝛼</m:t>
                            </m:r>
                          </m:den>
                        </m:f>
                      </m:e>
                    </m:rad>
                  </m:oMath>
                </a14:m>
                <a:r>
                  <a:rPr lang="vi-VN">
                    <a:latin typeface="+mj-lt"/>
                  </a:rPr>
                  <a:t>, suy ra</a:t>
                </a:r>
                <a14:m>
                  <m:oMath xmlns:m="http://schemas.openxmlformats.org/officeDocument/2006/math">
                    <m:r>
                      <a:rPr lang="vi-VN" sz="1800" b="0" i="0" kern="100" smtClean="0">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vi-VN" sz="1800" b="0" i="0" kern="100">
                  <a:effectLst/>
                  <a:latin typeface="Cambria Math"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0" name="Hộp Văn bản 9">
                <a:extLst>
                  <a:ext uri="{FF2B5EF4-FFF2-40B4-BE49-F238E27FC236}">
                    <a16:creationId xmlns:a16="http://schemas.microsoft.com/office/drawing/2014/main" id="{C31B8538-CF01-DAFF-F890-09E01026E7B5}"/>
                  </a:ext>
                </a:extLst>
              </p:cNvPr>
              <p:cNvSpPr txBox="1">
                <a:spLocks noRot="1" noChangeAspect="1" noMove="1" noResize="1" noEditPoints="1" noAdjustHandles="1" noChangeArrowheads="1" noChangeShapeType="1" noTextEdit="1"/>
              </p:cNvSpPr>
              <p:nvPr/>
            </p:nvSpPr>
            <p:spPr>
              <a:xfrm>
                <a:off x="374948" y="1815702"/>
                <a:ext cx="3467379" cy="656013"/>
              </a:xfrm>
              <a:prstGeom prst="rect">
                <a:avLst/>
              </a:prstGeom>
              <a:blipFill>
                <a:blip r:embed="rId3"/>
                <a:stretch>
                  <a:fillRect l="-1585"/>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Hộp Văn bản 16">
                <a:extLst>
                  <a:ext uri="{FF2B5EF4-FFF2-40B4-BE49-F238E27FC236}">
                    <a16:creationId xmlns:a16="http://schemas.microsoft.com/office/drawing/2014/main" id="{74EC3B27-564F-B74A-81B8-3271E3952F79}"/>
                  </a:ext>
                </a:extLst>
              </p:cNvPr>
              <p:cNvSpPr txBox="1"/>
              <p:nvPr/>
            </p:nvSpPr>
            <p:spPr>
              <a:xfrm>
                <a:off x="7507702" y="1843523"/>
                <a:ext cx="1699491" cy="369332"/>
              </a:xfrm>
              <a:prstGeom prst="rect">
                <a:avLst/>
              </a:prstGeom>
              <a:noFill/>
            </p:spPr>
            <p:txBody>
              <a:bodyPr wrap="square">
                <a:spAutoFit/>
              </a:bodyPr>
              <a:lstStyle/>
              <a:p>
                <a:pPr/>
                <a14:m>
                  <m:oMathPara xmlns:m="http://schemas.openxmlformats.org/officeDocument/2006/math">
                    <m:oMath>
                      <m:r>
                        <a:rPr lang="vi-VN" sz="1800" i="1" kern="100" smtClean="0">
                          <a:effectLst/>
                          <a:latin typeface="Cambria Math" panose="02040503050406030204" pitchFamily="18" charset="0"/>
                          <a:ea typeface="Times New Roman" panose="02020603050405020304" pitchFamily="18" charset="0"/>
                          <a:cs typeface="Times New Roman" panose="02020603050405020304" pitchFamily="18" charset="0"/>
                        </a:rPr>
                        <m:t>𝜎</m:t>
                      </m:r>
                      <m:r>
                        <a:rPr lang="vi-VN" sz="1800" i="1" kern="100" smtClean="0">
                          <a:effectLst/>
                          <a:latin typeface="Cambria Math" panose="02040503050406030204" pitchFamily="18" charset="0"/>
                          <a:ea typeface="Times New Roman" panose="02020603050405020304" pitchFamily="18" charset="0"/>
                          <a:cs typeface="Times New Roman" panose="02020603050405020304" pitchFamily="18" charset="0"/>
                        </a:rPr>
                        <m:t>=2</m:t>
                      </m:r>
                      <m:r>
                        <a:rPr lang="vi-VN" sz="1800" i="1" kern="100" smtClean="0">
                          <a:effectLst/>
                          <a:latin typeface="Cambria Math" panose="02040503050406030204" pitchFamily="18" charset="0"/>
                          <a:ea typeface="Times New Roman" panose="02020603050405020304" pitchFamily="18" charset="0"/>
                          <a:cs typeface="Times New Roman" panose="02020603050405020304" pitchFamily="18" charset="0"/>
                        </a:rPr>
                        <m:t>𝛼</m:t>
                      </m:r>
                    </m:oMath>
                  </m:oMathPara>
                </a14:m>
                <a:endParaRPr lang="vi-VN" sz="1800" kern="100">
                  <a:effectLst/>
                  <a:latin typeface="+mj-lt"/>
                  <a:ea typeface="Times New Roman" panose="02020603050405020304" pitchFamily="18" charset="0"/>
                  <a:cs typeface="Times New Roman" panose="02020603050405020304" pitchFamily="18" charset="0"/>
                </a:endParaRPr>
              </a:p>
            </p:txBody>
          </p:sp>
        </mc:Choice>
        <mc:Fallback xmlns="">
          <p:sp>
            <p:nvSpPr>
              <p:cNvPr id="17" name="Hộp Văn bản 16">
                <a:extLst>
                  <a:ext uri="{FF2B5EF4-FFF2-40B4-BE49-F238E27FC236}">
                    <a16:creationId xmlns:a16="http://schemas.microsoft.com/office/drawing/2014/main" id="{74EC3B27-564F-B74A-81B8-3271E3952F79}"/>
                  </a:ext>
                </a:extLst>
              </p:cNvPr>
              <p:cNvSpPr txBox="1">
                <a:spLocks noRot="1" noChangeAspect="1" noMove="1" noResize="1" noEditPoints="1" noAdjustHandles="1" noChangeArrowheads="1" noChangeShapeType="1" noTextEdit="1"/>
              </p:cNvSpPr>
              <p:nvPr/>
            </p:nvSpPr>
            <p:spPr>
              <a:xfrm>
                <a:off x="7507702" y="1843523"/>
                <a:ext cx="1699491" cy="369332"/>
              </a:xfrm>
              <a:prstGeom prst="rect">
                <a:avLst/>
              </a:prstGeom>
              <a:blipFill>
                <a:blip r:embed="rId4"/>
                <a:stretch>
                  <a:fillRect/>
                </a:stretch>
              </a:blipFill>
            </p:spPr>
            <p:txBody>
              <a:bodyPr/>
              <a:lstStyle/>
              <a:p>
                <a:r>
                  <a:rPr lang="vi-VN">
                    <a:noFill/>
                  </a:rPr>
                  <a:t> </a:t>
                </a:r>
              </a:p>
            </p:txBody>
          </p:sp>
        </mc:Fallback>
      </mc:AlternateContent>
      <p:sp>
        <p:nvSpPr>
          <p:cNvPr id="19" name="Hộp Văn bản 18">
            <a:extLst>
              <a:ext uri="{FF2B5EF4-FFF2-40B4-BE49-F238E27FC236}">
                <a16:creationId xmlns:a16="http://schemas.microsoft.com/office/drawing/2014/main" id="{B6901539-DE3C-C3AA-F53E-F28FB6E3C895}"/>
              </a:ext>
            </a:extLst>
          </p:cNvPr>
          <p:cNvSpPr txBox="1"/>
          <p:nvPr/>
        </p:nvSpPr>
        <p:spPr>
          <a:xfrm>
            <a:off x="374948" y="2451068"/>
            <a:ext cx="6096000" cy="646331"/>
          </a:xfrm>
          <a:prstGeom prst="rect">
            <a:avLst/>
          </a:prstGeom>
          <a:noFill/>
        </p:spPr>
        <p:txBody>
          <a:bodyPr wrap="square">
            <a:spAutoFit/>
          </a:bodyPr>
          <a:lstStyle/>
          <a:p>
            <a:r>
              <a:rPr lang="vi-VN">
                <a:latin typeface="+mj-lt"/>
              </a:rPr>
              <a:t>- Thay (14) và (15) vào (9), suy ra:</a:t>
            </a:r>
            <a:endParaRPr lang="vi-VN" sz="1800" kern="100">
              <a:effectLst/>
              <a:latin typeface="Times New Roman" panose="02020603050405020304" pitchFamily="18" charset="0"/>
              <a:ea typeface="Aptos" panose="020B0004020202020204" pitchFamily="34" charset="0"/>
              <a:cs typeface="Times New Roman" panose="02020603050405020304" pitchFamily="18" charset="0"/>
            </a:endParaRPr>
          </a:p>
          <a:p>
            <a:endParaRPr lang="vi-V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E0C63A3-2C91-D73E-003C-31C0D1AE2B4F}"/>
                  </a:ext>
                </a:extLst>
              </p:cNvPr>
              <p:cNvSpPr txBox="1"/>
              <p:nvPr/>
            </p:nvSpPr>
            <p:spPr>
              <a:xfrm>
                <a:off x="4106803" y="1686446"/>
                <a:ext cx="2077688" cy="656013"/>
              </a:xfrm>
              <a:prstGeom prst="rect">
                <a:avLst/>
              </a:prstGeom>
              <a:noFill/>
            </p:spPr>
            <p:txBody>
              <a:bodyPr wrap="square">
                <a:spAutoFit/>
              </a:bodyPr>
              <a:lstStyle/>
              <a:p>
                <a14:m>
                  <m:oMath xmlns:m="http://schemas.openxmlformats.org/officeDocument/2006/math">
                    <m:sSup>
                      <m:sSupPr>
                        <m:ctrlPr>
                          <a:rPr lang="vi-VN" i="1">
                            <a:latin typeface="Cambria Math" panose="02040503050406030204" pitchFamily="18" charset="0"/>
                          </a:rPr>
                        </m:ctrlPr>
                      </m:sSupPr>
                      <m:e>
                        <m:r>
                          <a:rPr lang="vi-VN" i="1">
                            <a:latin typeface="Cambria Math" panose="02040503050406030204" pitchFamily="18" charset="0"/>
                          </a:rPr>
                          <m:t>𝑉</m:t>
                        </m:r>
                      </m:e>
                      <m:sup>
                        <m:r>
                          <a:rPr lang="vi-VN" i="0">
                            <a:latin typeface="Cambria Math" panose="02040503050406030204" pitchFamily="18" charset="0"/>
                          </a:rPr>
                          <m:t>∗</m:t>
                        </m:r>
                      </m:sup>
                    </m:sSup>
                    <m:r>
                      <a:rPr lang="vi-VN" i="0">
                        <a:latin typeface="Cambria Math" panose="02040503050406030204" pitchFamily="18" charset="0"/>
                      </a:rPr>
                      <m:t>=</m:t>
                    </m:r>
                    <m:f>
                      <m:fPr>
                        <m:ctrlPr>
                          <a:rPr lang="vi-VN" i="1">
                            <a:solidFill>
                              <a:srgbClr val="836967"/>
                            </a:solidFill>
                            <a:latin typeface="Cambria Math" panose="02040503050406030204" pitchFamily="18" charset="0"/>
                          </a:rPr>
                        </m:ctrlPr>
                      </m:fPr>
                      <m:num>
                        <m:sSup>
                          <m:sSupPr>
                            <m:ctrlPr>
                              <a:rPr lang="vi-VN" i="1">
                                <a:latin typeface="Cambria Math" panose="02040503050406030204" pitchFamily="18" charset="0"/>
                              </a:rPr>
                            </m:ctrlPr>
                          </m:sSupPr>
                          <m:e>
                            <m:r>
                              <a:rPr lang="vi-VN" i="1">
                                <a:latin typeface="Cambria Math" panose="02040503050406030204" pitchFamily="18" charset="0"/>
                              </a:rPr>
                              <m:t>𝑉</m:t>
                            </m:r>
                          </m:e>
                          <m:sup>
                            <m:r>
                              <a:rPr lang="vi-VN" i="0">
                                <a:latin typeface="Cambria Math" panose="02040503050406030204" pitchFamily="18" charset="0"/>
                              </a:rPr>
                              <m:t>∗</m:t>
                            </m:r>
                          </m:sup>
                        </m:sSup>
                      </m:num>
                      <m:den>
                        <m:rad>
                          <m:radPr>
                            <m:degHide m:val="on"/>
                            <m:ctrlPr>
                              <a:rPr lang="vi-VN" i="1">
                                <a:solidFill>
                                  <a:srgbClr val="836967"/>
                                </a:solidFill>
                                <a:latin typeface="Cambria Math" panose="02040503050406030204" pitchFamily="18" charset="0"/>
                              </a:rPr>
                            </m:ctrlPr>
                          </m:radPr>
                          <m:deg/>
                          <m:e>
                            <m:r>
                              <a:rPr lang="vi-VN" i="0">
                                <a:latin typeface="Cambria Math" panose="02040503050406030204" pitchFamily="18" charset="0"/>
                              </a:rPr>
                              <m:t>2</m:t>
                            </m:r>
                          </m:e>
                        </m:rad>
                      </m:den>
                    </m:f>
                    <m:rad>
                      <m:radPr>
                        <m:degHide m:val="on"/>
                        <m:ctrlPr>
                          <a:rPr lang="vi-VN" i="1">
                            <a:solidFill>
                              <a:srgbClr val="836967"/>
                            </a:solidFill>
                            <a:latin typeface="Cambria Math" panose="02040503050406030204" pitchFamily="18" charset="0"/>
                          </a:rPr>
                        </m:ctrlPr>
                      </m:radPr>
                      <m:deg/>
                      <m:e>
                        <m:f>
                          <m:fPr>
                            <m:ctrlPr>
                              <a:rPr lang="vi-VN" i="1">
                                <a:latin typeface="Cambria Math" panose="02040503050406030204" pitchFamily="18" charset="0"/>
                              </a:rPr>
                            </m:ctrlPr>
                          </m:fPr>
                          <m:num>
                            <m:r>
                              <a:rPr lang="vi-VN" i="1">
                                <a:latin typeface="Cambria Math" panose="02040503050406030204" pitchFamily="18" charset="0"/>
                              </a:rPr>
                              <m:t>𝜎</m:t>
                            </m:r>
                          </m:num>
                          <m:den>
                            <m:r>
                              <a:rPr lang="vi-VN" i="1">
                                <a:latin typeface="Cambria Math" panose="02040503050406030204" pitchFamily="18" charset="0"/>
                              </a:rPr>
                              <m:t>𝛼</m:t>
                            </m:r>
                          </m:den>
                        </m:f>
                      </m:e>
                    </m:rad>
                  </m:oMath>
                </a14:m>
                <a:r>
                  <a:rPr lang="vi-VN">
                    <a:latin typeface="+mj-lt"/>
                  </a:rPr>
                  <a:t> </a:t>
                </a:r>
                <a14:m>
                  <m:oMath xmlns:m="http://schemas.openxmlformats.org/officeDocument/2006/math">
                    <m:r>
                      <a:rPr lang="vi-VN" b="0" i="0" smtClean="0">
                        <a:latin typeface="Cambria Math" panose="02040503050406030204" pitchFamily="18" charset="0"/>
                      </a:rPr>
                      <m:t>       </m:t>
                    </m:r>
                    <m:r>
                      <a:rPr lang="vi-VN" i="1">
                        <a:latin typeface="Cambria Math" panose="02040503050406030204" pitchFamily="18" charset="0"/>
                      </a:rPr>
                      <m:t>→</m:t>
                    </m:r>
                  </m:oMath>
                </a14:m>
                <a:endParaRPr lang="vi-VN">
                  <a:latin typeface="+mj-lt"/>
                </a:endParaRPr>
              </a:p>
            </p:txBody>
          </p:sp>
        </mc:Choice>
        <mc:Fallback xmlns="">
          <p:sp>
            <p:nvSpPr>
              <p:cNvPr id="7" name="TextBox 6">
                <a:extLst>
                  <a:ext uri="{FF2B5EF4-FFF2-40B4-BE49-F238E27FC236}">
                    <a16:creationId xmlns:a16="http://schemas.microsoft.com/office/drawing/2014/main" id="{4E0C63A3-2C91-D73E-003C-31C0D1AE2B4F}"/>
                  </a:ext>
                </a:extLst>
              </p:cNvPr>
              <p:cNvSpPr txBox="1">
                <a:spLocks noRot="1" noChangeAspect="1" noMove="1" noResize="1" noEditPoints="1" noAdjustHandles="1" noChangeArrowheads="1" noChangeShapeType="1" noTextEdit="1"/>
              </p:cNvSpPr>
              <p:nvPr/>
            </p:nvSpPr>
            <p:spPr>
              <a:xfrm>
                <a:off x="4106803" y="1686446"/>
                <a:ext cx="2077688" cy="656013"/>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7664FC3-CF86-A484-A428-CCCA436FD652}"/>
                  </a:ext>
                </a:extLst>
              </p:cNvPr>
              <p:cNvSpPr txBox="1"/>
              <p:nvPr/>
            </p:nvSpPr>
            <p:spPr>
              <a:xfrm>
                <a:off x="5315916" y="1676610"/>
                <a:ext cx="2705193" cy="656013"/>
              </a:xfrm>
              <a:prstGeom prst="rect">
                <a:avLst/>
              </a:prstGeom>
              <a:noFill/>
            </p:spPr>
            <p:txBody>
              <a:bodyPr wrap="square">
                <a:spAutoFit/>
              </a:bodyPr>
              <a:lstStyle/>
              <a:p>
                <a:pPr/>
                <a14:m>
                  <m:oMathPara xmlns:m="http://schemas.openxmlformats.org/officeDocument/2006/math">
                    <m:oMath>
                      <m:rad>
                        <m:radPr>
                          <m:degHide m:val="on"/>
                          <m:ctrlPr>
                            <a:rPr lang="vi-VN" i="1" smtClean="0">
                              <a:solidFill>
                                <a:srgbClr val="836967"/>
                              </a:solidFill>
                              <a:latin typeface="Cambria Math" panose="02040503050406030204" pitchFamily="18" charset="0"/>
                            </a:rPr>
                          </m:ctrlPr>
                        </m:radPr>
                        <m:deg/>
                        <m:e>
                          <m:f>
                            <m:fPr>
                              <m:ctrlPr>
                                <a:rPr lang="vi-VN" i="1">
                                  <a:latin typeface="Cambria Math" panose="02040503050406030204" pitchFamily="18" charset="0"/>
                                </a:rPr>
                              </m:ctrlPr>
                            </m:fPr>
                            <m:num>
                              <m:r>
                                <a:rPr lang="vi-VN" i="1">
                                  <a:latin typeface="Cambria Math" panose="02040503050406030204" pitchFamily="18" charset="0"/>
                                </a:rPr>
                                <m:t>𝜎</m:t>
                              </m:r>
                            </m:num>
                            <m:den>
                              <m:r>
                                <a:rPr lang="vi-VN" i="0">
                                  <a:latin typeface="Cambria Math" panose="02040503050406030204" pitchFamily="18" charset="0"/>
                                </a:rPr>
                                <m:t>2</m:t>
                              </m:r>
                              <m:r>
                                <a:rPr lang="vi-VN" i="1">
                                  <a:latin typeface="Cambria Math" panose="02040503050406030204" pitchFamily="18" charset="0"/>
                                </a:rPr>
                                <m:t>𝛼</m:t>
                              </m:r>
                            </m:den>
                          </m:f>
                        </m:e>
                      </m:rad>
                      <m:r>
                        <a:rPr lang="vi-VN" i="0">
                          <a:latin typeface="Cambria Math" panose="02040503050406030204" pitchFamily="18" charset="0"/>
                        </a:rPr>
                        <m:t>=1</m:t>
                      </m:r>
                    </m:oMath>
                  </m:oMathPara>
                </a14:m>
                <a:endParaRPr lang="vi-VN"/>
              </a:p>
            </p:txBody>
          </p:sp>
        </mc:Choice>
        <mc:Fallback xmlns="">
          <p:sp>
            <p:nvSpPr>
              <p:cNvPr id="15" name="TextBox 14">
                <a:extLst>
                  <a:ext uri="{FF2B5EF4-FFF2-40B4-BE49-F238E27FC236}">
                    <a16:creationId xmlns:a16="http://schemas.microsoft.com/office/drawing/2014/main" id="{47664FC3-CF86-A484-A428-CCCA436FD652}"/>
                  </a:ext>
                </a:extLst>
              </p:cNvPr>
              <p:cNvSpPr txBox="1">
                <a:spLocks noRot="1" noChangeAspect="1" noMove="1" noResize="1" noEditPoints="1" noAdjustHandles="1" noChangeArrowheads="1" noChangeShapeType="1" noTextEdit="1"/>
              </p:cNvSpPr>
              <p:nvPr/>
            </p:nvSpPr>
            <p:spPr>
              <a:xfrm>
                <a:off x="5315916" y="1676610"/>
                <a:ext cx="2705193" cy="656013"/>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BAC766D-51CA-2289-B1AD-DF79BD2FD28F}"/>
                  </a:ext>
                </a:extLst>
              </p:cNvPr>
              <p:cNvSpPr txBox="1"/>
              <p:nvPr/>
            </p:nvSpPr>
            <p:spPr>
              <a:xfrm>
                <a:off x="4459702" y="1793379"/>
                <a:ext cx="6096000" cy="369332"/>
              </a:xfrm>
              <a:prstGeom prst="rect">
                <a:avLst/>
              </a:prstGeom>
              <a:noFill/>
            </p:spPr>
            <p:txBody>
              <a:bodyPr wrap="square">
                <a:spAutoFit/>
              </a:bodyPr>
              <a:lstStyle/>
              <a:p>
                <a:pPr/>
                <a14:m>
                  <m:oMathPara xmlns:m="http://schemas.openxmlformats.org/officeDocument/2006/math">
                    <m:oMath>
                      <m:r>
                        <a:rPr lang="vi-VN" smtClean="0">
                          <a:latin typeface="Cambria Math" panose="02040503050406030204" pitchFamily="18" charset="0"/>
                        </a:rPr>
                        <m:t>→</m:t>
                      </m:r>
                    </m:oMath>
                  </m:oMathPara>
                </a14:m>
                <a:endParaRPr lang="vi-VN"/>
              </a:p>
            </p:txBody>
          </p:sp>
        </mc:Choice>
        <mc:Fallback xmlns="">
          <p:sp>
            <p:nvSpPr>
              <p:cNvPr id="18" name="TextBox 17">
                <a:extLst>
                  <a:ext uri="{FF2B5EF4-FFF2-40B4-BE49-F238E27FC236}">
                    <a16:creationId xmlns:a16="http://schemas.microsoft.com/office/drawing/2014/main" id="{0BAC766D-51CA-2289-B1AD-DF79BD2FD28F}"/>
                  </a:ext>
                </a:extLst>
              </p:cNvPr>
              <p:cNvSpPr txBox="1">
                <a:spLocks noRot="1" noChangeAspect="1" noMove="1" noResize="1" noEditPoints="1" noAdjustHandles="1" noChangeArrowheads="1" noChangeShapeType="1" noTextEdit="1"/>
              </p:cNvSpPr>
              <p:nvPr/>
            </p:nvSpPr>
            <p:spPr>
              <a:xfrm>
                <a:off x="4459702" y="1793379"/>
                <a:ext cx="6096000" cy="369332"/>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E4CD0A9-981B-A4F9-9D5C-7CD9BA048FE5}"/>
                  </a:ext>
                </a:extLst>
              </p:cNvPr>
              <p:cNvSpPr txBox="1"/>
              <p:nvPr/>
            </p:nvSpPr>
            <p:spPr>
              <a:xfrm>
                <a:off x="2097647" y="2771291"/>
                <a:ext cx="6096000" cy="1169936"/>
              </a:xfrm>
              <a:prstGeom prst="rect">
                <a:avLst/>
              </a:prstGeom>
              <a:noFill/>
            </p:spPr>
            <p:txBody>
              <a:bodyPr wrap="square">
                <a:spAutoFit/>
              </a:bodyPr>
              <a:lstStyle/>
              <a:p>
                <a:pPr/>
                <a14:m>
                  <m:oMathPara xmlns:m="http://schemas.openxmlformats.org/officeDocument/2006/math">
                    <m:oMath>
                      <m:sSup>
                        <m:sSupPr>
                          <m:ctrlPr>
                            <a:rPr lang="vi-VN" i="1">
                              <a:solidFill>
                                <a:srgbClr val="836967"/>
                              </a:solidFill>
                              <a:latin typeface="Cambria Math" panose="02040503050406030204" pitchFamily="18" charset="0"/>
                            </a:rPr>
                          </m:ctrlPr>
                        </m:sSupPr>
                        <m:e>
                          <m:acc>
                            <m:accPr>
                              <m:chr m:val="̅"/>
                              <m:ctrlPr>
                                <a:rPr lang="vi-VN" i="1">
                                  <a:solidFill>
                                    <a:srgbClr val="836967"/>
                                  </a:solidFill>
                                  <a:latin typeface="Cambria Math" panose="02040503050406030204" pitchFamily="18" charset="0"/>
                                </a:rPr>
                              </m:ctrlPr>
                            </m:accPr>
                            <m:e>
                              <m:sSub>
                                <m:sSubPr>
                                  <m:ctrlPr>
                                    <a:rPr lang="vi-VN" i="1">
                                      <a:latin typeface="Cambria Math" panose="02040503050406030204" pitchFamily="18" charset="0"/>
                                    </a:rPr>
                                  </m:ctrlPr>
                                </m:sSubPr>
                                <m:e>
                                  <m:r>
                                    <a:rPr lang="vi-VN" i="1">
                                      <a:latin typeface="Cambria Math" panose="02040503050406030204" pitchFamily="18" charset="0"/>
                                    </a:rPr>
                                    <m:t>𝑉</m:t>
                                  </m:r>
                                </m:e>
                                <m:sub>
                                  <m:r>
                                    <a:rPr lang="vi-VN" i="1">
                                      <a:latin typeface="Cambria Math" panose="02040503050406030204" pitchFamily="18" charset="0"/>
                                    </a:rPr>
                                    <m:t>𝑒</m:t>
                                  </m:r>
                                </m:sub>
                              </m:sSub>
                            </m:e>
                          </m:acc>
                        </m:e>
                        <m:sup>
                          <m:r>
                            <a:rPr lang="vi-VN" i="0">
                              <a:latin typeface="Cambria Math" panose="02040503050406030204" pitchFamily="18" charset="0"/>
                            </a:rPr>
                            <m:t>2</m:t>
                          </m:r>
                        </m:sup>
                      </m:sSup>
                      <m:r>
                        <a:rPr lang="vi-VN" i="0">
                          <a:latin typeface="Cambria Math" panose="02040503050406030204" pitchFamily="18" charset="0"/>
                        </a:rPr>
                        <m:t>=0.5</m:t>
                      </m:r>
                      <m:sSup>
                        <m:sSupPr>
                          <m:ctrlPr>
                            <a:rPr lang="vi-VN" i="1">
                              <a:solidFill>
                                <a:srgbClr val="836967"/>
                              </a:solidFill>
                              <a:latin typeface="Cambria Math" panose="02040503050406030204" pitchFamily="18" charset="0"/>
                            </a:rPr>
                          </m:ctrlPr>
                        </m:sSupPr>
                        <m:e>
                          <m:sSup>
                            <m:sSupPr>
                              <m:ctrlPr>
                                <a:rPr lang="vi-VN" i="1">
                                  <a:latin typeface="Cambria Math" panose="02040503050406030204" pitchFamily="18" charset="0"/>
                                </a:rPr>
                              </m:ctrlPr>
                            </m:sSupPr>
                            <m:e>
                              <m:r>
                                <a:rPr lang="vi-VN" i="1">
                                  <a:latin typeface="Cambria Math" panose="02040503050406030204" pitchFamily="18" charset="0"/>
                                </a:rPr>
                                <m:t>𝑉</m:t>
                              </m:r>
                            </m:e>
                            <m:sup>
                              <m:r>
                                <a:rPr lang="vi-VN" i="0">
                                  <a:latin typeface="Cambria Math" panose="02040503050406030204" pitchFamily="18" charset="0"/>
                                </a:rPr>
                                <m:t>∗</m:t>
                              </m:r>
                            </m:sup>
                          </m:sSup>
                        </m:e>
                        <m:sup>
                          <m:r>
                            <a:rPr lang="vi-VN" i="0">
                              <a:latin typeface="Cambria Math" panose="02040503050406030204" pitchFamily="18" charset="0"/>
                            </a:rPr>
                            <m:t>2</m:t>
                          </m:r>
                        </m:sup>
                      </m:sSup>
                      <m:r>
                        <a:rPr lang="vi-VN" i="0">
                          <a:latin typeface="Cambria Math" panose="02040503050406030204" pitchFamily="18" charset="0"/>
                        </a:rPr>
                        <m:t>+0.5</m:t>
                      </m:r>
                      <m:rad>
                        <m:radPr>
                          <m:degHide m:val="on"/>
                          <m:ctrlPr>
                            <a:rPr lang="vi-VN" i="1">
                              <a:solidFill>
                                <a:srgbClr val="836967"/>
                              </a:solidFill>
                              <a:latin typeface="Cambria Math" panose="02040503050406030204" pitchFamily="18" charset="0"/>
                            </a:rPr>
                          </m:ctrlPr>
                        </m:radPr>
                        <m:deg/>
                        <m:e>
                          <m:sSup>
                            <m:sSupPr>
                              <m:ctrlPr>
                                <a:rPr lang="vi-VN" i="1">
                                  <a:solidFill>
                                    <a:srgbClr val="836967"/>
                                  </a:solidFill>
                                  <a:latin typeface="Cambria Math" panose="02040503050406030204" pitchFamily="18" charset="0"/>
                                </a:rPr>
                              </m:ctrlPr>
                            </m:sSupPr>
                            <m:e>
                              <m:sSup>
                                <m:sSupPr>
                                  <m:ctrlPr>
                                    <a:rPr lang="vi-VN" i="1">
                                      <a:latin typeface="Cambria Math" panose="02040503050406030204" pitchFamily="18" charset="0"/>
                                    </a:rPr>
                                  </m:ctrlPr>
                                </m:sSupPr>
                                <m:e>
                                  <m:r>
                                    <a:rPr lang="vi-VN" i="1">
                                      <a:latin typeface="Cambria Math" panose="02040503050406030204" pitchFamily="18" charset="0"/>
                                    </a:rPr>
                                    <m:t>𝑉</m:t>
                                  </m:r>
                                </m:e>
                                <m:sup>
                                  <m:r>
                                    <a:rPr lang="vi-VN" i="0">
                                      <a:latin typeface="Cambria Math" panose="02040503050406030204" pitchFamily="18" charset="0"/>
                                    </a:rPr>
                                    <m:t>∗</m:t>
                                  </m:r>
                                </m:sup>
                              </m:sSup>
                            </m:e>
                            <m:sup>
                              <m:r>
                                <a:rPr lang="vi-VN" i="0">
                                  <a:latin typeface="Cambria Math" panose="02040503050406030204" pitchFamily="18" charset="0"/>
                                </a:rPr>
                                <m:t>4</m:t>
                              </m:r>
                            </m:sup>
                          </m:sSup>
                          <m:r>
                            <a:rPr lang="vi-VN" i="0">
                              <a:latin typeface="Cambria Math" panose="02040503050406030204" pitchFamily="18" charset="0"/>
                            </a:rPr>
                            <m:t>−</m:t>
                          </m:r>
                          <m:f>
                            <m:fPr>
                              <m:ctrlPr>
                                <a:rPr lang="vi-VN" i="0">
                                  <a:latin typeface="Cambria Math" panose="02040503050406030204" pitchFamily="18" charset="0"/>
                                </a:rPr>
                              </m:ctrlPr>
                            </m:fPr>
                            <m:num>
                              <m:r>
                                <a:rPr lang="vi-VN" i="0">
                                  <a:latin typeface="Cambria Math" panose="02040503050406030204" pitchFamily="18" charset="0"/>
                                </a:rPr>
                                <m:t>8</m:t>
                              </m:r>
                            </m:num>
                            <m:den>
                              <m:f>
                                <m:fPr>
                                  <m:ctrlPr>
                                    <a:rPr lang="vi-VN" i="1">
                                      <a:latin typeface="Cambria Math" panose="02040503050406030204" pitchFamily="18" charset="0"/>
                                    </a:rPr>
                                  </m:ctrlPr>
                                </m:fPr>
                                <m:num>
                                  <m:r>
                                    <a:rPr lang="vi-VN" i="1">
                                      <a:latin typeface="Cambria Math" panose="02040503050406030204" pitchFamily="18" charset="0"/>
                                    </a:rPr>
                                    <m:t>𝜉</m:t>
                                  </m:r>
                                </m:num>
                                <m:den>
                                  <m:sSup>
                                    <m:sSupPr>
                                      <m:ctrlPr>
                                        <a:rPr lang="vi-VN" i="1">
                                          <a:solidFill>
                                            <a:srgbClr val="836967"/>
                                          </a:solidFill>
                                          <a:latin typeface="Cambria Math" panose="02040503050406030204" pitchFamily="18" charset="0"/>
                                        </a:rPr>
                                      </m:ctrlPr>
                                    </m:sSupPr>
                                    <m:e>
                                      <m:sSub>
                                        <m:sSubPr>
                                          <m:ctrlPr>
                                            <a:rPr lang="vi-VN" i="1">
                                              <a:latin typeface="Cambria Math" panose="02040503050406030204" pitchFamily="18" charset="0"/>
                                            </a:rPr>
                                          </m:ctrlPr>
                                        </m:sSubPr>
                                        <m:e>
                                          <m:r>
                                            <a:rPr lang="vi-VN" i="1">
                                              <a:latin typeface="Cambria Math" panose="02040503050406030204" pitchFamily="18" charset="0"/>
                                            </a:rPr>
                                            <m:t>𝑘</m:t>
                                          </m:r>
                                        </m:e>
                                        <m:sub>
                                          <m:r>
                                            <a:rPr lang="vi-VN" i="1">
                                              <a:latin typeface="Cambria Math" panose="02040503050406030204" pitchFamily="18" charset="0"/>
                                            </a:rPr>
                                            <m:t>𝑣</m:t>
                                          </m:r>
                                        </m:sub>
                                      </m:sSub>
                                    </m:e>
                                    <m:sup>
                                      <m:r>
                                        <a:rPr lang="vi-VN" i="0">
                                          <a:latin typeface="Cambria Math" panose="02040503050406030204" pitchFamily="18" charset="0"/>
                                        </a:rPr>
                                        <m:t>2</m:t>
                                      </m:r>
                                    </m:sup>
                                  </m:sSup>
                                </m:den>
                              </m:f>
                            </m:den>
                          </m:f>
                          <m:f>
                            <m:fPr>
                              <m:ctrlPr>
                                <a:rPr lang="vi-VN" i="1">
                                  <a:solidFill>
                                    <a:srgbClr val="836967"/>
                                  </a:solidFill>
                                  <a:latin typeface="Cambria Math" panose="02040503050406030204" pitchFamily="18" charset="0"/>
                                </a:rPr>
                              </m:ctrlPr>
                            </m:fPr>
                            <m:num>
                              <m:sSub>
                                <m:sSubPr>
                                  <m:ctrlPr>
                                    <a:rPr lang="vi-VN" i="1">
                                      <a:latin typeface="Cambria Math" panose="02040503050406030204" pitchFamily="18" charset="0"/>
                                    </a:rPr>
                                  </m:ctrlPr>
                                </m:sSubPr>
                                <m:e>
                                  <m:r>
                                    <a:rPr lang="vi-VN" i="1">
                                      <a:latin typeface="Cambria Math" panose="02040503050406030204" pitchFamily="18" charset="0"/>
                                    </a:rPr>
                                    <m:t>𝑘</m:t>
                                  </m:r>
                                </m:e>
                                <m:sub>
                                  <m:r>
                                    <a:rPr lang="vi-VN" i="1">
                                      <a:latin typeface="Cambria Math" panose="02040503050406030204" pitchFamily="18" charset="0"/>
                                    </a:rPr>
                                    <m:t>𝑣</m:t>
                                  </m:r>
                                </m:sub>
                              </m:sSub>
                              <m:sSub>
                                <m:sSubPr>
                                  <m:ctrlPr>
                                    <a:rPr lang="vi-VN" i="1">
                                      <a:latin typeface="Cambria Math" panose="02040503050406030204" pitchFamily="18" charset="0"/>
                                    </a:rPr>
                                  </m:ctrlPr>
                                </m:sSubPr>
                                <m:e>
                                  <m:r>
                                    <a:rPr lang="vi-VN" i="1">
                                      <a:latin typeface="Cambria Math" panose="02040503050406030204" pitchFamily="18" charset="0"/>
                                    </a:rPr>
                                    <m:t>𝑘</m:t>
                                  </m:r>
                                </m:e>
                                <m:sub>
                                  <m:r>
                                    <a:rPr lang="vi-VN" i="1">
                                      <a:latin typeface="Cambria Math" panose="02040503050406030204" pitchFamily="18" charset="0"/>
                                    </a:rPr>
                                    <m:t>𝑖</m:t>
                                  </m:r>
                                </m:sub>
                              </m:sSub>
                            </m:num>
                            <m:den>
                              <m:r>
                                <a:rPr lang="vi-VN" i="1">
                                  <a:latin typeface="Cambria Math" panose="02040503050406030204" pitchFamily="18" charset="0"/>
                                </a:rPr>
                                <m:t>𝐶</m:t>
                              </m:r>
                            </m:den>
                          </m:f>
                          <m:f>
                            <m:fPr>
                              <m:ctrlPr>
                                <a:rPr lang="vi-VN" i="1">
                                  <a:solidFill>
                                    <a:srgbClr val="836967"/>
                                  </a:solidFill>
                                  <a:latin typeface="Cambria Math" panose="02040503050406030204" pitchFamily="18" charset="0"/>
                                </a:rPr>
                              </m:ctrlPr>
                            </m:fPr>
                            <m:num>
                              <m:acc>
                                <m:accPr>
                                  <m:chr m:val="̅"/>
                                  <m:ctrlPr>
                                    <a:rPr lang="vi-VN" i="1">
                                      <a:solidFill>
                                        <a:srgbClr val="836967"/>
                                      </a:solidFill>
                                      <a:latin typeface="Cambria Math" panose="02040503050406030204" pitchFamily="18" charset="0"/>
                                    </a:rPr>
                                  </m:ctrlPr>
                                </m:accPr>
                                <m:e>
                                  <m:sSub>
                                    <m:sSubPr>
                                      <m:ctrlPr>
                                        <a:rPr lang="vi-VN" i="1">
                                          <a:latin typeface="Cambria Math" panose="02040503050406030204" pitchFamily="18" charset="0"/>
                                        </a:rPr>
                                      </m:ctrlPr>
                                    </m:sSubPr>
                                    <m:e>
                                      <m:r>
                                        <a:rPr lang="vi-VN" i="1">
                                          <a:latin typeface="Cambria Math" panose="02040503050406030204" pitchFamily="18" charset="0"/>
                                        </a:rPr>
                                        <m:t>𝑉</m:t>
                                      </m:r>
                                    </m:e>
                                    <m:sub>
                                      <m:r>
                                        <a:rPr lang="vi-VN" i="1">
                                          <a:latin typeface="Cambria Math" panose="02040503050406030204" pitchFamily="18" charset="0"/>
                                        </a:rPr>
                                        <m:t>𝑒</m:t>
                                      </m:r>
                                    </m:sub>
                                  </m:sSub>
                                </m:e>
                              </m:acc>
                            </m:num>
                            <m:den>
                              <m:rad>
                                <m:radPr>
                                  <m:degHide m:val="on"/>
                                  <m:ctrlPr>
                                    <a:rPr lang="vi-VN" i="1">
                                      <a:solidFill>
                                        <a:srgbClr val="836967"/>
                                      </a:solidFill>
                                      <a:latin typeface="Cambria Math" panose="02040503050406030204" pitchFamily="18" charset="0"/>
                                    </a:rPr>
                                  </m:ctrlPr>
                                </m:radPr>
                                <m:deg/>
                                <m:e>
                                  <m:r>
                                    <a:rPr lang="vi-VN" i="0">
                                      <a:latin typeface="Cambria Math" panose="02040503050406030204" pitchFamily="18" charset="0"/>
                                    </a:rPr>
                                    <m:t>2</m:t>
                                  </m:r>
                                </m:e>
                              </m:rad>
                              <m:sSub>
                                <m:sSubPr>
                                  <m:ctrlPr>
                                    <a:rPr lang="vi-VN" i="1">
                                      <a:latin typeface="Cambria Math" panose="02040503050406030204" pitchFamily="18" charset="0"/>
                                    </a:rPr>
                                  </m:ctrlPr>
                                </m:sSubPr>
                                <m:e>
                                  <m:r>
                                    <a:rPr lang="vi-VN" i="1">
                                      <a:latin typeface="Cambria Math" panose="02040503050406030204" pitchFamily="18" charset="0"/>
                                    </a:rPr>
                                    <m:t>𝑘</m:t>
                                  </m:r>
                                </m:e>
                                <m:sub>
                                  <m:r>
                                    <a:rPr lang="vi-VN" i="1">
                                      <a:latin typeface="Cambria Math" panose="02040503050406030204" pitchFamily="18" charset="0"/>
                                    </a:rPr>
                                    <m:t>𝑖</m:t>
                                  </m:r>
                                </m:sub>
                              </m:sSub>
                            </m:den>
                          </m:f>
                        </m:e>
                      </m:rad>
                    </m:oMath>
                  </m:oMathPara>
                </a14:m>
                <a:endParaRPr lang="vi-VN"/>
              </a:p>
            </p:txBody>
          </p:sp>
        </mc:Choice>
        <mc:Fallback xmlns="">
          <p:sp>
            <p:nvSpPr>
              <p:cNvPr id="25" name="TextBox 24">
                <a:extLst>
                  <a:ext uri="{FF2B5EF4-FFF2-40B4-BE49-F238E27FC236}">
                    <a16:creationId xmlns:a16="http://schemas.microsoft.com/office/drawing/2014/main" id="{6E4CD0A9-981B-A4F9-9D5C-7CD9BA048FE5}"/>
                  </a:ext>
                </a:extLst>
              </p:cNvPr>
              <p:cNvSpPr txBox="1">
                <a:spLocks noRot="1" noChangeAspect="1" noMove="1" noResize="1" noEditPoints="1" noAdjustHandles="1" noChangeArrowheads="1" noChangeShapeType="1" noTextEdit="1"/>
              </p:cNvSpPr>
              <p:nvPr/>
            </p:nvSpPr>
            <p:spPr>
              <a:xfrm>
                <a:off x="2097647" y="2771291"/>
                <a:ext cx="6096000" cy="1169936"/>
              </a:xfrm>
              <a:prstGeom prst="rect">
                <a:avLst/>
              </a:prstGeom>
              <a:blipFill>
                <a:blip r:embed="rId8"/>
                <a:stretch>
                  <a:fillRect/>
                </a:stretch>
              </a:blipFill>
            </p:spPr>
            <p:txBody>
              <a:bodyPr/>
              <a:lstStyle/>
              <a:p>
                <a:r>
                  <a:rPr lang="vi-VN">
                    <a:noFill/>
                  </a:rPr>
                  <a:t> </a:t>
                </a:r>
              </a:p>
            </p:txBody>
          </p:sp>
        </mc:Fallback>
      </mc:AlternateContent>
      <p:sp>
        <p:nvSpPr>
          <p:cNvPr id="29" name="TextBox 28">
            <a:extLst>
              <a:ext uri="{FF2B5EF4-FFF2-40B4-BE49-F238E27FC236}">
                <a16:creationId xmlns:a16="http://schemas.microsoft.com/office/drawing/2014/main" id="{D8E19C0B-CC50-077C-0AB0-5A86D3C0A8AA}"/>
              </a:ext>
            </a:extLst>
          </p:cNvPr>
          <p:cNvSpPr txBox="1"/>
          <p:nvPr/>
        </p:nvSpPr>
        <p:spPr>
          <a:xfrm>
            <a:off x="923089" y="4489807"/>
            <a:ext cx="707766" cy="383823"/>
          </a:xfrm>
          <a:prstGeom prst="rect">
            <a:avLst/>
          </a:prstGeom>
          <a:noFill/>
        </p:spPr>
        <p:txBody>
          <a:bodyPr wrap="square">
            <a:spAutoFit/>
          </a:bodyPr>
          <a:lstStyle/>
          <a:p>
            <a:pPr>
              <a:lnSpc>
                <a:spcPct val="115000"/>
              </a:lnSpc>
              <a:spcAft>
                <a:spcPts val="800"/>
              </a:spcAft>
            </a:pPr>
            <a:r>
              <a:rPr lang="vi-VN" sz="1800" kern="100">
                <a:effectLst/>
                <a:latin typeface="Cambria Math" panose="02040503050406030204" pitchFamily="18" charset="0"/>
                <a:ea typeface="Yu Mincho" panose="02020400000000000000" pitchFamily="18" charset="-128"/>
                <a:cs typeface="Times New Roman" panose="02020603050405020304" pitchFamily="18" charset="0"/>
              </a:rPr>
              <a:t>Thay   </a:t>
            </a:r>
            <a:endParaRPr lang="vi-VN" sz="1100" kern="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32" name="Rectangle 4">
            <a:extLst>
              <a:ext uri="{FF2B5EF4-FFF2-40B4-BE49-F238E27FC236}">
                <a16:creationId xmlns:a16="http://schemas.microsoft.com/office/drawing/2014/main" id="{E648D7E0-92BF-F1C6-718E-4E31ED52EA17}"/>
              </a:ext>
            </a:extLst>
          </p:cNvPr>
          <p:cNvSpPr>
            <a:spLocks noChangeArrowheads="1"/>
          </p:cNvSpPr>
          <p:nvPr/>
        </p:nvSpPr>
        <p:spPr bwMode="auto">
          <a:xfrm>
            <a:off x="1676568" y="348402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graphicFrame>
        <p:nvGraphicFramePr>
          <p:cNvPr id="33" name="Object 32">
            <a:extLst>
              <a:ext uri="{FF2B5EF4-FFF2-40B4-BE49-F238E27FC236}">
                <a16:creationId xmlns:a16="http://schemas.microsoft.com/office/drawing/2014/main" id="{D2B541F1-104B-BC00-FA57-EB4D13C40A02}"/>
              </a:ext>
            </a:extLst>
          </p:cNvPr>
          <p:cNvGraphicFramePr>
            <a:graphicFrameLocks noChangeAspect="1"/>
          </p:cNvGraphicFramePr>
          <p:nvPr>
            <p:extLst>
              <p:ext uri="{D42A27DB-BD31-4B8C-83A1-F6EECF244321}">
                <p14:modId xmlns:p14="http://schemas.microsoft.com/office/powerpoint/2010/main" val="1232756924"/>
              </p:ext>
            </p:extLst>
          </p:nvPr>
        </p:nvGraphicFramePr>
        <p:xfrm>
          <a:off x="1676568" y="3941227"/>
          <a:ext cx="1181100" cy="1638300"/>
        </p:xfrm>
        <a:graphic>
          <a:graphicData uri="http://schemas.openxmlformats.org/presentationml/2006/ole">
            <mc:AlternateContent xmlns:mc="http://schemas.openxmlformats.org/markup-compatibility/2006">
              <mc:Choice xmlns:v="urn:schemas-microsoft-com:vml" Requires="v">
                <p:oleObj r:id="rId9" imgW="1179576" imgH="1638300" progId="Unknown">
                  <p:embed/>
                </p:oleObj>
              </mc:Choice>
              <mc:Fallback>
                <p:oleObj r:id="rId9" imgW="1179576" imgH="1638300" progId="Unknown">
                  <p:embed/>
                  <p:pic>
                    <p:nvPicPr>
                      <p:cNvPr id="33" name="Object 32">
                        <a:extLst>
                          <a:ext uri="{FF2B5EF4-FFF2-40B4-BE49-F238E27FC236}">
                            <a16:creationId xmlns:a16="http://schemas.microsoft.com/office/drawing/2014/main" id="{D2B541F1-104B-BC00-FA57-EB4D13C40A0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76568" y="3941227"/>
                        <a:ext cx="1181100" cy="163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TextBox 35">
            <a:extLst>
              <a:ext uri="{FF2B5EF4-FFF2-40B4-BE49-F238E27FC236}">
                <a16:creationId xmlns:a16="http://schemas.microsoft.com/office/drawing/2014/main" id="{D59642A0-03F0-7C3C-5D55-15DF0E82D73C}"/>
              </a:ext>
            </a:extLst>
          </p:cNvPr>
          <p:cNvSpPr txBox="1"/>
          <p:nvPr/>
        </p:nvSpPr>
        <p:spPr>
          <a:xfrm>
            <a:off x="3075057" y="4489807"/>
            <a:ext cx="1031746" cy="369332"/>
          </a:xfrm>
          <a:prstGeom prst="rect">
            <a:avLst/>
          </a:prstGeom>
          <a:noFill/>
        </p:spPr>
        <p:txBody>
          <a:bodyPr wrap="square">
            <a:spAutoFit/>
          </a:bodyPr>
          <a:lstStyle/>
          <a:p>
            <a:r>
              <a:rPr lang="vi-VN" sz="1800" kern="100">
                <a:effectLst/>
                <a:latin typeface="Cambria Math" panose="02040503050406030204" pitchFamily="18" charset="0"/>
                <a:ea typeface="Yu Mincho" panose="02020400000000000000" pitchFamily="18" charset="-128"/>
                <a:cs typeface="Times New Roman" panose="02020603050405020304" pitchFamily="18" charset="0"/>
              </a:rPr>
              <a:t>Ta được:</a:t>
            </a:r>
            <a:endParaRPr lang="vi-VN"/>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8E46E14-F074-D148-5523-98984A550AD9}"/>
                  </a:ext>
                </a:extLst>
              </p:cNvPr>
              <p:cNvSpPr txBox="1"/>
              <p:nvPr/>
            </p:nvSpPr>
            <p:spPr>
              <a:xfrm>
                <a:off x="3371329" y="4327855"/>
                <a:ext cx="6936658" cy="1169936"/>
              </a:xfrm>
              <a:prstGeom prst="rect">
                <a:avLst/>
              </a:prstGeom>
              <a:noFill/>
            </p:spPr>
            <p:txBody>
              <a:bodyPr wrap="square">
                <a:spAutoFit/>
              </a:bodyPr>
              <a:lstStyle/>
              <a:p>
                <a:pPr/>
                <a14:m>
                  <m:oMathPara xmlns:m="http://schemas.openxmlformats.org/officeDocument/2006/math">
                    <m:oMath>
                      <m:sSup>
                        <m:sSupPr>
                          <m:ctrlPr>
                            <a:rPr lang="vi-VN" i="1">
                              <a:solidFill>
                                <a:srgbClr val="836967"/>
                              </a:solidFill>
                              <a:latin typeface="Cambria Math" panose="02040503050406030204" pitchFamily="18" charset="0"/>
                            </a:rPr>
                          </m:ctrlPr>
                        </m:sSupPr>
                        <m:e>
                          <m:acc>
                            <m:accPr>
                              <m:chr m:val="̅"/>
                              <m:ctrlPr>
                                <a:rPr lang="vi-VN" i="1">
                                  <a:solidFill>
                                    <a:srgbClr val="836967"/>
                                  </a:solidFill>
                                  <a:latin typeface="Cambria Math" panose="02040503050406030204" pitchFamily="18" charset="0"/>
                                </a:rPr>
                              </m:ctrlPr>
                            </m:accPr>
                            <m:e>
                              <m:sSub>
                                <m:sSubPr>
                                  <m:ctrlPr>
                                    <a:rPr lang="vi-VN" i="1">
                                      <a:latin typeface="Cambria Math" panose="02040503050406030204" pitchFamily="18" charset="0"/>
                                    </a:rPr>
                                  </m:ctrlPr>
                                </m:sSubPr>
                                <m:e>
                                  <m:r>
                                    <a:rPr lang="vi-VN" i="1">
                                      <a:latin typeface="Cambria Math" panose="02040503050406030204" pitchFamily="18" charset="0"/>
                                    </a:rPr>
                                    <m:t>𝑉</m:t>
                                  </m:r>
                                </m:e>
                                <m:sub>
                                  <m:r>
                                    <a:rPr lang="vi-VN" i="1">
                                      <a:latin typeface="Cambria Math" panose="02040503050406030204" pitchFamily="18" charset="0"/>
                                    </a:rPr>
                                    <m:t>𝑒</m:t>
                                  </m:r>
                                </m:sub>
                              </m:sSub>
                            </m:e>
                          </m:acc>
                        </m:e>
                        <m:sup>
                          <m:r>
                            <a:rPr lang="vi-VN" i="0">
                              <a:latin typeface="Cambria Math" panose="02040503050406030204" pitchFamily="18" charset="0"/>
                            </a:rPr>
                            <m:t>2</m:t>
                          </m:r>
                        </m:sup>
                      </m:sSup>
                      <m:r>
                        <a:rPr lang="vi-VN" i="0">
                          <a:latin typeface="Cambria Math" panose="02040503050406030204" pitchFamily="18" charset="0"/>
                        </a:rPr>
                        <m:t>=0.5</m:t>
                      </m:r>
                      <m:sSup>
                        <m:sSupPr>
                          <m:ctrlPr>
                            <a:rPr lang="vi-VN" i="1">
                              <a:solidFill>
                                <a:srgbClr val="836967"/>
                              </a:solidFill>
                              <a:latin typeface="Cambria Math" panose="02040503050406030204" pitchFamily="18" charset="0"/>
                            </a:rPr>
                          </m:ctrlPr>
                        </m:sSupPr>
                        <m:e>
                          <m:sSup>
                            <m:sSupPr>
                              <m:ctrlPr>
                                <a:rPr lang="vi-VN" i="1">
                                  <a:latin typeface="Cambria Math" panose="02040503050406030204" pitchFamily="18" charset="0"/>
                                </a:rPr>
                              </m:ctrlPr>
                            </m:sSupPr>
                            <m:e>
                              <m:r>
                                <a:rPr lang="vi-VN" i="1">
                                  <a:latin typeface="Cambria Math" panose="02040503050406030204" pitchFamily="18" charset="0"/>
                                </a:rPr>
                                <m:t>𝑉</m:t>
                              </m:r>
                            </m:e>
                            <m:sup>
                              <m:r>
                                <a:rPr lang="vi-VN" i="0">
                                  <a:latin typeface="Cambria Math" panose="02040503050406030204" pitchFamily="18" charset="0"/>
                                </a:rPr>
                                <m:t>∗</m:t>
                              </m:r>
                            </m:sup>
                          </m:sSup>
                        </m:e>
                        <m:sup>
                          <m:r>
                            <a:rPr lang="vi-VN" i="0">
                              <a:latin typeface="Cambria Math" panose="02040503050406030204" pitchFamily="18" charset="0"/>
                            </a:rPr>
                            <m:t>2</m:t>
                          </m:r>
                        </m:sup>
                      </m:sSup>
                      <m:r>
                        <a:rPr lang="vi-VN" i="0">
                          <a:latin typeface="Cambria Math" panose="02040503050406030204" pitchFamily="18" charset="0"/>
                        </a:rPr>
                        <m:t>+0.5</m:t>
                      </m:r>
                      <m:rad>
                        <m:radPr>
                          <m:degHide m:val="on"/>
                          <m:ctrlPr>
                            <a:rPr lang="vi-VN" i="1">
                              <a:solidFill>
                                <a:srgbClr val="836967"/>
                              </a:solidFill>
                              <a:latin typeface="Cambria Math" panose="02040503050406030204" pitchFamily="18" charset="0"/>
                            </a:rPr>
                          </m:ctrlPr>
                        </m:radPr>
                        <m:deg/>
                        <m:e>
                          <m:sSup>
                            <m:sSupPr>
                              <m:ctrlPr>
                                <a:rPr lang="vi-VN" i="1">
                                  <a:solidFill>
                                    <a:srgbClr val="836967"/>
                                  </a:solidFill>
                                  <a:latin typeface="Cambria Math" panose="02040503050406030204" pitchFamily="18" charset="0"/>
                                </a:rPr>
                              </m:ctrlPr>
                            </m:sSupPr>
                            <m:e>
                              <m:sSup>
                                <m:sSupPr>
                                  <m:ctrlPr>
                                    <a:rPr lang="vi-VN" i="1">
                                      <a:latin typeface="Cambria Math" panose="02040503050406030204" pitchFamily="18" charset="0"/>
                                    </a:rPr>
                                  </m:ctrlPr>
                                </m:sSupPr>
                                <m:e>
                                  <m:r>
                                    <a:rPr lang="vi-VN" i="1">
                                      <a:latin typeface="Cambria Math" panose="02040503050406030204" pitchFamily="18" charset="0"/>
                                    </a:rPr>
                                    <m:t>𝑉</m:t>
                                  </m:r>
                                </m:e>
                                <m:sup>
                                  <m:r>
                                    <a:rPr lang="vi-VN" i="0">
                                      <a:latin typeface="Cambria Math" panose="02040503050406030204" pitchFamily="18" charset="0"/>
                                    </a:rPr>
                                    <m:t>∗</m:t>
                                  </m:r>
                                </m:sup>
                              </m:sSup>
                            </m:e>
                            <m:sup>
                              <m:r>
                                <a:rPr lang="vi-VN" i="0">
                                  <a:latin typeface="Cambria Math" panose="02040503050406030204" pitchFamily="18" charset="0"/>
                                </a:rPr>
                                <m:t>4</m:t>
                              </m:r>
                            </m:sup>
                          </m:sSup>
                          <m:r>
                            <a:rPr lang="vi-VN" i="0">
                              <a:latin typeface="Cambria Math" panose="02040503050406030204" pitchFamily="18" charset="0"/>
                            </a:rPr>
                            <m:t>−</m:t>
                          </m:r>
                          <m:f>
                            <m:fPr>
                              <m:ctrlPr>
                                <a:rPr lang="vi-VN" i="0">
                                  <a:latin typeface="Cambria Math" panose="02040503050406030204" pitchFamily="18" charset="0"/>
                                </a:rPr>
                              </m:ctrlPr>
                            </m:fPr>
                            <m:num>
                              <m:r>
                                <a:rPr lang="vi-VN" i="0">
                                  <a:latin typeface="Cambria Math" panose="02040503050406030204" pitchFamily="18" charset="0"/>
                                </a:rPr>
                                <m:t>8</m:t>
                              </m:r>
                            </m:num>
                            <m:den>
                              <m:f>
                                <m:fPr>
                                  <m:ctrlPr>
                                    <a:rPr lang="vi-VN" i="1">
                                      <a:latin typeface="Cambria Math" panose="02040503050406030204" pitchFamily="18" charset="0"/>
                                    </a:rPr>
                                  </m:ctrlPr>
                                </m:fPr>
                                <m:num>
                                  <m:r>
                                    <a:rPr lang="vi-VN" i="1">
                                      <a:latin typeface="Cambria Math" panose="02040503050406030204" pitchFamily="18" charset="0"/>
                                    </a:rPr>
                                    <m:t>𝜉</m:t>
                                  </m:r>
                                </m:num>
                                <m:den>
                                  <m:sSup>
                                    <m:sSupPr>
                                      <m:ctrlPr>
                                        <a:rPr lang="vi-VN" i="1">
                                          <a:solidFill>
                                            <a:srgbClr val="836967"/>
                                          </a:solidFill>
                                          <a:latin typeface="Cambria Math" panose="02040503050406030204" pitchFamily="18" charset="0"/>
                                        </a:rPr>
                                      </m:ctrlPr>
                                    </m:sSupPr>
                                    <m:e>
                                      <m:sSub>
                                        <m:sSubPr>
                                          <m:ctrlPr>
                                            <a:rPr lang="vi-VN" i="1">
                                              <a:latin typeface="Cambria Math" panose="02040503050406030204" pitchFamily="18" charset="0"/>
                                            </a:rPr>
                                          </m:ctrlPr>
                                        </m:sSubPr>
                                        <m:e>
                                          <m:r>
                                            <a:rPr lang="vi-VN" i="1">
                                              <a:latin typeface="Cambria Math" panose="02040503050406030204" pitchFamily="18" charset="0"/>
                                            </a:rPr>
                                            <m:t>𝑘</m:t>
                                          </m:r>
                                        </m:e>
                                        <m:sub>
                                          <m:r>
                                            <a:rPr lang="vi-VN" i="1">
                                              <a:latin typeface="Cambria Math" panose="02040503050406030204" pitchFamily="18" charset="0"/>
                                            </a:rPr>
                                            <m:t>𝑣</m:t>
                                          </m:r>
                                        </m:sub>
                                      </m:sSub>
                                    </m:e>
                                    <m:sup>
                                      <m:r>
                                        <a:rPr lang="vi-VN" i="0">
                                          <a:latin typeface="Cambria Math" panose="02040503050406030204" pitchFamily="18" charset="0"/>
                                        </a:rPr>
                                        <m:t>2</m:t>
                                      </m:r>
                                    </m:sup>
                                  </m:sSup>
                                </m:den>
                              </m:f>
                            </m:den>
                          </m:f>
                          <m:f>
                            <m:fPr>
                              <m:ctrlPr>
                                <a:rPr lang="vi-VN" i="1">
                                  <a:solidFill>
                                    <a:srgbClr val="836967"/>
                                  </a:solidFill>
                                  <a:latin typeface="Cambria Math" panose="02040503050406030204" pitchFamily="18" charset="0"/>
                                </a:rPr>
                              </m:ctrlPr>
                            </m:fPr>
                            <m:num>
                              <m:sSub>
                                <m:sSubPr>
                                  <m:ctrlPr>
                                    <a:rPr lang="vi-VN" i="1">
                                      <a:latin typeface="Cambria Math" panose="02040503050406030204" pitchFamily="18" charset="0"/>
                                    </a:rPr>
                                  </m:ctrlPr>
                                </m:sSubPr>
                                <m:e>
                                  <m:r>
                                    <a:rPr lang="vi-VN" i="1">
                                      <a:latin typeface="Cambria Math" panose="02040503050406030204" pitchFamily="18" charset="0"/>
                                    </a:rPr>
                                    <m:t>𝑘</m:t>
                                  </m:r>
                                </m:e>
                                <m:sub>
                                  <m:r>
                                    <a:rPr lang="vi-VN" i="1">
                                      <a:latin typeface="Cambria Math" panose="02040503050406030204" pitchFamily="18" charset="0"/>
                                    </a:rPr>
                                    <m:t>𝑣</m:t>
                                  </m:r>
                                </m:sub>
                              </m:sSub>
                              <m:sSub>
                                <m:sSubPr>
                                  <m:ctrlPr>
                                    <a:rPr lang="vi-VN" i="1">
                                      <a:latin typeface="Cambria Math" panose="02040503050406030204" pitchFamily="18" charset="0"/>
                                    </a:rPr>
                                  </m:ctrlPr>
                                </m:sSubPr>
                                <m:e>
                                  <m:r>
                                    <a:rPr lang="vi-VN" i="1">
                                      <a:latin typeface="Cambria Math" panose="02040503050406030204" pitchFamily="18" charset="0"/>
                                    </a:rPr>
                                    <m:t>𝑘</m:t>
                                  </m:r>
                                </m:e>
                                <m:sub>
                                  <m:r>
                                    <a:rPr lang="vi-VN" i="1">
                                      <a:latin typeface="Cambria Math" panose="02040503050406030204" pitchFamily="18" charset="0"/>
                                    </a:rPr>
                                    <m:t>𝑖</m:t>
                                  </m:r>
                                </m:sub>
                              </m:sSub>
                            </m:num>
                            <m:den>
                              <m:r>
                                <a:rPr lang="vi-VN" i="1">
                                  <a:latin typeface="Cambria Math" panose="02040503050406030204" pitchFamily="18" charset="0"/>
                                </a:rPr>
                                <m:t>𝐶</m:t>
                              </m:r>
                            </m:den>
                          </m:f>
                          <m:f>
                            <m:fPr>
                              <m:ctrlPr>
                                <a:rPr lang="vi-VN" i="1">
                                  <a:solidFill>
                                    <a:srgbClr val="836967"/>
                                  </a:solidFill>
                                  <a:latin typeface="Cambria Math" panose="02040503050406030204" pitchFamily="18" charset="0"/>
                                </a:rPr>
                              </m:ctrlPr>
                            </m:fPr>
                            <m:num>
                              <m:acc>
                                <m:accPr>
                                  <m:chr m:val="̅"/>
                                  <m:ctrlPr>
                                    <a:rPr lang="vi-VN" i="1">
                                      <a:solidFill>
                                        <a:srgbClr val="836967"/>
                                      </a:solidFill>
                                      <a:latin typeface="Cambria Math" panose="02040503050406030204" pitchFamily="18" charset="0"/>
                                    </a:rPr>
                                  </m:ctrlPr>
                                </m:accPr>
                                <m:e>
                                  <m:sSub>
                                    <m:sSubPr>
                                      <m:ctrlPr>
                                        <a:rPr lang="vi-VN" i="1">
                                          <a:latin typeface="Cambria Math" panose="02040503050406030204" pitchFamily="18" charset="0"/>
                                        </a:rPr>
                                      </m:ctrlPr>
                                    </m:sSubPr>
                                    <m:e>
                                      <m:r>
                                        <a:rPr lang="vi-VN" i="1">
                                          <a:latin typeface="Cambria Math" panose="02040503050406030204" pitchFamily="18" charset="0"/>
                                        </a:rPr>
                                        <m:t>𝑉</m:t>
                                      </m:r>
                                    </m:e>
                                    <m:sub>
                                      <m:r>
                                        <a:rPr lang="vi-VN" i="1">
                                          <a:latin typeface="Cambria Math" panose="02040503050406030204" pitchFamily="18" charset="0"/>
                                        </a:rPr>
                                        <m:t>𝑒</m:t>
                                      </m:r>
                                    </m:sub>
                                  </m:sSub>
                                </m:e>
                              </m:acc>
                            </m:num>
                            <m:den>
                              <m:rad>
                                <m:radPr>
                                  <m:degHide m:val="on"/>
                                  <m:ctrlPr>
                                    <a:rPr lang="vi-VN" i="1">
                                      <a:solidFill>
                                        <a:srgbClr val="836967"/>
                                      </a:solidFill>
                                      <a:latin typeface="Cambria Math" panose="02040503050406030204" pitchFamily="18" charset="0"/>
                                    </a:rPr>
                                  </m:ctrlPr>
                                </m:radPr>
                                <m:deg/>
                                <m:e>
                                  <m:r>
                                    <a:rPr lang="vi-VN" i="0">
                                      <a:latin typeface="Cambria Math" panose="02040503050406030204" pitchFamily="18" charset="0"/>
                                    </a:rPr>
                                    <m:t>2</m:t>
                                  </m:r>
                                </m:e>
                              </m:rad>
                              <m:sSub>
                                <m:sSubPr>
                                  <m:ctrlPr>
                                    <a:rPr lang="vi-VN" i="1">
                                      <a:latin typeface="Cambria Math" panose="02040503050406030204" pitchFamily="18" charset="0"/>
                                    </a:rPr>
                                  </m:ctrlPr>
                                </m:sSubPr>
                                <m:e>
                                  <m:r>
                                    <a:rPr lang="vi-VN" i="1">
                                      <a:latin typeface="Cambria Math" panose="02040503050406030204" pitchFamily="18" charset="0"/>
                                    </a:rPr>
                                    <m:t>𝑘</m:t>
                                  </m:r>
                                </m:e>
                                <m:sub>
                                  <m:r>
                                    <a:rPr lang="vi-VN" i="1">
                                      <a:latin typeface="Cambria Math" panose="02040503050406030204" pitchFamily="18" charset="0"/>
                                    </a:rPr>
                                    <m:t>𝑖</m:t>
                                  </m:r>
                                </m:sub>
                              </m:sSub>
                            </m:den>
                          </m:f>
                        </m:e>
                      </m:rad>
                    </m:oMath>
                  </m:oMathPara>
                </a14:m>
                <a:endParaRPr lang="vi-VN"/>
              </a:p>
            </p:txBody>
          </p:sp>
        </mc:Choice>
        <mc:Fallback xmlns="">
          <p:sp>
            <p:nvSpPr>
              <p:cNvPr id="38" name="TextBox 37">
                <a:extLst>
                  <a:ext uri="{FF2B5EF4-FFF2-40B4-BE49-F238E27FC236}">
                    <a16:creationId xmlns:a16="http://schemas.microsoft.com/office/drawing/2014/main" id="{B8E46E14-F074-D148-5523-98984A550AD9}"/>
                  </a:ext>
                </a:extLst>
              </p:cNvPr>
              <p:cNvSpPr txBox="1">
                <a:spLocks noRot="1" noChangeAspect="1" noMove="1" noResize="1" noEditPoints="1" noAdjustHandles="1" noChangeArrowheads="1" noChangeShapeType="1" noTextEdit="1"/>
              </p:cNvSpPr>
              <p:nvPr/>
            </p:nvSpPr>
            <p:spPr>
              <a:xfrm>
                <a:off x="3371329" y="4327855"/>
                <a:ext cx="6936658" cy="1169936"/>
              </a:xfrm>
              <a:prstGeom prst="rect">
                <a:avLst/>
              </a:prstGeom>
              <a:blipFill>
                <a:blip r:embed="rId11"/>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2300947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35100-1193-CFC8-E7EB-CA13D8CAC7B2}"/>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0E84246C-3DB3-5D7A-2983-AD5AD1CDAF62}"/>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95B09DA8-87FA-2561-CB27-D08FF6428165}"/>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FA871F85-A812-2E25-5CC5-CEF71E199987}"/>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5" name="TextBox 23">
            <a:extLst>
              <a:ext uri="{FF2B5EF4-FFF2-40B4-BE49-F238E27FC236}">
                <a16:creationId xmlns:a16="http://schemas.microsoft.com/office/drawing/2014/main" id="{C6181924-2A6E-07A7-9C52-626DB8814706}"/>
              </a:ext>
            </a:extLst>
          </p:cNvPr>
          <p:cNvSpPr txBox="1"/>
          <p:nvPr/>
        </p:nvSpPr>
        <p:spPr>
          <a:xfrm>
            <a:off x="374948" y="1036129"/>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2.6. </a:t>
            </a:r>
            <a:r>
              <a:rPr lang="vi-VN" sz="2000" b="1">
                <a:solidFill>
                  <a:prstClr val="black"/>
                </a:solidFill>
                <a:latin typeface="Times New Roman" panose="02020603050405020304" pitchFamily="18" charset="0"/>
                <a:cs typeface="Times New Roman" panose="02020603050405020304" pitchFamily="18" charset="0"/>
              </a:rPr>
              <a:t>Tính toán thông số bộ điều khiển VOC</a:t>
            </a:r>
          </a:p>
        </p:txBody>
      </p:sp>
      <mc:AlternateContent xmlns:mc="http://schemas.openxmlformats.org/markup-compatibility/2006" xmlns:a14="http://schemas.microsoft.com/office/drawing/2010/main">
        <mc:Choice Requires="a14">
          <p:sp>
            <p:nvSpPr>
              <p:cNvPr id="8" name="TextBox 10">
                <a:extLst>
                  <a:ext uri="{FF2B5EF4-FFF2-40B4-BE49-F238E27FC236}">
                    <a16:creationId xmlns:a16="http://schemas.microsoft.com/office/drawing/2014/main" id="{A8290286-0FD2-A06D-6AF2-EFC0C13E4AFB}"/>
                  </a:ext>
                </a:extLst>
              </p:cNvPr>
              <p:cNvSpPr txBox="1"/>
              <p:nvPr/>
            </p:nvSpPr>
            <p:spPr>
              <a:xfrm>
                <a:off x="374948" y="1415592"/>
                <a:ext cx="7935686" cy="369332"/>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2.6.2 </a:t>
                </a:r>
                <a:r>
                  <a:rPr lang="en-US" b="1" err="1">
                    <a:latin typeface="Times New Roman" panose="02020603050405020304" pitchFamily="18" charset="0"/>
                    <a:cs typeface="Times New Roman" panose="02020603050405020304" pitchFamily="18" charset="0"/>
                  </a:rPr>
                  <a:t>Tính</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toán</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hệ</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số</a:t>
                </a:r>
                <a:r>
                  <a:rPr lang="en-US" b="1">
                    <a:latin typeface="Times New Roman" panose="02020603050405020304" pitchFamily="18" charset="0"/>
                    <a:cs typeface="Times New Roman" panose="02020603050405020304" pitchFamily="18" charset="0"/>
                  </a:rPr>
                  <a:t> </a:t>
                </a:r>
                <a14:m>
                  <m:oMath xmlns:m="http://schemas.openxmlformats.org/officeDocument/2006/math">
                    <m:r>
                      <a:rPr lang="en-US" i="1" kern="100">
                        <a:latin typeface="Cambria Math" panose="02040503050406030204" pitchFamily="18" charset="0"/>
                        <a:ea typeface="Calibri" panose="020F0502020204030204" pitchFamily="34" charset="0"/>
                        <a:cs typeface="Times New Roman" panose="02020603050405020304" pitchFamily="18" charset="0"/>
                      </a:rPr>
                      <m:t>𝛼</m:t>
                    </m:r>
                    <m:r>
                      <a:rPr lang="en-US" i="1" kern="100">
                        <a:latin typeface="Cambria Math" panose="02040503050406030204" pitchFamily="18" charset="0"/>
                        <a:ea typeface="Calibri" panose="020F0502020204030204" pitchFamily="34" charset="0"/>
                        <a:cs typeface="Times New Roman" panose="02020603050405020304" pitchFamily="18" charset="0"/>
                      </a:rPr>
                      <m:t> </m:t>
                    </m:r>
                  </m:oMath>
                </a14:m>
                <a:r>
                  <a:rPr lang="en-US" b="1">
                    <a:latin typeface="Times New Roman" panose="02020603050405020304" pitchFamily="18" charset="0"/>
                    <a:cs typeface="Times New Roman" panose="02020603050405020304" pitchFamily="18" charset="0"/>
                  </a:rPr>
                  <a:t>và </a:t>
                </a:r>
                <a14:m>
                  <m:oMath xmlns:m="http://schemas.openxmlformats.org/officeDocument/2006/math">
                    <m:r>
                      <a:rPr lang="en-US" i="1" kern="100">
                        <a:latin typeface="Cambria Math" panose="02040503050406030204" pitchFamily="18" charset="0"/>
                        <a:ea typeface="Times New Roman" panose="02020603050405020304" pitchFamily="18" charset="0"/>
                        <a:cs typeface="Times New Roman" panose="02020603050405020304" pitchFamily="18" charset="0"/>
                      </a:rPr>
                      <m:t>𝜎</m:t>
                    </m:r>
                  </m:oMath>
                </a14:m>
                <a:r>
                  <a:rPr lang="en-US" b="1">
                    <a:latin typeface="Times New Roman" panose="02020603050405020304" pitchFamily="18" charset="0"/>
                    <a:cs typeface="Times New Roman" panose="02020603050405020304" pitchFamily="18" charset="0"/>
                  </a:rPr>
                  <a:t>.</a:t>
                </a:r>
              </a:p>
            </p:txBody>
          </p:sp>
        </mc:Choice>
        <mc:Fallback xmlns="">
          <p:sp>
            <p:nvSpPr>
              <p:cNvPr id="8" name="TextBox 10">
                <a:extLst>
                  <a:ext uri="{FF2B5EF4-FFF2-40B4-BE49-F238E27FC236}">
                    <a16:creationId xmlns:a16="http://schemas.microsoft.com/office/drawing/2014/main" id="{618AC52D-45BC-4DD6-7E30-09CBF7536F94}"/>
                  </a:ext>
                </a:extLst>
              </p:cNvPr>
              <p:cNvSpPr txBox="1">
                <a:spLocks noRot="1" noChangeAspect="1" noMove="1" noResize="1" noEditPoints="1" noAdjustHandles="1" noChangeArrowheads="1" noChangeShapeType="1" noTextEdit="1"/>
              </p:cNvSpPr>
              <p:nvPr/>
            </p:nvSpPr>
            <p:spPr>
              <a:xfrm>
                <a:off x="374948" y="1415592"/>
                <a:ext cx="7935686" cy="369332"/>
              </a:xfrm>
              <a:prstGeom prst="rect">
                <a:avLst/>
              </a:prstGeom>
              <a:blipFill>
                <a:blip r:embed="rId2"/>
                <a:stretch>
                  <a:fillRect l="-692" t="-8197" b="-24590"/>
                </a:stretch>
              </a:blipFill>
            </p:spPr>
            <p:txBody>
              <a:bodyPr/>
              <a:lstStyle/>
              <a:p>
                <a:r>
                  <a:rPr lang="vi-VN">
                    <a:noFill/>
                  </a:rPr>
                  <a:t> </a:t>
                </a:r>
              </a:p>
            </p:txBody>
          </p:sp>
        </mc:Fallback>
      </mc:AlternateContent>
      <p:sp>
        <p:nvSpPr>
          <p:cNvPr id="32" name="Rectangle 4">
            <a:extLst>
              <a:ext uri="{FF2B5EF4-FFF2-40B4-BE49-F238E27FC236}">
                <a16:creationId xmlns:a16="http://schemas.microsoft.com/office/drawing/2014/main" id="{1AF77A43-4574-A6B5-C1F1-C2E66AC3ED63}"/>
              </a:ext>
            </a:extLst>
          </p:cNvPr>
          <p:cNvSpPr>
            <a:spLocks noChangeArrowheads="1"/>
          </p:cNvSpPr>
          <p:nvPr/>
        </p:nvSpPr>
        <p:spPr bwMode="auto">
          <a:xfrm>
            <a:off x="1676568" y="348402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6" name="Arrow: Right 5">
            <a:extLst>
              <a:ext uri="{FF2B5EF4-FFF2-40B4-BE49-F238E27FC236}">
                <a16:creationId xmlns:a16="http://schemas.microsoft.com/office/drawing/2014/main" id="{D0BE00A1-C6E3-7513-2A07-C184B91C3AA7}"/>
              </a:ext>
            </a:extLst>
          </p:cNvPr>
          <p:cNvSpPr/>
          <p:nvPr/>
        </p:nvSpPr>
        <p:spPr>
          <a:xfrm>
            <a:off x="943987" y="2323783"/>
            <a:ext cx="459699" cy="365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0AC51D2-0B7B-0FFF-D94C-527D0A6B3493}"/>
                  </a:ext>
                </a:extLst>
              </p:cNvPr>
              <p:cNvSpPr txBox="1"/>
              <p:nvPr/>
            </p:nvSpPr>
            <p:spPr>
              <a:xfrm>
                <a:off x="1064949" y="2000035"/>
                <a:ext cx="4463845" cy="1169936"/>
              </a:xfrm>
              <a:prstGeom prst="rect">
                <a:avLst/>
              </a:prstGeom>
              <a:noFill/>
            </p:spPr>
            <p:txBody>
              <a:bodyPr wrap="square">
                <a:spAutoFit/>
              </a:bodyPr>
              <a:lstStyle/>
              <a:p>
                <a:pPr/>
                <a14:m>
                  <m:oMathPara xmlns:m="http://schemas.openxmlformats.org/officeDocument/2006/math">
                    <m:oMath>
                      <m:sSup>
                        <m:sSupPr>
                          <m:ctrlPr>
                            <a:rPr lang="vi-VN">
                              <a:latin typeface="Cambria Math" panose="02040503050406030204" pitchFamily="18" charset="0"/>
                            </a:rPr>
                          </m:ctrlPr>
                        </m:sSupPr>
                        <m:e>
                          <m:r>
                            <a:rPr lang="vi-VN">
                              <a:latin typeface="Cambria Math" panose="02040503050406030204" pitchFamily="18" charset="0"/>
                            </a:rPr>
                            <m:t>2</m:t>
                          </m:r>
                          <m:acc>
                            <m:accPr>
                              <m:chr m:val="̅"/>
                              <m:ctrlPr>
                                <a:rPr lang="vi-VN" i="1">
                                  <a:solidFill>
                                    <a:srgbClr val="836967"/>
                                  </a:solidFill>
                                  <a:latin typeface="Cambria Math" panose="02040503050406030204" pitchFamily="18" charset="0"/>
                                </a:rPr>
                              </m:ctrlPr>
                            </m:accPr>
                            <m:e>
                              <m:sSub>
                                <m:sSubPr>
                                  <m:ctrlPr>
                                    <a:rPr lang="vi-VN" i="1">
                                      <a:latin typeface="Cambria Math" panose="02040503050406030204" pitchFamily="18" charset="0"/>
                                    </a:rPr>
                                  </m:ctrlPr>
                                </m:sSubPr>
                                <m:e>
                                  <m:r>
                                    <a:rPr lang="vi-VN" i="1">
                                      <a:latin typeface="Cambria Math" panose="02040503050406030204" pitchFamily="18" charset="0"/>
                                    </a:rPr>
                                    <m:t>𝑉</m:t>
                                  </m:r>
                                </m:e>
                                <m:sub>
                                  <m:r>
                                    <a:rPr lang="vi-VN" i="1">
                                      <a:latin typeface="Cambria Math" panose="02040503050406030204" pitchFamily="18" charset="0"/>
                                    </a:rPr>
                                    <m:t>𝑒</m:t>
                                  </m:r>
                                </m:sub>
                              </m:sSub>
                            </m:e>
                          </m:acc>
                        </m:e>
                        <m:sup>
                          <m:r>
                            <a:rPr lang="vi-VN" i="0">
                              <a:latin typeface="Cambria Math" panose="02040503050406030204" pitchFamily="18" charset="0"/>
                            </a:rPr>
                            <m:t>2</m:t>
                          </m:r>
                        </m:sup>
                      </m:sSup>
                      <m:r>
                        <a:rPr lang="vi-VN" i="0">
                          <a:latin typeface="Cambria Math" panose="02040503050406030204" pitchFamily="18" charset="0"/>
                        </a:rPr>
                        <m:t>=</m:t>
                      </m:r>
                      <m:sSup>
                        <m:sSupPr>
                          <m:ctrlPr>
                            <a:rPr lang="vi-VN" i="1">
                              <a:solidFill>
                                <a:srgbClr val="836967"/>
                              </a:solidFill>
                              <a:latin typeface="Cambria Math" panose="02040503050406030204" pitchFamily="18" charset="0"/>
                            </a:rPr>
                          </m:ctrlPr>
                        </m:sSupPr>
                        <m:e>
                          <m:sSup>
                            <m:sSupPr>
                              <m:ctrlPr>
                                <a:rPr lang="vi-VN" i="1">
                                  <a:latin typeface="Cambria Math" panose="02040503050406030204" pitchFamily="18" charset="0"/>
                                </a:rPr>
                              </m:ctrlPr>
                            </m:sSupPr>
                            <m:e>
                              <m:r>
                                <a:rPr lang="vi-VN" i="1">
                                  <a:latin typeface="Cambria Math" panose="02040503050406030204" pitchFamily="18" charset="0"/>
                                </a:rPr>
                                <m:t>𝑉</m:t>
                              </m:r>
                            </m:e>
                            <m:sup>
                              <m:r>
                                <a:rPr lang="vi-VN" i="0">
                                  <a:latin typeface="Cambria Math" panose="02040503050406030204" pitchFamily="18" charset="0"/>
                                </a:rPr>
                                <m:t>∗</m:t>
                              </m:r>
                            </m:sup>
                          </m:sSup>
                        </m:e>
                        <m:sup>
                          <m:r>
                            <a:rPr lang="vi-VN" i="0">
                              <a:latin typeface="Cambria Math" panose="02040503050406030204" pitchFamily="18" charset="0"/>
                            </a:rPr>
                            <m:t>2</m:t>
                          </m:r>
                        </m:sup>
                      </m:sSup>
                      <m:r>
                        <a:rPr lang="vi-VN" i="0">
                          <a:latin typeface="Cambria Math" panose="02040503050406030204" pitchFamily="18" charset="0"/>
                        </a:rPr>
                        <m:t>+</m:t>
                      </m:r>
                      <m:rad>
                        <m:radPr>
                          <m:degHide m:val="on"/>
                          <m:ctrlPr>
                            <a:rPr lang="vi-VN" i="1">
                              <a:solidFill>
                                <a:srgbClr val="836967"/>
                              </a:solidFill>
                              <a:latin typeface="Cambria Math" panose="02040503050406030204" pitchFamily="18" charset="0"/>
                            </a:rPr>
                          </m:ctrlPr>
                        </m:radPr>
                        <m:deg/>
                        <m:e>
                          <m:sSup>
                            <m:sSupPr>
                              <m:ctrlPr>
                                <a:rPr lang="vi-VN" i="1">
                                  <a:solidFill>
                                    <a:srgbClr val="836967"/>
                                  </a:solidFill>
                                  <a:latin typeface="Cambria Math" panose="02040503050406030204" pitchFamily="18" charset="0"/>
                                </a:rPr>
                              </m:ctrlPr>
                            </m:sSupPr>
                            <m:e>
                              <m:sSup>
                                <m:sSupPr>
                                  <m:ctrlPr>
                                    <a:rPr lang="vi-VN" i="1">
                                      <a:latin typeface="Cambria Math" panose="02040503050406030204" pitchFamily="18" charset="0"/>
                                    </a:rPr>
                                  </m:ctrlPr>
                                </m:sSupPr>
                                <m:e>
                                  <m:r>
                                    <a:rPr lang="vi-VN" i="1">
                                      <a:latin typeface="Cambria Math" panose="02040503050406030204" pitchFamily="18" charset="0"/>
                                    </a:rPr>
                                    <m:t>𝑉</m:t>
                                  </m:r>
                                </m:e>
                                <m:sup>
                                  <m:r>
                                    <a:rPr lang="vi-VN" i="0">
                                      <a:latin typeface="Cambria Math" panose="02040503050406030204" pitchFamily="18" charset="0"/>
                                    </a:rPr>
                                    <m:t>∗</m:t>
                                  </m:r>
                                </m:sup>
                              </m:sSup>
                            </m:e>
                            <m:sup>
                              <m:r>
                                <a:rPr lang="vi-VN" i="0">
                                  <a:latin typeface="Cambria Math" panose="02040503050406030204" pitchFamily="18" charset="0"/>
                                </a:rPr>
                                <m:t>4</m:t>
                              </m:r>
                            </m:sup>
                          </m:sSup>
                          <m:r>
                            <a:rPr lang="vi-VN" i="0">
                              <a:latin typeface="Cambria Math" panose="02040503050406030204" pitchFamily="18" charset="0"/>
                            </a:rPr>
                            <m:t>−</m:t>
                          </m:r>
                          <m:f>
                            <m:fPr>
                              <m:ctrlPr>
                                <a:rPr lang="vi-VN" i="0">
                                  <a:latin typeface="Cambria Math" panose="02040503050406030204" pitchFamily="18" charset="0"/>
                                </a:rPr>
                              </m:ctrlPr>
                            </m:fPr>
                            <m:num>
                              <m:r>
                                <a:rPr lang="vi-VN" i="0">
                                  <a:latin typeface="Cambria Math" panose="02040503050406030204" pitchFamily="18" charset="0"/>
                                </a:rPr>
                                <m:t>8</m:t>
                              </m:r>
                            </m:num>
                            <m:den>
                              <m:f>
                                <m:fPr>
                                  <m:ctrlPr>
                                    <a:rPr lang="vi-VN" i="1">
                                      <a:latin typeface="Cambria Math" panose="02040503050406030204" pitchFamily="18" charset="0"/>
                                    </a:rPr>
                                  </m:ctrlPr>
                                </m:fPr>
                                <m:num>
                                  <m:r>
                                    <a:rPr lang="vi-VN" i="1">
                                      <a:latin typeface="Cambria Math" panose="02040503050406030204" pitchFamily="18" charset="0"/>
                                    </a:rPr>
                                    <m:t>𝛼</m:t>
                                  </m:r>
                                </m:num>
                                <m:den>
                                  <m:r>
                                    <a:rPr lang="vi-VN" i="1">
                                      <a:latin typeface="Cambria Math" panose="02040503050406030204" pitchFamily="18" charset="0"/>
                                    </a:rPr>
                                    <m:t>𝐶</m:t>
                                  </m:r>
                                </m:den>
                              </m:f>
                            </m:den>
                          </m:f>
                          <m:f>
                            <m:fPr>
                              <m:ctrlPr>
                                <a:rPr lang="vi-VN" i="1">
                                  <a:solidFill>
                                    <a:srgbClr val="836967"/>
                                  </a:solidFill>
                                  <a:latin typeface="Cambria Math" panose="02040503050406030204" pitchFamily="18" charset="0"/>
                                </a:rPr>
                              </m:ctrlPr>
                            </m:fPr>
                            <m:num>
                              <m:sSup>
                                <m:sSupPr>
                                  <m:ctrlPr>
                                    <a:rPr lang="vi-VN" i="1">
                                      <a:solidFill>
                                        <a:srgbClr val="836967"/>
                                      </a:solidFill>
                                      <a:latin typeface="Cambria Math" panose="02040503050406030204" pitchFamily="18" charset="0"/>
                                    </a:rPr>
                                  </m:ctrlPr>
                                </m:sSupPr>
                                <m:e>
                                  <m:sSub>
                                    <m:sSubPr>
                                      <m:ctrlPr>
                                        <a:rPr lang="vi-VN" i="1">
                                          <a:latin typeface="Cambria Math" panose="02040503050406030204" pitchFamily="18" charset="0"/>
                                        </a:rPr>
                                      </m:ctrlPr>
                                    </m:sSubPr>
                                    <m:e>
                                      <m:r>
                                        <a:rPr lang="vi-VN" i="1">
                                          <a:latin typeface="Cambria Math" panose="02040503050406030204" pitchFamily="18" charset="0"/>
                                        </a:rPr>
                                        <m:t>𝑘</m:t>
                                      </m:r>
                                    </m:e>
                                    <m:sub>
                                      <m:r>
                                        <a:rPr lang="vi-VN" i="1">
                                          <a:latin typeface="Cambria Math" panose="02040503050406030204" pitchFamily="18" charset="0"/>
                                        </a:rPr>
                                        <m:t>𝑣</m:t>
                                      </m:r>
                                    </m:sub>
                                  </m:sSub>
                                </m:e>
                                <m:sup>
                                  <m:r>
                                    <a:rPr lang="vi-VN" i="0">
                                      <a:latin typeface="Cambria Math" panose="02040503050406030204" pitchFamily="18" charset="0"/>
                                    </a:rPr>
                                    <m:t>3</m:t>
                                  </m:r>
                                </m:sup>
                              </m:sSup>
                            </m:num>
                            <m:den>
                              <m:r>
                                <a:rPr lang="vi-VN" i="1">
                                  <a:latin typeface="Cambria Math" panose="02040503050406030204" pitchFamily="18" charset="0"/>
                                </a:rPr>
                                <m:t>𝐶</m:t>
                              </m:r>
                            </m:den>
                          </m:f>
                          <m:f>
                            <m:fPr>
                              <m:ctrlPr>
                                <a:rPr lang="vi-VN" i="1">
                                  <a:solidFill>
                                    <a:srgbClr val="836967"/>
                                  </a:solidFill>
                                  <a:latin typeface="Cambria Math" panose="02040503050406030204" pitchFamily="18" charset="0"/>
                                </a:rPr>
                              </m:ctrlPr>
                            </m:fPr>
                            <m:num>
                              <m:acc>
                                <m:accPr>
                                  <m:chr m:val="̅"/>
                                  <m:ctrlPr>
                                    <a:rPr lang="vi-VN" i="1">
                                      <a:solidFill>
                                        <a:srgbClr val="836967"/>
                                      </a:solidFill>
                                      <a:latin typeface="Cambria Math" panose="02040503050406030204" pitchFamily="18" charset="0"/>
                                    </a:rPr>
                                  </m:ctrlPr>
                                </m:accPr>
                                <m:e>
                                  <m:sSub>
                                    <m:sSubPr>
                                      <m:ctrlPr>
                                        <a:rPr lang="vi-VN" i="1">
                                          <a:latin typeface="Cambria Math" panose="02040503050406030204" pitchFamily="18" charset="0"/>
                                        </a:rPr>
                                      </m:ctrlPr>
                                    </m:sSubPr>
                                    <m:e>
                                      <m:r>
                                        <a:rPr lang="vi-VN" i="1">
                                          <a:latin typeface="Cambria Math" panose="02040503050406030204" pitchFamily="18" charset="0"/>
                                        </a:rPr>
                                        <m:t>𝑉</m:t>
                                      </m:r>
                                    </m:e>
                                    <m:sub>
                                      <m:r>
                                        <a:rPr lang="vi-VN" i="1">
                                          <a:latin typeface="Cambria Math" panose="02040503050406030204" pitchFamily="18" charset="0"/>
                                        </a:rPr>
                                        <m:t>𝑒</m:t>
                                      </m:r>
                                    </m:sub>
                                  </m:sSub>
                                </m:e>
                              </m:acc>
                            </m:num>
                            <m:den>
                              <m:rad>
                                <m:radPr>
                                  <m:degHide m:val="on"/>
                                  <m:ctrlPr>
                                    <a:rPr lang="vi-VN" i="1">
                                      <a:solidFill>
                                        <a:srgbClr val="836967"/>
                                      </a:solidFill>
                                      <a:latin typeface="Cambria Math" panose="02040503050406030204" pitchFamily="18" charset="0"/>
                                    </a:rPr>
                                  </m:ctrlPr>
                                </m:radPr>
                                <m:deg/>
                                <m:e>
                                  <m:r>
                                    <a:rPr lang="vi-VN" i="0">
                                      <a:latin typeface="Cambria Math" panose="02040503050406030204" pitchFamily="18" charset="0"/>
                                    </a:rPr>
                                    <m:t>2</m:t>
                                  </m:r>
                                </m:e>
                              </m:rad>
                            </m:den>
                          </m:f>
                        </m:e>
                      </m:rad>
                    </m:oMath>
                  </m:oMathPara>
                </a14:m>
                <a:endParaRPr lang="vi-VN"/>
              </a:p>
            </p:txBody>
          </p:sp>
        </mc:Choice>
        <mc:Fallback xmlns="">
          <p:sp>
            <p:nvSpPr>
              <p:cNvPr id="9" name="TextBox 8">
                <a:extLst>
                  <a:ext uri="{FF2B5EF4-FFF2-40B4-BE49-F238E27FC236}">
                    <a16:creationId xmlns:a16="http://schemas.microsoft.com/office/drawing/2014/main" id="{B0AC51D2-0B7B-0FFF-D94C-527D0A6B3493}"/>
                  </a:ext>
                </a:extLst>
              </p:cNvPr>
              <p:cNvSpPr txBox="1">
                <a:spLocks noRot="1" noChangeAspect="1" noMove="1" noResize="1" noEditPoints="1" noAdjustHandles="1" noChangeArrowheads="1" noChangeShapeType="1" noTextEdit="1"/>
              </p:cNvSpPr>
              <p:nvPr/>
            </p:nvSpPr>
            <p:spPr>
              <a:xfrm>
                <a:off x="1064949" y="2000035"/>
                <a:ext cx="4463845" cy="1169936"/>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D7E65E9-27E6-A63C-D66B-595FC356E9A3}"/>
                  </a:ext>
                </a:extLst>
              </p:cNvPr>
              <p:cNvSpPr txBox="1"/>
              <p:nvPr/>
            </p:nvSpPr>
            <p:spPr>
              <a:xfrm>
                <a:off x="1173836" y="3169971"/>
                <a:ext cx="4247536" cy="910699"/>
              </a:xfrm>
              <a:prstGeom prst="rect">
                <a:avLst/>
              </a:prstGeom>
              <a:noFill/>
            </p:spPr>
            <p:txBody>
              <a:bodyPr wrap="square">
                <a:spAutoFit/>
              </a:bodyPr>
              <a:lstStyle/>
              <a:p>
                <a:pPr/>
                <a14:m>
                  <m:oMathPara xmlns:m="http://schemas.openxmlformats.org/officeDocument/2006/math">
                    <m:oMath>
                      <m:sSup>
                        <m:sSupPr>
                          <m:ctrlPr>
                            <a:rPr lang="vi-VN">
                              <a:latin typeface="Cambria Math" panose="02040503050406030204" pitchFamily="18" charset="0"/>
                            </a:rPr>
                          </m:ctrlPr>
                        </m:sSupPr>
                        <m:e>
                          <m:r>
                            <a:rPr lang="vi-VN">
                              <a:latin typeface="Cambria Math" panose="02040503050406030204" pitchFamily="18" charset="0"/>
                            </a:rPr>
                            <m:t>2</m:t>
                          </m:r>
                          <m:acc>
                            <m:accPr>
                              <m:chr m:val="̅"/>
                              <m:ctrlPr>
                                <a:rPr lang="vi-VN" i="1">
                                  <a:solidFill>
                                    <a:srgbClr val="836967"/>
                                  </a:solidFill>
                                  <a:latin typeface="Cambria Math" panose="02040503050406030204" pitchFamily="18" charset="0"/>
                                </a:rPr>
                              </m:ctrlPr>
                            </m:accPr>
                            <m:e>
                              <m:sSub>
                                <m:sSubPr>
                                  <m:ctrlPr>
                                    <a:rPr lang="vi-VN" i="1">
                                      <a:latin typeface="Cambria Math" panose="02040503050406030204" pitchFamily="18" charset="0"/>
                                    </a:rPr>
                                  </m:ctrlPr>
                                </m:sSubPr>
                                <m:e>
                                  <m:r>
                                    <a:rPr lang="vi-VN" i="1">
                                      <a:latin typeface="Cambria Math" panose="02040503050406030204" pitchFamily="18" charset="0"/>
                                    </a:rPr>
                                    <m:t>𝑉</m:t>
                                  </m:r>
                                </m:e>
                                <m:sub>
                                  <m:r>
                                    <a:rPr lang="vi-VN" i="1">
                                      <a:latin typeface="Cambria Math" panose="02040503050406030204" pitchFamily="18" charset="0"/>
                                    </a:rPr>
                                    <m:t>𝑒</m:t>
                                  </m:r>
                                </m:sub>
                              </m:sSub>
                            </m:e>
                          </m:acc>
                        </m:e>
                        <m:sup>
                          <m:r>
                            <a:rPr lang="vi-VN" i="0">
                              <a:latin typeface="Cambria Math" panose="02040503050406030204" pitchFamily="18" charset="0"/>
                            </a:rPr>
                            <m:t>2</m:t>
                          </m:r>
                        </m:sup>
                      </m:sSup>
                      <m:r>
                        <a:rPr lang="vi-VN" i="0">
                          <a:latin typeface="Cambria Math" panose="02040503050406030204" pitchFamily="18" charset="0"/>
                        </a:rPr>
                        <m:t>−</m:t>
                      </m:r>
                      <m:sSup>
                        <m:sSupPr>
                          <m:ctrlPr>
                            <a:rPr lang="vi-VN" i="1">
                              <a:solidFill>
                                <a:srgbClr val="836967"/>
                              </a:solidFill>
                              <a:latin typeface="Cambria Math" panose="02040503050406030204" pitchFamily="18" charset="0"/>
                            </a:rPr>
                          </m:ctrlPr>
                        </m:sSupPr>
                        <m:e>
                          <m:sSup>
                            <m:sSupPr>
                              <m:ctrlPr>
                                <a:rPr lang="vi-VN" i="1">
                                  <a:latin typeface="Cambria Math" panose="02040503050406030204" pitchFamily="18" charset="0"/>
                                </a:rPr>
                              </m:ctrlPr>
                            </m:sSupPr>
                            <m:e>
                              <m:r>
                                <a:rPr lang="vi-VN" i="1">
                                  <a:latin typeface="Cambria Math" panose="02040503050406030204" pitchFamily="18" charset="0"/>
                                </a:rPr>
                                <m:t>𝑉</m:t>
                              </m:r>
                            </m:e>
                            <m:sup>
                              <m:r>
                                <a:rPr lang="vi-VN" i="0">
                                  <a:latin typeface="Cambria Math" panose="02040503050406030204" pitchFamily="18" charset="0"/>
                                </a:rPr>
                                <m:t>∗</m:t>
                              </m:r>
                            </m:sup>
                          </m:sSup>
                        </m:e>
                        <m:sup>
                          <m:r>
                            <a:rPr lang="vi-VN" i="0">
                              <a:latin typeface="Cambria Math" panose="02040503050406030204" pitchFamily="18" charset="0"/>
                            </a:rPr>
                            <m:t>2</m:t>
                          </m:r>
                        </m:sup>
                      </m:sSup>
                      <m:r>
                        <a:rPr lang="vi-VN" i="0">
                          <a:latin typeface="Cambria Math" panose="02040503050406030204" pitchFamily="18" charset="0"/>
                        </a:rPr>
                        <m:t>=</m:t>
                      </m:r>
                      <m:rad>
                        <m:radPr>
                          <m:degHide m:val="on"/>
                          <m:ctrlPr>
                            <a:rPr lang="vi-VN" i="1">
                              <a:solidFill>
                                <a:srgbClr val="836967"/>
                              </a:solidFill>
                              <a:latin typeface="Cambria Math" panose="02040503050406030204" pitchFamily="18" charset="0"/>
                            </a:rPr>
                          </m:ctrlPr>
                        </m:radPr>
                        <m:deg/>
                        <m:e>
                          <m:sSup>
                            <m:sSupPr>
                              <m:ctrlPr>
                                <a:rPr lang="vi-VN" i="1">
                                  <a:solidFill>
                                    <a:srgbClr val="836967"/>
                                  </a:solidFill>
                                  <a:latin typeface="Cambria Math" panose="02040503050406030204" pitchFamily="18" charset="0"/>
                                </a:rPr>
                              </m:ctrlPr>
                            </m:sSupPr>
                            <m:e>
                              <m:sSup>
                                <m:sSupPr>
                                  <m:ctrlPr>
                                    <a:rPr lang="vi-VN" i="1">
                                      <a:latin typeface="Cambria Math" panose="02040503050406030204" pitchFamily="18" charset="0"/>
                                    </a:rPr>
                                  </m:ctrlPr>
                                </m:sSupPr>
                                <m:e>
                                  <m:r>
                                    <a:rPr lang="vi-VN" i="1">
                                      <a:latin typeface="Cambria Math" panose="02040503050406030204" pitchFamily="18" charset="0"/>
                                    </a:rPr>
                                    <m:t>𝑉</m:t>
                                  </m:r>
                                </m:e>
                                <m:sup>
                                  <m:r>
                                    <a:rPr lang="vi-VN" i="0">
                                      <a:latin typeface="Cambria Math" panose="02040503050406030204" pitchFamily="18" charset="0"/>
                                    </a:rPr>
                                    <m:t>∗</m:t>
                                  </m:r>
                                </m:sup>
                              </m:sSup>
                            </m:e>
                            <m:sup>
                              <m:r>
                                <a:rPr lang="vi-VN" i="0">
                                  <a:latin typeface="Cambria Math" panose="02040503050406030204" pitchFamily="18" charset="0"/>
                                </a:rPr>
                                <m:t>4</m:t>
                              </m:r>
                            </m:sup>
                          </m:sSup>
                          <m:r>
                            <a:rPr lang="vi-VN" i="0">
                              <a:latin typeface="Cambria Math" panose="02040503050406030204" pitchFamily="18" charset="0"/>
                            </a:rPr>
                            <m:t>−</m:t>
                          </m:r>
                          <m:f>
                            <m:fPr>
                              <m:ctrlPr>
                                <a:rPr lang="vi-VN" i="0">
                                  <a:latin typeface="Cambria Math" panose="02040503050406030204" pitchFamily="18" charset="0"/>
                                </a:rPr>
                              </m:ctrlPr>
                            </m:fPr>
                            <m:num>
                              <m:r>
                                <a:rPr lang="vi-VN" i="0">
                                  <a:latin typeface="Cambria Math" panose="02040503050406030204" pitchFamily="18" charset="0"/>
                                </a:rPr>
                                <m:t>2</m:t>
                              </m:r>
                              <m:sSup>
                                <m:sSupPr>
                                  <m:ctrlPr>
                                    <a:rPr lang="vi-VN" i="1">
                                      <a:solidFill>
                                        <a:srgbClr val="836967"/>
                                      </a:solidFill>
                                      <a:latin typeface="Cambria Math" panose="02040503050406030204" pitchFamily="18" charset="0"/>
                                    </a:rPr>
                                  </m:ctrlPr>
                                </m:sSupPr>
                                <m:e>
                                  <m:sSup>
                                    <m:sSupPr>
                                      <m:ctrlPr>
                                        <a:rPr lang="vi-VN" i="1">
                                          <a:latin typeface="Cambria Math" panose="02040503050406030204" pitchFamily="18" charset="0"/>
                                        </a:rPr>
                                      </m:ctrlPr>
                                    </m:sSupPr>
                                    <m:e>
                                      <m:r>
                                        <a:rPr lang="vi-VN" i="1">
                                          <a:latin typeface="Cambria Math" panose="02040503050406030204" pitchFamily="18" charset="0"/>
                                        </a:rPr>
                                        <m:t>𝑉</m:t>
                                      </m:r>
                                    </m:e>
                                    <m:sup>
                                      <m:r>
                                        <a:rPr lang="vi-VN" i="0">
                                          <a:latin typeface="Cambria Math" panose="02040503050406030204" pitchFamily="18" charset="0"/>
                                        </a:rPr>
                                        <m:t>∗</m:t>
                                      </m:r>
                                    </m:sup>
                                  </m:sSup>
                                </m:e>
                                <m:sup>
                                  <m:r>
                                    <a:rPr lang="vi-VN" i="0">
                                      <a:latin typeface="Cambria Math" panose="02040503050406030204" pitchFamily="18" charset="0"/>
                                    </a:rPr>
                                    <m:t>3</m:t>
                                  </m:r>
                                </m:sup>
                              </m:sSup>
                              <m:acc>
                                <m:accPr>
                                  <m:chr m:val="̅"/>
                                  <m:ctrlPr>
                                    <a:rPr lang="vi-VN" i="1">
                                      <a:solidFill>
                                        <a:srgbClr val="836967"/>
                                      </a:solidFill>
                                      <a:latin typeface="Cambria Math" panose="02040503050406030204" pitchFamily="18" charset="0"/>
                                    </a:rPr>
                                  </m:ctrlPr>
                                </m:accPr>
                                <m:e>
                                  <m:sSub>
                                    <m:sSubPr>
                                      <m:ctrlPr>
                                        <a:rPr lang="vi-VN" i="1">
                                          <a:latin typeface="Cambria Math" panose="02040503050406030204" pitchFamily="18" charset="0"/>
                                        </a:rPr>
                                      </m:ctrlPr>
                                    </m:sSubPr>
                                    <m:e>
                                      <m:r>
                                        <a:rPr lang="vi-VN" i="1">
                                          <a:latin typeface="Cambria Math" panose="02040503050406030204" pitchFamily="18" charset="0"/>
                                        </a:rPr>
                                        <m:t>𝑉</m:t>
                                      </m:r>
                                    </m:e>
                                    <m:sub>
                                      <m:r>
                                        <a:rPr lang="vi-VN" i="1">
                                          <a:latin typeface="Cambria Math" panose="02040503050406030204" pitchFamily="18" charset="0"/>
                                        </a:rPr>
                                        <m:t>𝑒</m:t>
                                      </m:r>
                                    </m:sub>
                                  </m:sSub>
                                </m:e>
                              </m:acc>
                            </m:num>
                            <m:den>
                              <m:r>
                                <a:rPr lang="vi-VN" i="1">
                                  <a:latin typeface="Cambria Math" panose="02040503050406030204" pitchFamily="18" charset="0"/>
                                </a:rPr>
                                <m:t>𝛼</m:t>
                              </m:r>
                            </m:den>
                          </m:f>
                        </m:e>
                      </m:rad>
                    </m:oMath>
                  </m:oMathPara>
                </a14:m>
                <a:endParaRPr lang="vi-VN"/>
              </a:p>
            </p:txBody>
          </p:sp>
        </mc:Choice>
        <mc:Fallback xmlns="">
          <p:sp>
            <p:nvSpPr>
              <p:cNvPr id="11" name="TextBox 10">
                <a:extLst>
                  <a:ext uri="{FF2B5EF4-FFF2-40B4-BE49-F238E27FC236}">
                    <a16:creationId xmlns:a16="http://schemas.microsoft.com/office/drawing/2014/main" id="{8D7E65E9-27E6-A63C-D66B-595FC356E9A3}"/>
                  </a:ext>
                </a:extLst>
              </p:cNvPr>
              <p:cNvSpPr txBox="1">
                <a:spLocks noRot="1" noChangeAspect="1" noMove="1" noResize="1" noEditPoints="1" noAdjustHandles="1" noChangeArrowheads="1" noChangeShapeType="1" noTextEdit="1"/>
              </p:cNvSpPr>
              <p:nvPr/>
            </p:nvSpPr>
            <p:spPr>
              <a:xfrm>
                <a:off x="1173836" y="3169971"/>
                <a:ext cx="4247536" cy="910699"/>
              </a:xfrm>
              <a:prstGeom prst="rect">
                <a:avLst/>
              </a:prstGeom>
              <a:blipFill>
                <a:blip r:embed="rId4"/>
                <a:stretch>
                  <a:fillRect/>
                </a:stretch>
              </a:blipFill>
            </p:spPr>
            <p:txBody>
              <a:bodyPr/>
              <a:lstStyle/>
              <a:p>
                <a:r>
                  <a:rPr lang="vi-VN">
                    <a:noFill/>
                  </a:rPr>
                  <a:t> </a:t>
                </a:r>
              </a:p>
            </p:txBody>
          </p:sp>
        </mc:Fallback>
      </mc:AlternateContent>
      <p:sp>
        <p:nvSpPr>
          <p:cNvPr id="12" name="Arrow: Right 11">
            <a:extLst>
              <a:ext uri="{FF2B5EF4-FFF2-40B4-BE49-F238E27FC236}">
                <a16:creationId xmlns:a16="http://schemas.microsoft.com/office/drawing/2014/main" id="{599BAA51-89A2-D286-C8CD-F32C13678490}"/>
              </a:ext>
            </a:extLst>
          </p:cNvPr>
          <p:cNvSpPr/>
          <p:nvPr/>
        </p:nvSpPr>
        <p:spPr>
          <a:xfrm>
            <a:off x="977924" y="3468471"/>
            <a:ext cx="459699" cy="365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Arrow: Right 12">
            <a:extLst>
              <a:ext uri="{FF2B5EF4-FFF2-40B4-BE49-F238E27FC236}">
                <a16:creationId xmlns:a16="http://schemas.microsoft.com/office/drawing/2014/main" id="{A9C69793-1C65-33CD-2702-5547373D8BC4}"/>
              </a:ext>
            </a:extLst>
          </p:cNvPr>
          <p:cNvSpPr/>
          <p:nvPr/>
        </p:nvSpPr>
        <p:spPr>
          <a:xfrm>
            <a:off x="1002029" y="4468207"/>
            <a:ext cx="459699" cy="365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Arrow: Right 13">
            <a:extLst>
              <a:ext uri="{FF2B5EF4-FFF2-40B4-BE49-F238E27FC236}">
                <a16:creationId xmlns:a16="http://schemas.microsoft.com/office/drawing/2014/main" id="{07DE740F-90D9-2598-7F48-62C9845C5497}"/>
              </a:ext>
            </a:extLst>
          </p:cNvPr>
          <p:cNvSpPr/>
          <p:nvPr/>
        </p:nvSpPr>
        <p:spPr>
          <a:xfrm>
            <a:off x="1002029" y="5442408"/>
            <a:ext cx="459699" cy="365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F121303-2695-68A4-C22B-AC4DEAF66CD6}"/>
                  </a:ext>
                </a:extLst>
              </p:cNvPr>
              <p:cNvSpPr txBox="1"/>
              <p:nvPr/>
            </p:nvSpPr>
            <p:spPr>
              <a:xfrm>
                <a:off x="0" y="4313016"/>
                <a:ext cx="6096000" cy="675506"/>
              </a:xfrm>
              <a:prstGeom prst="rect">
                <a:avLst/>
              </a:prstGeom>
              <a:noFill/>
            </p:spPr>
            <p:txBody>
              <a:bodyPr wrap="square">
                <a:spAutoFit/>
              </a:bodyPr>
              <a:lstStyle/>
              <a:p>
                <a:pPr/>
                <a14:m>
                  <m:oMathPara xmlns:m="http://schemas.openxmlformats.org/officeDocument/2006/math">
                    <m:oMath>
                      <m:r>
                        <a:rPr lang="vi-VN" smtClean="0">
                          <a:latin typeface="Cambria Math" panose="02040503050406030204" pitchFamily="18" charset="0"/>
                        </a:rPr>
                        <m:t>4</m:t>
                      </m:r>
                      <m:sSup>
                        <m:sSupPr>
                          <m:ctrlPr>
                            <a:rPr lang="vi-VN" i="1">
                              <a:solidFill>
                                <a:srgbClr val="836967"/>
                              </a:solidFill>
                              <a:latin typeface="Cambria Math" panose="02040503050406030204" pitchFamily="18" charset="0"/>
                            </a:rPr>
                          </m:ctrlPr>
                        </m:sSupPr>
                        <m:e>
                          <m:acc>
                            <m:accPr>
                              <m:chr m:val="̅"/>
                              <m:ctrlPr>
                                <a:rPr lang="vi-VN" i="1">
                                  <a:solidFill>
                                    <a:srgbClr val="836967"/>
                                  </a:solidFill>
                                  <a:latin typeface="Cambria Math" panose="02040503050406030204" pitchFamily="18" charset="0"/>
                                </a:rPr>
                              </m:ctrlPr>
                            </m:accPr>
                            <m:e>
                              <m:sSub>
                                <m:sSubPr>
                                  <m:ctrlPr>
                                    <a:rPr lang="vi-VN" i="1">
                                      <a:latin typeface="Cambria Math" panose="02040503050406030204" pitchFamily="18" charset="0"/>
                                    </a:rPr>
                                  </m:ctrlPr>
                                </m:sSubPr>
                                <m:e>
                                  <m:r>
                                    <a:rPr lang="vi-VN" i="1">
                                      <a:latin typeface="Cambria Math" panose="02040503050406030204" pitchFamily="18" charset="0"/>
                                    </a:rPr>
                                    <m:t>𝑉</m:t>
                                  </m:r>
                                </m:e>
                                <m:sub>
                                  <m:r>
                                    <a:rPr lang="vi-VN" i="1">
                                      <a:latin typeface="Cambria Math" panose="02040503050406030204" pitchFamily="18" charset="0"/>
                                    </a:rPr>
                                    <m:t>𝑒</m:t>
                                  </m:r>
                                </m:sub>
                              </m:sSub>
                            </m:e>
                          </m:acc>
                        </m:e>
                        <m:sup>
                          <m:r>
                            <a:rPr lang="vi-VN" i="0">
                              <a:latin typeface="Cambria Math" panose="02040503050406030204" pitchFamily="18" charset="0"/>
                            </a:rPr>
                            <m:t>2</m:t>
                          </m:r>
                        </m:sup>
                      </m:sSup>
                      <m:sSup>
                        <m:sSupPr>
                          <m:ctrlPr>
                            <a:rPr lang="vi-VN" i="1">
                              <a:solidFill>
                                <a:srgbClr val="836967"/>
                              </a:solidFill>
                              <a:latin typeface="Cambria Math" panose="02040503050406030204" pitchFamily="18" charset="0"/>
                            </a:rPr>
                          </m:ctrlPr>
                        </m:sSupPr>
                        <m:e>
                          <m:sSup>
                            <m:sSupPr>
                              <m:ctrlPr>
                                <a:rPr lang="vi-VN" i="1">
                                  <a:latin typeface="Cambria Math" panose="02040503050406030204" pitchFamily="18" charset="0"/>
                                </a:rPr>
                              </m:ctrlPr>
                            </m:sSupPr>
                            <m:e>
                              <m:r>
                                <a:rPr lang="vi-VN" i="1">
                                  <a:latin typeface="Cambria Math" panose="02040503050406030204" pitchFamily="18" charset="0"/>
                                </a:rPr>
                                <m:t>𝑉</m:t>
                              </m:r>
                            </m:e>
                            <m:sup>
                              <m:r>
                                <a:rPr lang="vi-VN" i="0">
                                  <a:latin typeface="Cambria Math" panose="02040503050406030204" pitchFamily="18" charset="0"/>
                                </a:rPr>
                                <m:t>∗</m:t>
                              </m:r>
                            </m:sup>
                          </m:sSup>
                        </m:e>
                        <m:sup>
                          <m:r>
                            <a:rPr lang="vi-VN" i="0">
                              <a:latin typeface="Cambria Math" panose="02040503050406030204" pitchFamily="18" charset="0"/>
                            </a:rPr>
                            <m:t>2</m:t>
                          </m:r>
                        </m:sup>
                      </m:sSup>
                      <m:r>
                        <a:rPr lang="vi-VN" i="0">
                          <a:latin typeface="Cambria Math" panose="02040503050406030204" pitchFamily="18" charset="0"/>
                        </a:rPr>
                        <m:t>−</m:t>
                      </m:r>
                      <m:sSup>
                        <m:sSupPr>
                          <m:ctrlPr>
                            <a:rPr lang="vi-VN" i="0">
                              <a:latin typeface="Cambria Math" panose="02040503050406030204" pitchFamily="18" charset="0"/>
                            </a:rPr>
                          </m:ctrlPr>
                        </m:sSupPr>
                        <m:e>
                          <m:r>
                            <a:rPr lang="vi-VN" i="0">
                              <a:latin typeface="Cambria Math" panose="02040503050406030204" pitchFamily="18" charset="0"/>
                            </a:rPr>
                            <m:t>4</m:t>
                          </m:r>
                          <m:acc>
                            <m:accPr>
                              <m:chr m:val="̅"/>
                              <m:ctrlPr>
                                <a:rPr lang="vi-VN" i="1">
                                  <a:solidFill>
                                    <a:srgbClr val="836967"/>
                                  </a:solidFill>
                                  <a:latin typeface="Cambria Math" panose="02040503050406030204" pitchFamily="18" charset="0"/>
                                </a:rPr>
                              </m:ctrlPr>
                            </m:accPr>
                            <m:e>
                              <m:sSub>
                                <m:sSubPr>
                                  <m:ctrlPr>
                                    <a:rPr lang="vi-VN" i="1">
                                      <a:latin typeface="Cambria Math" panose="02040503050406030204" pitchFamily="18" charset="0"/>
                                    </a:rPr>
                                  </m:ctrlPr>
                                </m:sSubPr>
                                <m:e>
                                  <m:r>
                                    <a:rPr lang="vi-VN" i="1">
                                      <a:latin typeface="Cambria Math" panose="02040503050406030204" pitchFamily="18" charset="0"/>
                                    </a:rPr>
                                    <m:t>𝑉</m:t>
                                  </m:r>
                                </m:e>
                                <m:sub>
                                  <m:r>
                                    <a:rPr lang="vi-VN" i="1">
                                      <a:latin typeface="Cambria Math" panose="02040503050406030204" pitchFamily="18" charset="0"/>
                                    </a:rPr>
                                    <m:t>𝑒</m:t>
                                  </m:r>
                                </m:sub>
                              </m:sSub>
                            </m:e>
                          </m:acc>
                        </m:e>
                        <m:sup>
                          <m:r>
                            <a:rPr lang="vi-VN" i="0">
                              <a:latin typeface="Cambria Math" panose="02040503050406030204" pitchFamily="18" charset="0"/>
                            </a:rPr>
                            <m:t>4</m:t>
                          </m:r>
                        </m:sup>
                      </m:sSup>
                      <m:r>
                        <a:rPr lang="vi-VN" i="0">
                          <a:latin typeface="Cambria Math" panose="02040503050406030204" pitchFamily="18" charset="0"/>
                        </a:rPr>
                        <m:t>=</m:t>
                      </m:r>
                      <m:f>
                        <m:fPr>
                          <m:ctrlPr>
                            <a:rPr lang="vi-VN" i="0">
                              <a:latin typeface="Cambria Math" panose="02040503050406030204" pitchFamily="18" charset="0"/>
                            </a:rPr>
                          </m:ctrlPr>
                        </m:fPr>
                        <m:num>
                          <m:r>
                            <a:rPr lang="vi-VN" i="0">
                              <a:latin typeface="Cambria Math" panose="02040503050406030204" pitchFamily="18" charset="0"/>
                            </a:rPr>
                            <m:t>2</m:t>
                          </m:r>
                          <m:sSup>
                            <m:sSupPr>
                              <m:ctrlPr>
                                <a:rPr lang="vi-VN" i="1">
                                  <a:solidFill>
                                    <a:srgbClr val="836967"/>
                                  </a:solidFill>
                                  <a:latin typeface="Cambria Math" panose="02040503050406030204" pitchFamily="18" charset="0"/>
                                </a:rPr>
                              </m:ctrlPr>
                            </m:sSupPr>
                            <m:e>
                              <m:sSup>
                                <m:sSupPr>
                                  <m:ctrlPr>
                                    <a:rPr lang="vi-VN" i="1">
                                      <a:latin typeface="Cambria Math" panose="02040503050406030204" pitchFamily="18" charset="0"/>
                                    </a:rPr>
                                  </m:ctrlPr>
                                </m:sSupPr>
                                <m:e>
                                  <m:r>
                                    <a:rPr lang="vi-VN" i="1">
                                      <a:latin typeface="Cambria Math" panose="02040503050406030204" pitchFamily="18" charset="0"/>
                                    </a:rPr>
                                    <m:t>𝑉</m:t>
                                  </m:r>
                                </m:e>
                                <m:sup>
                                  <m:r>
                                    <a:rPr lang="vi-VN" i="0">
                                      <a:latin typeface="Cambria Math" panose="02040503050406030204" pitchFamily="18" charset="0"/>
                                    </a:rPr>
                                    <m:t>∗</m:t>
                                  </m:r>
                                </m:sup>
                              </m:sSup>
                            </m:e>
                            <m:sup>
                              <m:r>
                                <a:rPr lang="vi-VN" i="0">
                                  <a:latin typeface="Cambria Math" panose="02040503050406030204" pitchFamily="18" charset="0"/>
                                </a:rPr>
                                <m:t>3</m:t>
                              </m:r>
                            </m:sup>
                          </m:sSup>
                          <m:acc>
                            <m:accPr>
                              <m:chr m:val="̅"/>
                              <m:ctrlPr>
                                <a:rPr lang="vi-VN" i="1">
                                  <a:solidFill>
                                    <a:srgbClr val="836967"/>
                                  </a:solidFill>
                                  <a:latin typeface="Cambria Math" panose="02040503050406030204" pitchFamily="18" charset="0"/>
                                </a:rPr>
                              </m:ctrlPr>
                            </m:accPr>
                            <m:e>
                              <m:sSub>
                                <m:sSubPr>
                                  <m:ctrlPr>
                                    <a:rPr lang="vi-VN" i="1">
                                      <a:latin typeface="Cambria Math" panose="02040503050406030204" pitchFamily="18" charset="0"/>
                                    </a:rPr>
                                  </m:ctrlPr>
                                </m:sSubPr>
                                <m:e>
                                  <m:r>
                                    <a:rPr lang="vi-VN" i="1">
                                      <a:latin typeface="Cambria Math" panose="02040503050406030204" pitchFamily="18" charset="0"/>
                                    </a:rPr>
                                    <m:t>𝑉</m:t>
                                  </m:r>
                                </m:e>
                                <m:sub>
                                  <m:r>
                                    <a:rPr lang="vi-VN" i="1">
                                      <a:latin typeface="Cambria Math" panose="02040503050406030204" pitchFamily="18" charset="0"/>
                                    </a:rPr>
                                    <m:t>𝑒</m:t>
                                  </m:r>
                                </m:sub>
                              </m:sSub>
                            </m:e>
                          </m:acc>
                        </m:num>
                        <m:den>
                          <m:r>
                            <a:rPr lang="vi-VN" i="1">
                              <a:latin typeface="Cambria Math" panose="02040503050406030204" pitchFamily="18" charset="0"/>
                            </a:rPr>
                            <m:t>𝛼</m:t>
                          </m:r>
                        </m:den>
                      </m:f>
                    </m:oMath>
                  </m:oMathPara>
                </a14:m>
                <a:endParaRPr lang="vi-VN"/>
              </a:p>
            </p:txBody>
          </p:sp>
        </mc:Choice>
        <mc:Fallback xmlns="">
          <p:sp>
            <p:nvSpPr>
              <p:cNvPr id="16" name="TextBox 15">
                <a:extLst>
                  <a:ext uri="{FF2B5EF4-FFF2-40B4-BE49-F238E27FC236}">
                    <a16:creationId xmlns:a16="http://schemas.microsoft.com/office/drawing/2014/main" id="{BF121303-2695-68A4-C22B-AC4DEAF66CD6}"/>
                  </a:ext>
                </a:extLst>
              </p:cNvPr>
              <p:cNvSpPr txBox="1">
                <a:spLocks noRot="1" noChangeAspect="1" noMove="1" noResize="1" noEditPoints="1" noAdjustHandles="1" noChangeArrowheads="1" noChangeShapeType="1" noTextEdit="1"/>
              </p:cNvSpPr>
              <p:nvPr/>
            </p:nvSpPr>
            <p:spPr>
              <a:xfrm>
                <a:off x="0" y="4313016"/>
                <a:ext cx="6096000" cy="675506"/>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31584D9-D33B-B7C1-C3BC-EB2ABE590316}"/>
                  </a:ext>
                </a:extLst>
              </p:cNvPr>
              <p:cNvSpPr txBox="1"/>
              <p:nvPr/>
            </p:nvSpPr>
            <p:spPr>
              <a:xfrm>
                <a:off x="0" y="5217000"/>
                <a:ext cx="6096000" cy="748731"/>
              </a:xfrm>
              <a:prstGeom prst="rect">
                <a:avLst/>
              </a:prstGeom>
              <a:noFill/>
            </p:spPr>
            <p:txBody>
              <a:bodyPr wrap="square">
                <a:spAutoFit/>
              </a:bodyPr>
              <a:lstStyle/>
              <a:p>
                <a:pPr/>
                <a14:m>
                  <m:oMathPara xmlns:m="http://schemas.openxmlformats.org/officeDocument/2006/math">
                    <m:oMath>
                      <m:r>
                        <a:rPr lang="vi-VN" sz="1800" i="1" kern="100" smtClean="0">
                          <a:effectLst/>
                          <a:latin typeface="Cambria Math" panose="02040503050406030204" pitchFamily="18" charset="0"/>
                          <a:ea typeface="Times New Roman" panose="02020603050405020304" pitchFamily="18" charset="0"/>
                          <a:cs typeface="Times New Roman" panose="02020603050405020304" pitchFamily="18" charset="0"/>
                        </a:rPr>
                        <m:t>𝛼</m:t>
                      </m:r>
                      <m:r>
                        <a:rPr lang="vi-VN" sz="1800" i="1" kern="100" smtClean="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sSup>
                                <m:sSupPr>
                                  <m:ctrlP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𝑉</m:t>
                                  </m:r>
                                </m:e>
                                <m:sup>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e>
                            <m:sup>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3</m:t>
                              </m:r>
                            </m:sup>
                          </m:sSup>
                        </m:num>
                        <m:den>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𝑒</m:t>
                              </m:r>
                            </m:sub>
                          </m:sSub>
                          <m:sSup>
                            <m:sSupPr>
                              <m:ctrlP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sSup>
                                <m:sSupPr>
                                  <m:ctrlP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𝑉</m:t>
                                  </m:r>
                                </m:e>
                                <m:sup>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e>
                            <m:sup>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−2</m:t>
                          </m:r>
                          <m:sSubSup>
                            <m:sSubSupPr>
                              <m:ctrlP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𝑒</m:t>
                              </m:r>
                            </m:sub>
                            <m:sup>
                              <m: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t>3</m:t>
                              </m:r>
                            </m:sup>
                          </m:sSubSup>
                        </m:den>
                      </m:f>
                    </m:oMath>
                  </m:oMathPara>
                </a14:m>
                <a:endParaRPr lang="vi-VN"/>
              </a:p>
            </p:txBody>
          </p:sp>
        </mc:Choice>
        <mc:Fallback xmlns="">
          <p:sp>
            <p:nvSpPr>
              <p:cNvPr id="27" name="TextBox 26">
                <a:extLst>
                  <a:ext uri="{FF2B5EF4-FFF2-40B4-BE49-F238E27FC236}">
                    <a16:creationId xmlns:a16="http://schemas.microsoft.com/office/drawing/2014/main" id="{331584D9-D33B-B7C1-C3BC-EB2ABE590316}"/>
                  </a:ext>
                </a:extLst>
              </p:cNvPr>
              <p:cNvSpPr txBox="1">
                <a:spLocks noRot="1" noChangeAspect="1" noMove="1" noResize="1" noEditPoints="1" noAdjustHandles="1" noChangeArrowheads="1" noChangeShapeType="1" noTextEdit="1"/>
              </p:cNvSpPr>
              <p:nvPr/>
            </p:nvSpPr>
            <p:spPr>
              <a:xfrm>
                <a:off x="0" y="5217000"/>
                <a:ext cx="6096000" cy="748731"/>
              </a:xfrm>
              <a:prstGeom prst="rect">
                <a:avLst/>
              </a:prstGeom>
              <a:blipFill>
                <a:blip r:embed="rId6"/>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21990577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D9855-A764-39E7-9663-CD50F73777A1}"/>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55BBA336-1349-2E5F-CAAD-B3DB2DAE4671}"/>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7CEB547B-37B3-ACBD-6719-DBA26ACCCCF1}"/>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9F0D4025-64F4-3DC3-0E59-ACBFD4A1180E}"/>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5" name="TextBox 23">
            <a:extLst>
              <a:ext uri="{FF2B5EF4-FFF2-40B4-BE49-F238E27FC236}">
                <a16:creationId xmlns:a16="http://schemas.microsoft.com/office/drawing/2014/main" id="{192A19FA-6D64-610F-DD15-F644755F48FE}"/>
              </a:ext>
            </a:extLst>
          </p:cNvPr>
          <p:cNvSpPr txBox="1"/>
          <p:nvPr/>
        </p:nvSpPr>
        <p:spPr>
          <a:xfrm>
            <a:off x="374948" y="1036129"/>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2.6. </a:t>
            </a:r>
            <a:r>
              <a:rPr lang="vi-VN" sz="2000" b="1">
                <a:solidFill>
                  <a:prstClr val="black"/>
                </a:solidFill>
                <a:latin typeface="Times New Roman" panose="02020603050405020304" pitchFamily="18" charset="0"/>
                <a:cs typeface="Times New Roman" panose="02020603050405020304" pitchFamily="18" charset="0"/>
              </a:rPr>
              <a:t>Tính toán thông số bộ điều khiển VOC</a:t>
            </a:r>
          </a:p>
        </p:txBody>
      </p:sp>
      <mc:AlternateContent xmlns:mc="http://schemas.openxmlformats.org/markup-compatibility/2006" xmlns:a14="http://schemas.microsoft.com/office/drawing/2010/main">
        <mc:Choice Requires="a14">
          <p:sp>
            <p:nvSpPr>
              <p:cNvPr id="32" name="Rectangle 4">
                <a:extLst>
                  <a:ext uri="{FF2B5EF4-FFF2-40B4-BE49-F238E27FC236}">
                    <a16:creationId xmlns:a16="http://schemas.microsoft.com/office/drawing/2014/main" id="{755FA6C2-B316-6ACF-A7B8-304C5F28C28E}"/>
                  </a:ext>
                </a:extLst>
              </p:cNvPr>
              <p:cNvSpPr>
                <a:spLocks noChangeArrowheads="1"/>
              </p:cNvSpPr>
              <p:nvPr/>
            </p:nvSpPr>
            <p:spPr bwMode="auto">
              <a:xfrm>
                <a:off x="1655154" y="3248967"/>
                <a:ext cx="2808205" cy="77245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14:m>
                  <m:oMathPara xmlns:m="http://schemas.openxmlformats.org/officeDocument/2006/math">
                    <m:oMath>
                      <m:f>
                        <m:fPr>
                          <m:ctrlPr>
                            <a:rPr lang="vi-VN" sz="2000" i="1">
                              <a:latin typeface="Cambria Math" panose="02040503050406030204" pitchFamily="18" charset="0"/>
                            </a:rPr>
                          </m:ctrlPr>
                        </m:fPr>
                        <m:num>
                          <m:sSup>
                            <m:sSupPr>
                              <m:ctrlPr>
                                <a:rPr lang="vi-VN" sz="2000" i="1">
                                  <a:latin typeface="Cambria Math" panose="02040503050406030204" pitchFamily="18" charset="0"/>
                                </a:rPr>
                              </m:ctrlPr>
                            </m:sSupPr>
                            <m:e>
                              <m:r>
                                <a:rPr lang="vi-VN" sz="2000" i="1">
                                  <a:latin typeface="Cambria Math" panose="02040503050406030204" pitchFamily="18" charset="0"/>
                                </a:rPr>
                                <m:t>𝑉</m:t>
                              </m:r>
                            </m:e>
                            <m:sup>
                              <m:r>
                                <a:rPr lang="vi-VN" sz="2000" i="1">
                                  <a:latin typeface="Cambria Math" panose="02040503050406030204" pitchFamily="18" charset="0"/>
                                </a:rPr>
                                <m:t>∗</m:t>
                              </m:r>
                            </m:sup>
                          </m:sSup>
                          <m:sSub>
                            <m:sSubPr>
                              <m:ctrlPr>
                                <a:rPr lang="vi-VN" sz="2000" i="1">
                                  <a:latin typeface="Cambria Math" panose="02040503050406030204" pitchFamily="18" charset="0"/>
                                </a:rPr>
                              </m:ctrlPr>
                            </m:sSubPr>
                            <m:e>
                              <m:acc>
                                <m:accPr>
                                  <m:chr m:val="̅"/>
                                  <m:ctrlPr>
                                    <a:rPr lang="vi-VN" sz="2000" i="1">
                                      <a:latin typeface="Cambria Math" panose="02040503050406030204" pitchFamily="18" charset="0"/>
                                    </a:rPr>
                                  </m:ctrlPr>
                                </m:accPr>
                                <m:e>
                                  <m:r>
                                    <a:rPr lang="vi-VN" sz="2000" i="1">
                                      <a:latin typeface="Cambria Math" panose="02040503050406030204" pitchFamily="18" charset="0"/>
                                    </a:rPr>
                                    <m:t>𝑉</m:t>
                                  </m:r>
                                </m:e>
                              </m:acc>
                            </m:e>
                            <m:sub>
                              <m:r>
                                <a:rPr lang="vi-VN" sz="2000" i="1">
                                  <a:latin typeface="Cambria Math" panose="02040503050406030204" pitchFamily="18" charset="0"/>
                                </a:rPr>
                                <m:t>𝑒</m:t>
                              </m:r>
                            </m:sub>
                          </m:sSub>
                        </m:num>
                        <m:den>
                          <m:r>
                            <a:rPr lang="vi-VN" sz="2000" i="1">
                              <a:latin typeface="Cambria Math" panose="02040503050406030204" pitchFamily="18" charset="0"/>
                            </a:rPr>
                            <m:t>𝐶</m:t>
                          </m:r>
                          <m:sSubSup>
                            <m:sSubSupPr>
                              <m:ctrlPr>
                                <a:rPr lang="vi-VN" sz="2000" i="1">
                                  <a:latin typeface="Cambria Math" panose="02040503050406030204" pitchFamily="18" charset="0"/>
                                </a:rPr>
                              </m:ctrlPr>
                            </m:sSubSupPr>
                            <m:e>
                              <m:r>
                                <a:rPr lang="vi-VN" sz="2000" i="1">
                                  <a:latin typeface="Cambria Math" panose="02040503050406030204" pitchFamily="18" charset="0"/>
                                </a:rPr>
                                <m:t>𝑉</m:t>
                              </m:r>
                            </m:e>
                            <m:sub>
                              <m:r>
                                <a:rPr lang="vi-VN" sz="2000" i="1">
                                  <a:latin typeface="Cambria Math" panose="02040503050406030204" pitchFamily="18" charset="0"/>
                                </a:rPr>
                                <m:t>𝑒</m:t>
                              </m:r>
                            </m:sub>
                            <m:sup>
                              <m:r>
                                <a:rPr lang="vi-VN" sz="2000" i="1">
                                  <a:latin typeface="Cambria Math" panose="02040503050406030204" pitchFamily="18" charset="0"/>
                                </a:rPr>
                                <m:t>2</m:t>
                              </m:r>
                            </m:sup>
                          </m:sSubSup>
                          <m:r>
                            <a:rPr lang="vi-VN" sz="2000" i="1">
                              <a:latin typeface="Cambria Math" panose="02040503050406030204" pitchFamily="18" charset="0"/>
                            </a:rPr>
                            <m:t>2</m:t>
                          </m:r>
                          <m:sSub>
                            <m:sSubPr>
                              <m:ctrlPr>
                                <a:rPr lang="vi-VN" sz="2000" i="1">
                                  <a:latin typeface="Cambria Math" panose="02040503050406030204" pitchFamily="18" charset="0"/>
                                </a:rPr>
                              </m:ctrlPr>
                            </m:sSubPr>
                            <m:e>
                              <m:acc>
                                <m:accPr>
                                  <m:chr m:val="̅"/>
                                  <m:ctrlPr>
                                    <a:rPr lang="vi-VN" sz="2000" i="1">
                                      <a:latin typeface="Cambria Math" panose="02040503050406030204" pitchFamily="18" charset="0"/>
                                    </a:rPr>
                                  </m:ctrlPr>
                                </m:accPr>
                                <m:e>
                                  <m:r>
                                    <a:rPr lang="vi-VN" sz="2000" i="1">
                                      <a:latin typeface="Cambria Math" panose="02040503050406030204" pitchFamily="18" charset="0"/>
                                    </a:rPr>
                                    <m:t>𝑃</m:t>
                                  </m:r>
                                </m:e>
                              </m:acc>
                            </m:e>
                            <m:sub>
                              <m:r>
                                <a:rPr lang="vi-VN" sz="2000" i="1">
                                  <a:latin typeface="Cambria Math" panose="02040503050406030204" pitchFamily="18" charset="0"/>
                                </a:rPr>
                                <m:t>𝑟𝑎𝑡𝑒</m:t>
                              </m:r>
                            </m:sub>
                          </m:sSub>
                        </m:den>
                      </m:f>
                      <m:sSub>
                        <m:sSubPr>
                          <m:ctrlPr>
                            <a:rPr lang="vi-VN" sz="2000" i="1">
                              <a:latin typeface="Cambria Math" panose="02040503050406030204" pitchFamily="18" charset="0"/>
                            </a:rPr>
                          </m:ctrlPr>
                        </m:sSubPr>
                        <m:e>
                          <m:acc>
                            <m:accPr>
                              <m:chr m:val="̅"/>
                              <m:ctrlPr>
                                <a:rPr lang="vi-VN" sz="2000" i="1">
                                  <a:latin typeface="Cambria Math" panose="02040503050406030204" pitchFamily="18" charset="0"/>
                                </a:rPr>
                              </m:ctrlPr>
                            </m:accPr>
                            <m:e>
                              <m:r>
                                <a:rPr lang="vi-VN" sz="2000" i="1">
                                  <a:latin typeface="Cambria Math" panose="02040503050406030204" pitchFamily="18" charset="0"/>
                                </a:rPr>
                                <m:t>𝑄</m:t>
                              </m:r>
                            </m:e>
                          </m:acc>
                        </m:e>
                        <m:sub>
                          <m:r>
                            <a:rPr lang="vi-VN" sz="2000" i="1">
                              <a:latin typeface="Cambria Math" panose="02040503050406030204" pitchFamily="18" charset="0"/>
                            </a:rPr>
                            <m:t>𝑒</m:t>
                          </m:r>
                        </m:sub>
                      </m:sSub>
                      <m:r>
                        <a:rPr lang="vi-VN" sz="2000" i="1">
                          <a:latin typeface="Cambria Math" panose="02040503050406030204" pitchFamily="18" charset="0"/>
                        </a:rPr>
                        <m:t>≤∆</m:t>
                      </m:r>
                      <m:sSub>
                        <m:sSubPr>
                          <m:ctrlPr>
                            <a:rPr lang="vi-VN" sz="2000" i="1">
                              <a:latin typeface="Cambria Math" panose="02040503050406030204" pitchFamily="18" charset="0"/>
                            </a:rPr>
                          </m:ctrlPr>
                        </m:sSubPr>
                        <m:e>
                          <m:r>
                            <a:rPr lang="vi-VN" sz="2000" i="1">
                              <a:latin typeface="Cambria Math" panose="02040503050406030204" pitchFamily="18" charset="0"/>
                            </a:rPr>
                            <m:t>𝜔</m:t>
                          </m:r>
                        </m:e>
                        <m:sub>
                          <m:r>
                            <a:rPr lang="vi-VN" sz="2000" i="1">
                              <a:latin typeface="Cambria Math" panose="02040503050406030204" pitchFamily="18" charset="0"/>
                            </a:rPr>
                            <m:t>𝑚𝑎𝑥</m:t>
                          </m:r>
                        </m:sub>
                      </m:sSub>
                    </m:oMath>
                  </m:oMathPara>
                </a14:m>
                <a:endParaRPr lang="vi-VN" sz="2000"/>
              </a:p>
            </p:txBody>
          </p:sp>
        </mc:Choice>
        <mc:Fallback xmlns="">
          <p:sp>
            <p:nvSpPr>
              <p:cNvPr id="32" name="Rectangle 4">
                <a:extLst>
                  <a:ext uri="{FF2B5EF4-FFF2-40B4-BE49-F238E27FC236}">
                    <a16:creationId xmlns:a16="http://schemas.microsoft.com/office/drawing/2014/main" id="{755FA6C2-B316-6ACF-A7B8-304C5F28C28E}"/>
                  </a:ext>
                </a:extLst>
              </p:cNvPr>
              <p:cNvSpPr>
                <a:spLocks noRot="1" noChangeAspect="1" noMove="1" noResize="1" noEditPoints="1" noAdjustHandles="1" noChangeArrowheads="1" noChangeShapeType="1" noTextEdit="1"/>
              </p:cNvSpPr>
              <p:nvPr/>
            </p:nvSpPr>
            <p:spPr bwMode="auto">
              <a:xfrm>
                <a:off x="1655154" y="3248967"/>
                <a:ext cx="2808205" cy="772456"/>
              </a:xfrm>
              <a:prstGeom prst="rect">
                <a:avLst/>
              </a:prstGeom>
              <a:blipFill>
                <a:blip r:embed="rId2"/>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vi-VN">
                    <a:noFill/>
                  </a:rPr>
                  <a:t> </a:t>
                </a:r>
              </a:p>
            </p:txBody>
          </p:sp>
        </mc:Fallback>
      </mc:AlternateContent>
      <p:sp>
        <p:nvSpPr>
          <p:cNvPr id="7" name="TextBox 6">
            <a:extLst>
              <a:ext uri="{FF2B5EF4-FFF2-40B4-BE49-F238E27FC236}">
                <a16:creationId xmlns:a16="http://schemas.microsoft.com/office/drawing/2014/main" id="{B60E3F8C-7982-7F55-1F27-391CB4159777}"/>
              </a:ext>
            </a:extLst>
          </p:cNvPr>
          <p:cNvSpPr txBox="1"/>
          <p:nvPr/>
        </p:nvSpPr>
        <p:spPr>
          <a:xfrm>
            <a:off x="374948" y="1417264"/>
            <a:ext cx="6096000" cy="369332"/>
          </a:xfrm>
          <a:prstGeom prst="rect">
            <a:avLst/>
          </a:prstGeom>
          <a:noFill/>
        </p:spPr>
        <p:txBody>
          <a:bodyPr wrap="square">
            <a:spAutoFit/>
          </a:bodyPr>
          <a:lstStyle/>
          <a:p>
            <a:r>
              <a:rPr lang="en-US" b="1">
                <a:latin typeface="Times New Roman" panose="02020603050405020304" pitchFamily="18" charset="0"/>
                <a:cs typeface="Times New Roman" panose="02020603050405020304" pitchFamily="18" charset="0"/>
              </a:rPr>
              <a:t>2.6.3 </a:t>
            </a:r>
            <a:r>
              <a:rPr lang="en-US" b="1" err="1">
                <a:latin typeface="Times New Roman" panose="02020603050405020304" pitchFamily="18" charset="0"/>
                <a:cs typeface="Times New Roman" panose="02020603050405020304" pitchFamily="18" charset="0"/>
              </a:rPr>
              <a:t>Tính</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toán</a:t>
            </a:r>
            <a:r>
              <a:rPr lang="en-US" b="1">
                <a:latin typeface="Times New Roman" panose="02020603050405020304" pitchFamily="18" charset="0"/>
                <a:cs typeface="Times New Roman" panose="02020603050405020304" pitchFamily="18" charset="0"/>
              </a:rPr>
              <a:t> C.</a:t>
            </a:r>
          </a:p>
        </p:txBody>
      </p:sp>
      <mc:AlternateContent xmlns:mc="http://schemas.openxmlformats.org/markup-compatibility/2006" xmlns:a14="http://schemas.microsoft.com/office/drawing/2010/main">
        <mc:Choice Requires="a14">
          <p:sp>
            <p:nvSpPr>
              <p:cNvPr id="22" name="Hộp Văn bản 21">
                <a:extLst>
                  <a:ext uri="{FF2B5EF4-FFF2-40B4-BE49-F238E27FC236}">
                    <a16:creationId xmlns:a16="http://schemas.microsoft.com/office/drawing/2014/main" id="{F4DFA9A4-B075-06C4-E834-6D625ABB494D}"/>
                  </a:ext>
                </a:extLst>
              </p:cNvPr>
              <p:cNvSpPr txBox="1"/>
              <p:nvPr/>
            </p:nvSpPr>
            <p:spPr>
              <a:xfrm>
                <a:off x="871081" y="1743026"/>
                <a:ext cx="6838653" cy="1433598"/>
              </a:xfrm>
              <a:prstGeom prst="rect">
                <a:avLst/>
              </a:prstGeom>
              <a:noFill/>
            </p:spPr>
            <p:txBody>
              <a:bodyPr wrap="square">
                <a:spAutoFit/>
              </a:bodyPr>
              <a:lstStyle/>
              <a:p>
                <a:pPr>
                  <a:lnSpc>
                    <a:spcPct val="150000"/>
                  </a:lnSpc>
                </a:pPr>
                <a:r>
                  <a:rPr lang="vi-VN" sz="2000">
                    <a:latin typeface="+mj-lt"/>
                  </a:rPr>
                  <a:t>- Từ (14): </a:t>
                </a:r>
                <a14:m>
                  <m:oMath xmlns:m="http://schemas.openxmlformats.org/officeDocument/2006/math">
                    <m:r>
                      <a:rPr lang="vi-VN" sz="2000" i="1" kern="100" smtClea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𝜔</m:t>
                    </m:r>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𝑡</m:t>
                    </m:r>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ạ</m:t>
                    </m:r>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 đó ∆</m:t>
                    </m:r>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𝜔</m:t>
                    </m:r>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𝑘</m:t>
                        </m:r>
                      </m:num>
                      <m:den>
                        <m:sSubSup>
                          <m:sSubSupPr>
                            <m:ctrlP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𝑒</m:t>
                            </m:r>
                          </m:sub>
                          <m:sup>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2</m:t>
                            </m:r>
                          </m:sup>
                        </m:sSubSup>
                      </m:den>
                    </m:f>
                    <m:sSub>
                      <m:sSubPr>
                        <m:ctrlP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𝑄</m:t>
                            </m:r>
                          </m:e>
                        </m:acc>
                      </m:e>
                      <m:sub>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𝑒</m:t>
                        </m:r>
                      </m:sub>
                    </m:sSub>
                  </m:oMath>
                </a14:m>
                <a:endParaRPr lang="vi-VN" sz="2000" kern="10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50000"/>
                  </a:lnSpc>
                </a:pPr>
                <a:r>
                  <a:rPr lang="vi-VN" sz="2000" b="0" i="0" kern="100">
                    <a:effectLst/>
                    <a:latin typeface="Cambria Math" panose="02040503050406030204" pitchFamily="18" charset="0"/>
                    <a:ea typeface="Times New Roman" panose="02020603050405020304" pitchFamily="18" charset="0"/>
                    <a:cs typeface="Times New Roman" panose="02020603050405020304" pitchFamily="18" charset="0"/>
                  </a:rPr>
                  <a:t>- Lại có: </a:t>
                </a:r>
                <a14:m>
                  <m:oMath xmlns:m="http://schemas.openxmlformats.org/officeDocument/2006/math">
                    <m:r>
                      <a:rPr lang="vi-VN" sz="2000" i="1" kern="100" smtClean="0">
                        <a:effectLst/>
                        <a:latin typeface="Cambria Math" panose="02040503050406030204" pitchFamily="18" charset="0"/>
                        <a:ea typeface="Times New Roman" panose="02020603050405020304" pitchFamily="18" charset="0"/>
                        <a:cs typeface="Times New Roman" panose="02020603050405020304" pitchFamily="18" charset="0"/>
                      </a:rPr>
                      <m:t>𝑘</m:t>
                    </m:r>
                    <m:r>
                      <a:rPr lang="vi-VN" sz="2000" i="1" kern="100" smtClean="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𝑘</m:t>
                            </m:r>
                          </m:e>
                          <m:sub>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sSub>
                          <m:sSubPr>
                            <m:ctrlP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𝑘</m:t>
                            </m:r>
                          </m:e>
                          <m:sub>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𝑣</m:t>
                            </m:r>
                          </m:sub>
                        </m:sSub>
                      </m:num>
                      <m:den>
                        <m:r>
                          <a:rPr lang="vi-VN" sz="2000" i="1" kern="100">
                            <a:effectLst/>
                            <a:latin typeface="Cambria Math" panose="02040503050406030204" pitchFamily="18" charset="0"/>
                            <a:ea typeface="Times New Roman" panose="02020603050405020304" pitchFamily="18" charset="0"/>
                            <a:cs typeface="Times New Roman" panose="02020603050405020304" pitchFamily="18" charset="0"/>
                          </a:rPr>
                          <m:t>𝐶</m:t>
                        </m:r>
                      </m:den>
                    </m:f>
                  </m:oMath>
                </a14:m>
                <a:r>
                  <a:rPr lang="vi-VN" sz="2000" kern="100">
                    <a:effectLst/>
                    <a:latin typeface="Times New Roman" panose="02020603050405020304" pitchFamily="18" charset="0"/>
                    <a:ea typeface="Aptos" panose="020B0004020202020204" pitchFamily="34" charset="0"/>
                    <a:cs typeface="Times New Roman" panose="02020603050405020304" pitchFamily="18" charset="0"/>
                  </a:rPr>
                  <a:t>. </a:t>
                </a:r>
                <a:endParaRPr lang="vi-VN" sz="2000"/>
              </a:p>
            </p:txBody>
          </p:sp>
        </mc:Choice>
        <mc:Fallback xmlns="">
          <p:sp>
            <p:nvSpPr>
              <p:cNvPr id="22" name="Hộp Văn bản 21">
                <a:extLst>
                  <a:ext uri="{FF2B5EF4-FFF2-40B4-BE49-F238E27FC236}">
                    <a16:creationId xmlns:a16="http://schemas.microsoft.com/office/drawing/2014/main" id="{F4DFA9A4-B075-06C4-E834-6D625ABB494D}"/>
                  </a:ext>
                </a:extLst>
              </p:cNvPr>
              <p:cNvSpPr txBox="1">
                <a:spLocks noRot="1" noChangeAspect="1" noMove="1" noResize="1" noEditPoints="1" noAdjustHandles="1" noChangeArrowheads="1" noChangeShapeType="1" noTextEdit="1"/>
              </p:cNvSpPr>
              <p:nvPr/>
            </p:nvSpPr>
            <p:spPr>
              <a:xfrm>
                <a:off x="871081" y="1743026"/>
                <a:ext cx="6838653" cy="1433598"/>
              </a:xfrm>
              <a:prstGeom prst="rect">
                <a:avLst/>
              </a:prstGeom>
              <a:blipFill>
                <a:blip r:embed="rId3"/>
                <a:stretch>
                  <a:fillRect l="-980" b="-212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2580D70-521F-A930-4CB3-ECD36A3036F2}"/>
                  </a:ext>
                </a:extLst>
              </p:cNvPr>
              <p:cNvSpPr txBox="1"/>
              <p:nvPr/>
            </p:nvSpPr>
            <p:spPr>
              <a:xfrm>
                <a:off x="871081" y="4328157"/>
                <a:ext cx="6096000" cy="599138"/>
              </a:xfrm>
              <a:prstGeom prst="rect">
                <a:avLst/>
              </a:prstGeom>
              <a:noFill/>
            </p:spPr>
            <p:txBody>
              <a:bodyPr wrap="square">
                <a:spAutoFit/>
              </a:bodyPr>
              <a:lstStyle/>
              <a:p>
                <a:r>
                  <a:rPr lang="vi-VN" sz="2000" kern="100">
                    <a:effectLst/>
                    <a:latin typeface="Times New Roman" panose="02020603050405020304" pitchFamily="18" charset="0"/>
                    <a:ea typeface="Aptos" panose="020B0004020202020204" pitchFamily="34" charset="0"/>
                    <a:cs typeface="Times New Roman" panose="02020603050405020304" pitchFamily="18" charset="0"/>
                  </a:rPr>
                  <a:t>Từ đó ta suy ra: </a:t>
                </a:r>
                <a14:m>
                  <m:oMath xmlns:m="http://schemas.openxmlformats.org/officeDocument/2006/math">
                    <m:r>
                      <a:rPr lang="vi-VN" sz="2000" i="1">
                        <a:latin typeface="Cambria Math" panose="02040503050406030204" pitchFamily="18" charset="0"/>
                      </a:rPr>
                      <m:t>𝐶</m:t>
                    </m:r>
                    <m:r>
                      <a:rPr lang="vi-VN" sz="2000" i="1">
                        <a:latin typeface="Cambria Math" panose="02040503050406030204" pitchFamily="18" charset="0"/>
                      </a:rPr>
                      <m:t>≥</m:t>
                    </m:r>
                    <m:f>
                      <m:fPr>
                        <m:ctrlPr>
                          <a:rPr lang="vi-VN" sz="2000" i="1">
                            <a:latin typeface="Cambria Math" panose="02040503050406030204" pitchFamily="18" charset="0"/>
                          </a:rPr>
                        </m:ctrlPr>
                      </m:fPr>
                      <m:num>
                        <m:sSup>
                          <m:sSupPr>
                            <m:ctrlPr>
                              <a:rPr lang="vi-VN" sz="2000" i="1">
                                <a:latin typeface="Cambria Math" panose="02040503050406030204" pitchFamily="18" charset="0"/>
                              </a:rPr>
                            </m:ctrlPr>
                          </m:sSupPr>
                          <m:e>
                            <m:r>
                              <a:rPr lang="vi-VN" sz="2000" i="1">
                                <a:latin typeface="Cambria Math" panose="02040503050406030204" pitchFamily="18" charset="0"/>
                              </a:rPr>
                              <m:t>𝑉</m:t>
                            </m:r>
                          </m:e>
                          <m:sup>
                            <m:r>
                              <a:rPr lang="vi-VN" sz="2000" i="1">
                                <a:latin typeface="Cambria Math" panose="02040503050406030204" pitchFamily="18" charset="0"/>
                              </a:rPr>
                              <m:t>∗</m:t>
                            </m:r>
                          </m:sup>
                        </m:sSup>
                        <m:sSub>
                          <m:sSubPr>
                            <m:ctrlPr>
                              <a:rPr lang="vi-VN" sz="2000" i="1">
                                <a:latin typeface="Cambria Math" panose="02040503050406030204" pitchFamily="18" charset="0"/>
                              </a:rPr>
                            </m:ctrlPr>
                          </m:sSubPr>
                          <m:e>
                            <m:acc>
                              <m:accPr>
                                <m:chr m:val="̅"/>
                                <m:ctrlPr>
                                  <a:rPr lang="vi-VN" sz="2000" i="1">
                                    <a:latin typeface="Cambria Math" panose="02040503050406030204" pitchFamily="18" charset="0"/>
                                  </a:rPr>
                                </m:ctrlPr>
                              </m:accPr>
                              <m:e>
                                <m:r>
                                  <a:rPr lang="vi-VN" sz="2000" i="1">
                                    <a:latin typeface="Cambria Math" panose="02040503050406030204" pitchFamily="18" charset="0"/>
                                  </a:rPr>
                                  <m:t>𝑄</m:t>
                                </m:r>
                              </m:e>
                            </m:acc>
                          </m:e>
                          <m:sub>
                            <m:r>
                              <a:rPr lang="vi-VN" sz="2000" i="1">
                                <a:latin typeface="Cambria Math" panose="02040503050406030204" pitchFamily="18" charset="0"/>
                              </a:rPr>
                              <m:t>𝑒</m:t>
                            </m:r>
                          </m:sub>
                        </m:sSub>
                      </m:num>
                      <m:den>
                        <m:r>
                          <a:rPr lang="vi-VN" sz="2000" i="1">
                            <a:latin typeface="Cambria Math" panose="02040503050406030204" pitchFamily="18" charset="0"/>
                          </a:rPr>
                          <m:t>2</m:t>
                        </m:r>
                        <m:sSub>
                          <m:sSubPr>
                            <m:ctrlPr>
                              <a:rPr lang="vi-VN" sz="2000" i="1">
                                <a:latin typeface="Cambria Math" panose="02040503050406030204" pitchFamily="18" charset="0"/>
                              </a:rPr>
                            </m:ctrlPr>
                          </m:sSubPr>
                          <m:e>
                            <m:acc>
                              <m:accPr>
                                <m:chr m:val="̅"/>
                                <m:ctrlPr>
                                  <a:rPr lang="vi-VN" sz="2000" i="1">
                                    <a:latin typeface="Cambria Math" panose="02040503050406030204" pitchFamily="18" charset="0"/>
                                  </a:rPr>
                                </m:ctrlPr>
                              </m:accPr>
                              <m:e>
                                <m:r>
                                  <a:rPr lang="vi-VN" sz="2000" i="1">
                                    <a:latin typeface="Cambria Math" panose="02040503050406030204" pitchFamily="18" charset="0"/>
                                  </a:rPr>
                                  <m:t>𝑃</m:t>
                                </m:r>
                              </m:e>
                            </m:acc>
                          </m:e>
                          <m:sub>
                            <m:r>
                              <a:rPr lang="vi-VN" sz="2000" i="1">
                                <a:latin typeface="Cambria Math" panose="02040503050406030204" pitchFamily="18" charset="0"/>
                              </a:rPr>
                              <m:t>𝑒</m:t>
                            </m:r>
                          </m:sub>
                        </m:sSub>
                        <m:sSub>
                          <m:sSubPr>
                            <m:ctrlPr>
                              <a:rPr lang="vi-VN" sz="2000" i="1">
                                <a:latin typeface="Cambria Math" panose="02040503050406030204" pitchFamily="18" charset="0"/>
                              </a:rPr>
                            </m:ctrlPr>
                          </m:sSubPr>
                          <m:e>
                            <m:r>
                              <a:rPr lang="vi-VN" sz="2000" i="1">
                                <a:latin typeface="Cambria Math" panose="02040503050406030204" pitchFamily="18" charset="0"/>
                              </a:rPr>
                              <m:t>𝑉</m:t>
                            </m:r>
                          </m:e>
                          <m:sub>
                            <m:r>
                              <a:rPr lang="vi-VN" sz="2000" i="1">
                                <a:latin typeface="Cambria Math" panose="02040503050406030204" pitchFamily="18" charset="0"/>
                              </a:rPr>
                              <m:t>𝑒</m:t>
                            </m:r>
                          </m:sub>
                        </m:sSub>
                        <m:r>
                          <a:rPr lang="vi-VN" sz="2000" i="1">
                            <a:latin typeface="Cambria Math" panose="02040503050406030204" pitchFamily="18" charset="0"/>
                          </a:rPr>
                          <m:t>∆</m:t>
                        </m:r>
                        <m:sSub>
                          <m:sSubPr>
                            <m:ctrlPr>
                              <a:rPr lang="vi-VN" sz="2000" i="1">
                                <a:latin typeface="Cambria Math" panose="02040503050406030204" pitchFamily="18" charset="0"/>
                              </a:rPr>
                            </m:ctrlPr>
                          </m:sSubPr>
                          <m:e>
                            <m:r>
                              <a:rPr lang="vi-VN" sz="2000" i="1">
                                <a:latin typeface="Cambria Math" panose="02040503050406030204" pitchFamily="18" charset="0"/>
                              </a:rPr>
                              <m:t>𝜔</m:t>
                            </m:r>
                          </m:e>
                          <m:sub>
                            <m:r>
                              <m:rPr>
                                <m:sty m:val="p"/>
                              </m:rPr>
                              <a:rPr lang="vi-VN" sz="2000">
                                <a:latin typeface="Cambria Math" panose="02040503050406030204" pitchFamily="18" charset="0"/>
                              </a:rPr>
                              <m:t>max</m:t>
                            </m:r>
                          </m:sub>
                        </m:sSub>
                      </m:den>
                    </m:f>
                  </m:oMath>
                </a14:m>
                <a:endParaRPr lang="vi-VN" sz="2000"/>
              </a:p>
            </p:txBody>
          </p:sp>
        </mc:Choice>
        <mc:Fallback xmlns="">
          <p:sp>
            <p:nvSpPr>
              <p:cNvPr id="17" name="TextBox 16">
                <a:extLst>
                  <a:ext uri="{FF2B5EF4-FFF2-40B4-BE49-F238E27FC236}">
                    <a16:creationId xmlns:a16="http://schemas.microsoft.com/office/drawing/2014/main" id="{D2580D70-521F-A930-4CB3-ECD36A3036F2}"/>
                  </a:ext>
                </a:extLst>
              </p:cNvPr>
              <p:cNvSpPr txBox="1">
                <a:spLocks noRot="1" noChangeAspect="1" noMove="1" noResize="1" noEditPoints="1" noAdjustHandles="1" noChangeArrowheads="1" noChangeShapeType="1" noTextEdit="1"/>
              </p:cNvSpPr>
              <p:nvPr/>
            </p:nvSpPr>
            <p:spPr>
              <a:xfrm>
                <a:off x="871081" y="4328157"/>
                <a:ext cx="6096000" cy="599138"/>
              </a:xfrm>
              <a:prstGeom prst="rect">
                <a:avLst/>
              </a:prstGeom>
              <a:blipFill>
                <a:blip r:embed="rId4"/>
                <a:stretch>
                  <a:fillRect l="-11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FDA514E-892F-58CB-C001-908EC0FD45D7}"/>
                  </a:ext>
                </a:extLst>
              </p:cNvPr>
              <p:cNvSpPr txBox="1"/>
              <p:nvPr/>
            </p:nvSpPr>
            <p:spPr>
              <a:xfrm>
                <a:off x="799748" y="3500654"/>
                <a:ext cx="855406" cy="369332"/>
              </a:xfrm>
              <a:prstGeom prst="rect">
                <a:avLst/>
              </a:prstGeom>
              <a:noFill/>
            </p:spPr>
            <p:txBody>
              <a:bodyPr wrap="square">
                <a:spAutoFit/>
              </a:bodyPr>
              <a:lstStyle/>
              <a:p>
                <a:pPr/>
                <a14:m>
                  <m:oMathPara xmlns:m="http://schemas.openxmlformats.org/officeDocument/2006/math">
                    <m:oMath>
                      <m:r>
                        <a:rPr lang="vi-VN" smtClean="0">
                          <a:latin typeface="Cambria Math" panose="02040503050406030204" pitchFamily="18" charset="0"/>
                        </a:rPr>
                        <m:t>→</m:t>
                      </m:r>
                    </m:oMath>
                  </m:oMathPara>
                </a14:m>
                <a:endParaRPr lang="vi-VN"/>
              </a:p>
            </p:txBody>
          </p:sp>
        </mc:Choice>
        <mc:Fallback xmlns="">
          <p:sp>
            <p:nvSpPr>
              <p:cNvPr id="19" name="TextBox 18">
                <a:extLst>
                  <a:ext uri="{FF2B5EF4-FFF2-40B4-BE49-F238E27FC236}">
                    <a16:creationId xmlns:a16="http://schemas.microsoft.com/office/drawing/2014/main" id="{8FDA514E-892F-58CB-C001-908EC0FD45D7}"/>
                  </a:ext>
                </a:extLst>
              </p:cNvPr>
              <p:cNvSpPr txBox="1">
                <a:spLocks noRot="1" noChangeAspect="1" noMove="1" noResize="1" noEditPoints="1" noAdjustHandles="1" noChangeArrowheads="1" noChangeShapeType="1" noTextEdit="1"/>
              </p:cNvSpPr>
              <p:nvPr/>
            </p:nvSpPr>
            <p:spPr>
              <a:xfrm>
                <a:off x="799748" y="3500654"/>
                <a:ext cx="855406" cy="369332"/>
              </a:xfrm>
              <a:prstGeom prst="rect">
                <a:avLst/>
              </a:prstGeom>
              <a:blipFill>
                <a:blip r:embed="rId5"/>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34016550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a:extLst>
              <a:ext uri="{FF2B5EF4-FFF2-40B4-BE49-F238E27FC236}">
                <a16:creationId xmlns:a16="http://schemas.microsoft.com/office/drawing/2014/main" id="{638043F5-A63B-6E6D-2ED2-C7D432E08F33}"/>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5A95C8F2-392B-E8C6-762E-B289568CC3E8}"/>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3A6E74FE-EB2A-B906-C051-A50AD37D2BE5}"/>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5" name="TextBox 23">
            <a:extLst>
              <a:ext uri="{FF2B5EF4-FFF2-40B4-BE49-F238E27FC236}">
                <a16:creationId xmlns:a16="http://schemas.microsoft.com/office/drawing/2014/main" id="{8F76BFFD-7757-E5A7-48F5-5FB6E5A11963}"/>
              </a:ext>
            </a:extLst>
          </p:cNvPr>
          <p:cNvSpPr txBox="1"/>
          <p:nvPr/>
        </p:nvSpPr>
        <p:spPr>
          <a:xfrm>
            <a:off x="374948" y="1036129"/>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2.6. </a:t>
            </a:r>
            <a:r>
              <a:rPr lang="vi-VN" sz="2000" b="1">
                <a:solidFill>
                  <a:prstClr val="black"/>
                </a:solidFill>
                <a:latin typeface="Times New Roman" panose="02020603050405020304" pitchFamily="18" charset="0"/>
                <a:cs typeface="Times New Roman" panose="02020603050405020304" pitchFamily="18" charset="0"/>
              </a:rPr>
              <a:t>Tính toán thông số bộ điều khiển VOC</a:t>
            </a:r>
          </a:p>
        </p:txBody>
      </p:sp>
      <mc:AlternateContent xmlns:mc="http://schemas.openxmlformats.org/markup-compatibility/2006" xmlns:a14="http://schemas.microsoft.com/office/drawing/2010/main">
        <mc:Choice Requires="a14">
          <p:sp>
            <p:nvSpPr>
              <p:cNvPr id="6" name="TextBox 10">
                <a:extLst>
                  <a:ext uri="{FF2B5EF4-FFF2-40B4-BE49-F238E27FC236}">
                    <a16:creationId xmlns:a16="http://schemas.microsoft.com/office/drawing/2014/main" id="{381AD149-6D1D-2717-8885-4695F450936D}"/>
                  </a:ext>
                </a:extLst>
              </p:cNvPr>
              <p:cNvSpPr txBox="1"/>
              <p:nvPr/>
            </p:nvSpPr>
            <p:spPr>
              <a:xfrm>
                <a:off x="374948" y="1415592"/>
                <a:ext cx="7935686" cy="369332"/>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2.6.3 </a:t>
                </a:r>
                <a:r>
                  <a:rPr lang="en-US" b="1" err="1">
                    <a:latin typeface="Times New Roman" panose="02020603050405020304" pitchFamily="18" charset="0"/>
                    <a:cs typeface="Times New Roman" panose="02020603050405020304" pitchFamily="18" charset="0"/>
                  </a:rPr>
                  <a:t>Tính</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toán</a:t>
                </a:r>
                <a:r>
                  <a:rPr lang="en-US" b="1">
                    <a:latin typeface="Times New Roman" panose="02020603050405020304" pitchFamily="18" charset="0"/>
                    <a:cs typeface="Times New Roman" panose="02020603050405020304" pitchFamily="18" charset="0"/>
                  </a:rPr>
                  <a:t> </a:t>
                </a:r>
                <a14:m>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cs typeface="Times New Roman" panose="02020603050405020304" pitchFamily="18" charset="0"/>
                          </a:rPr>
                          <m:t>𝒕</m:t>
                        </m:r>
                      </m:e>
                      <m:sub>
                        <m:r>
                          <a:rPr lang="en-US" b="1" i="1" smtClean="0">
                            <a:latin typeface="Cambria Math" panose="02040503050406030204" pitchFamily="18" charset="0"/>
                            <a:cs typeface="Times New Roman" panose="02020603050405020304" pitchFamily="18" charset="0"/>
                          </a:rPr>
                          <m:t>𝒓𝒊𝒔𝒆</m:t>
                        </m:r>
                      </m:sub>
                    </m:sSub>
                  </m:oMath>
                </a14:m>
                <a:r>
                  <a:rPr lang="en-US" b="1">
                    <a:latin typeface="Times New Roman" panose="02020603050405020304" pitchFamily="18" charset="0"/>
                    <a:cs typeface="Times New Roman" panose="02020603050405020304" pitchFamily="18" charset="0"/>
                  </a:rPr>
                  <a:t>.</a:t>
                </a:r>
              </a:p>
            </p:txBody>
          </p:sp>
        </mc:Choice>
        <mc:Fallback xmlns="">
          <p:sp>
            <p:nvSpPr>
              <p:cNvPr id="6" name="TextBox 10">
                <a:extLst>
                  <a:ext uri="{FF2B5EF4-FFF2-40B4-BE49-F238E27FC236}">
                    <a16:creationId xmlns:a16="http://schemas.microsoft.com/office/drawing/2014/main" id="{381AD149-6D1D-2717-8885-4695F450936D}"/>
                  </a:ext>
                </a:extLst>
              </p:cNvPr>
              <p:cNvSpPr txBox="1">
                <a:spLocks noRot="1" noChangeAspect="1" noMove="1" noResize="1" noEditPoints="1" noAdjustHandles="1" noChangeArrowheads="1" noChangeShapeType="1" noTextEdit="1"/>
              </p:cNvSpPr>
              <p:nvPr/>
            </p:nvSpPr>
            <p:spPr>
              <a:xfrm>
                <a:off x="374948" y="1415592"/>
                <a:ext cx="7935686" cy="369332"/>
              </a:xfrm>
              <a:prstGeom prst="rect">
                <a:avLst/>
              </a:prstGeom>
              <a:blipFill>
                <a:blip r:embed="rId2"/>
                <a:stretch>
                  <a:fillRect l="-692" t="-8197" b="-2459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 name="Hộp Văn bản 6">
                <a:extLst>
                  <a:ext uri="{FF2B5EF4-FFF2-40B4-BE49-F238E27FC236}">
                    <a16:creationId xmlns:a16="http://schemas.microsoft.com/office/drawing/2014/main" id="{0B0A7CD2-C72A-6B73-949B-8FD3FC2A022C}"/>
                  </a:ext>
                </a:extLst>
              </p:cNvPr>
              <p:cNvSpPr txBox="1"/>
              <p:nvPr/>
            </p:nvSpPr>
            <p:spPr>
              <a:xfrm>
                <a:off x="374948" y="1772656"/>
                <a:ext cx="7559088" cy="778418"/>
              </a:xfrm>
              <a:prstGeom prst="rect">
                <a:avLst/>
              </a:prstGeom>
              <a:noFill/>
            </p:spPr>
            <p:txBody>
              <a:bodyPr wrap="square">
                <a:spAutoFit/>
              </a:bodyPr>
              <a:lstStyle/>
              <a:p>
                <a:pPr marL="485140" indent="-285750">
                  <a:lnSpc>
                    <a:spcPct val="150000"/>
                  </a:lnSpc>
                  <a:spcBef>
                    <a:spcPts val="1200"/>
                  </a:spcBef>
                  <a:spcAft>
                    <a:spcPts val="25"/>
                  </a:spcAft>
                  <a:buFontTx/>
                  <a:buChar char="-"/>
                </a:pPr>
                <a14:m>
                  <m:oMath xmlns:m="http://schemas.openxmlformats.org/officeDocument/2006/math">
                    <m:r>
                      <m:rPr>
                        <m:sty m:val="p"/>
                      </m:rPr>
                      <a:rPr lang="vi-VN" sz="2000" i="1" kern="100" smtClean="0">
                        <a:solidFill>
                          <a:srgbClr val="000000"/>
                        </a:solidFill>
                        <a:latin typeface="Cambria Math" panose="02040503050406030204" pitchFamily="18" charset="0"/>
                        <a:ea typeface="Times New Roman" panose="02020603050405020304" pitchFamily="18" charset="0"/>
                      </a:rPr>
                      <m:t>T</m:t>
                    </m:r>
                    <m:r>
                      <a:rPr lang="vi-VN" sz="2000" i="1" kern="100" smtClean="0">
                        <a:solidFill>
                          <a:srgbClr val="000000"/>
                        </a:solidFill>
                        <a:latin typeface="Cambria Math" panose="02040503050406030204" pitchFamily="18" charset="0"/>
                        <a:ea typeface="Times New Roman" panose="02020603050405020304" pitchFamily="18" charset="0"/>
                      </a:rPr>
                      <m:t>ừ </m:t>
                    </m:r>
                    <m:d>
                      <m:dPr>
                        <m:ctrlPr>
                          <a:rPr lang="vi-VN" sz="2000" i="1" kern="100">
                            <a:solidFill>
                              <a:srgbClr val="000000"/>
                            </a:solidFill>
                            <a:latin typeface="Cambria Math" panose="02040503050406030204" pitchFamily="18" charset="0"/>
                            <a:ea typeface="Times New Roman" panose="02020603050405020304" pitchFamily="18" charset="0"/>
                          </a:rPr>
                        </m:ctrlPr>
                      </m:dPr>
                      <m:e>
                        <m:r>
                          <a:rPr lang="vi-VN" sz="2000" i="1" kern="100">
                            <a:solidFill>
                              <a:srgbClr val="000000"/>
                            </a:solidFill>
                            <a:latin typeface="Cambria Math" panose="02040503050406030204" pitchFamily="18" charset="0"/>
                            <a:ea typeface="Times New Roman" panose="02020603050405020304" pitchFamily="18" charset="0"/>
                          </a:rPr>
                          <m:t>13</m:t>
                        </m:r>
                      </m:e>
                    </m:d>
                    <m:r>
                      <a:rPr lang="vi-VN" sz="2000" b="0" i="1" kern="100" smtClean="0">
                        <a:solidFill>
                          <a:srgbClr val="000000"/>
                        </a:solidFill>
                        <a:latin typeface="Cambria Math" panose="02040503050406030204" pitchFamily="18" charset="0"/>
                        <a:ea typeface="Times New Roman" panose="02020603050405020304" pitchFamily="18" charset="0"/>
                      </a:rPr>
                      <m:t>:</m:t>
                    </m:r>
                    <m:sSub>
                      <m:sSubPr>
                        <m:ctrlPr>
                          <a:rPr lang="vi-VN" sz="2000" i="1" kern="100">
                            <a:solidFill>
                              <a:srgbClr val="000000"/>
                            </a:solidFill>
                            <a:effectLst/>
                            <a:latin typeface="Cambria Math" panose="02040503050406030204" pitchFamily="18" charset="0"/>
                            <a:ea typeface="Times New Roman" panose="02020603050405020304" pitchFamily="18" charset="0"/>
                          </a:rPr>
                        </m:ctrlPr>
                      </m:sSubPr>
                      <m:e>
                        <m:r>
                          <a:rPr lang="vi-VN" sz="2000" i="1" kern="100">
                            <a:solidFill>
                              <a:srgbClr val="000000"/>
                            </a:solidFill>
                            <a:effectLst/>
                            <a:latin typeface="Cambria Math" panose="02040503050406030204" pitchFamily="18" charset="0"/>
                            <a:ea typeface="Times New Roman" panose="02020603050405020304" pitchFamily="18" charset="0"/>
                          </a:rPr>
                          <m:t>𝑡</m:t>
                        </m:r>
                      </m:e>
                      <m:sub>
                        <m:r>
                          <a:rPr lang="vi-VN" sz="2000" i="1" kern="100">
                            <a:solidFill>
                              <a:srgbClr val="000000"/>
                            </a:solidFill>
                            <a:effectLst/>
                            <a:latin typeface="Cambria Math" panose="02040503050406030204" pitchFamily="18" charset="0"/>
                            <a:ea typeface="Times New Roman" panose="02020603050405020304" pitchFamily="18" charset="0"/>
                          </a:rPr>
                          <m:t>𝑟𝑖𝑠𝑒</m:t>
                        </m:r>
                      </m:sub>
                    </m:sSub>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6,045</m:t>
                        </m:r>
                      </m:num>
                      <m:den>
                        <m:r>
                          <a:rPr lang="vi-VN" sz="2000" i="1" kern="100">
                            <a:solidFill>
                              <a:srgbClr val="000000"/>
                            </a:solidFill>
                            <a:effectLst/>
                            <a:latin typeface="Cambria Math" panose="02040503050406030204" pitchFamily="18" charset="0"/>
                            <a:ea typeface="Times New Roman" panose="02020603050405020304" pitchFamily="18" charset="0"/>
                          </a:rPr>
                          <m:t>𝜇</m:t>
                        </m:r>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r>
                                  <a:rPr lang="vi-VN" sz="2000" i="1" kern="100">
                                    <a:solidFill>
                                      <a:srgbClr val="000000"/>
                                    </a:solidFill>
                                    <a:effectLst/>
                                    <a:latin typeface="Cambria Math" panose="02040503050406030204" pitchFamily="18" charset="0"/>
                                    <a:ea typeface="Times New Roman" panose="02020603050405020304" pitchFamily="18" charset="0"/>
                                  </a:rPr>
                                  <m:t>𝑉</m:t>
                                </m:r>
                              </m:e>
                              <m:sup>
                                <m:r>
                                  <a:rPr lang="vi-VN" sz="2000" i="1" kern="100">
                                    <a:solidFill>
                                      <a:srgbClr val="000000"/>
                                    </a:solidFill>
                                    <a:effectLst/>
                                    <a:latin typeface="Cambria Math" panose="02040503050406030204" pitchFamily="18" charset="0"/>
                                    <a:ea typeface="Times New Roman" panose="02020603050405020304" pitchFamily="18" charset="0"/>
                                  </a:rPr>
                                  <m:t>∗</m:t>
                                </m:r>
                              </m:sup>
                            </m:sSup>
                          </m:e>
                          <m:sup>
                            <m:r>
                              <a:rPr lang="vi-VN" sz="2000" i="1" kern="100">
                                <a:solidFill>
                                  <a:srgbClr val="000000"/>
                                </a:solidFill>
                                <a:effectLst/>
                                <a:latin typeface="Cambria Math" panose="02040503050406030204" pitchFamily="18" charset="0"/>
                                <a:ea typeface="Times New Roman" panose="02020603050405020304" pitchFamily="18" charset="0"/>
                              </a:rPr>
                              <m:t>2</m:t>
                            </m:r>
                          </m:sup>
                        </m:sSup>
                      </m:den>
                    </m:f>
                    <m:r>
                      <a:rPr lang="vi-VN" sz="2000" b="0" i="1" kern="100" smtClean="0">
                        <a:solidFill>
                          <a:srgbClr val="000000"/>
                        </a:solidFill>
                        <a:effectLst/>
                        <a:latin typeface="Cambria Math" panose="02040503050406030204" pitchFamily="18" charset="0"/>
                        <a:ea typeface="Times New Roman" panose="02020603050405020304" pitchFamily="18" charset="0"/>
                      </a:rPr>
                      <m:t>. </m:t>
                    </m:r>
                  </m:oMath>
                </a14:m>
                <a:r>
                  <a:rPr lang="vi-VN" sz="2000" kern="100">
                    <a:solidFill>
                      <a:srgbClr val="000000"/>
                    </a:solidFill>
                    <a:effectLst/>
                    <a:latin typeface="Times New Roman" panose="02020603050405020304" pitchFamily="18" charset="0"/>
                    <a:ea typeface="Times New Roman" panose="02020603050405020304" pitchFamily="18" charset="0"/>
                  </a:rPr>
                  <a:t>Mặt khác: </a:t>
                </a:r>
                <a14:m>
                  <m:oMath xmlns:m="http://schemas.openxmlformats.org/officeDocument/2006/math">
                    <m:r>
                      <a:rPr lang="vi-VN" sz="2000" i="1">
                        <a:latin typeface="Cambria Math" panose="02040503050406030204" pitchFamily="18" charset="0"/>
                      </a:rPr>
                      <m:t> </m:t>
                    </m:r>
                    <m:r>
                      <a:rPr lang="vi-VN" sz="2000" i="1">
                        <a:latin typeface="Cambria Math" panose="02040503050406030204" pitchFamily="18" charset="0"/>
                      </a:rPr>
                      <m:t>𝜇</m:t>
                    </m:r>
                    <m:r>
                      <a:rPr lang="vi-VN" sz="2000" i="1">
                        <a:latin typeface="Cambria Math" panose="02040503050406030204" pitchFamily="18" charset="0"/>
                      </a:rPr>
                      <m:t>=</m:t>
                    </m:r>
                    <m:f>
                      <m:fPr>
                        <m:ctrlPr>
                          <a:rPr lang="vi-VN" sz="2000" i="1">
                            <a:latin typeface="Cambria Math" panose="02040503050406030204" pitchFamily="18" charset="0"/>
                          </a:rPr>
                        </m:ctrlPr>
                      </m:fPr>
                      <m:num>
                        <m:r>
                          <a:rPr lang="vi-VN" sz="2000" i="1">
                            <a:latin typeface="Cambria Math" panose="02040503050406030204" pitchFamily="18" charset="0"/>
                          </a:rPr>
                          <m:t>𝜉</m:t>
                        </m:r>
                      </m:num>
                      <m:den>
                        <m:sSubSup>
                          <m:sSubSupPr>
                            <m:ctrlPr>
                              <a:rPr lang="vi-VN" sz="2000" i="1">
                                <a:latin typeface="Cambria Math" panose="02040503050406030204" pitchFamily="18" charset="0"/>
                              </a:rPr>
                            </m:ctrlPr>
                          </m:sSubSupPr>
                          <m:e>
                            <m:r>
                              <a:rPr lang="vi-VN" sz="2000" i="1">
                                <a:latin typeface="Cambria Math" panose="02040503050406030204" pitchFamily="18" charset="0"/>
                              </a:rPr>
                              <m:t>𝑘</m:t>
                            </m:r>
                          </m:e>
                          <m:sub>
                            <m:r>
                              <a:rPr lang="vi-VN" sz="2000" i="1">
                                <a:latin typeface="Cambria Math" panose="02040503050406030204" pitchFamily="18" charset="0"/>
                              </a:rPr>
                              <m:t>𝑣</m:t>
                            </m:r>
                          </m:sub>
                          <m:sup>
                            <m:r>
                              <a:rPr lang="vi-VN" sz="2000" i="1">
                                <a:latin typeface="Cambria Math" panose="02040503050406030204" pitchFamily="18" charset="0"/>
                              </a:rPr>
                              <m:t>2</m:t>
                            </m:r>
                          </m:sup>
                        </m:sSubSup>
                      </m:den>
                    </m:f>
                  </m:oMath>
                </a14:m>
                <a:r>
                  <a:rPr lang="vi-VN" sz="2000"/>
                  <a:t> và </a:t>
                </a:r>
                <a14:m>
                  <m:oMath xmlns:m="http://schemas.openxmlformats.org/officeDocument/2006/math">
                    <m:r>
                      <a:rPr lang="vi-VN" sz="2000" i="1">
                        <a:latin typeface="Cambria Math" panose="02040503050406030204" pitchFamily="18" charset="0"/>
                      </a:rPr>
                      <m:t> </m:t>
                    </m:r>
                    <m:r>
                      <a:rPr lang="vi-VN" sz="2000" i="1">
                        <a:latin typeface="Cambria Math" panose="02040503050406030204" pitchFamily="18" charset="0"/>
                      </a:rPr>
                      <m:t>𝜉</m:t>
                    </m:r>
                    <m:r>
                      <a:rPr lang="vi-VN" sz="2000" i="1">
                        <a:latin typeface="Cambria Math" panose="02040503050406030204" pitchFamily="18" charset="0"/>
                      </a:rPr>
                      <m:t>=</m:t>
                    </m:r>
                    <m:f>
                      <m:fPr>
                        <m:ctrlPr>
                          <a:rPr lang="vi-VN" sz="2000" i="1">
                            <a:latin typeface="Cambria Math" panose="02040503050406030204" pitchFamily="18" charset="0"/>
                          </a:rPr>
                        </m:ctrlPr>
                      </m:fPr>
                      <m:num>
                        <m:r>
                          <a:rPr lang="vi-VN" sz="2000" i="1">
                            <a:latin typeface="Cambria Math" panose="02040503050406030204" pitchFamily="18" charset="0"/>
                          </a:rPr>
                          <m:t>𝛼</m:t>
                        </m:r>
                      </m:num>
                      <m:den>
                        <m:r>
                          <a:rPr lang="vi-VN" sz="2000" i="1">
                            <a:latin typeface="Cambria Math" panose="02040503050406030204" pitchFamily="18" charset="0"/>
                          </a:rPr>
                          <m:t>𝐶</m:t>
                        </m:r>
                      </m:den>
                    </m:f>
                  </m:oMath>
                </a14:m>
                <a:endParaRPr lang="vi-VN" sz="2000"/>
              </a:p>
            </p:txBody>
          </p:sp>
        </mc:Choice>
        <mc:Fallback xmlns="">
          <p:sp>
            <p:nvSpPr>
              <p:cNvPr id="7" name="Hộp Văn bản 6">
                <a:extLst>
                  <a:ext uri="{FF2B5EF4-FFF2-40B4-BE49-F238E27FC236}">
                    <a16:creationId xmlns:a16="http://schemas.microsoft.com/office/drawing/2014/main" id="{0B0A7CD2-C72A-6B73-949B-8FD3FC2A022C}"/>
                  </a:ext>
                </a:extLst>
              </p:cNvPr>
              <p:cNvSpPr txBox="1">
                <a:spLocks noRot="1" noChangeAspect="1" noMove="1" noResize="1" noEditPoints="1" noAdjustHandles="1" noChangeArrowheads="1" noChangeShapeType="1" noTextEdit="1"/>
              </p:cNvSpPr>
              <p:nvPr/>
            </p:nvSpPr>
            <p:spPr>
              <a:xfrm>
                <a:off x="374948" y="1772656"/>
                <a:ext cx="7559088" cy="77841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EC9C77D-9355-B217-759D-E05A099E2CB9}"/>
                  </a:ext>
                </a:extLst>
              </p:cNvPr>
              <p:cNvSpPr txBox="1"/>
              <p:nvPr/>
            </p:nvSpPr>
            <p:spPr>
              <a:xfrm>
                <a:off x="871081" y="3906308"/>
                <a:ext cx="6096000" cy="704424"/>
              </a:xfrm>
              <a:prstGeom prst="rect">
                <a:avLst/>
              </a:prstGeom>
              <a:noFill/>
            </p:spPr>
            <p:txBody>
              <a:bodyPr wrap="square">
                <a:spAutoFit/>
              </a:bodyPr>
              <a:lstStyle/>
              <a:p>
                <a:pPr marL="656590" lvl="1">
                  <a:lnSpc>
                    <a:spcPct val="150000"/>
                  </a:lnSpc>
                  <a:spcBef>
                    <a:spcPts val="1200"/>
                  </a:spcBef>
                  <a:spcAft>
                    <a:spcPts val="25"/>
                  </a:spcAft>
                </a:pPr>
                <a14:m>
                  <m:oMath xmlns:m="http://schemas.openxmlformats.org/officeDocument/2006/math">
                    <m:r>
                      <a:rPr lang="vi-VN" sz="2000" i="1" smtClean="0">
                        <a:latin typeface="Cambria Math" panose="02040503050406030204" pitchFamily="18" charset="0"/>
                        <a:ea typeface="Cambria Math" panose="02040503050406030204" pitchFamily="18" charset="0"/>
                      </a:rPr>
                      <m:t>⇒ </m:t>
                    </m:r>
                    <m:sSub>
                      <m:sSubPr>
                        <m:ctrlPr>
                          <a:rPr lang="vi-VN" sz="2000" i="1">
                            <a:latin typeface="Cambria Math" panose="02040503050406030204" pitchFamily="18" charset="0"/>
                          </a:rPr>
                        </m:ctrlPr>
                      </m:sSubPr>
                      <m:e>
                        <m:r>
                          <a:rPr lang="vi-VN" sz="2000" i="1">
                            <a:latin typeface="Cambria Math" panose="02040503050406030204" pitchFamily="18" charset="0"/>
                          </a:rPr>
                          <m:t>𝑡</m:t>
                        </m:r>
                      </m:e>
                      <m:sub>
                        <m:r>
                          <a:rPr lang="vi-VN" sz="2000" i="1">
                            <a:latin typeface="Cambria Math" panose="02040503050406030204" pitchFamily="18" charset="0"/>
                          </a:rPr>
                          <m:t>𝑟𝑖𝑠𝑒</m:t>
                        </m:r>
                      </m:sub>
                    </m:sSub>
                    <m:r>
                      <a:rPr lang="vi-VN" sz="2000" i="1">
                        <a:latin typeface="Cambria Math" panose="02040503050406030204" pitchFamily="18" charset="0"/>
                      </a:rPr>
                      <m:t>=</m:t>
                    </m:r>
                    <m:f>
                      <m:fPr>
                        <m:ctrlPr>
                          <a:rPr lang="vi-VN" sz="2000" i="1">
                            <a:latin typeface="Cambria Math" panose="02040503050406030204" pitchFamily="18" charset="0"/>
                          </a:rPr>
                        </m:ctrlPr>
                      </m:fPr>
                      <m:num>
                        <m:r>
                          <a:rPr lang="vi-VN" sz="2000" i="1">
                            <a:latin typeface="Cambria Math" panose="02040503050406030204" pitchFamily="18" charset="0"/>
                          </a:rPr>
                          <m:t>3</m:t>
                        </m:r>
                        <m:r>
                          <m:rPr>
                            <m:sty m:val="p"/>
                          </m:rPr>
                          <a:rPr lang="vi-VN" sz="2000" i="1">
                            <a:latin typeface="Cambria Math" panose="02040503050406030204" pitchFamily="18" charset="0"/>
                          </a:rPr>
                          <m:t>C</m:t>
                        </m:r>
                      </m:num>
                      <m:den>
                        <m:r>
                          <a:rPr lang="vi-VN" sz="2000" i="1">
                            <a:latin typeface="Cambria Math" panose="02040503050406030204" pitchFamily="18" charset="0"/>
                          </a:rPr>
                          <m:t>𝛼</m:t>
                        </m:r>
                      </m:den>
                    </m:f>
                  </m:oMath>
                </a14:m>
                <a:r>
                  <a:rPr lang="vi-VN" sz="2000"/>
                  <a:t> </a:t>
                </a:r>
                <a14:m>
                  <m:oMath xmlns:m="http://schemas.openxmlformats.org/officeDocument/2006/math">
                    <m:r>
                      <a:rPr lang="vi-VN" sz="2000" b="0" i="1" smtClean="0">
                        <a:latin typeface="Cambria Math" panose="02040503050406030204" pitchFamily="18" charset="0"/>
                      </a:rPr>
                      <m:t>≤</m:t>
                    </m:r>
                  </m:oMath>
                </a14:m>
                <a:r>
                  <a:rPr lang="vi-VN" sz="2000"/>
                  <a:t> </a:t>
                </a:r>
                <a14:m>
                  <m:oMath xmlns:m="http://schemas.openxmlformats.org/officeDocument/2006/math">
                    <m:sSub>
                      <m:sSubPr>
                        <m:ctrlPr>
                          <a:rPr lang="vi-VN" sz="2000" i="1">
                            <a:latin typeface="Cambria Math" panose="02040503050406030204" pitchFamily="18" charset="0"/>
                          </a:rPr>
                        </m:ctrlPr>
                      </m:sSubPr>
                      <m:e>
                        <m:r>
                          <a:rPr lang="vi-VN" sz="2000" i="1">
                            <a:latin typeface="Cambria Math" panose="02040503050406030204" pitchFamily="18" charset="0"/>
                          </a:rPr>
                          <m:t>𝑡</m:t>
                        </m:r>
                      </m:e>
                      <m:sub>
                        <m:r>
                          <a:rPr lang="vi-VN" sz="2000" i="1">
                            <a:latin typeface="Cambria Math" panose="02040503050406030204" pitchFamily="18" charset="0"/>
                          </a:rPr>
                          <m:t>𝑟𝑖𝑠𝑒</m:t>
                        </m:r>
                        <m:r>
                          <a:rPr lang="vi-VN" sz="2000" b="0" i="1" smtClean="0">
                            <a:latin typeface="Cambria Math" panose="02040503050406030204" pitchFamily="18" charset="0"/>
                          </a:rPr>
                          <m:t>_</m:t>
                        </m:r>
                        <m:r>
                          <m:rPr>
                            <m:sty m:val="p"/>
                          </m:rPr>
                          <a:rPr lang="vi-VN" sz="2000" i="1">
                            <a:latin typeface="Cambria Math" panose="02040503050406030204" pitchFamily="18" charset="0"/>
                          </a:rPr>
                          <m:t>max</m:t>
                        </m:r>
                      </m:sub>
                    </m:sSub>
                  </m:oMath>
                </a14:m>
                <a:r>
                  <a:rPr lang="vi-VN" sz="2000"/>
                  <a:t> </a:t>
                </a:r>
                <a14:m>
                  <m:oMath xmlns:m="http://schemas.openxmlformats.org/officeDocument/2006/math">
                    <m:r>
                      <a:rPr lang="vi-VN" sz="2000" i="1" smtClean="0">
                        <a:latin typeface="Cambria Math" panose="02040503050406030204" pitchFamily="18" charset="0"/>
                        <a:ea typeface="Cambria Math" panose="02040503050406030204" pitchFamily="18" charset="0"/>
                      </a:rPr>
                      <m:t>⇒</m:t>
                    </m:r>
                    <m:r>
                      <a:rPr lang="vi-VN" sz="2000" i="1">
                        <a:latin typeface="Cambria Math" panose="02040503050406030204" pitchFamily="18" charset="0"/>
                      </a:rPr>
                      <m:t>𝐶</m:t>
                    </m:r>
                    <m:r>
                      <a:rPr lang="vi-VN" sz="2000" i="1">
                        <a:latin typeface="Cambria Math" panose="02040503050406030204" pitchFamily="18" charset="0"/>
                      </a:rPr>
                      <m:t>≤</m:t>
                    </m:r>
                    <m:f>
                      <m:fPr>
                        <m:ctrlPr>
                          <a:rPr lang="vi-VN" sz="2000" i="1">
                            <a:latin typeface="Cambria Math" panose="02040503050406030204" pitchFamily="18" charset="0"/>
                          </a:rPr>
                        </m:ctrlPr>
                      </m:fPr>
                      <m:num>
                        <m:r>
                          <a:rPr lang="vi-VN" sz="2000" i="1">
                            <a:latin typeface="Cambria Math" panose="02040503050406030204" pitchFamily="18" charset="0"/>
                          </a:rPr>
                          <m:t>𝛼</m:t>
                        </m:r>
                        <m:sSub>
                          <m:sSubPr>
                            <m:ctrlPr>
                              <a:rPr lang="vi-VN" sz="2000" i="1">
                                <a:latin typeface="Cambria Math" panose="02040503050406030204" pitchFamily="18" charset="0"/>
                              </a:rPr>
                            </m:ctrlPr>
                          </m:sSubPr>
                          <m:e>
                            <m:r>
                              <a:rPr lang="vi-VN" sz="2000" i="1">
                                <a:latin typeface="Cambria Math" panose="02040503050406030204" pitchFamily="18" charset="0"/>
                              </a:rPr>
                              <m:t>𝑡</m:t>
                            </m:r>
                          </m:e>
                          <m:sub>
                            <m:r>
                              <a:rPr lang="vi-VN" sz="2000" i="1">
                                <a:latin typeface="Cambria Math" panose="02040503050406030204" pitchFamily="18" charset="0"/>
                              </a:rPr>
                              <m:t>𝑟𝑖𝑠𝑒</m:t>
                            </m:r>
                            <m:r>
                              <a:rPr lang="vi-VN" sz="2000" i="1">
                                <a:latin typeface="Cambria Math" panose="02040503050406030204" pitchFamily="18" charset="0"/>
                              </a:rPr>
                              <m:t> </m:t>
                            </m:r>
                            <m:r>
                              <a:rPr lang="vi-VN" sz="2000" i="1">
                                <a:latin typeface="Cambria Math" panose="02040503050406030204" pitchFamily="18" charset="0"/>
                              </a:rPr>
                              <m:t>𝑚𝑎𝑥</m:t>
                            </m:r>
                          </m:sub>
                        </m:sSub>
                      </m:num>
                      <m:den>
                        <m:r>
                          <a:rPr lang="vi-VN" sz="2000" i="1">
                            <a:latin typeface="Cambria Math" panose="02040503050406030204" pitchFamily="18" charset="0"/>
                          </a:rPr>
                          <m:t>3</m:t>
                        </m:r>
                      </m:den>
                    </m:f>
                  </m:oMath>
                </a14:m>
                <a:endParaRPr lang="vi-VN" sz="2000"/>
              </a:p>
            </p:txBody>
          </p:sp>
        </mc:Choice>
        <mc:Fallback xmlns="">
          <p:sp>
            <p:nvSpPr>
              <p:cNvPr id="9" name="TextBox 8">
                <a:extLst>
                  <a:ext uri="{FF2B5EF4-FFF2-40B4-BE49-F238E27FC236}">
                    <a16:creationId xmlns:a16="http://schemas.microsoft.com/office/drawing/2014/main" id="{CEC9C77D-9355-B217-759D-E05A099E2CB9}"/>
                  </a:ext>
                </a:extLst>
              </p:cNvPr>
              <p:cNvSpPr txBox="1">
                <a:spLocks noRot="1" noChangeAspect="1" noMove="1" noResize="1" noEditPoints="1" noAdjustHandles="1" noChangeArrowheads="1" noChangeShapeType="1" noTextEdit="1"/>
              </p:cNvSpPr>
              <p:nvPr/>
            </p:nvSpPr>
            <p:spPr>
              <a:xfrm>
                <a:off x="871081" y="3906308"/>
                <a:ext cx="6096000" cy="704424"/>
              </a:xfrm>
              <a:prstGeom prst="rect">
                <a:avLst/>
              </a:prstGeom>
              <a:blipFill>
                <a:blip r:embed="rId4"/>
                <a:stretch>
                  <a:fillRect b="-521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7E29B02-4AE0-9EC1-796F-7C50E3513870}"/>
                  </a:ext>
                </a:extLst>
              </p:cNvPr>
              <p:cNvSpPr txBox="1"/>
              <p:nvPr/>
            </p:nvSpPr>
            <p:spPr>
              <a:xfrm>
                <a:off x="-108155" y="2667559"/>
                <a:ext cx="6096000" cy="1192762"/>
              </a:xfrm>
              <a:prstGeom prst="rect">
                <a:avLst/>
              </a:prstGeom>
              <a:noFill/>
            </p:spPr>
            <p:txBody>
              <a:bodyPr wrap="square">
                <a:spAutoFit/>
              </a:bodyPr>
              <a:lstStyle/>
              <a:p>
                <a:pPr/>
                <a14:m>
                  <m:oMathPara xmlns:m="http://schemas.openxmlformats.org/officeDocument/2006/math">
                    <m:oMath>
                      <m:r>
                        <a:rPr lang="vi-VN" sz="2000" smtClean="0">
                          <a:latin typeface="Cambria Math" panose="02040503050406030204" pitchFamily="18" charset="0"/>
                        </a:rPr>
                        <m:t>⇒</m:t>
                      </m:r>
                      <m:sSub>
                        <m:sSubPr>
                          <m:ctrlPr>
                            <a:rPr lang="vi-VN" sz="2000" i="1">
                              <a:latin typeface="Cambria Math" panose="02040503050406030204" pitchFamily="18" charset="0"/>
                            </a:rPr>
                          </m:ctrlPr>
                        </m:sSubPr>
                        <m:e>
                          <m:r>
                            <a:rPr lang="vi-VN" sz="2000" i="1">
                              <a:latin typeface="Cambria Math" panose="02040503050406030204" pitchFamily="18" charset="0"/>
                            </a:rPr>
                            <m:t>𝑡</m:t>
                          </m:r>
                        </m:e>
                        <m:sub>
                          <m:r>
                            <a:rPr lang="vi-VN" sz="2000" i="1">
                              <a:latin typeface="Cambria Math" panose="02040503050406030204" pitchFamily="18" charset="0"/>
                            </a:rPr>
                            <m:t>𝑟𝑖𝑠𝑒</m:t>
                          </m:r>
                        </m:sub>
                      </m:sSub>
                      <m:r>
                        <a:rPr lang="vi-VN" sz="2000" i="0">
                          <a:latin typeface="Cambria Math" panose="02040503050406030204" pitchFamily="18" charset="0"/>
                        </a:rPr>
                        <m:t>=</m:t>
                      </m:r>
                      <m:f>
                        <m:fPr>
                          <m:ctrlPr>
                            <a:rPr lang="vi-VN" sz="2000" i="0">
                              <a:latin typeface="Cambria Math" panose="02040503050406030204" pitchFamily="18" charset="0"/>
                            </a:rPr>
                          </m:ctrlPr>
                        </m:fPr>
                        <m:num>
                          <m:r>
                            <a:rPr lang="vi-VN" sz="2000" i="0">
                              <a:latin typeface="Cambria Math" panose="02040503050406030204" pitchFamily="18" charset="0"/>
                            </a:rPr>
                            <m:t>6,045</m:t>
                          </m:r>
                        </m:num>
                        <m:den>
                          <m:f>
                            <m:fPr>
                              <m:ctrlPr>
                                <a:rPr lang="vi-VN" sz="2000" i="1">
                                  <a:solidFill>
                                    <a:srgbClr val="836967"/>
                                  </a:solidFill>
                                  <a:latin typeface="Cambria Math" panose="02040503050406030204" pitchFamily="18" charset="0"/>
                                </a:rPr>
                              </m:ctrlPr>
                            </m:fPr>
                            <m:num>
                              <m:f>
                                <m:fPr>
                                  <m:ctrlPr>
                                    <a:rPr lang="vi-VN" sz="2000" i="1">
                                      <a:latin typeface="Cambria Math" panose="02040503050406030204" pitchFamily="18" charset="0"/>
                                    </a:rPr>
                                  </m:ctrlPr>
                                </m:fPr>
                                <m:num>
                                  <m:r>
                                    <a:rPr lang="vi-VN" sz="2000" i="1">
                                      <a:latin typeface="Cambria Math" panose="02040503050406030204" pitchFamily="18" charset="0"/>
                                    </a:rPr>
                                    <m:t>𝛼</m:t>
                                  </m:r>
                                </m:num>
                                <m:den>
                                  <m:r>
                                    <a:rPr lang="vi-VN" sz="2000" i="1">
                                      <a:latin typeface="Cambria Math" panose="02040503050406030204" pitchFamily="18" charset="0"/>
                                    </a:rPr>
                                    <m:t>𝐶</m:t>
                                  </m:r>
                                </m:den>
                              </m:f>
                            </m:num>
                            <m:den>
                              <m:sSubSup>
                                <m:sSubSupPr>
                                  <m:ctrlPr>
                                    <a:rPr lang="vi-VN" sz="2000" i="1">
                                      <a:latin typeface="Cambria Math" panose="02040503050406030204" pitchFamily="18" charset="0"/>
                                    </a:rPr>
                                  </m:ctrlPr>
                                </m:sSubSupPr>
                                <m:e>
                                  <m:r>
                                    <a:rPr lang="vi-VN" sz="2000" i="1">
                                      <a:latin typeface="Cambria Math" panose="02040503050406030204" pitchFamily="18" charset="0"/>
                                    </a:rPr>
                                    <m:t>𝑘</m:t>
                                  </m:r>
                                </m:e>
                                <m:sub>
                                  <m:r>
                                    <a:rPr lang="vi-VN" sz="2000" i="1">
                                      <a:latin typeface="Cambria Math" panose="02040503050406030204" pitchFamily="18" charset="0"/>
                                    </a:rPr>
                                    <m:t>𝑣</m:t>
                                  </m:r>
                                </m:sub>
                                <m:sup>
                                  <m:r>
                                    <a:rPr lang="vi-VN" sz="2000" i="0">
                                      <a:latin typeface="Cambria Math" panose="02040503050406030204" pitchFamily="18" charset="0"/>
                                    </a:rPr>
                                    <m:t>2</m:t>
                                  </m:r>
                                </m:sup>
                              </m:sSubSup>
                            </m:den>
                          </m:f>
                          <m:r>
                            <a:rPr lang="vi-VN" sz="2000" i="0">
                              <a:latin typeface="Cambria Math" panose="02040503050406030204" pitchFamily="18" charset="0"/>
                            </a:rPr>
                            <m:t>.2</m:t>
                          </m:r>
                          <m:sSubSup>
                            <m:sSubSupPr>
                              <m:ctrlPr>
                                <a:rPr lang="vi-VN" sz="2000" i="1">
                                  <a:latin typeface="Cambria Math" panose="02040503050406030204" pitchFamily="18" charset="0"/>
                                </a:rPr>
                              </m:ctrlPr>
                            </m:sSubSupPr>
                            <m:e>
                              <m:r>
                                <a:rPr lang="vi-VN" sz="2000" i="1">
                                  <a:latin typeface="Cambria Math" panose="02040503050406030204" pitchFamily="18" charset="0"/>
                                </a:rPr>
                                <m:t>𝑘</m:t>
                              </m:r>
                            </m:e>
                            <m:sub>
                              <m:r>
                                <a:rPr lang="vi-VN" sz="2000" i="1">
                                  <a:latin typeface="Cambria Math" panose="02040503050406030204" pitchFamily="18" charset="0"/>
                                </a:rPr>
                                <m:t>𝑣</m:t>
                              </m:r>
                            </m:sub>
                            <m:sup>
                              <m:r>
                                <a:rPr lang="vi-VN" sz="2000" i="0">
                                  <a:latin typeface="Cambria Math" panose="02040503050406030204" pitchFamily="18" charset="0"/>
                                </a:rPr>
                                <m:t>2</m:t>
                              </m:r>
                            </m:sup>
                          </m:sSubSup>
                        </m:den>
                      </m:f>
                      <m:r>
                        <a:rPr lang="vi-VN" sz="2000" i="0">
                          <a:latin typeface="Cambria Math" panose="02040503050406030204" pitchFamily="18" charset="0"/>
                        </a:rPr>
                        <m:t>=</m:t>
                      </m:r>
                      <m:f>
                        <m:fPr>
                          <m:ctrlPr>
                            <a:rPr lang="vi-VN" sz="2000" i="0">
                              <a:latin typeface="Cambria Math" panose="02040503050406030204" pitchFamily="18" charset="0"/>
                            </a:rPr>
                          </m:ctrlPr>
                        </m:fPr>
                        <m:num>
                          <m:r>
                            <a:rPr lang="vi-VN" sz="2000" i="0">
                              <a:latin typeface="Cambria Math" panose="02040503050406030204" pitchFamily="18" charset="0"/>
                            </a:rPr>
                            <m:t>6,045</m:t>
                          </m:r>
                        </m:num>
                        <m:den>
                          <m:f>
                            <m:fPr>
                              <m:ctrlPr>
                                <a:rPr lang="vi-VN" sz="2000" i="0">
                                  <a:latin typeface="Cambria Math" panose="02040503050406030204" pitchFamily="18" charset="0"/>
                                </a:rPr>
                              </m:ctrlPr>
                            </m:fPr>
                            <m:num>
                              <m:r>
                                <a:rPr lang="vi-VN" sz="2000" i="0">
                                  <a:latin typeface="Cambria Math" panose="02040503050406030204" pitchFamily="18" charset="0"/>
                                </a:rPr>
                                <m:t>2</m:t>
                              </m:r>
                              <m:r>
                                <a:rPr lang="vi-VN" sz="2000" i="1">
                                  <a:latin typeface="Cambria Math" panose="02040503050406030204" pitchFamily="18" charset="0"/>
                                </a:rPr>
                                <m:t>𝛼</m:t>
                              </m:r>
                            </m:num>
                            <m:den>
                              <m:r>
                                <a:rPr lang="vi-VN" sz="2000" i="1">
                                  <a:latin typeface="Cambria Math" panose="02040503050406030204" pitchFamily="18" charset="0"/>
                                </a:rPr>
                                <m:t>𝐶</m:t>
                              </m:r>
                            </m:den>
                          </m:f>
                        </m:den>
                      </m:f>
                    </m:oMath>
                  </m:oMathPara>
                </a14:m>
                <a:endParaRPr lang="vi-VN" sz="2000"/>
              </a:p>
            </p:txBody>
          </p:sp>
        </mc:Choice>
        <mc:Fallback xmlns="">
          <p:sp>
            <p:nvSpPr>
              <p:cNvPr id="13" name="TextBox 12">
                <a:extLst>
                  <a:ext uri="{FF2B5EF4-FFF2-40B4-BE49-F238E27FC236}">
                    <a16:creationId xmlns:a16="http://schemas.microsoft.com/office/drawing/2014/main" id="{77E29B02-4AE0-9EC1-796F-7C50E3513870}"/>
                  </a:ext>
                </a:extLst>
              </p:cNvPr>
              <p:cNvSpPr txBox="1">
                <a:spLocks noRot="1" noChangeAspect="1" noMove="1" noResize="1" noEditPoints="1" noAdjustHandles="1" noChangeArrowheads="1" noChangeShapeType="1" noTextEdit="1"/>
              </p:cNvSpPr>
              <p:nvPr/>
            </p:nvSpPr>
            <p:spPr>
              <a:xfrm>
                <a:off x="-108155" y="2667559"/>
                <a:ext cx="6096000" cy="1192762"/>
              </a:xfrm>
              <a:prstGeom prst="rect">
                <a:avLst/>
              </a:prstGeom>
              <a:blipFill>
                <a:blip r:embed="rId5"/>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33128011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a:extLst>
              <a:ext uri="{FF2B5EF4-FFF2-40B4-BE49-F238E27FC236}">
                <a16:creationId xmlns:a16="http://schemas.microsoft.com/office/drawing/2014/main" id="{B02E9716-061F-918C-CEB2-474B8EA1EE8B}"/>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1C5332E9-5C57-AFCA-F57A-C92C3257E5E3}"/>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E5F812F7-3625-4C07-3D1A-F8D5CF99943E}"/>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5" name="TextBox 23">
            <a:extLst>
              <a:ext uri="{FF2B5EF4-FFF2-40B4-BE49-F238E27FC236}">
                <a16:creationId xmlns:a16="http://schemas.microsoft.com/office/drawing/2014/main" id="{035A56C8-E8A5-75C6-30FA-86F89B2DEE7D}"/>
              </a:ext>
            </a:extLst>
          </p:cNvPr>
          <p:cNvSpPr txBox="1"/>
          <p:nvPr/>
        </p:nvSpPr>
        <p:spPr>
          <a:xfrm>
            <a:off x="374948" y="1036129"/>
            <a:ext cx="7463708" cy="400110"/>
          </a:xfrm>
          <a:prstGeom prst="rect">
            <a:avLst/>
          </a:prstGeom>
          <a:noFill/>
        </p:spPr>
        <p:txBody>
          <a:bodyPr wrap="square" rtlCol="0">
            <a:spAutoFit/>
          </a:bodyPr>
          <a:lstStyle/>
          <a:p>
            <a:pPr defTabSz="609585">
              <a:defRPr/>
            </a:pPr>
            <a:r>
              <a:rPr lang="vi-VN" sz="2000" b="1">
                <a:solidFill>
                  <a:prstClr val="black"/>
                </a:solidFill>
                <a:latin typeface="Times New Roman" panose="02020603050405020304" pitchFamily="18" charset="0"/>
                <a:cs typeface="Times New Roman" panose="02020603050405020304" pitchFamily="18" charset="0"/>
              </a:rPr>
              <a:t>2.7. Cơ sở của </a:t>
            </a:r>
            <a:r>
              <a:rPr lang="vi-VN" sz="2000" b="1" err="1">
                <a:solidFill>
                  <a:prstClr val="black"/>
                </a:solidFill>
                <a:latin typeface="Times New Roman" panose="02020603050405020304" pitchFamily="18" charset="0"/>
                <a:cs typeface="Times New Roman" panose="02020603050405020304" pitchFamily="18" charset="0"/>
              </a:rPr>
              <a:t>Droop</a:t>
            </a:r>
            <a:r>
              <a:rPr lang="vi-VN" sz="2000" b="1">
                <a:solidFill>
                  <a:prstClr val="black"/>
                </a:solidFill>
                <a:latin typeface="Times New Roman" panose="02020603050405020304" pitchFamily="18" charset="0"/>
                <a:cs typeface="Times New Roman" panose="02020603050405020304" pitchFamily="18" charset="0"/>
              </a:rPr>
              <a:t> </a:t>
            </a:r>
            <a:r>
              <a:rPr lang="vi-VN" sz="2000" b="1" err="1">
                <a:solidFill>
                  <a:prstClr val="black"/>
                </a:solidFill>
                <a:latin typeface="Times New Roman" panose="02020603050405020304" pitchFamily="18" charset="0"/>
                <a:cs typeface="Times New Roman" panose="02020603050405020304" pitchFamily="18" charset="0"/>
              </a:rPr>
              <a:t>Control</a:t>
            </a:r>
            <a:endParaRPr lang="vi-VN" sz="2000" b="1">
              <a:solidFill>
                <a:prstClr val="black"/>
              </a:solidFill>
              <a:latin typeface="Times New Roman" panose="02020603050405020304" pitchFamily="18" charset="0"/>
              <a:cs typeface="Times New Roman" panose="02020603050405020304" pitchFamily="18" charset="0"/>
            </a:endParaRPr>
          </a:p>
        </p:txBody>
      </p:sp>
      <p:pic>
        <p:nvPicPr>
          <p:cNvPr id="6" name="Hình ảnh 5" descr="Ảnh có chứa biểu đồ, văn bản, hàng, ảnh chụp màn hình&#10;&#10;Mô tả được tạo tự động">
            <a:extLst>
              <a:ext uri="{FF2B5EF4-FFF2-40B4-BE49-F238E27FC236}">
                <a16:creationId xmlns:a16="http://schemas.microsoft.com/office/drawing/2014/main" id="{F843DF83-A57A-0C6B-0319-2640F6A5A8B1}"/>
              </a:ext>
            </a:extLst>
          </p:cNvPr>
          <p:cNvPicPr>
            <a:picLocks noChangeAspect="1"/>
          </p:cNvPicPr>
          <p:nvPr/>
        </p:nvPicPr>
        <p:blipFill>
          <a:blip r:embed="rId2"/>
          <a:stretch>
            <a:fillRect/>
          </a:stretch>
        </p:blipFill>
        <p:spPr>
          <a:xfrm>
            <a:off x="5777360" y="1270211"/>
            <a:ext cx="5990215" cy="3057492"/>
          </a:xfrm>
          <a:prstGeom prst="rect">
            <a:avLst/>
          </a:prstGeom>
        </p:spPr>
      </p:pic>
      <p:sp>
        <p:nvSpPr>
          <p:cNvPr id="9" name="Hộp Văn bản 8">
            <a:extLst>
              <a:ext uri="{FF2B5EF4-FFF2-40B4-BE49-F238E27FC236}">
                <a16:creationId xmlns:a16="http://schemas.microsoft.com/office/drawing/2014/main" id="{52ED9A12-004F-CF92-53AF-A88DBBA605AA}"/>
              </a:ext>
            </a:extLst>
          </p:cNvPr>
          <p:cNvSpPr txBox="1"/>
          <p:nvPr/>
        </p:nvSpPr>
        <p:spPr>
          <a:xfrm>
            <a:off x="374948" y="1436239"/>
            <a:ext cx="6094378" cy="383823"/>
          </a:xfrm>
          <a:prstGeom prst="rect">
            <a:avLst/>
          </a:prstGeom>
          <a:noFill/>
        </p:spPr>
        <p:txBody>
          <a:bodyPr wrap="square">
            <a:spAutoFit/>
          </a:bodyPr>
          <a:lstStyle/>
          <a:p>
            <a:pPr marL="0" marR="0">
              <a:lnSpc>
                <a:spcPct val="115000"/>
              </a:lnSpc>
              <a:spcAft>
                <a:spcPts val="800"/>
              </a:spcAft>
            </a:pPr>
            <a:r>
              <a:rPr lang="vi-VN" sz="1800" kern="100">
                <a:effectLst/>
                <a:latin typeface="+mj-lt"/>
                <a:ea typeface="Yu Gothic" panose="020B0400000000000000" pitchFamily="34" charset="-128"/>
                <a:cs typeface="Times New Roman" panose="02020603050405020304" pitchFamily="18" charset="0"/>
              </a:rPr>
              <a:t>Xét sơ đồ bộ nghịch lưu trả về lưới điện </a:t>
            </a:r>
          </a:p>
        </p:txBody>
      </p:sp>
      <mc:AlternateContent xmlns:mc="http://schemas.openxmlformats.org/markup-compatibility/2006" xmlns:a14="http://schemas.microsoft.com/office/drawing/2010/main">
        <mc:Choice Requires="a14">
          <p:sp>
            <p:nvSpPr>
              <p:cNvPr id="12" name="Hộp Văn bản 11">
                <a:extLst>
                  <a:ext uri="{FF2B5EF4-FFF2-40B4-BE49-F238E27FC236}">
                    <a16:creationId xmlns:a16="http://schemas.microsoft.com/office/drawing/2014/main" id="{F9024845-0663-D3C7-2D7E-E022279C7160}"/>
                  </a:ext>
                </a:extLst>
              </p:cNvPr>
              <p:cNvSpPr txBox="1"/>
              <p:nvPr/>
            </p:nvSpPr>
            <p:spPr>
              <a:xfrm>
                <a:off x="5725279" y="4490065"/>
                <a:ext cx="6094378" cy="1226105"/>
              </a:xfrm>
              <a:prstGeom prst="rect">
                <a:avLst/>
              </a:prstGeom>
              <a:noFill/>
            </p:spPr>
            <p:txBody>
              <a:bodyPr wrap="square">
                <a:spAutoFit/>
              </a:bodyPr>
              <a:lstStyle/>
              <a:p>
                <a:pPr marL="0" marR="0">
                  <a:lnSpc>
                    <a:spcPct val="115000"/>
                  </a:lnSpc>
                  <a:spcAft>
                    <a:spcPts val="800"/>
                  </a:spcAft>
                </a:pPr>
                <a:r>
                  <a:rPr lang="vi-VN" sz="1800" kern="100">
                    <a:effectLst/>
                    <a:latin typeface="+mj-lt"/>
                    <a:ea typeface="Yu Gothic" panose="020B0400000000000000" pitchFamily="34" charset="-128"/>
                    <a:cs typeface="Times New Roman" panose="02020603050405020304" pitchFamily="18" charset="0"/>
                  </a:rPr>
                  <a:t>Trong đó: 	</a:t>
                </a:r>
                <a14:m>
                  <m:oMath xmlns:m="http://schemas.openxmlformats.org/officeDocument/2006/math">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𝐸</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𝛿</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 </m:t>
                    </m:r>
                  </m:oMath>
                </a14:m>
                <a:r>
                  <a:rPr lang="vi-VN" sz="1800" kern="100">
                    <a:effectLst/>
                    <a:latin typeface="+mj-lt"/>
                    <a:ea typeface="Yu Gothic" panose="020B0400000000000000" pitchFamily="34" charset="-128"/>
                    <a:cs typeface="Times New Roman" panose="02020603050405020304" pitchFamily="18" charset="0"/>
                  </a:rPr>
                  <a:t>là điện áp đầu ra của bộ nghịch lưu</a:t>
                </a:r>
              </a:p>
              <a:p>
                <a:pPr marL="0" marR="0">
                  <a:lnSpc>
                    <a:spcPct val="115000"/>
                  </a:lnSpc>
                  <a:spcAft>
                    <a:spcPts val="800"/>
                  </a:spcAft>
                </a:pPr>
                <a:r>
                  <a:rPr lang="vi-VN" sz="1800" kern="100">
                    <a:effectLst/>
                    <a:latin typeface="+mj-lt"/>
                    <a:ea typeface="Yu Gothic" panose="020B0400000000000000" pitchFamily="34" charset="-128"/>
                    <a:cs typeface="Times New Roman" panose="02020603050405020304" pitchFamily="18" charset="0"/>
                  </a:rPr>
                  <a:t>		</a:t>
                </a:r>
                <a14:m>
                  <m:oMath xmlns:m="http://schemas.openxmlformats.org/officeDocument/2006/math">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𝑍</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𝜃</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 </m:t>
                    </m:r>
                  </m:oMath>
                </a14:m>
                <a:r>
                  <a:rPr lang="vi-VN" sz="1800" kern="100">
                    <a:effectLst/>
                    <a:latin typeface="+mj-lt"/>
                    <a:ea typeface="Yu Gothic" panose="020B0400000000000000" pitchFamily="34" charset="-128"/>
                    <a:cs typeface="Times New Roman" panose="02020603050405020304" pitchFamily="18" charset="0"/>
                  </a:rPr>
                  <a:t>là tải đầu ra của nghịch lưu</a:t>
                </a:r>
              </a:p>
              <a:p>
                <a:pPr marL="0" marR="0">
                  <a:lnSpc>
                    <a:spcPct val="115000"/>
                  </a:lnSpc>
                  <a:spcAft>
                    <a:spcPts val="800"/>
                  </a:spcAft>
                </a:pPr>
                <a:r>
                  <a:rPr lang="vi-VN" sz="1800" kern="100">
                    <a:effectLst/>
                    <a:latin typeface="+mj-lt"/>
                    <a:ea typeface="Yu Gothic" panose="020B0400000000000000" pitchFamily="34" charset="-128"/>
                    <a:cs typeface="Times New Roman" panose="02020603050405020304" pitchFamily="18" charset="0"/>
                  </a:rPr>
                  <a:t>		</a:t>
                </a:r>
                <a14:m>
                  <m:oMath xmlns:m="http://schemas.openxmlformats.org/officeDocument/2006/math">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𝑉</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 </m:t>
                    </m:r>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0</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𝑜</m:t>
                        </m:r>
                      </m:sup>
                    </m:sSup>
                  </m:oMath>
                </a14:m>
                <a:r>
                  <a:rPr lang="vi-VN" sz="1800" kern="100">
                    <a:effectLst/>
                    <a:latin typeface="+mj-lt"/>
                    <a:ea typeface="Yu Gothic" panose="020B0400000000000000" pitchFamily="34" charset="-128"/>
                    <a:cs typeface="Times New Roman" panose="02020603050405020304" pitchFamily="18" charset="0"/>
                  </a:rPr>
                  <a:t> là điện áp điểm ghép nối chung</a:t>
                </a:r>
              </a:p>
            </p:txBody>
          </p:sp>
        </mc:Choice>
        <mc:Fallback xmlns="">
          <p:sp>
            <p:nvSpPr>
              <p:cNvPr id="12" name="Hộp Văn bản 11">
                <a:extLst>
                  <a:ext uri="{FF2B5EF4-FFF2-40B4-BE49-F238E27FC236}">
                    <a16:creationId xmlns:a16="http://schemas.microsoft.com/office/drawing/2014/main" id="{F9024845-0663-D3C7-2D7E-E022279C7160}"/>
                  </a:ext>
                </a:extLst>
              </p:cNvPr>
              <p:cNvSpPr txBox="1">
                <a:spLocks noRot="1" noChangeAspect="1" noMove="1" noResize="1" noEditPoints="1" noAdjustHandles="1" noChangeArrowheads="1" noChangeShapeType="1" noTextEdit="1"/>
              </p:cNvSpPr>
              <p:nvPr/>
            </p:nvSpPr>
            <p:spPr>
              <a:xfrm>
                <a:off x="5725279" y="4490065"/>
                <a:ext cx="6094378" cy="1226105"/>
              </a:xfrm>
              <a:prstGeom prst="rect">
                <a:avLst/>
              </a:prstGeom>
              <a:blipFill>
                <a:blip r:embed="rId3"/>
                <a:stretch>
                  <a:fillRect l="-800" t="-1493" b="-746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Hộp Văn bản 14">
                <a:extLst>
                  <a:ext uri="{FF2B5EF4-FFF2-40B4-BE49-F238E27FC236}">
                    <a16:creationId xmlns:a16="http://schemas.microsoft.com/office/drawing/2014/main" id="{28FD6CBB-F917-1107-6B94-A482E8849528}"/>
                  </a:ext>
                </a:extLst>
              </p:cNvPr>
              <p:cNvSpPr txBox="1"/>
              <p:nvPr/>
            </p:nvSpPr>
            <p:spPr>
              <a:xfrm>
                <a:off x="374948" y="1799427"/>
                <a:ext cx="6094378" cy="558871"/>
              </a:xfrm>
              <a:prstGeom prst="rect">
                <a:avLst/>
              </a:prstGeom>
              <a:noFill/>
            </p:spPr>
            <p:txBody>
              <a:bodyPr wrap="square">
                <a:spAutoFit/>
              </a:bodyPr>
              <a:lstStyle/>
              <a:p>
                <a:pPr marL="0" marR="0">
                  <a:lnSpc>
                    <a:spcPct val="115000"/>
                  </a:lnSpc>
                  <a:spcAft>
                    <a:spcPts val="800"/>
                  </a:spcAft>
                </a:pPr>
                <a:r>
                  <a:rPr lang="vi-VN" sz="1800" kern="100">
                    <a:effectLst/>
                    <a:latin typeface="+mj-lt"/>
                    <a:ea typeface="Yu Gothic" panose="020B0400000000000000" pitchFamily="34" charset="-128"/>
                    <a:cs typeface="Times New Roman" panose="02020603050405020304" pitchFamily="18" charset="0"/>
                  </a:rPr>
                  <a:t>Ta có phương trình dòng điện </a:t>
                </a:r>
                <a14:m>
                  <m:oMath xmlns:m="http://schemas.openxmlformats.org/officeDocument/2006/math">
                    <m:acc>
                      <m:accPr>
                        <m:chr m:val="̅"/>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acc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𝐼</m:t>
                        </m:r>
                      </m:e>
                    </m:acc>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𝐸</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𝛿</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𝑉</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0</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𝑜</m:t>
                            </m:r>
                          </m:sup>
                        </m:sSup>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𝑍</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𝜃</m:t>
                        </m:r>
                      </m:den>
                    </m:f>
                  </m:oMath>
                </a14:m>
                <a:endParaRPr lang="vi-VN" sz="1800" kern="100">
                  <a:effectLst/>
                  <a:latin typeface="+mj-lt"/>
                  <a:ea typeface="Yu Gothic" panose="020B0400000000000000" pitchFamily="34" charset="-128"/>
                  <a:cs typeface="Times New Roman" panose="02020603050405020304" pitchFamily="18" charset="0"/>
                </a:endParaRPr>
              </a:p>
            </p:txBody>
          </p:sp>
        </mc:Choice>
        <mc:Fallback xmlns="">
          <p:sp>
            <p:nvSpPr>
              <p:cNvPr id="15" name="Hộp Văn bản 14">
                <a:extLst>
                  <a:ext uri="{FF2B5EF4-FFF2-40B4-BE49-F238E27FC236}">
                    <a16:creationId xmlns:a16="http://schemas.microsoft.com/office/drawing/2014/main" id="{28FD6CBB-F917-1107-6B94-A482E8849528}"/>
                  </a:ext>
                </a:extLst>
              </p:cNvPr>
              <p:cNvSpPr txBox="1">
                <a:spLocks noRot="1" noChangeAspect="1" noMove="1" noResize="1" noEditPoints="1" noAdjustHandles="1" noChangeArrowheads="1" noChangeShapeType="1" noTextEdit="1"/>
              </p:cNvSpPr>
              <p:nvPr/>
            </p:nvSpPr>
            <p:spPr>
              <a:xfrm>
                <a:off x="374948" y="1799427"/>
                <a:ext cx="6094378" cy="558871"/>
              </a:xfrm>
              <a:prstGeom prst="rect">
                <a:avLst/>
              </a:prstGeom>
              <a:blipFill>
                <a:blip r:embed="rId4"/>
                <a:stretch>
                  <a:fillRect l="-901" b="-5435"/>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8" name="Hộp Văn bản 17">
                <a:extLst>
                  <a:ext uri="{FF2B5EF4-FFF2-40B4-BE49-F238E27FC236}">
                    <a16:creationId xmlns:a16="http://schemas.microsoft.com/office/drawing/2014/main" id="{837BDAB3-8FE0-026E-EC83-E0D251157AB4}"/>
                  </a:ext>
                </a:extLst>
              </p:cNvPr>
              <p:cNvSpPr txBox="1"/>
              <p:nvPr/>
            </p:nvSpPr>
            <p:spPr>
              <a:xfrm>
                <a:off x="424425" y="2392279"/>
                <a:ext cx="5178707" cy="2490682"/>
              </a:xfrm>
              <a:prstGeom prst="rect">
                <a:avLst/>
              </a:prstGeom>
              <a:noFill/>
            </p:spPr>
            <p:txBody>
              <a:bodyPr wrap="square">
                <a:spAutoFit/>
              </a:bodyPr>
              <a:lstStyle/>
              <a:p>
                <a:pPr marL="0" marR="0">
                  <a:lnSpc>
                    <a:spcPct val="115000"/>
                  </a:lnSpc>
                  <a:spcAft>
                    <a:spcPts val="800"/>
                  </a:spcAft>
                </a:pPr>
                <a:r>
                  <a:rPr lang="vi-VN" sz="1800" kern="100">
                    <a:effectLst/>
                    <a:latin typeface="+mj-lt"/>
                    <a:ea typeface="Yu Gothic" panose="020B0400000000000000" pitchFamily="34" charset="-128"/>
                    <a:cs typeface="Times New Roman" panose="02020603050405020304" pitchFamily="18" charset="0"/>
                  </a:rPr>
                  <a:t>Thay vào phương trình tính công suất toàn phần: </a:t>
                </a:r>
                <a14:m>
                  <m:oMath xmlns:m="http://schemas.openxmlformats.org/officeDocument/2006/math">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𝑆</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𝑉</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0</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𝑜</m:t>
                        </m:r>
                      </m:sup>
                    </m:s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acc>
                      <m:accPr>
                        <m:chr m:val="̅"/>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accPr>
                      <m:e>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𝐼</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up>
                        </m:sSup>
                      </m:e>
                    </m:acc>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𝑃</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𝑗𝑄</m:t>
                    </m:r>
                  </m:oMath>
                </a14:m>
                <a:endParaRPr lang="vi-VN" sz="1800" kern="100">
                  <a:effectLst/>
                  <a:latin typeface="+mj-lt"/>
                  <a:ea typeface="Yu Gothic" panose="020B0400000000000000" pitchFamily="34" charset="-128"/>
                  <a:cs typeface="Times New Roman" panose="02020603050405020304" pitchFamily="18" charset="0"/>
                </a:endParaRPr>
              </a:p>
              <a:p>
                <a:pPr marL="0" marR="0">
                  <a:lnSpc>
                    <a:spcPct val="115000"/>
                  </a:lnSpc>
                  <a:spcAft>
                    <a:spcPts val="800"/>
                  </a:spcAft>
                </a:pPr>
                <a14:m>
                  <m:oMathPara xmlns:m="http://schemas.openxmlformats.org/officeDocument/2006/math">
                    <m:oMath>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 </m:t>
                      </m:r>
                      <m:d>
                        <m:dPr>
                          <m:begChr m:val="{"/>
                          <m:endChr m:val=""/>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dPr>
                        <m:e>
                          <m:eqArr>
                            <m:eqArr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eqArr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𝑃</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d>
                                <m:d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dPr>
                                <m:e>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𝐸𝑉</m:t>
                                      </m:r>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𝑍</m:t>
                                      </m:r>
                                    </m:den>
                                  </m:f>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𝑐𝑜𝑠</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𝛿</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𝑉</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2</m:t>
                                          </m:r>
                                        </m:sup>
                                      </m:sSup>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𝑍</m:t>
                                      </m:r>
                                    </m:den>
                                  </m:f>
                                </m:e>
                              </m:d>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𝑐𝑜𝑠</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𝜃</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𝐸𝑉</m:t>
                                  </m:r>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𝑍</m:t>
                                  </m:r>
                                </m:den>
                              </m:f>
                              <m:r>
                                <m:rPr>
                                  <m:sty m:val="p"/>
                                </m:rPr>
                                <a:rPr lang="vi-VN" sz="1800" kern="100">
                                  <a:effectLst/>
                                  <a:latin typeface="Cambria Math" panose="02040503050406030204" pitchFamily="18" charset="0"/>
                                  <a:ea typeface="Yu Gothic" panose="020B0400000000000000" pitchFamily="34" charset="-128"/>
                                  <a:cs typeface="Times New Roman" panose="02020603050405020304" pitchFamily="18" charset="0"/>
                                </a:rPr>
                                <m:t>sin</m:t>
                              </m:r>
                              <m:r>
                                <a:rPr lang="vi-VN" sz="1800" kern="100">
                                  <a:effectLst/>
                                  <a:latin typeface="Cambria Math" panose="02040503050406030204" pitchFamily="18" charset="0"/>
                                  <a:ea typeface="Yu Gothic" panose="020B0400000000000000" pitchFamily="34" charset="-128"/>
                                  <a:cs typeface="Times New Roman" panose="02020603050405020304" pitchFamily="18" charset="0"/>
                                </a:rPr>
                                <m:t>⁡(</m:t>
                              </m:r>
                              <m:r>
                                <m:rPr>
                                  <m:sty m:val="p"/>
                                </m:rPr>
                                <a:rPr lang="vi-VN" sz="1800" kern="100">
                                  <a:effectLst/>
                                  <a:latin typeface="Cambria Math" panose="02040503050406030204" pitchFamily="18" charset="0"/>
                                  <a:ea typeface="Yu Gothic" panose="020B0400000000000000" pitchFamily="34" charset="-128"/>
                                  <a:cs typeface="Times New Roman" panose="02020603050405020304" pitchFamily="18" charset="0"/>
                                </a:rPr>
                                <m:t>δ</m:t>
                              </m:r>
                              <m:r>
                                <a:rPr lang="vi-VN" sz="1800" kern="100">
                                  <a:effectLst/>
                                  <a:latin typeface="Cambria Math" panose="02040503050406030204" pitchFamily="18" charset="0"/>
                                  <a:ea typeface="Yu Gothic" panose="020B0400000000000000" pitchFamily="34" charset="-128"/>
                                  <a:cs typeface="Times New Roman" panose="02020603050405020304" pitchFamily="18" charset="0"/>
                                </a:rPr>
                                <m:t>)</m:t>
                              </m:r>
                              <m:r>
                                <m:rPr>
                                  <m:sty m:val="p"/>
                                </m:rPr>
                                <a:rPr lang="vi-VN" sz="1800" kern="100">
                                  <a:effectLst/>
                                  <a:latin typeface="Cambria Math" panose="02040503050406030204" pitchFamily="18" charset="0"/>
                                  <a:ea typeface="Yu Gothic" panose="020B0400000000000000" pitchFamily="34" charset="-128"/>
                                  <a:cs typeface="Times New Roman" panose="02020603050405020304" pitchFamily="18" charset="0"/>
                                </a:rPr>
                                <m:t>sin</m:t>
                              </m:r>
                              <m:r>
                                <a:rPr lang="vi-VN" sz="1800"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𝜃</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e>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𝑄</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d>
                                <m:d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dPr>
                                <m:e>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𝐸𝑉</m:t>
                                      </m:r>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𝑍</m:t>
                                      </m:r>
                                    </m:den>
                                  </m:f>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𝑐𝑜𝑠</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𝛿</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𝑉</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2</m:t>
                                          </m:r>
                                        </m:sup>
                                      </m:sSup>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𝑍</m:t>
                                      </m:r>
                                    </m:den>
                                  </m:f>
                                </m:e>
                              </m:d>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𝑠𝑖𝑛</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𝜃</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𝐸𝑉</m:t>
                                  </m:r>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𝑍</m:t>
                                  </m:r>
                                </m:den>
                              </m:f>
                              <m:r>
                                <m:rPr>
                                  <m:sty m:val="p"/>
                                </m:rPr>
                                <a:rPr lang="vi-VN" sz="1800" kern="100">
                                  <a:effectLst/>
                                  <a:latin typeface="Cambria Math" panose="02040503050406030204" pitchFamily="18" charset="0"/>
                                  <a:ea typeface="Yu Gothic" panose="020B0400000000000000" pitchFamily="34" charset="-128"/>
                                  <a:cs typeface="Times New Roman" panose="02020603050405020304" pitchFamily="18" charset="0"/>
                                </a:rPr>
                                <m:t>sin</m:t>
                              </m:r>
                              <m:r>
                                <a:rPr lang="vi-VN" sz="1800"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𝛿</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r>
                                <m:rPr>
                                  <m:sty m:val="p"/>
                                </m:rPr>
                                <a:rPr lang="vi-VN" sz="1800" kern="100">
                                  <a:effectLst/>
                                  <a:latin typeface="Cambria Math" panose="02040503050406030204" pitchFamily="18" charset="0"/>
                                  <a:ea typeface="Yu Gothic" panose="020B0400000000000000" pitchFamily="34" charset="-128"/>
                                  <a:cs typeface="Times New Roman" panose="02020603050405020304" pitchFamily="18" charset="0"/>
                                </a:rPr>
                                <m:t>cos</m:t>
                              </m:r>
                              <m:r>
                                <a:rPr lang="vi-VN" sz="1800"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𝜃</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e>
                          </m:eqArr>
                        </m:e>
                      </m:d>
                    </m:oMath>
                  </m:oMathPara>
                </a14:m>
                <a:endParaRPr lang="vi-VN" sz="1800" kern="100">
                  <a:effectLst/>
                  <a:latin typeface="+mj-lt"/>
                  <a:ea typeface="Yu Gothic" panose="020B0400000000000000" pitchFamily="34" charset="-128"/>
                  <a:cs typeface="Times New Roman" panose="02020603050405020304" pitchFamily="18" charset="0"/>
                </a:endParaRPr>
              </a:p>
            </p:txBody>
          </p:sp>
        </mc:Choice>
        <mc:Fallback xmlns="">
          <p:sp>
            <p:nvSpPr>
              <p:cNvPr id="18" name="Hộp Văn bản 17">
                <a:extLst>
                  <a:ext uri="{FF2B5EF4-FFF2-40B4-BE49-F238E27FC236}">
                    <a16:creationId xmlns:a16="http://schemas.microsoft.com/office/drawing/2014/main" id="{837BDAB3-8FE0-026E-EC83-E0D251157AB4}"/>
                  </a:ext>
                </a:extLst>
              </p:cNvPr>
              <p:cNvSpPr txBox="1">
                <a:spLocks noRot="1" noChangeAspect="1" noMove="1" noResize="1" noEditPoints="1" noAdjustHandles="1" noChangeArrowheads="1" noChangeShapeType="1" noTextEdit="1"/>
              </p:cNvSpPr>
              <p:nvPr/>
            </p:nvSpPr>
            <p:spPr>
              <a:xfrm>
                <a:off x="424425" y="2392279"/>
                <a:ext cx="5178707" cy="2490682"/>
              </a:xfrm>
              <a:prstGeom prst="rect">
                <a:avLst/>
              </a:prstGeom>
              <a:blipFill>
                <a:blip r:embed="rId5"/>
                <a:stretch>
                  <a:fillRect l="-1060" t="-489"/>
                </a:stretch>
              </a:blipFill>
            </p:spPr>
            <p:txBody>
              <a:bodyPr/>
              <a:lstStyle/>
              <a:p>
                <a:r>
                  <a:rPr lang="vi-VN">
                    <a:noFill/>
                  </a:rPr>
                  <a:t> </a:t>
                </a:r>
              </a:p>
            </p:txBody>
          </p:sp>
        </mc:Fallback>
      </mc:AlternateContent>
      <p:cxnSp>
        <p:nvCxnSpPr>
          <p:cNvPr id="20" name="Đường nối Thẳng 19">
            <a:extLst>
              <a:ext uri="{FF2B5EF4-FFF2-40B4-BE49-F238E27FC236}">
                <a16:creationId xmlns:a16="http://schemas.microsoft.com/office/drawing/2014/main" id="{73DF9CFB-D88D-B432-98BA-DED333E2E393}"/>
              </a:ext>
            </a:extLst>
          </p:cNvPr>
          <p:cNvCxnSpPr>
            <a:cxnSpLocks/>
          </p:cNvCxnSpPr>
          <p:nvPr/>
        </p:nvCxnSpPr>
        <p:spPr>
          <a:xfrm>
            <a:off x="5725279" y="4202349"/>
            <a:ext cx="0" cy="22860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Hộp Văn bản 24">
                <a:extLst>
                  <a:ext uri="{FF2B5EF4-FFF2-40B4-BE49-F238E27FC236}">
                    <a16:creationId xmlns:a16="http://schemas.microsoft.com/office/drawing/2014/main" id="{91022870-3F74-150E-302B-868EE65985D3}"/>
                  </a:ext>
                </a:extLst>
              </p:cNvPr>
              <p:cNvSpPr txBox="1"/>
              <p:nvPr/>
            </p:nvSpPr>
            <p:spPr>
              <a:xfrm>
                <a:off x="424425" y="4916942"/>
                <a:ext cx="3107554" cy="383823"/>
              </a:xfrm>
              <a:prstGeom prst="rect">
                <a:avLst/>
              </a:prstGeom>
              <a:noFill/>
            </p:spPr>
            <p:txBody>
              <a:bodyPr wrap="square">
                <a:spAutoFit/>
              </a:bodyPr>
              <a:lstStyle/>
              <a:p>
                <a:pPr marL="0" marR="0">
                  <a:lnSpc>
                    <a:spcPct val="115000"/>
                  </a:lnSpc>
                  <a:spcAft>
                    <a:spcPts val="800"/>
                  </a:spcAft>
                </a:pPr>
                <a:r>
                  <a:rPr lang="vi-VN" sz="1800" kern="100">
                    <a:effectLst/>
                    <a:latin typeface="+mj-lt"/>
                    <a:ea typeface="Yu Gothic" panose="020B0400000000000000" pitchFamily="34" charset="-128"/>
                    <a:cs typeface="Times New Roman" panose="02020603050405020304" pitchFamily="18" charset="0"/>
                  </a:rPr>
                  <a:t>Giả sử </a:t>
                </a:r>
                <a14:m>
                  <m:oMath xmlns:m="http://schemas.openxmlformats.org/officeDocument/2006/math">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 </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𝛿</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 </m:t>
                    </m:r>
                  </m:oMath>
                </a14:m>
                <a:r>
                  <a:rPr lang="vi-VN" sz="1800" kern="100">
                    <a:effectLst/>
                    <a:latin typeface="+mj-lt"/>
                    <a:ea typeface="Yu Gothic" panose="020B0400000000000000" pitchFamily="34" charset="-128"/>
                    <a:cs typeface="Times New Roman" panose="02020603050405020304" pitchFamily="18" charset="0"/>
                  </a:rPr>
                  <a:t>nhỏ.</a:t>
                </a:r>
              </a:p>
            </p:txBody>
          </p:sp>
        </mc:Choice>
        <mc:Fallback xmlns="">
          <p:sp>
            <p:nvSpPr>
              <p:cNvPr id="25" name="Hộp Văn bản 24">
                <a:extLst>
                  <a:ext uri="{FF2B5EF4-FFF2-40B4-BE49-F238E27FC236}">
                    <a16:creationId xmlns:a16="http://schemas.microsoft.com/office/drawing/2014/main" id="{91022870-3F74-150E-302B-868EE65985D3}"/>
                  </a:ext>
                </a:extLst>
              </p:cNvPr>
              <p:cNvSpPr txBox="1">
                <a:spLocks noRot="1" noChangeAspect="1" noMove="1" noResize="1" noEditPoints="1" noAdjustHandles="1" noChangeArrowheads="1" noChangeShapeType="1" noTextEdit="1"/>
              </p:cNvSpPr>
              <p:nvPr/>
            </p:nvSpPr>
            <p:spPr>
              <a:xfrm>
                <a:off x="424425" y="4916942"/>
                <a:ext cx="3107554" cy="383823"/>
              </a:xfrm>
              <a:prstGeom prst="rect">
                <a:avLst/>
              </a:prstGeom>
              <a:blipFill>
                <a:blip r:embed="rId6"/>
                <a:stretch>
                  <a:fillRect l="-1768" t="-4762" b="-25397"/>
                </a:stretch>
              </a:blipFill>
            </p:spPr>
            <p:txBody>
              <a:bodyPr/>
              <a:lstStyle/>
              <a:p>
                <a:r>
                  <a:rPr lang="vi-VN">
                    <a:noFill/>
                  </a:rPr>
                  <a:t> </a:t>
                </a:r>
              </a:p>
            </p:txBody>
          </p:sp>
        </mc:Fallback>
      </mc:AlternateContent>
    </p:spTree>
    <p:extLst>
      <p:ext uri="{BB962C8B-B14F-4D97-AF65-F5344CB8AC3E}">
        <p14:creationId xmlns:p14="http://schemas.microsoft.com/office/powerpoint/2010/main" val="10886658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84E71-720B-0867-0EA9-764856B98F92}"/>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E01AA89F-7C5F-283E-D332-DC6458F0E90F}"/>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D1AAC55E-DA21-F60A-E879-FDA97052A7DA}"/>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8BD62A6F-49E9-7494-AC38-3310EA5B3A09}"/>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5" name="TextBox 23">
            <a:extLst>
              <a:ext uri="{FF2B5EF4-FFF2-40B4-BE49-F238E27FC236}">
                <a16:creationId xmlns:a16="http://schemas.microsoft.com/office/drawing/2014/main" id="{18AF9E49-0D51-6C0D-BB8F-A2BD34B36CC8}"/>
              </a:ext>
            </a:extLst>
          </p:cNvPr>
          <p:cNvSpPr txBox="1"/>
          <p:nvPr/>
        </p:nvSpPr>
        <p:spPr>
          <a:xfrm>
            <a:off x="374948" y="1036129"/>
            <a:ext cx="7463708" cy="400110"/>
          </a:xfrm>
          <a:prstGeom prst="rect">
            <a:avLst/>
          </a:prstGeom>
          <a:noFill/>
        </p:spPr>
        <p:txBody>
          <a:bodyPr wrap="square" rtlCol="0">
            <a:spAutoFit/>
          </a:bodyPr>
          <a:lstStyle/>
          <a:p>
            <a:pPr defTabSz="609585">
              <a:defRPr/>
            </a:pPr>
            <a:r>
              <a:rPr lang="vi-VN" sz="2000" b="1">
                <a:solidFill>
                  <a:prstClr val="black"/>
                </a:solidFill>
                <a:latin typeface="Times New Roman" panose="02020603050405020304" pitchFamily="18" charset="0"/>
                <a:cs typeface="Times New Roman" panose="02020603050405020304" pitchFamily="18" charset="0"/>
              </a:rPr>
              <a:t>2.7. Cơ sở của </a:t>
            </a:r>
            <a:r>
              <a:rPr lang="vi-VN" sz="2000" b="1" err="1">
                <a:solidFill>
                  <a:prstClr val="black"/>
                </a:solidFill>
                <a:latin typeface="Times New Roman" panose="02020603050405020304" pitchFamily="18" charset="0"/>
                <a:cs typeface="Times New Roman" panose="02020603050405020304" pitchFamily="18" charset="0"/>
              </a:rPr>
              <a:t>Droop</a:t>
            </a:r>
            <a:r>
              <a:rPr lang="vi-VN" sz="2000" b="1">
                <a:solidFill>
                  <a:prstClr val="black"/>
                </a:solidFill>
                <a:latin typeface="Times New Roman" panose="02020603050405020304" pitchFamily="18" charset="0"/>
                <a:cs typeface="Times New Roman" panose="02020603050405020304" pitchFamily="18" charset="0"/>
              </a:rPr>
              <a:t> </a:t>
            </a:r>
            <a:r>
              <a:rPr lang="vi-VN" sz="2000" b="1" err="1">
                <a:solidFill>
                  <a:prstClr val="black"/>
                </a:solidFill>
                <a:latin typeface="Times New Roman" panose="02020603050405020304" pitchFamily="18" charset="0"/>
                <a:cs typeface="Times New Roman" panose="02020603050405020304" pitchFamily="18" charset="0"/>
              </a:rPr>
              <a:t>Control</a:t>
            </a:r>
            <a:endParaRPr lang="vi-VN" sz="2000" b="1">
              <a:solidFill>
                <a:prstClr val="black"/>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Hộp Văn bản 13">
                <a:extLst>
                  <a:ext uri="{FF2B5EF4-FFF2-40B4-BE49-F238E27FC236}">
                    <a16:creationId xmlns:a16="http://schemas.microsoft.com/office/drawing/2014/main" id="{324E69B8-4A71-3D11-C066-E4B4A63132AC}"/>
                  </a:ext>
                </a:extLst>
              </p:cNvPr>
              <p:cNvSpPr txBox="1"/>
              <p:nvPr/>
            </p:nvSpPr>
            <p:spPr>
              <a:xfrm>
                <a:off x="374948" y="1781791"/>
                <a:ext cx="5721052" cy="4040080"/>
              </a:xfrm>
              <a:prstGeom prst="rect">
                <a:avLst/>
              </a:prstGeom>
              <a:noFill/>
            </p:spPr>
            <p:txBody>
              <a:bodyPr wrap="square">
                <a:spAutoFit/>
              </a:bodyPr>
              <a:lstStyle/>
              <a:p>
                <a:pPr marL="0" marR="0">
                  <a:lnSpc>
                    <a:spcPct val="115000"/>
                  </a:lnSpc>
                  <a:spcAft>
                    <a:spcPts val="800"/>
                  </a:spcAft>
                </a:pPr>
                <a:r>
                  <a:rPr lang="vi-VN" sz="1800" kern="100">
                    <a:effectLst/>
                    <a:latin typeface="+mj-lt"/>
                    <a:ea typeface="Yu Gothic" panose="020B0400000000000000" pitchFamily="34" charset="-128"/>
                    <a:cs typeface="Times New Roman" panose="02020603050405020304" pitchFamily="18" charset="0"/>
                  </a:rPr>
                  <a:t>Xét với tải cảm, tức </a:t>
                </a:r>
                <a14:m>
                  <m:oMath xmlns:m="http://schemas.openxmlformats.org/officeDocument/2006/math">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𝑍</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𝑋</m:t>
                    </m:r>
                  </m:oMath>
                </a14:m>
                <a:r>
                  <a:rPr lang="vi-VN" sz="1800" kern="100">
                    <a:effectLst/>
                    <a:latin typeface="+mj-lt"/>
                    <a:ea typeface="Yu Gothic" panose="020B0400000000000000" pitchFamily="34" charset="-128"/>
                    <a:cs typeface="Times New Roman" panose="02020603050405020304" pitchFamily="18" charset="0"/>
                  </a:rPr>
                  <a:t>, ta suy ra </a:t>
                </a:r>
                <a14:m>
                  <m:oMath xmlns:m="http://schemas.openxmlformats.org/officeDocument/2006/math">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 </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𝜃</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90</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𝑜</m:t>
                        </m:r>
                      </m:sup>
                    </m:sSup>
                  </m:oMath>
                </a14:m>
                <a:r>
                  <a:rPr lang="vi-VN" sz="1800" kern="100">
                    <a:effectLst/>
                    <a:latin typeface="+mj-lt"/>
                    <a:ea typeface="Yu Gothic" panose="020B0400000000000000" pitchFamily="34" charset="-128"/>
                    <a:cs typeface="Times New Roman" panose="02020603050405020304" pitchFamily="18" charset="0"/>
                  </a:rPr>
                  <a:t>. </a:t>
                </a:r>
              </a:p>
              <a:p>
                <a:pPr marL="0" marR="0">
                  <a:lnSpc>
                    <a:spcPct val="115000"/>
                  </a:lnSpc>
                  <a:spcAft>
                    <a:spcPts val="800"/>
                  </a:spcAft>
                </a:pPr>
                <a14:m>
                  <m:oMathPara xmlns:m="http://schemas.openxmlformats.org/officeDocument/2006/math">
                    <m:oMath>
                      <m:d>
                        <m:dPr>
                          <m:begChr m:val="{"/>
                          <m:endChr m:val=""/>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dPr>
                        <m:e>
                          <m:eqArr>
                            <m:eqArr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eqArr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𝑃</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𝐸𝑉</m:t>
                                  </m:r>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𝑋</m:t>
                                  </m:r>
                                </m:den>
                              </m:f>
                              <m:func>
                                <m:funcPr>
                                  <m:ctrlPr>
                                    <a:rPr lang="vi-VN" sz="1800" kern="100">
                                      <a:effectLst/>
                                      <a:latin typeface="Cambria Math" panose="02040503050406030204" pitchFamily="18" charset="0"/>
                                      <a:ea typeface="Yu Gothic" panose="020B0400000000000000" pitchFamily="34" charset="-128"/>
                                      <a:cs typeface="Times New Roman" panose="02020603050405020304" pitchFamily="18" charset="0"/>
                                    </a:rPr>
                                  </m:ctrlPr>
                                </m:funcPr>
                                <m:fName>
                                  <m:r>
                                    <m:rPr>
                                      <m:sty m:val="p"/>
                                    </m:rPr>
                                    <a:rPr lang="vi-VN" sz="1800" kern="100">
                                      <a:effectLst/>
                                      <a:latin typeface="Cambria Math" panose="02040503050406030204" pitchFamily="18" charset="0"/>
                                      <a:ea typeface="Yu Gothic" panose="020B0400000000000000" pitchFamily="34" charset="-128"/>
                                      <a:cs typeface="Times New Roman" panose="02020603050405020304" pitchFamily="18" charset="0"/>
                                    </a:rPr>
                                    <m:t>sin</m:t>
                                  </m:r>
                                </m:fName>
                                <m:e>
                                  <m:d>
                                    <m:d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d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𝛿</m:t>
                                      </m:r>
                                    </m:e>
                                  </m:d>
                                </m:e>
                              </m:func>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𝐸𝑉</m:t>
                                  </m:r>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𝑋</m:t>
                                  </m:r>
                                </m:den>
                              </m:f>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𝛿</m:t>
                              </m:r>
                            </m:e>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𝑄</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𝐸𝑉</m:t>
                                  </m:r>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𝑋</m:t>
                                  </m:r>
                                </m:den>
                              </m:f>
                              <m:func>
                                <m:funcPr>
                                  <m:ctrlPr>
                                    <a:rPr lang="vi-VN" sz="1800" kern="100">
                                      <a:effectLst/>
                                      <a:latin typeface="Cambria Math" panose="02040503050406030204" pitchFamily="18" charset="0"/>
                                      <a:ea typeface="Yu Gothic" panose="020B0400000000000000" pitchFamily="34" charset="-128"/>
                                      <a:cs typeface="Times New Roman" panose="02020603050405020304" pitchFamily="18" charset="0"/>
                                    </a:rPr>
                                  </m:ctrlPr>
                                </m:funcPr>
                                <m:fName>
                                  <m:r>
                                    <m:rPr>
                                      <m:sty m:val="p"/>
                                    </m:rPr>
                                    <a:rPr lang="vi-VN" sz="1800" kern="100">
                                      <a:effectLst/>
                                      <a:latin typeface="Cambria Math" panose="02040503050406030204" pitchFamily="18" charset="0"/>
                                      <a:ea typeface="Yu Gothic" panose="020B0400000000000000" pitchFamily="34" charset="-128"/>
                                      <a:cs typeface="Times New Roman" panose="02020603050405020304" pitchFamily="18" charset="0"/>
                                    </a:rPr>
                                    <m:t>cos</m:t>
                                  </m:r>
                                </m:fName>
                                <m:e>
                                  <m:d>
                                    <m:d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d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𝛿</m:t>
                                      </m:r>
                                    </m:e>
                                  </m:d>
                                </m:e>
                              </m:func>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𝑉</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2</m:t>
                                      </m:r>
                                    </m:sup>
                                  </m:sSup>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𝑋</m:t>
                                  </m:r>
                                </m:den>
                              </m:f>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𝐸𝑉</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𝑉</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2</m:t>
                                      </m:r>
                                    </m:sup>
                                  </m:sSup>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𝑋</m:t>
                                  </m:r>
                                </m:den>
                              </m:f>
                            </m:e>
                          </m:eqArr>
                        </m:e>
                      </m:d>
                    </m:oMath>
                  </m:oMathPara>
                </a14:m>
                <a:endParaRPr lang="vi-VN" sz="1800" kern="100">
                  <a:effectLst/>
                  <a:latin typeface="Arial" panose="020B0604020202020204" pitchFamily="34" charset="0"/>
                  <a:ea typeface="Yu Gothic" panose="020B0400000000000000" pitchFamily="34" charset="-128"/>
                  <a:cs typeface="Times New Roman" panose="02020603050405020304" pitchFamily="18" charset="0"/>
                </a:endParaRPr>
              </a:p>
              <a:p>
                <a:pPr>
                  <a:lnSpc>
                    <a:spcPct val="115000"/>
                  </a:lnSpc>
                  <a:spcAft>
                    <a:spcPts val="800"/>
                  </a:spcAft>
                </a:pPr>
                <a:r>
                  <a:rPr lang="vi-VN" sz="1800" kern="100">
                    <a:effectLst/>
                    <a:latin typeface="+mj-lt"/>
                    <a:ea typeface="Yu Gothic" panose="020B0400000000000000" pitchFamily="34" charset="-128"/>
                    <a:cs typeface="Times New Roman" panose="02020603050405020304" pitchFamily="18" charset="0"/>
                  </a:rPr>
                  <a:t>Ta thấy tần số </a:t>
                </a:r>
                <a14:m>
                  <m:oMath xmlns:m="http://schemas.openxmlformats.org/officeDocument/2006/math">
                    <m:r>
                      <a:rPr lang="vi-VN" sz="1800" i="1" kern="100" smtClean="0">
                        <a:effectLst/>
                        <a:latin typeface="Cambria Math" panose="02040503050406030204" pitchFamily="18" charset="0"/>
                        <a:ea typeface="Yu Gothic" panose="020B0400000000000000" pitchFamily="34" charset="-128"/>
                        <a:cs typeface="Times New Roman" panose="02020603050405020304" pitchFamily="18" charset="0"/>
                      </a:rPr>
                      <m:t>𝜔</m:t>
                    </m:r>
                  </m:oMath>
                </a14:m>
                <a:r>
                  <a:rPr lang="vi-VN" sz="1800" kern="100">
                    <a:effectLst/>
                    <a:latin typeface="+mj-lt"/>
                    <a:ea typeface="Yu Gothic" panose="020B0400000000000000" pitchFamily="34" charset="-128"/>
                    <a:cs typeface="Times New Roman" panose="02020603050405020304" pitchFamily="18" charset="0"/>
                  </a:rPr>
                  <a:t> phụ thuộc vào công suất tác dụng P, điện áp </a:t>
                </a:r>
                <a14:m>
                  <m:oMath xmlns:m="http://schemas.openxmlformats.org/officeDocument/2006/math">
                    <m:r>
                      <a:rPr lang="vi-VN" i="1" kern="100">
                        <a:latin typeface="Cambria Math" panose="02040503050406030204" pitchFamily="18" charset="0"/>
                        <a:ea typeface="Yu Gothic" panose="020B0400000000000000" pitchFamily="34" charset="-128"/>
                        <a:cs typeface="Times New Roman" panose="02020603050405020304" pitchFamily="18" charset="0"/>
                      </a:rPr>
                      <m:t>𝑉</m:t>
                    </m:r>
                  </m:oMath>
                </a14:m>
                <a:r>
                  <a:rPr lang="vi-VN" sz="1800" kern="100">
                    <a:effectLst/>
                    <a:latin typeface="+mj-lt"/>
                    <a:ea typeface="Yu Gothic" panose="020B0400000000000000" pitchFamily="34" charset="-128"/>
                    <a:cs typeface="Times New Roman" panose="02020603050405020304" pitchFamily="18" charset="0"/>
                  </a:rPr>
                  <a:t> phụ thuộc vào Q. Thành lập mối quan hệ tuyến tính giữa các đại lượng:</a:t>
                </a:r>
                <a:endParaRPr lang="vi-VN" sz="1800" i="1" kern="100">
                  <a:effectLst/>
                  <a:latin typeface="+mj-lt"/>
                  <a:ea typeface="Yu Gothic" panose="020B0400000000000000" pitchFamily="34" charset="-128"/>
                  <a:cs typeface="Times New Roman" panose="02020603050405020304" pitchFamily="18" charset="0"/>
                </a:endParaRPr>
              </a:p>
              <a:p>
                <a:pPr marL="0" marR="0">
                  <a:lnSpc>
                    <a:spcPct val="115000"/>
                  </a:lnSpc>
                  <a:spcAft>
                    <a:spcPts val="800"/>
                  </a:spcAft>
                </a:pPr>
                <a14:m>
                  <m:oMathPara xmlns:m="http://schemas.openxmlformats.org/officeDocument/2006/math">
                    <m:oMath>
                      <m:d>
                        <m:dPr>
                          <m:begChr m:val="{"/>
                          <m:endChr m:val=""/>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dPr>
                        <m:e>
                          <m:eqArr>
                            <m:eqArr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eqArr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𝜔</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𝜔</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up>
                              </m:s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b>
                                <m:sSub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b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𝑚</m:t>
                                  </m:r>
                                </m:e>
                                <m:sub>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𝑝</m:t>
                                  </m:r>
                                </m:sub>
                              </m:sSub>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𝑃</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𝑃</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up>
                              </m:s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e>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𝑉</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𝑉</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up>
                              </m:s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b>
                                <m:sSub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b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𝑛</m:t>
                                  </m:r>
                                </m:e>
                                <m:sub>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𝑞</m:t>
                                  </m:r>
                                </m:sub>
                              </m:sSub>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𝑄</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𝑄</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up>
                              </m:s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e>
                          </m:eqArr>
                        </m:e>
                      </m:d>
                    </m:oMath>
                  </m:oMathPara>
                </a14:m>
                <a:endParaRPr lang="vi-VN" sz="1800" kern="100">
                  <a:effectLst/>
                  <a:latin typeface="Arial" panose="020B0604020202020204" pitchFamily="34" charset="0"/>
                  <a:ea typeface="Yu Gothic" panose="020B0400000000000000" pitchFamily="34" charset="-128"/>
                  <a:cs typeface="Times New Roman" panose="02020603050405020304" pitchFamily="18" charset="0"/>
                </a:endParaRPr>
              </a:p>
            </p:txBody>
          </p:sp>
        </mc:Choice>
        <mc:Fallback xmlns="">
          <p:sp>
            <p:nvSpPr>
              <p:cNvPr id="14" name="Hộp Văn bản 13">
                <a:extLst>
                  <a:ext uri="{FF2B5EF4-FFF2-40B4-BE49-F238E27FC236}">
                    <a16:creationId xmlns:a16="http://schemas.microsoft.com/office/drawing/2014/main" id="{324E69B8-4A71-3D11-C066-E4B4A63132AC}"/>
                  </a:ext>
                </a:extLst>
              </p:cNvPr>
              <p:cNvSpPr txBox="1">
                <a:spLocks noRot="1" noChangeAspect="1" noMove="1" noResize="1" noEditPoints="1" noAdjustHandles="1" noChangeArrowheads="1" noChangeShapeType="1" noTextEdit="1"/>
              </p:cNvSpPr>
              <p:nvPr/>
            </p:nvSpPr>
            <p:spPr>
              <a:xfrm>
                <a:off x="374948" y="1781791"/>
                <a:ext cx="5721052" cy="4040080"/>
              </a:xfrm>
              <a:prstGeom prst="rect">
                <a:avLst/>
              </a:prstGeom>
              <a:blipFill>
                <a:blip r:embed="rId2"/>
                <a:stretch>
                  <a:fillRect l="-959" t="-302"/>
                </a:stretch>
              </a:blipFill>
            </p:spPr>
            <p:txBody>
              <a:bodyPr/>
              <a:lstStyle/>
              <a:p>
                <a:r>
                  <a:rPr lang="vi-VN">
                    <a:noFill/>
                  </a:rPr>
                  <a:t> </a:t>
                </a:r>
              </a:p>
            </p:txBody>
          </p:sp>
        </mc:Fallback>
      </mc:AlternateContent>
      <p:pic>
        <p:nvPicPr>
          <p:cNvPr id="16" name="Hình ảnh 15" descr="Ảnh có chứa biểu đồ, hàng, Bản vẽ kỹ thuật, Song song&#10;&#10;Mô tả được tạo tự động">
            <a:extLst>
              <a:ext uri="{FF2B5EF4-FFF2-40B4-BE49-F238E27FC236}">
                <a16:creationId xmlns:a16="http://schemas.microsoft.com/office/drawing/2014/main" id="{8AB71FCF-A63F-8A8D-E9C8-687DF61A7C39}"/>
              </a:ext>
            </a:extLst>
          </p:cNvPr>
          <p:cNvPicPr>
            <a:picLocks noChangeAspect="1"/>
          </p:cNvPicPr>
          <p:nvPr/>
        </p:nvPicPr>
        <p:blipFill>
          <a:blip r:embed="rId3"/>
          <a:stretch>
            <a:fillRect/>
          </a:stretch>
        </p:blipFill>
        <p:spPr>
          <a:xfrm>
            <a:off x="6096000" y="1323258"/>
            <a:ext cx="5731510" cy="2818765"/>
          </a:xfrm>
          <a:prstGeom prst="rect">
            <a:avLst/>
          </a:prstGeom>
        </p:spPr>
      </p:pic>
      <p:sp>
        <p:nvSpPr>
          <p:cNvPr id="19" name="Hộp Văn bản 18">
            <a:extLst>
              <a:ext uri="{FF2B5EF4-FFF2-40B4-BE49-F238E27FC236}">
                <a16:creationId xmlns:a16="http://schemas.microsoft.com/office/drawing/2014/main" id="{72934321-822D-4A3A-C508-DA6E6AFE5B00}"/>
              </a:ext>
            </a:extLst>
          </p:cNvPr>
          <p:cNvSpPr txBox="1"/>
          <p:nvPr/>
        </p:nvSpPr>
        <p:spPr>
          <a:xfrm>
            <a:off x="6549370" y="4368103"/>
            <a:ext cx="4824770" cy="646331"/>
          </a:xfrm>
          <a:prstGeom prst="rect">
            <a:avLst/>
          </a:prstGeom>
          <a:noFill/>
        </p:spPr>
        <p:txBody>
          <a:bodyPr wrap="square">
            <a:spAutoFit/>
          </a:bodyPr>
          <a:lstStyle/>
          <a:p>
            <a:pPr algn="ctr"/>
            <a:r>
              <a:rPr lang="vi-VN" sz="1800" kern="100">
                <a:effectLst/>
                <a:latin typeface="+mj-lt"/>
                <a:ea typeface="Yu Gothic" panose="020B0400000000000000" pitchFamily="34" charset="-128"/>
                <a:cs typeface="Times New Roman" panose="02020603050405020304" pitchFamily="18" charset="0"/>
              </a:rPr>
              <a:t>Đồ thị độ nghiêng của công suất tác dụng P và công suất phản kháng Q</a:t>
            </a:r>
            <a:endParaRPr lang="vi-VN">
              <a:latin typeface="+mj-lt"/>
            </a:endParaRPr>
          </a:p>
        </p:txBody>
      </p:sp>
    </p:spTree>
    <p:extLst>
      <p:ext uri="{BB962C8B-B14F-4D97-AF65-F5344CB8AC3E}">
        <p14:creationId xmlns:p14="http://schemas.microsoft.com/office/powerpoint/2010/main" val="26495414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024DE-9477-9769-48E3-DC10E4D95EC4}"/>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AB050E61-69C9-D397-EE61-A0F5E066CB04}"/>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B744AD6F-82BA-9F46-1D06-97811F2A2F3B}"/>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4989927B-2645-0BC3-5C32-583FD29A2128}"/>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5" name="TextBox 23">
            <a:extLst>
              <a:ext uri="{FF2B5EF4-FFF2-40B4-BE49-F238E27FC236}">
                <a16:creationId xmlns:a16="http://schemas.microsoft.com/office/drawing/2014/main" id="{BB511469-BB01-C11A-67CD-E839CDDEFA30}"/>
              </a:ext>
            </a:extLst>
          </p:cNvPr>
          <p:cNvSpPr txBox="1"/>
          <p:nvPr/>
        </p:nvSpPr>
        <p:spPr>
          <a:xfrm>
            <a:off x="374948" y="1036129"/>
            <a:ext cx="7463708" cy="400110"/>
          </a:xfrm>
          <a:prstGeom prst="rect">
            <a:avLst/>
          </a:prstGeom>
          <a:noFill/>
        </p:spPr>
        <p:txBody>
          <a:bodyPr wrap="square" rtlCol="0">
            <a:spAutoFit/>
          </a:bodyPr>
          <a:lstStyle/>
          <a:p>
            <a:pPr defTabSz="609585">
              <a:defRPr/>
            </a:pPr>
            <a:r>
              <a:rPr lang="vi-VN" sz="2000" b="1">
                <a:solidFill>
                  <a:prstClr val="black"/>
                </a:solidFill>
                <a:latin typeface="Times New Roman" panose="02020603050405020304" pitchFamily="18" charset="0"/>
                <a:cs typeface="Times New Roman" panose="02020603050405020304" pitchFamily="18" charset="0"/>
              </a:rPr>
              <a:t>2.7. Cơ sở của </a:t>
            </a:r>
            <a:r>
              <a:rPr lang="vi-VN" sz="2000" b="1" err="1">
                <a:solidFill>
                  <a:prstClr val="black"/>
                </a:solidFill>
                <a:latin typeface="Times New Roman" panose="02020603050405020304" pitchFamily="18" charset="0"/>
                <a:cs typeface="Times New Roman" panose="02020603050405020304" pitchFamily="18" charset="0"/>
              </a:rPr>
              <a:t>Droop</a:t>
            </a:r>
            <a:r>
              <a:rPr lang="vi-VN" sz="2000" b="1">
                <a:solidFill>
                  <a:prstClr val="black"/>
                </a:solidFill>
                <a:latin typeface="Times New Roman" panose="02020603050405020304" pitchFamily="18" charset="0"/>
                <a:cs typeface="Times New Roman" panose="02020603050405020304" pitchFamily="18" charset="0"/>
              </a:rPr>
              <a:t> </a:t>
            </a:r>
            <a:r>
              <a:rPr lang="vi-VN" sz="2000" b="1" err="1">
                <a:solidFill>
                  <a:prstClr val="black"/>
                </a:solidFill>
                <a:latin typeface="Times New Roman" panose="02020603050405020304" pitchFamily="18" charset="0"/>
                <a:cs typeface="Times New Roman" panose="02020603050405020304" pitchFamily="18" charset="0"/>
              </a:rPr>
              <a:t>Control</a:t>
            </a:r>
            <a:endParaRPr lang="vi-VN" sz="2000" b="1">
              <a:solidFill>
                <a:prstClr val="black"/>
              </a:solidFill>
              <a:latin typeface="Times New Roman" panose="02020603050405020304" pitchFamily="18" charset="0"/>
              <a:cs typeface="Times New Roman" panose="02020603050405020304" pitchFamily="18" charset="0"/>
            </a:endParaRPr>
          </a:p>
        </p:txBody>
      </p:sp>
      <p:sp>
        <p:nvSpPr>
          <p:cNvPr id="19" name="Hộp Văn bản 18">
            <a:extLst>
              <a:ext uri="{FF2B5EF4-FFF2-40B4-BE49-F238E27FC236}">
                <a16:creationId xmlns:a16="http://schemas.microsoft.com/office/drawing/2014/main" id="{06D46437-4602-B221-2540-745C013BAF88}"/>
              </a:ext>
            </a:extLst>
          </p:cNvPr>
          <p:cNvSpPr txBox="1"/>
          <p:nvPr/>
        </p:nvSpPr>
        <p:spPr>
          <a:xfrm>
            <a:off x="6549370" y="4368103"/>
            <a:ext cx="4824770" cy="646331"/>
          </a:xfrm>
          <a:prstGeom prst="rect">
            <a:avLst/>
          </a:prstGeom>
          <a:noFill/>
        </p:spPr>
        <p:txBody>
          <a:bodyPr wrap="square">
            <a:spAutoFit/>
          </a:bodyPr>
          <a:lstStyle/>
          <a:p>
            <a:pPr algn="ctr"/>
            <a:r>
              <a:rPr lang="vi-VN" sz="1800" kern="100">
                <a:effectLst/>
                <a:latin typeface="+mj-lt"/>
                <a:ea typeface="Yu Gothic" panose="020B0400000000000000" pitchFamily="34" charset="-128"/>
                <a:cs typeface="Times New Roman" panose="02020603050405020304" pitchFamily="18" charset="0"/>
              </a:rPr>
              <a:t>Đồ thị độ nghiêng của công suất tác dụng P và công suất phản kháng Q</a:t>
            </a:r>
            <a:endParaRPr lang="vi-VN">
              <a:latin typeface="+mj-lt"/>
            </a:endParaRPr>
          </a:p>
        </p:txBody>
      </p: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F6D9356B-087B-31AD-A7BB-AF9F3202D7F5}"/>
                  </a:ext>
                </a:extLst>
              </p:cNvPr>
              <p:cNvSpPr txBox="1"/>
              <p:nvPr/>
            </p:nvSpPr>
            <p:spPr>
              <a:xfrm>
                <a:off x="374948" y="1607339"/>
                <a:ext cx="5121180" cy="3402983"/>
              </a:xfrm>
              <a:prstGeom prst="rect">
                <a:avLst/>
              </a:prstGeom>
              <a:noFill/>
            </p:spPr>
            <p:txBody>
              <a:bodyPr wrap="square">
                <a:spAutoFit/>
              </a:bodyPr>
              <a:lstStyle/>
              <a:p>
                <a:pPr marL="0" marR="0">
                  <a:lnSpc>
                    <a:spcPct val="115000"/>
                  </a:lnSpc>
                  <a:spcAft>
                    <a:spcPts val="800"/>
                  </a:spcAft>
                </a:pPr>
                <a:r>
                  <a:rPr lang="vi-VN" sz="1800" kern="100">
                    <a:effectLst/>
                    <a:latin typeface="+mj-lt"/>
                    <a:ea typeface="Yu Gothic" panose="020B0400000000000000" pitchFamily="34" charset="-128"/>
                    <a:cs typeface="Times New Roman" panose="02020603050405020304" pitchFamily="18" charset="0"/>
                  </a:rPr>
                  <a:t>Xét với tải trở, tức </a:t>
                </a:r>
                <a14:m>
                  <m:oMath xmlns:m="http://schemas.openxmlformats.org/officeDocument/2006/math">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𝑍</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𝑅</m:t>
                    </m:r>
                  </m:oMath>
                </a14:m>
                <a:r>
                  <a:rPr lang="vi-VN" sz="1800" kern="100">
                    <a:effectLst/>
                    <a:latin typeface="+mj-lt"/>
                    <a:ea typeface="Yu Gothic" panose="020B0400000000000000" pitchFamily="34" charset="-128"/>
                    <a:cs typeface="Times New Roman" panose="02020603050405020304" pitchFamily="18" charset="0"/>
                  </a:rPr>
                  <a:t>, ta suy ra </a:t>
                </a:r>
                <a14:m>
                  <m:oMath xmlns:m="http://schemas.openxmlformats.org/officeDocument/2006/math">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𝜃</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0</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𝑜</m:t>
                        </m:r>
                      </m:sup>
                    </m:sSup>
                  </m:oMath>
                </a14:m>
                <a:endParaRPr lang="vi-VN" sz="1800" kern="100">
                  <a:effectLst/>
                  <a:latin typeface="+mj-lt"/>
                  <a:ea typeface="Yu Gothic" panose="020B0400000000000000" pitchFamily="34" charset="-128"/>
                  <a:cs typeface="Times New Roman" panose="02020603050405020304" pitchFamily="18" charset="0"/>
                </a:endParaRPr>
              </a:p>
              <a:p>
                <a:pPr marL="0" marR="0">
                  <a:lnSpc>
                    <a:spcPct val="115000"/>
                  </a:lnSpc>
                  <a:spcAft>
                    <a:spcPts val="800"/>
                  </a:spcAft>
                </a:pPr>
                <a14:m>
                  <m:oMathPara xmlns:m="http://schemas.openxmlformats.org/officeDocument/2006/math">
                    <m:oMath>
                      <m:d>
                        <m:dPr>
                          <m:begChr m:val="{"/>
                          <m:endChr m:val=""/>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dPr>
                        <m:e>
                          <m:eqArr>
                            <m:eqArr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eqArr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𝑃</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𝐸𝑉</m:t>
                                  </m:r>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𝑋</m:t>
                                  </m:r>
                                </m:den>
                              </m:f>
                              <m:func>
                                <m:func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uncPr>
                                <m:fNa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𝑐𝑜𝑠</m:t>
                                  </m:r>
                                </m:fName>
                                <m:e>
                                  <m:d>
                                    <m:d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d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𝛿</m:t>
                                      </m:r>
                                    </m:e>
                                  </m:d>
                                </m:e>
                              </m:func>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𝑉</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2</m:t>
                                      </m:r>
                                    </m:sup>
                                  </m:sSup>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𝑋</m:t>
                                  </m:r>
                                </m:den>
                              </m:f>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𝐸𝑉</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𝑉</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2</m:t>
                                      </m:r>
                                    </m:sup>
                                  </m:sSup>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𝑋</m:t>
                                  </m:r>
                                </m:den>
                              </m:f>
                            </m:e>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𝑄</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𝐸𝑉</m:t>
                                  </m:r>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𝑋</m:t>
                                  </m:r>
                                </m:den>
                              </m:f>
                              <m:func>
                                <m:func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uncPr>
                                <m:fNa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𝑠𝑖𝑛</m:t>
                                  </m:r>
                                </m:fName>
                                <m:e>
                                  <m:d>
                                    <m:d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d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𝛿</m:t>
                                      </m:r>
                                    </m:e>
                                  </m:d>
                                </m:e>
                              </m:func>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𝐸𝑉</m:t>
                                  </m:r>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𝑋</m:t>
                                  </m:r>
                                </m:den>
                              </m:f>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𝛿</m:t>
                              </m:r>
                            </m:e>
                          </m:eqArr>
                        </m:e>
                      </m:d>
                    </m:oMath>
                  </m:oMathPara>
                </a14:m>
                <a:endParaRPr lang="vi-VN" sz="1800" kern="100">
                  <a:effectLst/>
                  <a:latin typeface="+mj-lt"/>
                  <a:ea typeface="Yu Gothic" panose="020B0400000000000000" pitchFamily="34" charset="-128"/>
                  <a:cs typeface="Times New Roman" panose="02020603050405020304" pitchFamily="18" charset="0"/>
                </a:endParaRPr>
              </a:p>
              <a:p>
                <a:pPr marL="0" marR="0">
                  <a:lnSpc>
                    <a:spcPct val="115000"/>
                  </a:lnSpc>
                  <a:spcAft>
                    <a:spcPts val="800"/>
                  </a:spcAft>
                </a:pPr>
                <a:r>
                  <a:rPr lang="vi-VN" sz="1800" kern="100">
                    <a:effectLst/>
                    <a:latin typeface="+mj-lt"/>
                    <a:ea typeface="Yu Gothic" panose="020B0400000000000000" pitchFamily="34" charset="-128"/>
                    <a:cs typeface="Times New Roman" panose="02020603050405020304" pitchFamily="18" charset="0"/>
                  </a:rPr>
                  <a:t>Thực hiện tương tự như với tải cảm:</a:t>
                </a:r>
                <a:endParaRPr lang="vi-VN" sz="1800" i="1" kern="100">
                  <a:effectLst/>
                  <a:latin typeface="+mj-lt"/>
                  <a:ea typeface="Yu Gothic" panose="020B0400000000000000" pitchFamily="34" charset="-128"/>
                  <a:cs typeface="Times New Roman" panose="02020603050405020304" pitchFamily="18" charset="0"/>
                </a:endParaRPr>
              </a:p>
              <a:p>
                <a:pPr marL="0" marR="0">
                  <a:lnSpc>
                    <a:spcPct val="115000"/>
                  </a:lnSpc>
                  <a:spcAft>
                    <a:spcPts val="800"/>
                  </a:spcAft>
                </a:pPr>
                <a14:m>
                  <m:oMathPara xmlns:m="http://schemas.openxmlformats.org/officeDocument/2006/math">
                    <m:oMath>
                      <m:d>
                        <m:dPr>
                          <m:begChr m:val="{"/>
                          <m:endChr m:val=""/>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dPr>
                        <m:e>
                          <m:eqArr>
                            <m:eqArr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eqArr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𝜔</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𝜔</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up>
                              </m:s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b>
                                <m:sSub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b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𝑛</m:t>
                                  </m:r>
                                </m:e>
                                <m:sub>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𝑞</m:t>
                                  </m:r>
                                </m:sub>
                              </m:sSub>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𝑄</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𝑄</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up>
                              </m:s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e>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𝑉</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𝑉</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up>
                              </m:s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b>
                                <m:sSub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b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𝑚</m:t>
                                  </m:r>
                                </m:e>
                                <m:sub>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𝑝</m:t>
                                  </m:r>
                                </m:sub>
                              </m:sSub>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𝑃</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p>
                                <m:sSup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p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𝑃</m:t>
                                  </m:r>
                                </m:e>
                                <m: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up>
                              </m:sSup>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e>
                          </m:eqArr>
                        </m:e>
                      </m:d>
                    </m:oMath>
                  </m:oMathPara>
                </a14:m>
                <a:endParaRPr lang="vi-VN" sz="1800" kern="100">
                  <a:effectLst/>
                  <a:latin typeface="+mj-lt"/>
                  <a:ea typeface="Yu Gothic" panose="020B0400000000000000" pitchFamily="34" charset="-128"/>
                  <a:cs typeface="Times New Roman" panose="02020603050405020304" pitchFamily="18" charset="0"/>
                </a:endParaRPr>
              </a:p>
            </p:txBody>
          </p:sp>
        </mc:Choice>
        <mc:Fallback xmlns="">
          <p:sp>
            <p:nvSpPr>
              <p:cNvPr id="8" name="Hộp Văn bản 7">
                <a:extLst>
                  <a:ext uri="{FF2B5EF4-FFF2-40B4-BE49-F238E27FC236}">
                    <a16:creationId xmlns:a16="http://schemas.microsoft.com/office/drawing/2014/main" id="{F6D9356B-087B-31AD-A7BB-AF9F3202D7F5}"/>
                  </a:ext>
                </a:extLst>
              </p:cNvPr>
              <p:cNvSpPr txBox="1">
                <a:spLocks noRot="1" noChangeAspect="1" noMove="1" noResize="1" noEditPoints="1" noAdjustHandles="1" noChangeArrowheads="1" noChangeShapeType="1" noTextEdit="1"/>
              </p:cNvSpPr>
              <p:nvPr/>
            </p:nvSpPr>
            <p:spPr>
              <a:xfrm>
                <a:off x="374948" y="1607339"/>
                <a:ext cx="5121180" cy="3402983"/>
              </a:xfrm>
              <a:prstGeom prst="rect">
                <a:avLst/>
              </a:prstGeom>
              <a:blipFill>
                <a:blip r:embed="rId2"/>
                <a:stretch>
                  <a:fillRect l="-1071" t="-538"/>
                </a:stretch>
              </a:blipFill>
            </p:spPr>
            <p:txBody>
              <a:bodyPr/>
              <a:lstStyle/>
              <a:p>
                <a:r>
                  <a:rPr lang="vi-VN">
                    <a:noFill/>
                  </a:rPr>
                  <a:t> </a:t>
                </a:r>
              </a:p>
            </p:txBody>
          </p:sp>
        </mc:Fallback>
      </mc:AlternateContent>
      <p:pic>
        <p:nvPicPr>
          <p:cNvPr id="9" name="Hình ảnh 8" descr="Ảnh có chứa biểu đồ, hàng, Bản vẽ kỹ thuật, Song song&#10;&#10;Mô tả được tạo tự động">
            <a:extLst>
              <a:ext uri="{FF2B5EF4-FFF2-40B4-BE49-F238E27FC236}">
                <a16:creationId xmlns:a16="http://schemas.microsoft.com/office/drawing/2014/main" id="{B74EECAD-386B-4E98-08EE-E9EDC40D3699}"/>
              </a:ext>
            </a:extLst>
          </p:cNvPr>
          <p:cNvPicPr>
            <a:picLocks noChangeAspect="1"/>
          </p:cNvPicPr>
          <p:nvPr/>
        </p:nvPicPr>
        <p:blipFill>
          <a:blip r:embed="rId3"/>
          <a:stretch>
            <a:fillRect/>
          </a:stretch>
        </p:blipFill>
        <p:spPr>
          <a:xfrm>
            <a:off x="5370279" y="1244151"/>
            <a:ext cx="6721204" cy="2781265"/>
          </a:xfrm>
          <a:prstGeom prst="rect">
            <a:avLst/>
          </a:prstGeom>
        </p:spPr>
      </p:pic>
    </p:spTree>
    <p:extLst>
      <p:ext uri="{BB962C8B-B14F-4D97-AF65-F5344CB8AC3E}">
        <p14:creationId xmlns:p14="http://schemas.microsoft.com/office/powerpoint/2010/main" val="6978911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AFE91-4C4C-5D8B-DB67-E3D2E7680FF3}"/>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0D58C405-68B6-5930-B50A-DFC3E22B7037}"/>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B5979718-17A5-72BF-2075-43310DC0ACAB}"/>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5371E6CA-6F02-B375-ADD6-4BAF2136ED14}"/>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5" name="TextBox 23">
            <a:extLst>
              <a:ext uri="{FF2B5EF4-FFF2-40B4-BE49-F238E27FC236}">
                <a16:creationId xmlns:a16="http://schemas.microsoft.com/office/drawing/2014/main" id="{3146FBA6-2FAD-FC2F-6A6E-CAB7D7594AD7}"/>
              </a:ext>
            </a:extLst>
          </p:cNvPr>
          <p:cNvSpPr txBox="1"/>
          <p:nvPr/>
        </p:nvSpPr>
        <p:spPr>
          <a:xfrm>
            <a:off x="374948" y="1036129"/>
            <a:ext cx="10549214" cy="400110"/>
          </a:xfrm>
          <a:prstGeom prst="rect">
            <a:avLst/>
          </a:prstGeom>
          <a:noFill/>
        </p:spPr>
        <p:txBody>
          <a:bodyPr wrap="square" rtlCol="0">
            <a:spAutoFit/>
          </a:bodyPr>
          <a:lstStyle/>
          <a:p>
            <a:pPr defTabSz="609585">
              <a:defRPr/>
            </a:pPr>
            <a:r>
              <a:rPr lang="vi-VN" sz="2000" b="1">
                <a:solidFill>
                  <a:prstClr val="black"/>
                </a:solidFill>
                <a:latin typeface="Times New Roman" panose="02020603050405020304" pitchFamily="18" charset="0"/>
                <a:cs typeface="Times New Roman" panose="02020603050405020304" pitchFamily="18" charset="0"/>
              </a:rPr>
              <a:t>2.8. Thiết kế bộ điều khiển điện áp và dòng điện cho sơ đồ vòng kín trên miền liên tục</a:t>
            </a:r>
          </a:p>
        </p:txBody>
      </p:sp>
      <p:sp>
        <p:nvSpPr>
          <p:cNvPr id="14" name="Hộp Văn bản 13">
            <a:extLst>
              <a:ext uri="{FF2B5EF4-FFF2-40B4-BE49-F238E27FC236}">
                <a16:creationId xmlns:a16="http://schemas.microsoft.com/office/drawing/2014/main" id="{EC334493-0E61-67C3-CCAE-F02F8673E341}"/>
              </a:ext>
            </a:extLst>
          </p:cNvPr>
          <p:cNvSpPr txBox="1"/>
          <p:nvPr/>
        </p:nvSpPr>
        <p:spPr>
          <a:xfrm>
            <a:off x="2969368" y="5965571"/>
            <a:ext cx="6094378" cy="369332"/>
          </a:xfrm>
          <a:prstGeom prst="rect">
            <a:avLst/>
          </a:prstGeom>
          <a:noFill/>
        </p:spPr>
        <p:txBody>
          <a:bodyPr wrap="square">
            <a:spAutoFit/>
          </a:bodyPr>
          <a:lstStyle/>
          <a:p>
            <a:pPr algn="ctr"/>
            <a:r>
              <a:rPr lang="vi-VN" sz="1800" kern="100">
                <a:effectLst/>
                <a:latin typeface="+mj-lt"/>
                <a:ea typeface="Yu Gothic" panose="020B0400000000000000" pitchFamily="34" charset="-128"/>
                <a:cs typeface="Times New Roman" panose="02020603050405020304" pitchFamily="18" charset="0"/>
              </a:rPr>
              <a:t>Sơ đồ mạch lực đơn giản bộ nghịch lưu vòng hở</a:t>
            </a:r>
            <a:endParaRPr lang="vi-VN">
              <a:latin typeface="+mj-lt"/>
            </a:endParaRPr>
          </a:p>
        </p:txBody>
      </p:sp>
      <p:pic>
        <p:nvPicPr>
          <p:cNvPr id="10" name="Hình ảnh 9" descr="Ảnh có chứa biểu đồ, văn bản, Bản vẽ kỹ thuật, hàng&#10;&#10;Mô tả được tạo tự động">
            <a:extLst>
              <a:ext uri="{FF2B5EF4-FFF2-40B4-BE49-F238E27FC236}">
                <a16:creationId xmlns:a16="http://schemas.microsoft.com/office/drawing/2014/main" id="{ECF2D534-5120-3B2C-61D7-05BABE818E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38844" y="1605065"/>
            <a:ext cx="8739879" cy="4258840"/>
          </a:xfrm>
          <a:prstGeom prst="rect">
            <a:avLst/>
          </a:prstGeom>
        </p:spPr>
      </p:pic>
    </p:spTree>
    <p:extLst>
      <p:ext uri="{BB962C8B-B14F-4D97-AF65-F5344CB8AC3E}">
        <p14:creationId xmlns:p14="http://schemas.microsoft.com/office/powerpoint/2010/main" val="738510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88A3B-EFDF-8995-93D7-DCD0413CD7E8}"/>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F99D4A21-3D75-B3EC-A8A9-72281B2C5B55}"/>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B50CA50E-B0EA-36AB-E4E7-DB0E39BA6653}"/>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4C783863-6A3F-EB0B-ACE1-AA9CC42A8238}"/>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9" name="Hộp Văn bản 8">
            <a:extLst>
              <a:ext uri="{FF2B5EF4-FFF2-40B4-BE49-F238E27FC236}">
                <a16:creationId xmlns:a16="http://schemas.microsoft.com/office/drawing/2014/main" id="{E06C78BB-D476-1365-2378-8AAD54F9F1CD}"/>
              </a:ext>
            </a:extLst>
          </p:cNvPr>
          <p:cNvSpPr txBox="1"/>
          <p:nvPr/>
        </p:nvSpPr>
        <p:spPr>
          <a:xfrm>
            <a:off x="4923277" y="4241260"/>
            <a:ext cx="6094378" cy="369332"/>
          </a:xfrm>
          <a:prstGeom prst="rect">
            <a:avLst/>
          </a:prstGeom>
          <a:noFill/>
        </p:spPr>
        <p:txBody>
          <a:bodyPr wrap="square">
            <a:spAutoFit/>
          </a:bodyPr>
          <a:lstStyle/>
          <a:p>
            <a:r>
              <a:rPr lang="en-ID" i="1" err="1">
                <a:latin typeface="Times New Roman" panose="02020603050405020304" pitchFamily="18" charset="0"/>
                <a:cs typeface="Times New Roman" panose="02020603050405020304" pitchFamily="18" charset="0"/>
              </a:rPr>
              <a:t>Mô</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tả</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toán</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học</a:t>
            </a:r>
            <a:r>
              <a:rPr lang="en-ID" i="1">
                <a:latin typeface="Times New Roman" panose="02020603050405020304" pitchFamily="18" charset="0"/>
                <a:cs typeface="Times New Roman" panose="02020603050405020304" pitchFamily="18" charset="0"/>
              </a:rPr>
              <a:t> </a:t>
            </a:r>
            <a:r>
              <a:rPr lang="vi-VN" i="1">
                <a:latin typeface="Times New Roman" panose="02020603050405020304" pitchFamily="18" charset="0"/>
                <a:cs typeface="Times New Roman" panose="02020603050405020304" pitchFamily="18" charset="0"/>
              </a:rPr>
              <a:t>nghịch lưu vòng hở trên miền toán tử </a:t>
            </a:r>
            <a:r>
              <a:rPr lang="vi-VN" i="1" err="1">
                <a:latin typeface="Times New Roman" panose="02020603050405020304" pitchFamily="18" charset="0"/>
                <a:cs typeface="Times New Roman" panose="02020603050405020304" pitchFamily="18" charset="0"/>
              </a:rPr>
              <a:t>Laplace</a:t>
            </a:r>
            <a:r>
              <a:rPr lang="vi-VN" i="1">
                <a:latin typeface="Times New Roman" panose="02020603050405020304" pitchFamily="18" charset="0"/>
                <a:cs typeface="Times New Roman" panose="02020603050405020304" pitchFamily="18" charset="0"/>
              </a:rPr>
              <a:t> </a:t>
            </a:r>
            <a:endParaRPr lang="en-ID" i="1">
              <a:latin typeface="Times New Roman" panose="02020603050405020304" pitchFamily="18" charset="0"/>
              <a:cs typeface="Times New Roman" panose="02020603050405020304" pitchFamily="18" charset="0"/>
            </a:endParaRPr>
          </a:p>
        </p:txBody>
      </p:sp>
      <p:sp>
        <p:nvSpPr>
          <p:cNvPr id="11" name="Hộp Văn bản 10">
            <a:extLst>
              <a:ext uri="{FF2B5EF4-FFF2-40B4-BE49-F238E27FC236}">
                <a16:creationId xmlns:a16="http://schemas.microsoft.com/office/drawing/2014/main" id="{B3EAF045-0738-EEAB-9C1A-09046F6053CD}"/>
              </a:ext>
            </a:extLst>
          </p:cNvPr>
          <p:cNvSpPr txBox="1"/>
          <p:nvPr/>
        </p:nvSpPr>
        <p:spPr>
          <a:xfrm>
            <a:off x="424985" y="1686446"/>
            <a:ext cx="2708508" cy="1323439"/>
          </a:xfrm>
          <a:prstGeom prst="rect">
            <a:avLst/>
          </a:prstGeom>
          <a:noFill/>
        </p:spPr>
        <p:txBody>
          <a:bodyPr wrap="square">
            <a:spAutoFit/>
          </a:bodyPr>
          <a:lstStyle/>
          <a:p>
            <a:r>
              <a:rPr lang="vi-VN" sz="2000" kern="100">
                <a:effectLst/>
                <a:latin typeface="Times New Roman" panose="02020603050405020304" pitchFamily="18" charset="0"/>
                <a:ea typeface="Yu Gothic" panose="020B0400000000000000" pitchFamily="34" charset="-128"/>
                <a:cs typeface="Times New Roman" panose="02020603050405020304" pitchFamily="18" charset="0"/>
              </a:rPr>
              <a:t>Hệ phương trình không gian trạng thái mô tả bộ biến đổi nghịch lưu vòng hở:</a:t>
            </a:r>
            <a:endParaRPr lang="vi-VN" sz="200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Hộp Văn bản 13">
                <a:extLst>
                  <a:ext uri="{FF2B5EF4-FFF2-40B4-BE49-F238E27FC236}">
                    <a16:creationId xmlns:a16="http://schemas.microsoft.com/office/drawing/2014/main" id="{BBE861AA-71A8-66BD-7CD2-94DB19F91EED}"/>
                  </a:ext>
                </a:extLst>
              </p:cNvPr>
              <p:cNvSpPr txBox="1"/>
              <p:nvPr/>
            </p:nvSpPr>
            <p:spPr>
              <a:xfrm>
                <a:off x="292196" y="3136982"/>
                <a:ext cx="2293296" cy="1664430"/>
              </a:xfrm>
              <a:prstGeom prst="rect">
                <a:avLst/>
              </a:prstGeom>
              <a:noFill/>
            </p:spPr>
            <p:txBody>
              <a:bodyPr wrap="square">
                <a:spAutoFit/>
              </a:bodyPr>
              <a:lstStyle/>
              <a:p>
                <a:pPr/>
                <a14:m>
                  <m:oMathPara xmlns:m="http://schemas.openxmlformats.org/officeDocument/2006/math">
                    <m:oMath>
                      <m:d>
                        <m:dPr>
                          <m:begChr m:val="{"/>
                          <m:endChr m:val=""/>
                          <m:ctrlPr>
                            <a:rPr lang="vi-VN" sz="2000" i="1">
                              <a:solidFill>
                                <a:srgbClr val="836967"/>
                              </a:solidFill>
                              <a:latin typeface="Cambria Math" panose="02040503050406030204" pitchFamily="18" charset="0"/>
                            </a:rPr>
                          </m:ctrlPr>
                        </m:dPr>
                        <m:e>
                          <m:eqArr>
                            <m:eqArrPr>
                              <m:ctrlPr>
                                <a:rPr lang="vi-VN" sz="2000" i="1">
                                  <a:solidFill>
                                    <a:srgbClr val="836967"/>
                                  </a:solidFill>
                                  <a:latin typeface="Cambria Math" panose="02040503050406030204" pitchFamily="18" charset="0"/>
                                </a:rPr>
                              </m:ctrlPr>
                            </m:eqArrPr>
                            <m:e>
                              <m:r>
                                <a:rPr lang="vi-VN" sz="2000">
                                  <a:latin typeface="Cambria Math" panose="02040503050406030204" pitchFamily="18" charset="0"/>
                                </a:rPr>
                                <m:t>&amp;</m:t>
                              </m:r>
                              <m:f>
                                <m:fPr>
                                  <m:ctrlPr>
                                    <a:rPr lang="vi-VN" sz="2000" i="1">
                                      <a:solidFill>
                                        <a:srgbClr val="836967"/>
                                      </a:solidFill>
                                      <a:latin typeface="Cambria Math" panose="02040503050406030204" pitchFamily="18" charset="0"/>
                                    </a:rPr>
                                  </m:ctrlPr>
                                </m:fPr>
                                <m:num>
                                  <m:sSub>
                                    <m:sSubPr>
                                      <m:ctrlPr>
                                        <a:rPr lang="vi-VN" sz="2000" i="1">
                                          <a:latin typeface="Cambria Math" panose="02040503050406030204" pitchFamily="18" charset="0"/>
                                        </a:rPr>
                                      </m:ctrlPr>
                                    </m:sSubPr>
                                    <m:e>
                                      <m:r>
                                        <a:rPr lang="vi-VN" sz="2000" i="1">
                                          <a:latin typeface="Cambria Math" panose="02040503050406030204" pitchFamily="18" charset="0"/>
                                        </a:rPr>
                                        <m:t>𝑈</m:t>
                                      </m:r>
                                    </m:e>
                                    <m:sub>
                                      <m:r>
                                        <a:rPr lang="vi-VN" sz="2000" i="1">
                                          <a:latin typeface="Cambria Math" panose="02040503050406030204" pitchFamily="18" charset="0"/>
                                        </a:rPr>
                                        <m:t>𝑠</m:t>
                                      </m:r>
                                    </m:sub>
                                  </m:sSub>
                                  <m:r>
                                    <a:rPr lang="vi-VN" sz="2000" i="0">
                                      <a:latin typeface="Cambria Math" panose="02040503050406030204" pitchFamily="18" charset="0"/>
                                    </a:rPr>
                                    <m:t>−</m:t>
                                  </m:r>
                                  <m:sSub>
                                    <m:sSubPr>
                                      <m:ctrlPr>
                                        <a:rPr lang="vi-VN" sz="2000" i="1">
                                          <a:latin typeface="Cambria Math" panose="02040503050406030204" pitchFamily="18" charset="0"/>
                                        </a:rPr>
                                      </m:ctrlPr>
                                    </m:sSubPr>
                                    <m:e>
                                      <m:r>
                                        <a:rPr lang="vi-VN" sz="2000" i="1">
                                          <a:latin typeface="Cambria Math" panose="02040503050406030204" pitchFamily="18" charset="0"/>
                                        </a:rPr>
                                        <m:t>𝑈</m:t>
                                      </m:r>
                                    </m:e>
                                    <m:sub>
                                      <m:r>
                                        <a:rPr lang="vi-VN" sz="2000" i="1">
                                          <a:latin typeface="Cambria Math" panose="02040503050406030204" pitchFamily="18" charset="0"/>
                                        </a:rPr>
                                        <m:t>𝑜</m:t>
                                      </m:r>
                                    </m:sub>
                                  </m:sSub>
                                </m:num>
                                <m:den>
                                  <m:r>
                                    <a:rPr lang="vi-VN" sz="2000" i="1">
                                      <a:latin typeface="Cambria Math" panose="02040503050406030204" pitchFamily="18" charset="0"/>
                                    </a:rPr>
                                    <m:t>𝐿𝑠</m:t>
                                  </m:r>
                                  <m:r>
                                    <a:rPr lang="vi-VN" sz="2000" i="0">
                                      <a:latin typeface="Cambria Math" panose="02040503050406030204" pitchFamily="18" charset="0"/>
                                    </a:rPr>
                                    <m:t>+</m:t>
                                  </m:r>
                                  <m:r>
                                    <a:rPr lang="vi-VN" sz="2000" i="1">
                                      <a:latin typeface="Cambria Math" panose="02040503050406030204" pitchFamily="18" charset="0"/>
                                    </a:rPr>
                                    <m:t>𝑟</m:t>
                                  </m:r>
                                </m:den>
                              </m:f>
                              <m:r>
                                <a:rPr lang="vi-VN" sz="2000" i="0">
                                  <a:latin typeface="Cambria Math" panose="02040503050406030204" pitchFamily="18" charset="0"/>
                                </a:rPr>
                                <m:t>=</m:t>
                              </m:r>
                              <m:sSub>
                                <m:sSubPr>
                                  <m:ctrlPr>
                                    <a:rPr lang="vi-VN" sz="2000" i="1">
                                      <a:latin typeface="Cambria Math" panose="02040503050406030204" pitchFamily="18" charset="0"/>
                                    </a:rPr>
                                  </m:ctrlPr>
                                </m:sSubPr>
                                <m:e>
                                  <m:r>
                                    <a:rPr lang="vi-VN" sz="2000" i="1">
                                      <a:latin typeface="Cambria Math" panose="02040503050406030204" pitchFamily="18" charset="0"/>
                                    </a:rPr>
                                    <m:t>𝑖</m:t>
                                  </m:r>
                                </m:e>
                                <m:sub>
                                  <m:r>
                                    <a:rPr lang="vi-VN" sz="2000" i="1">
                                      <a:latin typeface="Cambria Math" panose="02040503050406030204" pitchFamily="18" charset="0"/>
                                    </a:rPr>
                                    <m:t>𝐿</m:t>
                                  </m:r>
                                </m:sub>
                              </m:sSub>
                            </m:e>
                            <m:e>
                              <m:r>
                                <a:rPr lang="vi-VN" sz="2000" i="0">
                                  <a:latin typeface="Cambria Math" panose="02040503050406030204" pitchFamily="18" charset="0"/>
                                </a:rPr>
                                <m:t>&amp;</m:t>
                              </m:r>
                              <m:sSub>
                                <m:sSubPr>
                                  <m:ctrlPr>
                                    <a:rPr lang="vi-VN" sz="2000" i="1">
                                      <a:latin typeface="Cambria Math" panose="02040503050406030204" pitchFamily="18" charset="0"/>
                                    </a:rPr>
                                  </m:ctrlPr>
                                </m:sSubPr>
                                <m:e>
                                  <m:r>
                                    <a:rPr lang="vi-VN" sz="2000" i="1">
                                      <a:latin typeface="Cambria Math" panose="02040503050406030204" pitchFamily="18" charset="0"/>
                                    </a:rPr>
                                    <m:t>𝑖</m:t>
                                  </m:r>
                                </m:e>
                                <m:sub>
                                  <m:r>
                                    <a:rPr lang="vi-VN" sz="2000" i="1">
                                      <a:latin typeface="Cambria Math" panose="02040503050406030204" pitchFamily="18" charset="0"/>
                                    </a:rPr>
                                    <m:t>𝐿</m:t>
                                  </m:r>
                                </m:sub>
                              </m:sSub>
                              <m:r>
                                <a:rPr lang="vi-VN" sz="2000" i="0">
                                  <a:latin typeface="Cambria Math" panose="02040503050406030204" pitchFamily="18" charset="0"/>
                                </a:rPr>
                                <m:t>−</m:t>
                              </m:r>
                              <m:sSub>
                                <m:sSubPr>
                                  <m:ctrlPr>
                                    <a:rPr lang="vi-VN" sz="2000" i="1">
                                      <a:latin typeface="Cambria Math" panose="02040503050406030204" pitchFamily="18" charset="0"/>
                                    </a:rPr>
                                  </m:ctrlPr>
                                </m:sSubPr>
                                <m:e>
                                  <m:r>
                                    <a:rPr lang="vi-VN" sz="2000" i="1">
                                      <a:latin typeface="Cambria Math" panose="02040503050406030204" pitchFamily="18" charset="0"/>
                                    </a:rPr>
                                    <m:t>𝑖</m:t>
                                  </m:r>
                                </m:e>
                                <m:sub>
                                  <m:r>
                                    <a:rPr lang="vi-VN" sz="2000" i="1">
                                      <a:latin typeface="Cambria Math" panose="02040503050406030204" pitchFamily="18" charset="0"/>
                                    </a:rPr>
                                    <m:t>𝑜</m:t>
                                  </m:r>
                                </m:sub>
                              </m:sSub>
                              <m:r>
                                <a:rPr lang="vi-VN" sz="2000" i="0">
                                  <a:latin typeface="Cambria Math" panose="02040503050406030204" pitchFamily="18" charset="0"/>
                                </a:rPr>
                                <m:t>=</m:t>
                              </m:r>
                              <m:sSub>
                                <m:sSubPr>
                                  <m:ctrlPr>
                                    <a:rPr lang="vi-VN" sz="2000" i="1">
                                      <a:latin typeface="Cambria Math" panose="02040503050406030204" pitchFamily="18" charset="0"/>
                                    </a:rPr>
                                  </m:ctrlPr>
                                </m:sSubPr>
                                <m:e>
                                  <m:r>
                                    <a:rPr lang="vi-VN" sz="2000" i="1">
                                      <a:latin typeface="Cambria Math" panose="02040503050406030204" pitchFamily="18" charset="0"/>
                                    </a:rPr>
                                    <m:t>𝑖</m:t>
                                  </m:r>
                                </m:e>
                                <m:sub>
                                  <m:r>
                                    <a:rPr lang="vi-VN" sz="2000" i="1">
                                      <a:latin typeface="Cambria Math" panose="02040503050406030204" pitchFamily="18" charset="0"/>
                                    </a:rPr>
                                    <m:t>𝑐</m:t>
                                  </m:r>
                                </m:sub>
                              </m:sSub>
                            </m:e>
                            <m:e>
                              <m:r>
                                <a:rPr lang="vi-VN" sz="2000" i="0">
                                  <a:latin typeface="Cambria Math" panose="02040503050406030204" pitchFamily="18" charset="0"/>
                                </a:rPr>
                                <m:t>&amp;</m:t>
                              </m:r>
                              <m:sSub>
                                <m:sSubPr>
                                  <m:ctrlPr>
                                    <a:rPr lang="vi-VN" sz="2000" i="1">
                                      <a:latin typeface="Cambria Math" panose="02040503050406030204" pitchFamily="18" charset="0"/>
                                    </a:rPr>
                                  </m:ctrlPr>
                                </m:sSubPr>
                                <m:e>
                                  <m:r>
                                    <a:rPr lang="vi-VN" sz="2000" i="1">
                                      <a:latin typeface="Cambria Math" panose="02040503050406030204" pitchFamily="18" charset="0"/>
                                    </a:rPr>
                                    <m:t>𝑖</m:t>
                                  </m:r>
                                </m:e>
                                <m:sub>
                                  <m:r>
                                    <a:rPr lang="vi-VN" sz="2000" i="1">
                                      <a:latin typeface="Cambria Math" panose="02040503050406030204" pitchFamily="18" charset="0"/>
                                    </a:rPr>
                                    <m:t>𝑐</m:t>
                                  </m:r>
                                </m:sub>
                              </m:sSub>
                              <m:f>
                                <m:fPr>
                                  <m:ctrlPr>
                                    <a:rPr lang="vi-VN" sz="2000" i="0">
                                      <a:latin typeface="Cambria Math" panose="02040503050406030204" pitchFamily="18" charset="0"/>
                                    </a:rPr>
                                  </m:ctrlPr>
                                </m:fPr>
                                <m:num>
                                  <m:r>
                                    <a:rPr lang="vi-VN" sz="2000" i="0">
                                      <a:latin typeface="Cambria Math" panose="02040503050406030204" pitchFamily="18" charset="0"/>
                                    </a:rPr>
                                    <m:t>1</m:t>
                                  </m:r>
                                </m:num>
                                <m:den>
                                  <m:r>
                                    <a:rPr lang="vi-VN" sz="2000" i="1">
                                      <a:latin typeface="Cambria Math" panose="02040503050406030204" pitchFamily="18" charset="0"/>
                                    </a:rPr>
                                    <m:t>𝐶𝑠</m:t>
                                  </m:r>
                                </m:den>
                              </m:f>
                              <m:r>
                                <a:rPr lang="vi-VN" sz="2000" i="0">
                                  <a:latin typeface="Cambria Math" panose="02040503050406030204" pitchFamily="18" charset="0"/>
                                </a:rPr>
                                <m:t>=</m:t>
                              </m:r>
                              <m:sSub>
                                <m:sSubPr>
                                  <m:ctrlPr>
                                    <a:rPr lang="vi-VN" sz="2000" i="1">
                                      <a:latin typeface="Cambria Math" panose="02040503050406030204" pitchFamily="18" charset="0"/>
                                    </a:rPr>
                                  </m:ctrlPr>
                                </m:sSubPr>
                                <m:e>
                                  <m:r>
                                    <a:rPr lang="vi-VN" sz="2000" i="1">
                                      <a:latin typeface="Cambria Math" panose="02040503050406030204" pitchFamily="18" charset="0"/>
                                    </a:rPr>
                                    <m:t>𝑈</m:t>
                                  </m:r>
                                </m:e>
                                <m:sub>
                                  <m:r>
                                    <a:rPr lang="vi-VN" sz="2000" i="1">
                                      <a:latin typeface="Cambria Math" panose="02040503050406030204" pitchFamily="18" charset="0"/>
                                    </a:rPr>
                                    <m:t>𝑜</m:t>
                                  </m:r>
                                </m:sub>
                              </m:sSub>
                            </m:e>
                          </m:eqArr>
                        </m:e>
                      </m:d>
                    </m:oMath>
                  </m:oMathPara>
                </a14:m>
                <a:endParaRPr lang="vi-VN" sz="2000"/>
              </a:p>
            </p:txBody>
          </p:sp>
        </mc:Choice>
        <mc:Fallback xmlns="">
          <p:sp>
            <p:nvSpPr>
              <p:cNvPr id="14" name="Hộp Văn bản 13">
                <a:extLst>
                  <a:ext uri="{FF2B5EF4-FFF2-40B4-BE49-F238E27FC236}">
                    <a16:creationId xmlns:a16="http://schemas.microsoft.com/office/drawing/2014/main" id="{BBE861AA-71A8-66BD-7CD2-94DB19F91EED}"/>
                  </a:ext>
                </a:extLst>
              </p:cNvPr>
              <p:cNvSpPr txBox="1">
                <a:spLocks noRot="1" noChangeAspect="1" noMove="1" noResize="1" noEditPoints="1" noAdjustHandles="1" noChangeArrowheads="1" noChangeShapeType="1" noTextEdit="1"/>
              </p:cNvSpPr>
              <p:nvPr/>
            </p:nvSpPr>
            <p:spPr>
              <a:xfrm>
                <a:off x="292196" y="3136982"/>
                <a:ext cx="2293296" cy="1664430"/>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1A6FAEE5-084D-3390-A219-BC07199FF061}"/>
                  </a:ext>
                </a:extLst>
              </p:cNvPr>
              <p:cNvSpPr txBox="1"/>
              <p:nvPr/>
            </p:nvSpPr>
            <p:spPr>
              <a:xfrm>
                <a:off x="424985" y="4986888"/>
                <a:ext cx="6094140" cy="521361"/>
              </a:xfrm>
              <a:prstGeom prst="rect">
                <a:avLst/>
              </a:prstGeom>
              <a:noFill/>
            </p:spPr>
            <p:txBody>
              <a:bodyPr wrap="square">
                <a:spAutoFit/>
              </a:bodyPr>
              <a:lstStyle/>
              <a:p>
                <a:r>
                  <a:rPr lang="vi-VN" sz="1800" kern="100">
                    <a:effectLst/>
                    <a:latin typeface="Times New Roman" panose="02020603050405020304" pitchFamily="18" charset="0"/>
                    <a:ea typeface="Yu Gothic" panose="020B0400000000000000" pitchFamily="34" charset="-128"/>
                    <a:cs typeface="Times New Roman" panose="02020603050405020304" pitchFamily="18" charset="0"/>
                  </a:rPr>
                  <a:t>Hàm truyền </a:t>
                </a:r>
                <a14:m>
                  <m:oMath xmlns:m="http://schemas.openxmlformats.org/officeDocument/2006/math">
                    <m:sSub>
                      <m:sSub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b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𝐺</m:t>
                        </m:r>
                      </m:e>
                      <m:sub>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𝑝𝑤𝑚</m:t>
                        </m:r>
                      </m:sub>
                    </m:sSub>
                    <m:d>
                      <m:d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d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𝑠</m:t>
                        </m:r>
                      </m:e>
                    </m:d>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sSub>
                          <m:sSub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b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𝑈</m:t>
                            </m:r>
                          </m:e>
                          <m:sub>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𝑠</m:t>
                            </m:r>
                          </m:sub>
                        </m:sSub>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𝑚</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𝑠</m:t>
                        </m:r>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den>
                    </m:f>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sSub>
                      <m:sSubPr>
                        <m:ctrlPr>
                          <a:rPr lang="vi-VN" i="1" kern="100">
                            <a:latin typeface="Cambria Math" panose="02040503050406030204" pitchFamily="18" charset="0"/>
                            <a:ea typeface="Yu Gothic" panose="020B0400000000000000" pitchFamily="34" charset="-128"/>
                            <a:cs typeface="Times New Roman" panose="02020603050405020304" pitchFamily="18" charset="0"/>
                          </a:rPr>
                        </m:ctrlPr>
                      </m:sSubPr>
                      <m:e>
                        <m:r>
                          <m:rPr>
                            <m:sty m:val="p"/>
                          </m:rPr>
                          <a:rPr lang="vi-VN" i="1" kern="100">
                            <a:latin typeface="Cambria Math" panose="02040503050406030204" pitchFamily="18" charset="0"/>
                            <a:ea typeface="Yu Gothic" panose="020B0400000000000000" pitchFamily="34" charset="-128"/>
                            <a:cs typeface="Times New Roman" panose="02020603050405020304" pitchFamily="18" charset="0"/>
                          </a:rPr>
                          <m:t>U</m:t>
                        </m:r>
                      </m:e>
                      <m:sub>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𝑑𝑐</m:t>
                        </m:r>
                      </m:sub>
                    </m:sSub>
                  </m:oMath>
                </a14:m>
                <a:endParaRPr lang="vi-VN" sz="1800" kern="100">
                  <a:effectLst/>
                  <a:latin typeface="Arial" panose="020B0604020202020204" pitchFamily="34" charset="0"/>
                  <a:ea typeface="Yu Gothic" panose="020B0400000000000000" pitchFamily="34" charset="-128"/>
                  <a:cs typeface="Times New Roman" panose="02020603050405020304" pitchFamily="18" charset="0"/>
                </a:endParaRPr>
              </a:p>
            </p:txBody>
          </p:sp>
        </mc:Choice>
        <mc:Fallback xmlns="">
          <p:sp>
            <p:nvSpPr>
              <p:cNvPr id="8" name="Hộp Văn bản 7">
                <a:extLst>
                  <a:ext uri="{FF2B5EF4-FFF2-40B4-BE49-F238E27FC236}">
                    <a16:creationId xmlns:a16="http://schemas.microsoft.com/office/drawing/2014/main" id="{1A6FAEE5-084D-3390-A219-BC07199FF061}"/>
                  </a:ext>
                </a:extLst>
              </p:cNvPr>
              <p:cNvSpPr txBox="1">
                <a:spLocks noRot="1" noChangeAspect="1" noMove="1" noResize="1" noEditPoints="1" noAdjustHandles="1" noChangeArrowheads="1" noChangeShapeType="1" noTextEdit="1"/>
              </p:cNvSpPr>
              <p:nvPr/>
            </p:nvSpPr>
            <p:spPr>
              <a:xfrm>
                <a:off x="424985" y="4986888"/>
                <a:ext cx="6094140" cy="521361"/>
              </a:xfrm>
              <a:prstGeom prst="rect">
                <a:avLst/>
              </a:prstGeom>
              <a:blipFill>
                <a:blip r:embed="rId4"/>
                <a:stretch>
                  <a:fillRect l="-901" b="-5814"/>
                </a:stretch>
              </a:blipFill>
            </p:spPr>
            <p:txBody>
              <a:bodyPr/>
              <a:lstStyle/>
              <a:p>
                <a:r>
                  <a:rPr lang="vi-VN">
                    <a:noFill/>
                  </a:rPr>
                  <a:t> </a:t>
                </a:r>
              </a:p>
            </p:txBody>
          </p:sp>
        </mc:Fallback>
      </mc:AlternateContent>
      <p:pic>
        <p:nvPicPr>
          <p:cNvPr id="13" name="Hình ảnh 12" descr="Ảnh có chứa văn bản, Phông chữ, màu trắng, hàng&#10;&#10;Mô tả được tạo tự động">
            <a:extLst>
              <a:ext uri="{FF2B5EF4-FFF2-40B4-BE49-F238E27FC236}">
                <a16:creationId xmlns:a16="http://schemas.microsoft.com/office/drawing/2014/main" id="{55BA991D-9EB8-AF70-D2A8-7869D7D688F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11354" y="2070787"/>
            <a:ext cx="8654604" cy="1807285"/>
          </a:xfrm>
          <a:prstGeom prst="rect">
            <a:avLst/>
          </a:prstGeom>
        </p:spPr>
      </p:pic>
      <p:sp>
        <p:nvSpPr>
          <p:cNvPr id="6" name="TextBox 23">
            <a:extLst>
              <a:ext uri="{FF2B5EF4-FFF2-40B4-BE49-F238E27FC236}">
                <a16:creationId xmlns:a16="http://schemas.microsoft.com/office/drawing/2014/main" id="{3EE02403-2845-9BE9-0065-ADB71528A640}"/>
              </a:ext>
            </a:extLst>
          </p:cNvPr>
          <p:cNvSpPr txBox="1"/>
          <p:nvPr/>
        </p:nvSpPr>
        <p:spPr>
          <a:xfrm>
            <a:off x="374948" y="1036129"/>
            <a:ext cx="10549214" cy="400110"/>
          </a:xfrm>
          <a:prstGeom prst="rect">
            <a:avLst/>
          </a:prstGeom>
          <a:noFill/>
        </p:spPr>
        <p:txBody>
          <a:bodyPr wrap="square" rtlCol="0">
            <a:spAutoFit/>
          </a:bodyPr>
          <a:lstStyle/>
          <a:p>
            <a:pPr defTabSz="609585">
              <a:defRPr/>
            </a:pPr>
            <a:r>
              <a:rPr lang="vi-VN" sz="2000" b="1">
                <a:solidFill>
                  <a:prstClr val="black"/>
                </a:solidFill>
                <a:latin typeface="Times New Roman" panose="02020603050405020304" pitchFamily="18" charset="0"/>
                <a:cs typeface="Times New Roman" panose="02020603050405020304" pitchFamily="18" charset="0"/>
              </a:rPr>
              <a:t>2.8. Thiết kế bộ điều khiển điện áp và dòng điện cho sơ đồ vòng kín trên miền liên tục</a:t>
            </a:r>
          </a:p>
        </p:txBody>
      </p:sp>
    </p:spTree>
    <p:extLst>
      <p:ext uri="{BB962C8B-B14F-4D97-AF65-F5344CB8AC3E}">
        <p14:creationId xmlns:p14="http://schemas.microsoft.com/office/powerpoint/2010/main" val="35583509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D0062-DF58-A6DB-5653-90A8AC2FAF5D}"/>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8110676F-E49A-B072-C3D7-89B36C133630}"/>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262724C3-5D78-F491-76CA-1AB170B081A9}"/>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52DC5289-8A20-C4B1-0EF5-41EB2BF71D91}"/>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pic>
        <p:nvPicPr>
          <p:cNvPr id="7" name="Hình ảnh 6" descr="Ảnh có chứa bản phác thảo, văn bản, ảnh chụp màn hình, biểu đồ&#10;&#10;Mô tả được tạo tự động">
            <a:extLst>
              <a:ext uri="{FF2B5EF4-FFF2-40B4-BE49-F238E27FC236}">
                <a16:creationId xmlns:a16="http://schemas.microsoft.com/office/drawing/2014/main" id="{0CBE0858-7FDA-E9B9-B78D-30503AEC5C39}"/>
              </a:ext>
            </a:extLst>
          </p:cNvPr>
          <p:cNvPicPr>
            <a:picLocks noChangeAspect="1"/>
          </p:cNvPicPr>
          <p:nvPr/>
        </p:nvPicPr>
        <p:blipFill>
          <a:blip r:embed="rId2" cstate="print">
            <a:extLst>
              <a:ext uri="{28A0092B-C50C-407E-A947-70E740481C1C}">
                <a14:useLocalDpi xmlns:a14="http://schemas.microsoft.com/office/drawing/2010/main" val="0"/>
              </a:ext>
            </a:extLst>
          </a:blip>
          <a:srcRect l="31001" b="55992"/>
          <a:stretch/>
        </p:blipFill>
        <p:spPr>
          <a:xfrm>
            <a:off x="813609" y="1784924"/>
            <a:ext cx="10295380" cy="4135424"/>
          </a:xfrm>
          <a:prstGeom prst="rect">
            <a:avLst/>
          </a:prstGeom>
        </p:spPr>
      </p:pic>
      <p:sp>
        <p:nvSpPr>
          <p:cNvPr id="6" name="TextBox 23">
            <a:extLst>
              <a:ext uri="{FF2B5EF4-FFF2-40B4-BE49-F238E27FC236}">
                <a16:creationId xmlns:a16="http://schemas.microsoft.com/office/drawing/2014/main" id="{EE6E59F7-66DB-7631-5E51-AD50A1D1E076}"/>
              </a:ext>
            </a:extLst>
          </p:cNvPr>
          <p:cNvSpPr txBox="1"/>
          <p:nvPr/>
        </p:nvSpPr>
        <p:spPr>
          <a:xfrm>
            <a:off x="374948" y="1036129"/>
            <a:ext cx="10549214" cy="400110"/>
          </a:xfrm>
          <a:prstGeom prst="rect">
            <a:avLst/>
          </a:prstGeom>
          <a:noFill/>
        </p:spPr>
        <p:txBody>
          <a:bodyPr wrap="square" rtlCol="0">
            <a:spAutoFit/>
          </a:bodyPr>
          <a:lstStyle/>
          <a:p>
            <a:pPr defTabSz="609585">
              <a:defRPr/>
            </a:pPr>
            <a:r>
              <a:rPr lang="vi-VN" sz="2000" b="1">
                <a:solidFill>
                  <a:prstClr val="black"/>
                </a:solidFill>
                <a:latin typeface="Times New Roman" panose="02020603050405020304" pitchFamily="18" charset="0"/>
                <a:cs typeface="Times New Roman" panose="02020603050405020304" pitchFamily="18" charset="0"/>
              </a:rPr>
              <a:t>2.8. Thiết kế bộ điều khiển điện áp và dòng điện cho sơ đồ vòng kín trên miền liên tục</a:t>
            </a:r>
          </a:p>
        </p:txBody>
      </p:sp>
    </p:spTree>
    <p:extLst>
      <p:ext uri="{BB962C8B-B14F-4D97-AF65-F5344CB8AC3E}">
        <p14:creationId xmlns:p14="http://schemas.microsoft.com/office/powerpoint/2010/main" val="19120121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AAAEC-5295-84C8-6346-A1369B6C2839}"/>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AED97D6B-EB41-9FD6-49A7-AF26CB5868C8}"/>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4F0CFAB3-9C2F-F7CB-17E9-DE0177870077}"/>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D9E6E1C4-D33F-2141-1F29-D8189FE9F1F8}"/>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6" name="TextBox 5">
            <a:extLst>
              <a:ext uri="{FF2B5EF4-FFF2-40B4-BE49-F238E27FC236}">
                <a16:creationId xmlns:a16="http://schemas.microsoft.com/office/drawing/2014/main" id="{6D456734-1B90-0962-88D8-B8B347525B5A}"/>
              </a:ext>
            </a:extLst>
          </p:cNvPr>
          <p:cNvSpPr txBox="1"/>
          <p:nvPr/>
        </p:nvSpPr>
        <p:spPr>
          <a:xfrm>
            <a:off x="7249376" y="3788441"/>
            <a:ext cx="3810000" cy="646331"/>
          </a:xfrm>
          <a:prstGeom prst="rect">
            <a:avLst/>
          </a:prstGeom>
          <a:noFill/>
        </p:spPr>
        <p:txBody>
          <a:bodyPr wrap="square">
            <a:spAutoFit/>
          </a:bodyPr>
          <a:lstStyle/>
          <a:p>
            <a:r>
              <a:rPr lang="en-ID" i="1" err="1">
                <a:latin typeface="Times New Roman" panose="02020603050405020304" pitchFamily="18" charset="0"/>
                <a:cs typeface="Times New Roman" panose="02020603050405020304" pitchFamily="18" charset="0"/>
              </a:rPr>
              <a:t>Mô</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tả</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toán</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học</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mạch</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vòng</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điều</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khiển</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dòng</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điện</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trên</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miền</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toán</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tử</a:t>
            </a:r>
            <a:r>
              <a:rPr lang="en-ID" i="1">
                <a:latin typeface="Times New Roman" panose="02020603050405020304" pitchFamily="18" charset="0"/>
                <a:cs typeface="Times New Roman" panose="02020603050405020304" pitchFamily="18" charset="0"/>
              </a:rPr>
              <a:t> Laplace.</a:t>
            </a:r>
          </a:p>
        </p:txBody>
      </p:sp>
      <mc:AlternateContent xmlns:mc="http://schemas.openxmlformats.org/markup-compatibility/2006" xmlns:a14="http://schemas.microsoft.com/office/drawing/2010/main">
        <mc:Choice Requires="a14">
          <p:sp>
            <p:nvSpPr>
              <p:cNvPr id="7" name="TextBox 8">
                <a:extLst>
                  <a:ext uri="{FF2B5EF4-FFF2-40B4-BE49-F238E27FC236}">
                    <a16:creationId xmlns:a16="http://schemas.microsoft.com/office/drawing/2014/main" id="{4CD03F04-F47D-DDEA-9374-CF0ED3725093}"/>
                  </a:ext>
                </a:extLst>
              </p:cNvPr>
              <p:cNvSpPr txBox="1"/>
              <p:nvPr/>
            </p:nvSpPr>
            <p:spPr>
              <a:xfrm>
                <a:off x="865020" y="1784924"/>
                <a:ext cx="2274636" cy="743409"/>
              </a:xfrm>
              <a:prstGeom prst="rect">
                <a:avLst/>
              </a:prstGeom>
              <a:noFill/>
            </p:spPr>
            <p:txBody>
              <a:bodyPr wrap="square">
                <a:spAutoFit/>
              </a:bodyPr>
              <a:lstStyle/>
              <a:p>
                <a:pPr>
                  <a:lnSpc>
                    <a:spcPct val="107000"/>
                  </a:lnSpc>
                  <a:spcAft>
                    <a:spcPts val="800"/>
                  </a:spcAft>
                </a:pPr>
                <a:r>
                  <a:rPr lang="en-ID" sz="2400">
                    <a:effectLst/>
                    <a:latin typeface="Calibri" panose="020F0502020204030204" pitchFamily="34" charset="0"/>
                    <a:ea typeface="Calibri" panose="020F0502020204030204" pitchFamily="34" charset="0"/>
                    <a:cs typeface="Times New Roman" panose="02020603050405020304" pitchFamily="18" charset="0"/>
                  </a:rPr>
                  <a:t>G</a:t>
                </a:r>
                <a:r>
                  <a:rPr lang="en-ID" sz="2400" baseline="-25000" err="1">
                    <a:effectLst/>
                    <a:latin typeface="Calibri" panose="020F0502020204030204" pitchFamily="34" charset="0"/>
                    <a:ea typeface="Calibri" panose="020F0502020204030204" pitchFamily="34" charset="0"/>
                    <a:cs typeface="Times New Roman" panose="02020603050405020304" pitchFamily="18" charset="0"/>
                  </a:rPr>
                  <a:t>dti</a:t>
                </a:r>
                <a:r>
                  <a:rPr lang="vi-VN" sz="2400">
                    <a:effectLst/>
                    <a:latin typeface="Calibri" panose="020F0502020204030204" pitchFamily="34" charset="0"/>
                    <a:ea typeface="Calibri" panose="020F0502020204030204" pitchFamily="34" charset="0"/>
                    <a:cs typeface="Times New Roman" panose="02020603050405020304" pitchFamily="18" charset="0"/>
                  </a:rPr>
                  <a:t>(s)=</a:t>
                </a:r>
                <a14:m>
                  <m:oMath xmlns:m="http://schemas.openxmlformats.org/officeDocument/2006/math">
                    <m:f>
                      <m:fPr>
                        <m:ctrlPr>
                          <a:rPr lang="vi-VN" sz="2400" i="1">
                            <a:latin typeface="Cambria Math" panose="02040503050406030204" pitchFamily="18" charset="0"/>
                            <a:ea typeface="Calibri" panose="020F0502020204030204" pitchFamily="34" charset="0"/>
                            <a:cs typeface="Times New Roman" panose="02020603050405020304" pitchFamily="18" charset="0"/>
                          </a:rPr>
                        </m:ctrlPr>
                      </m:fPr>
                      <m:num>
                        <m:r>
                          <a:rPr lang="vi-VN" sz="2400" i="1">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n-US" sz="2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smtClean="0">
                                <a:effectLst/>
                                <a:latin typeface="Cambria Math" panose="02040503050406030204" pitchFamily="18" charset="0"/>
                                <a:ea typeface="Calibri" panose="020F0502020204030204" pitchFamily="34" charset="0"/>
                                <a:cs typeface="Times New Roman" panose="02020603050405020304" pitchFamily="18" charset="0"/>
                              </a:rPr>
                              <m:t>𝑅</m:t>
                            </m:r>
                          </m:e>
                          <m:sub>
                            <m:r>
                              <a:rPr lang="vi-VN" sz="2400" i="1">
                                <a:effectLst/>
                                <a:latin typeface="Cambria Math" panose="02040503050406030204" pitchFamily="18" charset="0"/>
                                <a:ea typeface="Calibri" panose="020F0502020204030204" pitchFamily="34" charset="0"/>
                                <a:cs typeface="Times New Roman" panose="02020603050405020304" pitchFamily="18" charset="0"/>
                              </a:rPr>
                              <m:t>𝑓</m:t>
                            </m:r>
                          </m:sub>
                        </m:sSub>
                        <m:r>
                          <a:rPr lang="vi-VN" sz="2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vi-VN" sz="2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vi-VN" sz="24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vi-VN" sz="2400" i="1">
                                <a:effectLst/>
                                <a:latin typeface="Cambria Math" panose="02040503050406030204" pitchFamily="18" charset="0"/>
                                <a:ea typeface="Calibri" panose="020F0502020204030204" pitchFamily="34" charset="0"/>
                                <a:cs typeface="Times New Roman" panose="02020603050405020304" pitchFamily="18" charset="0"/>
                              </a:rPr>
                              <m:t>𝑓</m:t>
                            </m:r>
                          </m:sub>
                        </m:sSub>
                        <m:r>
                          <a:rPr lang="vi-VN" sz="2400" i="1">
                            <a:effectLst/>
                            <a:latin typeface="Cambria Math" panose="02040503050406030204" pitchFamily="18" charset="0"/>
                            <a:ea typeface="Calibri" panose="020F0502020204030204" pitchFamily="34" charset="0"/>
                            <a:cs typeface="Times New Roman" panose="02020603050405020304" pitchFamily="18" charset="0"/>
                          </a:rPr>
                          <m:t>∗</m:t>
                        </m:r>
                        <m:r>
                          <a:rPr lang="vi-VN" sz="2400" i="1">
                            <a:effectLst/>
                            <a:latin typeface="Cambria Math" panose="02040503050406030204" pitchFamily="18" charset="0"/>
                            <a:ea typeface="Calibri" panose="020F0502020204030204" pitchFamily="34" charset="0"/>
                            <a:cs typeface="Times New Roman" panose="02020603050405020304" pitchFamily="18" charset="0"/>
                          </a:rPr>
                          <m:t>𝑠</m:t>
                        </m:r>
                      </m:den>
                    </m:f>
                  </m:oMath>
                </a14:m>
                <a:endParaRPr lang="en-ID" sz="24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Box 8">
                <a:extLst>
                  <a:ext uri="{FF2B5EF4-FFF2-40B4-BE49-F238E27FC236}">
                    <a16:creationId xmlns:a16="http://schemas.microsoft.com/office/drawing/2014/main" id="{4CD03F04-F47D-DDEA-9374-CF0ED3725093}"/>
                  </a:ext>
                </a:extLst>
              </p:cNvPr>
              <p:cNvSpPr txBox="1">
                <a:spLocks noRot="1" noChangeAspect="1" noMove="1" noResize="1" noEditPoints="1" noAdjustHandles="1" noChangeArrowheads="1" noChangeShapeType="1" noTextEdit="1"/>
              </p:cNvSpPr>
              <p:nvPr/>
            </p:nvSpPr>
            <p:spPr>
              <a:xfrm>
                <a:off x="865020" y="1784924"/>
                <a:ext cx="2274636" cy="743409"/>
              </a:xfrm>
              <a:prstGeom prst="rect">
                <a:avLst/>
              </a:prstGeom>
              <a:blipFill>
                <a:blip r:embed="rId2"/>
                <a:stretch>
                  <a:fillRect l="-4290"/>
                </a:stretch>
              </a:blipFill>
            </p:spPr>
            <p:txBody>
              <a:bodyPr/>
              <a:lstStyle/>
              <a:p>
                <a:r>
                  <a:rPr lang="vi-VN">
                    <a:noFill/>
                  </a:rPr>
                  <a:t> </a:t>
                </a:r>
              </a:p>
            </p:txBody>
          </p:sp>
        </mc:Fallback>
      </mc:AlternateContent>
      <p:sp>
        <p:nvSpPr>
          <p:cNvPr id="8" name="TextBox 10">
            <a:extLst>
              <a:ext uri="{FF2B5EF4-FFF2-40B4-BE49-F238E27FC236}">
                <a16:creationId xmlns:a16="http://schemas.microsoft.com/office/drawing/2014/main" id="{D842E508-55F8-8CFD-8C51-C0E75E66D7A1}"/>
              </a:ext>
            </a:extLst>
          </p:cNvPr>
          <p:cNvSpPr txBox="1"/>
          <p:nvPr/>
        </p:nvSpPr>
        <p:spPr>
          <a:xfrm>
            <a:off x="374948" y="2952141"/>
            <a:ext cx="4605614" cy="400110"/>
          </a:xfrm>
          <a:prstGeom prst="rect">
            <a:avLst/>
          </a:prstGeom>
          <a:noFill/>
        </p:spPr>
        <p:txBody>
          <a:bodyPr wrap="square">
            <a:spAutoFit/>
          </a:bodyPr>
          <a:lstStyle/>
          <a:p>
            <a:r>
              <a:rPr lang="en-ID" sz="2000">
                <a:latin typeface="Times New Roman" panose="02020603050405020304" pitchFamily="18" charset="0"/>
                <a:cs typeface="Times New Roman" panose="02020603050405020304" pitchFamily="18" charset="0"/>
              </a:rPr>
              <a:t>Ta </a:t>
            </a:r>
            <a:r>
              <a:rPr lang="en-ID" sz="2000" err="1">
                <a:latin typeface="Times New Roman" panose="02020603050405020304" pitchFamily="18" charset="0"/>
                <a:cs typeface="Times New Roman" panose="02020603050405020304" pitchFamily="18" charset="0"/>
              </a:rPr>
              <a:t>có</a:t>
            </a:r>
            <a:r>
              <a:rPr lang="en-ID" sz="2000">
                <a:latin typeface="Times New Roman" panose="02020603050405020304" pitchFamily="18" charset="0"/>
                <a:cs typeface="Times New Roman" panose="02020603050405020304" pitchFamily="18" charset="0"/>
              </a:rPr>
              <a:t> </a:t>
            </a:r>
            <a:r>
              <a:rPr lang="en-ID" sz="2000" err="1">
                <a:latin typeface="Times New Roman" panose="02020603050405020304" pitchFamily="18" charset="0"/>
                <a:cs typeface="Times New Roman" panose="02020603050405020304" pitchFamily="18" charset="0"/>
              </a:rPr>
              <a:t>mối</a:t>
            </a:r>
            <a:r>
              <a:rPr lang="en-ID" sz="2000">
                <a:latin typeface="Times New Roman" panose="02020603050405020304" pitchFamily="18" charset="0"/>
                <a:cs typeface="Times New Roman" panose="02020603050405020304" pitchFamily="18" charset="0"/>
              </a:rPr>
              <a:t> </a:t>
            </a:r>
            <a:r>
              <a:rPr lang="en-ID" sz="2000" err="1">
                <a:latin typeface="Times New Roman" panose="02020603050405020304" pitchFamily="18" charset="0"/>
                <a:cs typeface="Times New Roman" panose="02020603050405020304" pitchFamily="18" charset="0"/>
              </a:rPr>
              <a:t>quan</a:t>
            </a:r>
            <a:r>
              <a:rPr lang="en-ID" sz="2000">
                <a:latin typeface="Times New Roman" panose="02020603050405020304" pitchFamily="18" charset="0"/>
                <a:cs typeface="Times New Roman" panose="02020603050405020304" pitchFamily="18" charset="0"/>
              </a:rPr>
              <a:t> </a:t>
            </a:r>
            <a:r>
              <a:rPr lang="en-ID" sz="2000" err="1">
                <a:latin typeface="Times New Roman" panose="02020603050405020304" pitchFamily="18" charset="0"/>
                <a:cs typeface="Times New Roman" panose="02020603050405020304" pitchFamily="18" charset="0"/>
              </a:rPr>
              <a:t>hệ</a:t>
            </a:r>
            <a:r>
              <a:rPr lang="en-ID" sz="2000">
                <a:latin typeface="Times New Roman" panose="02020603050405020304" pitchFamily="18" charset="0"/>
                <a:cs typeface="Times New Roman" panose="02020603050405020304" pitchFamily="18" charset="0"/>
              </a:rPr>
              <a:t> </a:t>
            </a:r>
            <a:r>
              <a:rPr lang="en-ID" sz="2000" err="1">
                <a:latin typeface="Times New Roman" panose="02020603050405020304" pitchFamily="18" charset="0"/>
                <a:cs typeface="Times New Roman" panose="02020603050405020304" pitchFamily="18" charset="0"/>
              </a:rPr>
              <a:t>hàm</a:t>
            </a:r>
            <a:r>
              <a:rPr lang="en-ID" sz="2000">
                <a:latin typeface="Times New Roman" panose="02020603050405020304" pitchFamily="18" charset="0"/>
                <a:cs typeface="Times New Roman" panose="02020603050405020304" pitchFamily="18" charset="0"/>
              </a:rPr>
              <a:t> </a:t>
            </a:r>
            <a:r>
              <a:rPr lang="en-ID" sz="2000" err="1">
                <a:latin typeface="Times New Roman" panose="02020603050405020304" pitchFamily="18" charset="0"/>
                <a:cs typeface="Times New Roman" panose="02020603050405020304" pitchFamily="18" charset="0"/>
              </a:rPr>
              <a:t>truyền</a:t>
            </a:r>
            <a:r>
              <a:rPr lang="en-ID" sz="2000">
                <a:latin typeface="Times New Roman" panose="02020603050405020304" pitchFamily="18" charset="0"/>
                <a:cs typeface="Times New Roman" panose="02020603050405020304" pitchFamily="18" charset="0"/>
              </a:rPr>
              <a:t> </a:t>
            </a:r>
            <a:r>
              <a:rPr lang="en-ID" sz="2000" err="1">
                <a:latin typeface="Times New Roman" panose="02020603050405020304" pitchFamily="18" charset="0"/>
                <a:cs typeface="Times New Roman" panose="02020603050405020304" pitchFamily="18" charset="0"/>
              </a:rPr>
              <a:t>đạt</a:t>
            </a:r>
            <a:r>
              <a:rPr lang="en-ID" sz="2000">
                <a:latin typeface="Times New Roman" panose="02020603050405020304" pitchFamily="18" charset="0"/>
                <a:cs typeface="Times New Roman" panose="02020603050405020304" pitchFamily="18" charset="0"/>
              </a:rPr>
              <a:t> </a:t>
            </a:r>
            <a:r>
              <a:rPr lang="en-ID" sz="2000" err="1">
                <a:latin typeface="Times New Roman" panose="02020603050405020304" pitchFamily="18" charset="0"/>
                <a:cs typeface="Times New Roman" panose="02020603050405020304" pitchFamily="18" charset="0"/>
              </a:rPr>
              <a:t>sau</a:t>
            </a:r>
            <a:r>
              <a:rPr lang="en-ID" sz="2000">
                <a:latin typeface="Times New Roman" panose="02020603050405020304" pitchFamily="18" charset="0"/>
                <a:cs typeface="Times New Roman" panose="02020603050405020304" pitchFamily="18" charset="0"/>
              </a:rPr>
              <a:t>:</a:t>
            </a:r>
          </a:p>
        </p:txBody>
      </p:sp>
      <p:sp>
        <p:nvSpPr>
          <p:cNvPr id="10" name="TextBox 14">
            <a:extLst>
              <a:ext uri="{FF2B5EF4-FFF2-40B4-BE49-F238E27FC236}">
                <a16:creationId xmlns:a16="http://schemas.microsoft.com/office/drawing/2014/main" id="{1CFFBEF2-0E4D-D5A6-68BF-D3AAF09C6E61}"/>
              </a:ext>
            </a:extLst>
          </p:cNvPr>
          <p:cNvSpPr txBox="1"/>
          <p:nvPr/>
        </p:nvSpPr>
        <p:spPr>
          <a:xfrm>
            <a:off x="305016" y="5224795"/>
            <a:ext cx="8849360" cy="707886"/>
          </a:xfrm>
          <a:prstGeom prst="rect">
            <a:avLst/>
          </a:prstGeom>
          <a:noFill/>
        </p:spPr>
        <p:txBody>
          <a:bodyPr wrap="square">
            <a:spAutoFit/>
          </a:bodyPr>
          <a:lstStyle/>
          <a:p>
            <a:r>
              <a:rPr lang="vi-VN" sz="2000">
                <a:latin typeface="Times New Roman" panose="02020603050405020304" pitchFamily="18" charset="0"/>
                <a:cs typeface="Times New Roman" panose="02020603050405020304" pitchFamily="18" charset="0"/>
              </a:rPr>
              <a:t>Để triệt tiêu sai lệch tĩnh và khử ảnh hưởng nhiễu </a:t>
            </a:r>
            <a:r>
              <a:rPr lang="en-US" sz="2000">
                <a:latin typeface="Times New Roman" panose="02020603050405020304" pitchFamily="18" charset="0"/>
                <a:cs typeface="Times New Roman" panose="02020603050405020304" pitchFamily="18" charset="0"/>
              </a:rPr>
              <a:t>Vo</a:t>
            </a:r>
            <a:r>
              <a:rPr lang="vi-VN" sz="2000">
                <a:latin typeface="Times New Roman" panose="02020603050405020304" pitchFamily="18" charset="0"/>
                <a:cs typeface="Times New Roman" panose="02020603050405020304" pitchFamily="18" charset="0"/>
              </a:rPr>
              <a:t>(s):</a:t>
            </a:r>
            <a:r>
              <a:rPr lang="en-US" sz="2000">
                <a:latin typeface="Times New Roman" panose="02020603050405020304" pitchFamily="18" charset="0"/>
                <a:cs typeface="Times New Roman" panose="02020603050405020304" pitchFamily="18" charset="0"/>
              </a:rPr>
              <a:t> </a:t>
            </a:r>
            <a:r>
              <a:rPr lang="en-US" sz="2000">
                <a:effectLst/>
                <a:latin typeface="Times New Roman" panose="02020603050405020304" pitchFamily="18" charset="0"/>
                <a:ea typeface="Calibri" panose="020F0502020204030204" pitchFamily="34" charset="0"/>
                <a:cs typeface="Times New Roman" panose="02020603050405020304" pitchFamily="18" charset="0"/>
              </a:rPr>
              <a:t>Gi(s)|</a:t>
            </a:r>
            <a:r>
              <a:rPr lang="en-US" sz="2000" baseline="-2500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baseline="-25000" err="1">
                <a:effectLst/>
                <a:latin typeface="Times New Roman" panose="02020603050405020304" pitchFamily="18" charset="0"/>
                <a:ea typeface="Calibri" panose="020F0502020204030204" pitchFamily="34" charset="0"/>
                <a:cs typeface="Times New Roman" panose="02020603050405020304" pitchFamily="18" charset="0"/>
              </a:rPr>
              <a:t>jw1</a:t>
            </a:r>
            <a:r>
              <a:rPr lang="en-US" sz="2000">
                <a:effectLst/>
                <a:latin typeface="Times New Roman" panose="02020603050405020304" pitchFamily="18" charset="0"/>
                <a:ea typeface="Calibri" panose="020F0502020204030204" pitchFamily="34" charset="0"/>
                <a:cs typeface="Times New Roman" panose="02020603050405020304" pitchFamily="18" charset="0"/>
              </a:rPr>
              <a:t>=∞</a:t>
            </a:r>
            <a:endParaRPr lang="en-ID" sz="2000">
              <a:effectLst/>
              <a:latin typeface="Times New Roman" panose="02020603050405020304" pitchFamily="18" charset="0"/>
              <a:ea typeface="Calibri" panose="020F0502020204030204" pitchFamily="34" charset="0"/>
              <a:cs typeface="Times New Roman" panose="02020603050405020304" pitchFamily="18" charset="0"/>
            </a:endParaRPr>
          </a:p>
          <a:p>
            <a:r>
              <a:rPr lang="el-GR" sz="2000">
                <a:latin typeface="Times New Roman" panose="02020603050405020304" pitchFamily="18" charset="0"/>
                <a:cs typeface="Times New Roman" panose="02020603050405020304" pitchFamily="18" charset="0"/>
              </a:rPr>
              <a:t>ω1 </a:t>
            </a:r>
            <a:r>
              <a:rPr lang="vi-VN" sz="2000">
                <a:latin typeface="Times New Roman" panose="02020603050405020304" pitchFamily="18" charset="0"/>
                <a:cs typeface="Times New Roman" panose="02020603050405020304" pitchFamily="18" charset="0"/>
              </a:rPr>
              <a:t>là tần số góc sóng hài bậc 1 của giá trị đặt và nhiễu</a:t>
            </a:r>
            <a:endParaRPr lang="en-ID" sz="200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Hộp Văn bản 16">
                <a:extLst>
                  <a:ext uri="{FF2B5EF4-FFF2-40B4-BE49-F238E27FC236}">
                    <a16:creationId xmlns:a16="http://schemas.microsoft.com/office/drawing/2014/main" id="{070860AB-1F8B-379E-A7AD-F196EFA80893}"/>
                  </a:ext>
                </a:extLst>
              </p:cNvPr>
              <p:cNvSpPr txBox="1"/>
              <p:nvPr/>
            </p:nvSpPr>
            <p:spPr>
              <a:xfrm>
                <a:off x="209201" y="3803912"/>
                <a:ext cx="6871824" cy="676724"/>
              </a:xfrm>
              <a:prstGeom prst="rect">
                <a:avLst/>
              </a:prstGeom>
              <a:noFill/>
            </p:spPr>
            <p:txBody>
              <a:bodyPr wrap="square">
                <a:spAutoFit/>
              </a:bodyPr>
              <a:lstStyle/>
              <a:p>
                <a:pPr/>
                <a14:m>
                  <m:oMathPara xmlns:m="http://schemas.openxmlformats.org/officeDocument/2006/math">
                    <m:oMath>
                      <m:sSub>
                        <m:sSubPr>
                          <m:ctrlPr>
                            <a:rPr lang="vi-VN" i="1">
                              <a:latin typeface="Cambria Math" panose="02040503050406030204" pitchFamily="18" charset="0"/>
                            </a:rPr>
                          </m:ctrlPr>
                        </m:sSubPr>
                        <m:e>
                          <m:r>
                            <a:rPr lang="vi-VN" i="1">
                              <a:latin typeface="Cambria Math" panose="02040503050406030204" pitchFamily="18" charset="0"/>
                            </a:rPr>
                            <m:t>𝐼</m:t>
                          </m:r>
                        </m:e>
                        <m:sub>
                          <m:r>
                            <a:rPr lang="vi-VN" i="1">
                              <a:latin typeface="Cambria Math" panose="02040503050406030204" pitchFamily="18" charset="0"/>
                            </a:rPr>
                            <m:t>𝐿</m:t>
                          </m:r>
                        </m:sub>
                      </m:sSub>
                      <m:d>
                        <m:dPr>
                          <m:ctrlPr>
                            <a:rPr lang="vi-VN" i="1">
                              <a:latin typeface="Cambria Math" panose="02040503050406030204" pitchFamily="18" charset="0"/>
                            </a:rPr>
                          </m:ctrlPr>
                        </m:dPr>
                        <m:e>
                          <m:r>
                            <a:rPr lang="vi-VN" i="1">
                              <a:latin typeface="Cambria Math" panose="02040503050406030204" pitchFamily="18" charset="0"/>
                            </a:rPr>
                            <m:t>𝑠</m:t>
                          </m:r>
                        </m:e>
                      </m:d>
                      <m:r>
                        <a:rPr lang="vi-VN" i="0">
                          <a:latin typeface="Cambria Math" panose="02040503050406030204" pitchFamily="18" charset="0"/>
                        </a:rPr>
                        <m:t>=</m:t>
                      </m:r>
                      <m:f>
                        <m:fPr>
                          <m:ctrlPr>
                            <a:rPr lang="vi-VN" i="1">
                              <a:solidFill>
                                <a:srgbClr val="836967"/>
                              </a:solidFill>
                              <a:latin typeface="Cambria Math" panose="02040503050406030204" pitchFamily="18" charset="0"/>
                            </a:rPr>
                          </m:ctrlPr>
                        </m:fPr>
                        <m:num>
                          <m:sSub>
                            <m:sSubPr>
                              <m:ctrlPr>
                                <a:rPr lang="vi-VN" i="1">
                                  <a:latin typeface="Cambria Math" panose="02040503050406030204" pitchFamily="18" charset="0"/>
                                </a:rPr>
                              </m:ctrlPr>
                            </m:sSubPr>
                            <m:e>
                              <m:r>
                                <a:rPr lang="vi-VN" i="1">
                                  <a:latin typeface="Cambria Math" panose="02040503050406030204" pitchFamily="18" charset="0"/>
                                </a:rPr>
                                <m:t>𝐺</m:t>
                              </m:r>
                            </m:e>
                            <m:sub>
                              <m:r>
                                <a:rPr lang="vi-VN" i="1">
                                  <a:latin typeface="Cambria Math" panose="02040503050406030204" pitchFamily="18" charset="0"/>
                                </a:rPr>
                                <m:t>𝑖</m:t>
                              </m:r>
                            </m:sub>
                          </m:sSub>
                          <m:d>
                            <m:dPr>
                              <m:ctrlPr>
                                <a:rPr lang="vi-VN" i="1">
                                  <a:latin typeface="Cambria Math" panose="02040503050406030204" pitchFamily="18" charset="0"/>
                                </a:rPr>
                              </m:ctrlPr>
                            </m:dPr>
                            <m:e>
                              <m:r>
                                <a:rPr lang="vi-VN" i="1">
                                  <a:latin typeface="Cambria Math" panose="02040503050406030204" pitchFamily="18" charset="0"/>
                                </a:rPr>
                                <m:t>𝑠</m:t>
                              </m:r>
                            </m:e>
                          </m:d>
                          <m:r>
                            <a:rPr lang="vi-VN" i="0">
                              <a:latin typeface="Cambria Math" panose="02040503050406030204" pitchFamily="18" charset="0"/>
                            </a:rPr>
                            <m:t>.</m:t>
                          </m:r>
                          <m:r>
                            <a:rPr lang="vi-VN" i="1" smtClean="0">
                              <a:solidFill>
                                <a:srgbClr val="836967"/>
                              </a:solidFill>
                              <a:latin typeface="Cambria Math" panose="02040503050406030204" pitchFamily="18" charset="0"/>
                            </a:rPr>
                            <m:t> </m:t>
                          </m:r>
                          <m:sSub>
                            <m:sSubPr>
                              <m:ctrlPr>
                                <a:rPr lang="vi-VN" i="1">
                                  <a:latin typeface="Cambria Math" panose="02040503050406030204" pitchFamily="18" charset="0"/>
                                </a:rPr>
                              </m:ctrlPr>
                            </m:sSubPr>
                            <m:e>
                              <m:r>
                                <a:rPr lang="vi-VN" i="1">
                                  <a:latin typeface="Cambria Math" panose="02040503050406030204" pitchFamily="18" charset="0"/>
                                </a:rPr>
                                <m:t>𝐺</m:t>
                              </m:r>
                            </m:e>
                            <m:sub>
                              <m:r>
                                <a:rPr lang="vi-VN" i="1">
                                  <a:latin typeface="Cambria Math" panose="02040503050406030204" pitchFamily="18" charset="0"/>
                                </a:rPr>
                                <m:t>𝑑𝑡𝑖</m:t>
                              </m:r>
                            </m:sub>
                          </m:sSub>
                          <m:d>
                            <m:dPr>
                              <m:ctrlPr>
                                <a:rPr lang="vi-VN" i="1">
                                  <a:latin typeface="Cambria Math" panose="02040503050406030204" pitchFamily="18" charset="0"/>
                                </a:rPr>
                              </m:ctrlPr>
                            </m:dPr>
                            <m:e>
                              <m:r>
                                <a:rPr lang="vi-VN" i="1">
                                  <a:latin typeface="Cambria Math" panose="02040503050406030204" pitchFamily="18" charset="0"/>
                                </a:rPr>
                                <m:t>𝑠</m:t>
                              </m:r>
                            </m:e>
                          </m:d>
                        </m:num>
                        <m:den>
                          <m:r>
                            <a:rPr lang="vi-VN" i="0">
                              <a:latin typeface="Cambria Math" panose="02040503050406030204" pitchFamily="18" charset="0"/>
                            </a:rPr>
                            <m:t>1+</m:t>
                          </m:r>
                          <m:sSub>
                            <m:sSubPr>
                              <m:ctrlPr>
                                <a:rPr lang="vi-VN" i="1">
                                  <a:latin typeface="Cambria Math" panose="02040503050406030204" pitchFamily="18" charset="0"/>
                                </a:rPr>
                              </m:ctrlPr>
                            </m:sSubPr>
                            <m:e>
                              <m:r>
                                <a:rPr lang="vi-VN" i="1">
                                  <a:latin typeface="Cambria Math" panose="02040503050406030204" pitchFamily="18" charset="0"/>
                                </a:rPr>
                                <m:t>𝐺</m:t>
                              </m:r>
                            </m:e>
                            <m:sub>
                              <m:r>
                                <a:rPr lang="vi-VN" i="1">
                                  <a:latin typeface="Cambria Math" panose="02040503050406030204" pitchFamily="18" charset="0"/>
                                </a:rPr>
                                <m:t>𝑖</m:t>
                              </m:r>
                            </m:sub>
                          </m:sSub>
                          <m:d>
                            <m:dPr>
                              <m:ctrlPr>
                                <a:rPr lang="vi-VN" i="1">
                                  <a:latin typeface="Cambria Math" panose="02040503050406030204" pitchFamily="18" charset="0"/>
                                </a:rPr>
                              </m:ctrlPr>
                            </m:dPr>
                            <m:e>
                              <m:r>
                                <a:rPr lang="vi-VN" i="1">
                                  <a:latin typeface="Cambria Math" panose="02040503050406030204" pitchFamily="18" charset="0"/>
                                </a:rPr>
                                <m:t>𝑠</m:t>
                              </m:r>
                            </m:e>
                          </m:d>
                          <m:r>
                            <a:rPr lang="vi-VN" i="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𝐺</m:t>
                              </m:r>
                            </m:e>
                            <m:sub>
                              <m:r>
                                <a:rPr lang="vi-VN" i="1">
                                  <a:latin typeface="Cambria Math" panose="02040503050406030204" pitchFamily="18" charset="0"/>
                                </a:rPr>
                                <m:t>𝑑𝑡𝑖</m:t>
                              </m:r>
                            </m:sub>
                          </m:sSub>
                          <m:d>
                            <m:dPr>
                              <m:ctrlPr>
                                <a:rPr lang="vi-VN" i="1">
                                  <a:latin typeface="Cambria Math" panose="02040503050406030204" pitchFamily="18" charset="0"/>
                                </a:rPr>
                              </m:ctrlPr>
                            </m:dPr>
                            <m:e>
                              <m:r>
                                <a:rPr lang="vi-VN" i="1">
                                  <a:latin typeface="Cambria Math" panose="02040503050406030204" pitchFamily="18" charset="0"/>
                                </a:rPr>
                                <m:t>𝑠</m:t>
                              </m:r>
                            </m:e>
                          </m:d>
                        </m:den>
                      </m:f>
                      <m:sSubSup>
                        <m:sSubSupPr>
                          <m:ctrlPr>
                            <a:rPr lang="vi-VN" i="1">
                              <a:latin typeface="Cambria Math" panose="02040503050406030204" pitchFamily="18" charset="0"/>
                            </a:rPr>
                          </m:ctrlPr>
                        </m:sSubSupPr>
                        <m:e>
                          <m:r>
                            <a:rPr lang="vi-VN" i="1">
                              <a:latin typeface="Cambria Math" panose="02040503050406030204" pitchFamily="18" charset="0"/>
                            </a:rPr>
                            <m:t>𝐼</m:t>
                          </m:r>
                        </m:e>
                        <m:sub>
                          <m:r>
                            <a:rPr lang="vi-VN" i="1">
                              <a:latin typeface="Cambria Math" panose="02040503050406030204" pitchFamily="18" charset="0"/>
                            </a:rPr>
                            <m:t>𝐿</m:t>
                          </m:r>
                        </m:sub>
                        <m:sup>
                          <m:r>
                            <a:rPr lang="vi-VN" i="0">
                              <a:latin typeface="Cambria Math" panose="02040503050406030204" pitchFamily="18" charset="0"/>
                            </a:rPr>
                            <m:t>∗</m:t>
                          </m:r>
                        </m:sup>
                      </m:sSubSup>
                      <m:d>
                        <m:dPr>
                          <m:ctrlPr>
                            <a:rPr lang="vi-VN" i="1">
                              <a:latin typeface="Cambria Math" panose="02040503050406030204" pitchFamily="18" charset="0"/>
                            </a:rPr>
                          </m:ctrlPr>
                        </m:dPr>
                        <m:e>
                          <m:r>
                            <a:rPr lang="vi-VN" i="1">
                              <a:latin typeface="Cambria Math" panose="02040503050406030204" pitchFamily="18" charset="0"/>
                            </a:rPr>
                            <m:t>𝑠</m:t>
                          </m:r>
                        </m:e>
                      </m:d>
                      <m:r>
                        <a:rPr lang="vi-VN" i="0">
                          <a:latin typeface="Cambria Math" panose="02040503050406030204" pitchFamily="18" charset="0"/>
                        </a:rPr>
                        <m:t>−</m:t>
                      </m:r>
                      <m:f>
                        <m:fPr>
                          <m:ctrlPr>
                            <a:rPr lang="vi-VN" i="1">
                              <a:solidFill>
                                <a:srgbClr val="836967"/>
                              </a:solidFill>
                              <a:latin typeface="Cambria Math" panose="02040503050406030204" pitchFamily="18" charset="0"/>
                            </a:rPr>
                          </m:ctrlPr>
                        </m:fPr>
                        <m:num>
                          <m:sSub>
                            <m:sSubPr>
                              <m:ctrlPr>
                                <a:rPr lang="vi-VN" i="1">
                                  <a:latin typeface="Cambria Math" panose="02040503050406030204" pitchFamily="18" charset="0"/>
                                </a:rPr>
                              </m:ctrlPr>
                            </m:sSubPr>
                            <m:e>
                              <m:r>
                                <a:rPr lang="vi-VN" i="1">
                                  <a:latin typeface="Cambria Math" panose="02040503050406030204" pitchFamily="18" charset="0"/>
                                </a:rPr>
                                <m:t>𝐺</m:t>
                              </m:r>
                            </m:e>
                            <m:sub>
                              <m:r>
                                <a:rPr lang="vi-VN" i="1">
                                  <a:latin typeface="Cambria Math" panose="02040503050406030204" pitchFamily="18" charset="0"/>
                                </a:rPr>
                                <m:t>𝑑𝑡𝑖</m:t>
                              </m:r>
                            </m:sub>
                          </m:sSub>
                          <m:d>
                            <m:dPr>
                              <m:ctrlPr>
                                <a:rPr lang="vi-VN" i="1">
                                  <a:latin typeface="Cambria Math" panose="02040503050406030204" pitchFamily="18" charset="0"/>
                                </a:rPr>
                              </m:ctrlPr>
                            </m:dPr>
                            <m:e>
                              <m:r>
                                <a:rPr lang="vi-VN" i="1">
                                  <a:latin typeface="Cambria Math" panose="02040503050406030204" pitchFamily="18" charset="0"/>
                                </a:rPr>
                                <m:t>𝑠</m:t>
                              </m:r>
                            </m:e>
                          </m:d>
                        </m:num>
                        <m:den>
                          <m:r>
                            <a:rPr lang="vi-VN" i="0">
                              <a:latin typeface="Cambria Math" panose="02040503050406030204" pitchFamily="18" charset="0"/>
                            </a:rPr>
                            <m:t>1+</m:t>
                          </m:r>
                          <m:sSub>
                            <m:sSubPr>
                              <m:ctrlPr>
                                <a:rPr lang="vi-VN" i="1">
                                  <a:latin typeface="Cambria Math" panose="02040503050406030204" pitchFamily="18" charset="0"/>
                                </a:rPr>
                              </m:ctrlPr>
                            </m:sSubPr>
                            <m:e>
                              <m:r>
                                <a:rPr lang="vi-VN" i="1">
                                  <a:latin typeface="Cambria Math" panose="02040503050406030204" pitchFamily="18" charset="0"/>
                                </a:rPr>
                                <m:t>𝐺</m:t>
                              </m:r>
                            </m:e>
                            <m:sub>
                              <m:r>
                                <a:rPr lang="vi-VN" i="1">
                                  <a:latin typeface="Cambria Math" panose="02040503050406030204" pitchFamily="18" charset="0"/>
                                </a:rPr>
                                <m:t>𝑖</m:t>
                              </m:r>
                            </m:sub>
                          </m:sSub>
                          <m:d>
                            <m:dPr>
                              <m:ctrlPr>
                                <a:rPr lang="vi-VN" i="1">
                                  <a:latin typeface="Cambria Math" panose="02040503050406030204" pitchFamily="18" charset="0"/>
                                </a:rPr>
                              </m:ctrlPr>
                            </m:dPr>
                            <m:e>
                              <m:r>
                                <a:rPr lang="vi-VN" i="1">
                                  <a:latin typeface="Cambria Math" panose="02040503050406030204" pitchFamily="18" charset="0"/>
                                </a:rPr>
                                <m:t>𝑠</m:t>
                              </m:r>
                            </m:e>
                          </m:d>
                          <m:r>
                            <a:rPr lang="vi-VN" i="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𝑈</m:t>
                              </m:r>
                            </m:e>
                            <m:sub>
                              <m:r>
                                <a:rPr lang="vi-VN" i="1">
                                  <a:latin typeface="Cambria Math" panose="02040503050406030204" pitchFamily="18" charset="0"/>
                                </a:rPr>
                                <m:t>𝑑𝑐</m:t>
                              </m:r>
                            </m:sub>
                          </m:sSub>
                          <m:r>
                            <a:rPr lang="vi-VN" i="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𝐺</m:t>
                              </m:r>
                            </m:e>
                            <m:sub>
                              <m:r>
                                <a:rPr lang="vi-VN" i="1">
                                  <a:latin typeface="Cambria Math" panose="02040503050406030204" pitchFamily="18" charset="0"/>
                                </a:rPr>
                                <m:t>𝑑𝑡𝑖</m:t>
                              </m:r>
                            </m:sub>
                          </m:sSub>
                          <m:d>
                            <m:dPr>
                              <m:ctrlPr>
                                <a:rPr lang="vi-VN" i="1">
                                  <a:latin typeface="Cambria Math" panose="02040503050406030204" pitchFamily="18" charset="0"/>
                                </a:rPr>
                              </m:ctrlPr>
                            </m:dPr>
                            <m:e>
                              <m:r>
                                <a:rPr lang="vi-VN" i="1">
                                  <a:latin typeface="Cambria Math" panose="02040503050406030204" pitchFamily="18" charset="0"/>
                                </a:rPr>
                                <m:t>𝑠</m:t>
                              </m:r>
                            </m:e>
                          </m:d>
                        </m:den>
                      </m:f>
                      <m:sSub>
                        <m:sSubPr>
                          <m:ctrlPr>
                            <a:rPr lang="vi-VN" i="1">
                              <a:latin typeface="Cambria Math" panose="02040503050406030204" pitchFamily="18" charset="0"/>
                            </a:rPr>
                          </m:ctrlPr>
                        </m:sSubPr>
                        <m:e>
                          <m:r>
                            <a:rPr lang="vi-VN" i="1">
                              <a:latin typeface="Cambria Math" panose="02040503050406030204" pitchFamily="18" charset="0"/>
                            </a:rPr>
                            <m:t>𝑉</m:t>
                          </m:r>
                        </m:e>
                        <m:sub>
                          <m:r>
                            <a:rPr lang="vi-VN" i="1">
                              <a:latin typeface="Cambria Math" panose="02040503050406030204" pitchFamily="18" charset="0"/>
                            </a:rPr>
                            <m:t>𝑜</m:t>
                          </m:r>
                        </m:sub>
                      </m:sSub>
                      <m:d>
                        <m:dPr>
                          <m:ctrlPr>
                            <a:rPr lang="vi-VN" i="1">
                              <a:latin typeface="Cambria Math" panose="02040503050406030204" pitchFamily="18" charset="0"/>
                            </a:rPr>
                          </m:ctrlPr>
                        </m:dPr>
                        <m:e>
                          <m:r>
                            <a:rPr lang="vi-VN" i="1">
                              <a:latin typeface="Cambria Math" panose="02040503050406030204" pitchFamily="18" charset="0"/>
                            </a:rPr>
                            <m:t>𝑠</m:t>
                          </m:r>
                        </m:e>
                      </m:d>
                    </m:oMath>
                  </m:oMathPara>
                </a14:m>
                <a:endParaRPr lang="vi-VN"/>
              </a:p>
            </p:txBody>
          </p:sp>
        </mc:Choice>
        <mc:Fallback xmlns="">
          <p:sp>
            <p:nvSpPr>
              <p:cNvPr id="17" name="Hộp Văn bản 16">
                <a:extLst>
                  <a:ext uri="{FF2B5EF4-FFF2-40B4-BE49-F238E27FC236}">
                    <a16:creationId xmlns:a16="http://schemas.microsoft.com/office/drawing/2014/main" id="{070860AB-1F8B-379E-A7AD-F196EFA80893}"/>
                  </a:ext>
                </a:extLst>
              </p:cNvPr>
              <p:cNvSpPr txBox="1">
                <a:spLocks noRot="1" noChangeAspect="1" noMove="1" noResize="1" noEditPoints="1" noAdjustHandles="1" noChangeArrowheads="1" noChangeShapeType="1" noTextEdit="1"/>
              </p:cNvSpPr>
              <p:nvPr/>
            </p:nvSpPr>
            <p:spPr>
              <a:xfrm>
                <a:off x="209201" y="3803912"/>
                <a:ext cx="6871824" cy="676724"/>
              </a:xfrm>
              <a:prstGeom prst="rect">
                <a:avLst/>
              </a:prstGeom>
              <a:blipFill>
                <a:blip r:embed="rId3"/>
                <a:stretch>
                  <a:fillRect/>
                </a:stretch>
              </a:blipFill>
            </p:spPr>
            <p:txBody>
              <a:bodyPr/>
              <a:lstStyle/>
              <a:p>
                <a:r>
                  <a:rPr lang="vi-VN">
                    <a:noFill/>
                  </a:rPr>
                  <a:t> </a:t>
                </a:r>
              </a:p>
            </p:txBody>
          </p:sp>
        </mc:Fallback>
      </mc:AlternateContent>
      <p:sp>
        <p:nvSpPr>
          <p:cNvPr id="9" name="TextBox 23">
            <a:extLst>
              <a:ext uri="{FF2B5EF4-FFF2-40B4-BE49-F238E27FC236}">
                <a16:creationId xmlns:a16="http://schemas.microsoft.com/office/drawing/2014/main" id="{E5C034FD-6286-9499-67FF-390A081035BB}"/>
              </a:ext>
            </a:extLst>
          </p:cNvPr>
          <p:cNvSpPr txBox="1"/>
          <p:nvPr/>
        </p:nvSpPr>
        <p:spPr>
          <a:xfrm>
            <a:off x="374948" y="1036129"/>
            <a:ext cx="10549214" cy="400110"/>
          </a:xfrm>
          <a:prstGeom prst="rect">
            <a:avLst/>
          </a:prstGeom>
          <a:noFill/>
        </p:spPr>
        <p:txBody>
          <a:bodyPr wrap="square" rtlCol="0">
            <a:spAutoFit/>
          </a:bodyPr>
          <a:lstStyle/>
          <a:p>
            <a:pPr defTabSz="609585">
              <a:defRPr/>
            </a:pPr>
            <a:r>
              <a:rPr lang="vi-VN" sz="2000" b="1">
                <a:solidFill>
                  <a:prstClr val="black"/>
                </a:solidFill>
                <a:latin typeface="Times New Roman" panose="02020603050405020304" pitchFamily="18" charset="0"/>
                <a:cs typeface="Times New Roman" panose="02020603050405020304" pitchFamily="18" charset="0"/>
              </a:rPr>
              <a:t>2.8. Thiết kế bộ điều khiển điện áp và dòng điện cho sơ đồ vòng kín trên miền liên tục</a:t>
            </a:r>
          </a:p>
        </p:txBody>
      </p:sp>
      <p:pic>
        <p:nvPicPr>
          <p:cNvPr id="12" name="Hình ảnh 11" descr="Ảnh có chứa văn bản, Phông chữ, màu trắng, bản phác thảo&#10;&#10;Mô tả được tạo tự động">
            <a:extLst>
              <a:ext uri="{FF2B5EF4-FFF2-40B4-BE49-F238E27FC236}">
                <a16:creationId xmlns:a16="http://schemas.microsoft.com/office/drawing/2014/main" id="{05BE5A0B-46C3-96D2-7618-D6ED1BA93D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09197" y="2005875"/>
            <a:ext cx="7007855" cy="1514365"/>
          </a:xfrm>
          <a:prstGeom prst="rect">
            <a:avLst/>
          </a:prstGeom>
        </p:spPr>
      </p:pic>
    </p:spTree>
    <p:extLst>
      <p:ext uri="{BB962C8B-B14F-4D97-AF65-F5344CB8AC3E}">
        <p14:creationId xmlns:p14="http://schemas.microsoft.com/office/powerpoint/2010/main" val="15634350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A8361-DFE5-78BD-9B59-66799FFD2702}"/>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EDD928DA-828B-F8FC-098F-C9E642F854DB}"/>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5D862414-21DC-1376-E7E3-B14D84F8979D}"/>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3911327B-A5AD-0F6C-6FA3-4FFCA9DED53C}"/>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7" name="Hộp Văn bản 6">
            <a:extLst>
              <a:ext uri="{FF2B5EF4-FFF2-40B4-BE49-F238E27FC236}">
                <a16:creationId xmlns:a16="http://schemas.microsoft.com/office/drawing/2014/main" id="{F54AD069-D788-66E9-FA91-AED0BD06F166}"/>
              </a:ext>
            </a:extLst>
          </p:cNvPr>
          <p:cNvSpPr txBox="1"/>
          <p:nvPr/>
        </p:nvSpPr>
        <p:spPr>
          <a:xfrm>
            <a:off x="374948" y="1600257"/>
            <a:ext cx="3642575" cy="369332"/>
          </a:xfrm>
          <a:prstGeom prst="rect">
            <a:avLst/>
          </a:prstGeom>
          <a:noFill/>
        </p:spPr>
        <p:txBody>
          <a:bodyPr wrap="square">
            <a:spAutoFit/>
          </a:bodyPr>
          <a:lstStyle/>
          <a:p>
            <a:r>
              <a:rPr lang="vi-VN">
                <a:latin typeface="+mj-lt"/>
              </a:rPr>
              <a:t>Sử dụng bộ điều khiển PR</a:t>
            </a:r>
            <a:endParaRPr lang="en-ID">
              <a:latin typeface="+mj-lt"/>
            </a:endParaRPr>
          </a:p>
        </p:txBody>
      </p:sp>
      <mc:AlternateContent xmlns:mc="http://schemas.openxmlformats.org/markup-compatibility/2006" xmlns:a14="http://schemas.microsoft.com/office/drawing/2010/main">
        <mc:Choice Requires="a14">
          <p:sp>
            <p:nvSpPr>
              <p:cNvPr id="10" name="Hộp Văn bản 9">
                <a:extLst>
                  <a:ext uri="{FF2B5EF4-FFF2-40B4-BE49-F238E27FC236}">
                    <a16:creationId xmlns:a16="http://schemas.microsoft.com/office/drawing/2014/main" id="{1195507D-8188-57EA-824F-EA12959F29E1}"/>
                  </a:ext>
                </a:extLst>
              </p:cNvPr>
              <p:cNvSpPr txBox="1"/>
              <p:nvPr/>
            </p:nvSpPr>
            <p:spPr>
              <a:xfrm>
                <a:off x="4106802" y="1443997"/>
                <a:ext cx="3048811" cy="681853"/>
              </a:xfrm>
              <a:prstGeom prst="rect">
                <a:avLst/>
              </a:prstGeom>
              <a:noFill/>
            </p:spPr>
            <p:txBody>
              <a:bodyPr wrap="square">
                <a:spAutoFit/>
              </a:bodyPr>
              <a:lstStyle/>
              <a:p>
                <a:pPr/>
                <a14:m>
                  <m:oMathPara xmlns:m="http://schemas.openxmlformats.org/officeDocument/2006/math">
                    <m:oMath>
                      <m:sSub>
                        <m:sSubPr>
                          <m:ctrlPr>
                            <a:rPr lang="vi-VN" i="1">
                              <a:latin typeface="Cambria Math" panose="02040503050406030204" pitchFamily="18" charset="0"/>
                            </a:rPr>
                          </m:ctrlPr>
                        </m:sSubPr>
                        <m:e>
                          <m:r>
                            <a:rPr lang="vi-VN" i="1">
                              <a:latin typeface="Cambria Math" panose="02040503050406030204" pitchFamily="18" charset="0"/>
                            </a:rPr>
                            <m:t>𝐺</m:t>
                          </m:r>
                        </m:e>
                        <m:sub>
                          <m:r>
                            <a:rPr lang="vi-VN" i="1">
                              <a:latin typeface="Cambria Math" panose="02040503050406030204" pitchFamily="18" charset="0"/>
                            </a:rPr>
                            <m:t>𝑝𝑟</m:t>
                          </m:r>
                        </m:sub>
                      </m:sSub>
                      <m:d>
                        <m:dPr>
                          <m:ctrlPr>
                            <a:rPr lang="vi-VN" i="1">
                              <a:latin typeface="Cambria Math" panose="02040503050406030204" pitchFamily="18" charset="0"/>
                            </a:rPr>
                          </m:ctrlPr>
                        </m:dPr>
                        <m:e>
                          <m:r>
                            <a:rPr lang="vi-VN" i="1">
                              <a:latin typeface="Cambria Math" panose="02040503050406030204" pitchFamily="18" charset="0"/>
                            </a:rPr>
                            <m:t>𝑠</m:t>
                          </m:r>
                        </m:e>
                      </m:d>
                      <m:r>
                        <a:rPr lang="vi-VN" i="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𝐾</m:t>
                          </m:r>
                        </m:e>
                        <m:sub>
                          <m:r>
                            <a:rPr lang="vi-VN" i="1">
                              <a:latin typeface="Cambria Math" panose="02040503050406030204" pitchFamily="18" charset="0"/>
                            </a:rPr>
                            <m:t>𝑝𝑟</m:t>
                          </m:r>
                        </m:sub>
                      </m:sSub>
                      <m:r>
                        <a:rPr lang="vi-VN" i="0">
                          <a:latin typeface="Cambria Math" panose="02040503050406030204" pitchFamily="18" charset="0"/>
                        </a:rPr>
                        <m:t>+</m:t>
                      </m:r>
                      <m:f>
                        <m:fPr>
                          <m:ctrlPr>
                            <a:rPr lang="vi-VN" i="1">
                              <a:solidFill>
                                <a:srgbClr val="836967"/>
                              </a:solidFill>
                              <a:latin typeface="Cambria Math" panose="02040503050406030204" pitchFamily="18" charset="0"/>
                            </a:rPr>
                          </m:ctrlPr>
                        </m:fPr>
                        <m:num>
                          <m:sSub>
                            <m:sSubPr>
                              <m:ctrlPr>
                                <a:rPr lang="vi-VN" i="1">
                                  <a:latin typeface="Cambria Math" panose="02040503050406030204" pitchFamily="18" charset="0"/>
                                </a:rPr>
                              </m:ctrlPr>
                            </m:sSubPr>
                            <m:e>
                              <m:r>
                                <a:rPr lang="vi-VN" i="1">
                                  <a:latin typeface="Cambria Math" panose="02040503050406030204" pitchFamily="18" charset="0"/>
                                </a:rPr>
                                <m:t>𝐾</m:t>
                              </m:r>
                            </m:e>
                            <m:sub>
                              <m:r>
                                <a:rPr lang="vi-VN" i="1">
                                  <a:latin typeface="Cambria Math" panose="02040503050406030204" pitchFamily="18" charset="0"/>
                                </a:rPr>
                                <m:t>𝑖𝑟</m:t>
                              </m:r>
                            </m:sub>
                          </m:sSub>
                          <m:r>
                            <a:rPr lang="vi-VN" i="1">
                              <a:latin typeface="Cambria Math" panose="02040503050406030204" pitchFamily="18" charset="0"/>
                            </a:rPr>
                            <m:t>𝑠</m:t>
                          </m:r>
                        </m:num>
                        <m:den>
                          <m:sSup>
                            <m:sSupPr>
                              <m:ctrlPr>
                                <a:rPr lang="vi-VN" i="1">
                                  <a:latin typeface="Cambria Math" panose="02040503050406030204" pitchFamily="18" charset="0"/>
                                </a:rPr>
                              </m:ctrlPr>
                            </m:sSupPr>
                            <m:e>
                              <m:r>
                                <a:rPr lang="vi-VN" i="1">
                                  <a:latin typeface="Cambria Math" panose="02040503050406030204" pitchFamily="18" charset="0"/>
                                </a:rPr>
                                <m:t>𝑠</m:t>
                              </m:r>
                            </m:e>
                            <m:sup>
                              <m:r>
                                <a:rPr lang="vi-VN" i="0">
                                  <a:latin typeface="Cambria Math" panose="02040503050406030204" pitchFamily="18" charset="0"/>
                                </a:rPr>
                                <m:t>2</m:t>
                              </m:r>
                            </m:sup>
                          </m:sSup>
                          <m:r>
                            <a:rPr lang="vi-VN" i="0">
                              <a:latin typeface="Cambria Math" panose="02040503050406030204" pitchFamily="18" charset="0"/>
                            </a:rPr>
                            <m:t>+</m:t>
                          </m:r>
                          <m:sSubSup>
                            <m:sSubSupPr>
                              <m:ctrlPr>
                                <a:rPr lang="vi-VN" i="1">
                                  <a:latin typeface="Cambria Math" panose="02040503050406030204" pitchFamily="18" charset="0"/>
                                </a:rPr>
                              </m:ctrlPr>
                            </m:sSubSupPr>
                            <m:e>
                              <m:r>
                                <a:rPr lang="vi-VN" i="1">
                                  <a:latin typeface="Cambria Math" panose="02040503050406030204" pitchFamily="18" charset="0"/>
                                </a:rPr>
                                <m:t>𝜔</m:t>
                              </m:r>
                            </m:e>
                            <m:sub>
                              <m:r>
                                <a:rPr lang="vi-VN" i="1">
                                  <a:latin typeface="Cambria Math" panose="02040503050406030204" pitchFamily="18" charset="0"/>
                                </a:rPr>
                                <m:t>ℎ</m:t>
                              </m:r>
                            </m:sub>
                            <m:sup>
                              <m:r>
                                <a:rPr lang="vi-VN" i="0">
                                  <a:latin typeface="Cambria Math" panose="02040503050406030204" pitchFamily="18" charset="0"/>
                                </a:rPr>
                                <m:t>2</m:t>
                              </m:r>
                            </m:sup>
                          </m:sSubSup>
                        </m:den>
                      </m:f>
                    </m:oMath>
                  </m:oMathPara>
                </a14:m>
                <a:endParaRPr lang="vi-VN"/>
              </a:p>
            </p:txBody>
          </p:sp>
        </mc:Choice>
        <mc:Fallback xmlns="">
          <p:sp>
            <p:nvSpPr>
              <p:cNvPr id="10" name="Hộp Văn bản 9">
                <a:extLst>
                  <a:ext uri="{FF2B5EF4-FFF2-40B4-BE49-F238E27FC236}">
                    <a16:creationId xmlns:a16="http://schemas.microsoft.com/office/drawing/2014/main" id="{1195507D-8188-57EA-824F-EA12959F29E1}"/>
                  </a:ext>
                </a:extLst>
              </p:cNvPr>
              <p:cNvSpPr txBox="1">
                <a:spLocks noRot="1" noChangeAspect="1" noMove="1" noResize="1" noEditPoints="1" noAdjustHandles="1" noChangeArrowheads="1" noChangeShapeType="1" noTextEdit="1"/>
              </p:cNvSpPr>
              <p:nvPr/>
            </p:nvSpPr>
            <p:spPr>
              <a:xfrm>
                <a:off x="4106802" y="1443997"/>
                <a:ext cx="3048811" cy="681853"/>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 name="Hộp Văn bản 11">
                <a:extLst>
                  <a:ext uri="{FF2B5EF4-FFF2-40B4-BE49-F238E27FC236}">
                    <a16:creationId xmlns:a16="http://schemas.microsoft.com/office/drawing/2014/main" id="{51B94C9E-B25A-5B85-79AD-2D68F563EC14}"/>
                  </a:ext>
                </a:extLst>
              </p:cNvPr>
              <p:cNvSpPr txBox="1"/>
              <p:nvPr/>
            </p:nvSpPr>
            <p:spPr>
              <a:xfrm>
                <a:off x="7949930" y="1600257"/>
                <a:ext cx="3713534" cy="369332"/>
              </a:xfrm>
              <a:prstGeom prst="rect">
                <a:avLst/>
              </a:prstGeom>
              <a:noFill/>
            </p:spPr>
            <p:txBody>
              <a:bodyPr wrap="square">
                <a:spAutoFit/>
              </a:bodyPr>
              <a:lstStyle/>
              <a:p>
                <a14:m>
                  <m:oMath xmlns:m="http://schemas.openxmlformats.org/officeDocument/2006/math">
                    <m:sSub>
                      <m:sSubPr>
                        <m:ctrlPr>
                          <a:rPr lang="en-US" sz="1800" i="1">
                            <a:effectLst/>
                            <a:latin typeface="Cambria Math" panose="02040503050406030204" pitchFamily="18" charset="0"/>
                            <a:ea typeface="Yu Gothic" panose="020B0400000000000000" pitchFamily="34" charset="-128"/>
                            <a:cs typeface="Times New Roman" panose="02020603050405020304" pitchFamily="18" charset="0"/>
                          </a:rPr>
                        </m:ctrlPr>
                      </m:sSubPr>
                      <m:e>
                        <m:r>
                          <a:rPr lang="en-US" sz="1800" i="1">
                            <a:effectLst/>
                            <a:latin typeface="Cambria Math" panose="02040503050406030204" pitchFamily="18" charset="0"/>
                            <a:ea typeface="Yu Gothic" panose="020B0400000000000000" pitchFamily="34" charset="-128"/>
                            <a:cs typeface="Times New Roman" panose="02020603050405020304" pitchFamily="18" charset="0"/>
                          </a:rPr>
                          <m:t>𝜔</m:t>
                        </m:r>
                      </m:e>
                      <m:sub>
                        <m:r>
                          <a:rPr lang="en-US" sz="1800" i="1">
                            <a:effectLst/>
                            <a:latin typeface="Cambria Math" panose="02040503050406030204" pitchFamily="18" charset="0"/>
                            <a:ea typeface="Yu Gothic" panose="020B0400000000000000" pitchFamily="34" charset="-128"/>
                            <a:cs typeface="Times New Roman" panose="02020603050405020304" pitchFamily="18" charset="0"/>
                          </a:rPr>
                          <m:t>ℎ</m:t>
                        </m:r>
                      </m:sub>
                    </m:sSub>
                  </m:oMath>
                </a14:m>
                <a:r>
                  <a:rPr lang="en-US">
                    <a:latin typeface="+mj-lt"/>
                  </a:rPr>
                  <a:t> </a:t>
                </a:r>
                <a:r>
                  <a:rPr lang="vi-VN">
                    <a:latin typeface="+mj-lt"/>
                  </a:rPr>
                  <a:t>là tần số công hưởng</a:t>
                </a:r>
                <a:endParaRPr lang="en-ID">
                  <a:latin typeface="+mj-lt"/>
                </a:endParaRPr>
              </a:p>
            </p:txBody>
          </p:sp>
        </mc:Choice>
        <mc:Fallback xmlns="">
          <p:sp>
            <p:nvSpPr>
              <p:cNvPr id="12" name="Hộp Văn bản 11">
                <a:extLst>
                  <a:ext uri="{FF2B5EF4-FFF2-40B4-BE49-F238E27FC236}">
                    <a16:creationId xmlns:a16="http://schemas.microsoft.com/office/drawing/2014/main" id="{51B94C9E-B25A-5B85-79AD-2D68F563EC14}"/>
                  </a:ext>
                </a:extLst>
              </p:cNvPr>
              <p:cNvSpPr txBox="1">
                <a:spLocks noRot="1" noChangeAspect="1" noMove="1" noResize="1" noEditPoints="1" noAdjustHandles="1" noChangeArrowheads="1" noChangeShapeType="1" noTextEdit="1"/>
              </p:cNvSpPr>
              <p:nvPr/>
            </p:nvSpPr>
            <p:spPr>
              <a:xfrm>
                <a:off x="7949930" y="1600257"/>
                <a:ext cx="3713534" cy="369332"/>
              </a:xfrm>
              <a:prstGeom prst="rect">
                <a:avLst/>
              </a:prstGeom>
              <a:blipFill>
                <a:blip r:embed="rId3"/>
                <a:stretch>
                  <a:fillRect t="-11667" b="-25000"/>
                </a:stretch>
              </a:blipFill>
            </p:spPr>
            <p:txBody>
              <a:bodyPr/>
              <a:lstStyle/>
              <a:p>
                <a:r>
                  <a:rPr lang="vi-VN">
                    <a:noFill/>
                  </a:rPr>
                  <a:t> </a:t>
                </a:r>
              </a:p>
            </p:txBody>
          </p:sp>
        </mc:Fallback>
      </mc:AlternateContent>
      <p:sp>
        <p:nvSpPr>
          <p:cNvPr id="15" name="Hộp Văn bản 14">
            <a:extLst>
              <a:ext uri="{FF2B5EF4-FFF2-40B4-BE49-F238E27FC236}">
                <a16:creationId xmlns:a16="http://schemas.microsoft.com/office/drawing/2014/main" id="{BE85B92A-B24E-CB8C-F452-4DCD9FB1207B}"/>
              </a:ext>
            </a:extLst>
          </p:cNvPr>
          <p:cNvSpPr txBox="1"/>
          <p:nvPr/>
        </p:nvSpPr>
        <p:spPr>
          <a:xfrm>
            <a:off x="374948" y="2626562"/>
            <a:ext cx="892513" cy="369332"/>
          </a:xfrm>
          <a:prstGeom prst="rect">
            <a:avLst/>
          </a:prstGeom>
          <a:noFill/>
        </p:spPr>
        <p:txBody>
          <a:bodyPr wrap="square">
            <a:spAutoFit/>
          </a:bodyPr>
          <a:lstStyle/>
          <a:p>
            <a:r>
              <a:rPr lang="vi-VN">
                <a:latin typeface="+mj-lt"/>
              </a:rPr>
              <a:t>Ta có: </a:t>
            </a:r>
            <a:endParaRPr lang="en-ID">
              <a:latin typeface="+mj-lt"/>
            </a:endParaRPr>
          </a:p>
        </p:txBody>
      </p:sp>
      <mc:AlternateContent xmlns:mc="http://schemas.openxmlformats.org/markup-compatibility/2006" xmlns:a14="http://schemas.microsoft.com/office/drawing/2010/main">
        <mc:Choice Requires="a14">
          <p:sp>
            <p:nvSpPr>
              <p:cNvPr id="18" name="Hộp Văn bản 17">
                <a:extLst>
                  <a:ext uri="{FF2B5EF4-FFF2-40B4-BE49-F238E27FC236}">
                    <a16:creationId xmlns:a16="http://schemas.microsoft.com/office/drawing/2014/main" id="{41792A94-1F61-AF41-02C8-D710E1E18A86}"/>
                  </a:ext>
                </a:extLst>
              </p:cNvPr>
              <p:cNvSpPr txBox="1"/>
              <p:nvPr/>
            </p:nvSpPr>
            <p:spPr>
              <a:xfrm>
                <a:off x="1749098" y="2133607"/>
                <a:ext cx="3976181" cy="985911"/>
              </a:xfrm>
              <a:prstGeom prst="rect">
                <a:avLst/>
              </a:prstGeom>
              <a:noFill/>
            </p:spPr>
            <p:txBody>
              <a:bodyPr wrap="square">
                <a:spAutoFit/>
              </a:bodyPr>
              <a:lstStyle/>
              <a:p>
                <a:pPr/>
                <a14:m>
                  <m:oMathPara xmlns:m="http://schemas.openxmlformats.org/officeDocument/2006/math">
                    <m:oMath>
                      <m:d>
                        <m:dPr>
                          <m:begChr m:val="|"/>
                          <m:endChr m:val="|"/>
                          <m:ctrlPr>
                            <a:rPr lang="vi-VN" i="1">
                              <a:solidFill>
                                <a:srgbClr val="836967"/>
                              </a:solidFill>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𝐺</m:t>
                              </m:r>
                            </m:e>
                            <m:sub>
                              <m:r>
                                <a:rPr lang="vi-VN" i="1">
                                  <a:latin typeface="Cambria Math" panose="02040503050406030204" pitchFamily="18" charset="0"/>
                                </a:rPr>
                                <m:t>𝑝𝑟</m:t>
                              </m:r>
                            </m:sub>
                          </m:sSub>
                          <m:d>
                            <m:dPr>
                              <m:ctrlPr>
                                <a:rPr lang="vi-VN" i="1">
                                  <a:latin typeface="Cambria Math" panose="02040503050406030204" pitchFamily="18" charset="0"/>
                                </a:rPr>
                              </m:ctrlPr>
                            </m:dPr>
                            <m:e>
                              <m:r>
                                <a:rPr lang="vi-VN" i="1">
                                  <a:latin typeface="Cambria Math" panose="02040503050406030204" pitchFamily="18" charset="0"/>
                                </a:rPr>
                                <m:t>𝑗</m:t>
                              </m:r>
                              <m:r>
                                <a:rPr lang="vi-VN" i="1">
                                  <a:latin typeface="Cambria Math" panose="02040503050406030204" pitchFamily="18" charset="0"/>
                                </a:rPr>
                                <m:t>𝜔</m:t>
                              </m:r>
                            </m:e>
                          </m:d>
                        </m:e>
                      </m:d>
                      <m:r>
                        <a:rPr lang="vi-VN" i="0">
                          <a:latin typeface="Cambria Math" panose="02040503050406030204" pitchFamily="18" charset="0"/>
                        </a:rPr>
                        <m:t>=</m:t>
                      </m:r>
                      <m:f>
                        <m:fPr>
                          <m:ctrlPr>
                            <a:rPr lang="vi-VN" i="1">
                              <a:solidFill>
                                <a:srgbClr val="836967"/>
                              </a:solidFill>
                              <a:latin typeface="Cambria Math" panose="02040503050406030204" pitchFamily="18" charset="0"/>
                            </a:rPr>
                          </m:ctrlPr>
                        </m:fPr>
                        <m:num>
                          <m:rad>
                            <m:radPr>
                              <m:degHide m:val="on"/>
                              <m:ctrlPr>
                                <a:rPr lang="vi-VN" i="1">
                                  <a:solidFill>
                                    <a:srgbClr val="836967"/>
                                  </a:solidFill>
                                  <a:latin typeface="Cambria Math" panose="02040503050406030204" pitchFamily="18" charset="0"/>
                                </a:rPr>
                              </m:ctrlPr>
                            </m:radPr>
                            <m:deg/>
                            <m:e>
                              <m:sSubSup>
                                <m:sSubSupPr>
                                  <m:ctrlPr>
                                    <a:rPr lang="vi-VN" i="1">
                                      <a:latin typeface="Cambria Math" panose="02040503050406030204" pitchFamily="18" charset="0"/>
                                    </a:rPr>
                                  </m:ctrlPr>
                                </m:sSubSupPr>
                                <m:e>
                                  <m:r>
                                    <a:rPr lang="vi-VN" i="1">
                                      <a:latin typeface="Cambria Math" panose="02040503050406030204" pitchFamily="18" charset="0"/>
                                    </a:rPr>
                                    <m:t>𝐾</m:t>
                                  </m:r>
                                </m:e>
                                <m:sub>
                                  <m:r>
                                    <a:rPr lang="vi-VN" i="1">
                                      <a:latin typeface="Cambria Math" panose="02040503050406030204" pitchFamily="18" charset="0"/>
                                    </a:rPr>
                                    <m:t>𝑝𝑟</m:t>
                                  </m:r>
                                </m:sub>
                                <m:sup>
                                  <m:r>
                                    <a:rPr lang="vi-VN" i="0">
                                      <a:latin typeface="Cambria Math" panose="02040503050406030204" pitchFamily="18" charset="0"/>
                                    </a:rPr>
                                    <m:t>2</m:t>
                                  </m:r>
                                </m:sup>
                              </m:sSubSup>
                              <m:sSup>
                                <m:sSupPr>
                                  <m:ctrlPr>
                                    <a:rPr lang="vi-VN" i="1">
                                      <a:solidFill>
                                        <a:srgbClr val="836967"/>
                                      </a:solidFill>
                                      <a:latin typeface="Cambria Math" panose="02040503050406030204" pitchFamily="18" charset="0"/>
                                    </a:rPr>
                                  </m:ctrlPr>
                                </m:sSupPr>
                                <m:e>
                                  <m:d>
                                    <m:dPr>
                                      <m:ctrlPr>
                                        <a:rPr lang="vi-VN" i="1">
                                          <a:solidFill>
                                            <a:srgbClr val="836967"/>
                                          </a:solidFill>
                                          <a:latin typeface="Cambria Math" panose="02040503050406030204" pitchFamily="18" charset="0"/>
                                        </a:rPr>
                                      </m:ctrlPr>
                                    </m:dPr>
                                    <m:e>
                                      <m:sSubSup>
                                        <m:sSubSupPr>
                                          <m:ctrlPr>
                                            <a:rPr lang="vi-VN" i="1">
                                              <a:latin typeface="Cambria Math" panose="02040503050406030204" pitchFamily="18" charset="0"/>
                                            </a:rPr>
                                          </m:ctrlPr>
                                        </m:sSubSupPr>
                                        <m:e>
                                          <m:r>
                                            <a:rPr lang="vi-VN" i="1">
                                              <a:latin typeface="Cambria Math" panose="02040503050406030204" pitchFamily="18" charset="0"/>
                                            </a:rPr>
                                            <m:t>𝜔</m:t>
                                          </m:r>
                                        </m:e>
                                        <m:sub>
                                          <m:r>
                                            <a:rPr lang="vi-VN" i="1">
                                              <a:latin typeface="Cambria Math" panose="02040503050406030204" pitchFamily="18" charset="0"/>
                                            </a:rPr>
                                            <m:t>ℎ</m:t>
                                          </m:r>
                                        </m:sub>
                                        <m:sup>
                                          <m:r>
                                            <a:rPr lang="vi-VN" i="0">
                                              <a:latin typeface="Cambria Math" panose="02040503050406030204" pitchFamily="18" charset="0"/>
                                            </a:rPr>
                                            <m:t>2</m:t>
                                          </m:r>
                                        </m:sup>
                                      </m:sSubSup>
                                      <m:r>
                                        <a:rPr lang="vi-VN" i="0">
                                          <a:latin typeface="Cambria Math" panose="02040503050406030204" pitchFamily="18" charset="0"/>
                                        </a:rPr>
                                        <m:t>−</m:t>
                                      </m:r>
                                      <m:sSup>
                                        <m:sSupPr>
                                          <m:ctrlPr>
                                            <a:rPr lang="vi-VN" i="1">
                                              <a:latin typeface="Cambria Math" panose="02040503050406030204" pitchFamily="18" charset="0"/>
                                            </a:rPr>
                                          </m:ctrlPr>
                                        </m:sSupPr>
                                        <m:e>
                                          <m:r>
                                            <a:rPr lang="vi-VN" i="1">
                                              <a:latin typeface="Cambria Math" panose="02040503050406030204" pitchFamily="18" charset="0"/>
                                            </a:rPr>
                                            <m:t>𝜔</m:t>
                                          </m:r>
                                        </m:e>
                                        <m:sup>
                                          <m:r>
                                            <a:rPr lang="vi-VN" i="0">
                                              <a:latin typeface="Cambria Math" panose="02040503050406030204" pitchFamily="18" charset="0"/>
                                            </a:rPr>
                                            <m:t>2</m:t>
                                          </m:r>
                                        </m:sup>
                                      </m:sSup>
                                    </m:e>
                                  </m:d>
                                </m:e>
                                <m:sup>
                                  <m:r>
                                    <a:rPr lang="vi-VN" i="0">
                                      <a:latin typeface="Cambria Math" panose="02040503050406030204" pitchFamily="18" charset="0"/>
                                    </a:rPr>
                                    <m:t>2</m:t>
                                  </m:r>
                                </m:sup>
                              </m:sSup>
                              <m:r>
                                <a:rPr lang="vi-VN" i="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𝐾</m:t>
                                  </m:r>
                                </m:e>
                                <m:sub>
                                  <m:r>
                                    <a:rPr lang="vi-VN" i="1">
                                      <a:latin typeface="Cambria Math" panose="02040503050406030204" pitchFamily="18" charset="0"/>
                                    </a:rPr>
                                    <m:t>𝑖𝑟</m:t>
                                  </m:r>
                                </m:sub>
                              </m:sSub>
                              <m:sSup>
                                <m:sSupPr>
                                  <m:ctrlPr>
                                    <a:rPr lang="vi-VN" i="1">
                                      <a:latin typeface="Cambria Math" panose="02040503050406030204" pitchFamily="18" charset="0"/>
                                    </a:rPr>
                                  </m:ctrlPr>
                                </m:sSupPr>
                                <m:e>
                                  <m:r>
                                    <a:rPr lang="vi-VN" i="1">
                                      <a:latin typeface="Cambria Math" panose="02040503050406030204" pitchFamily="18" charset="0"/>
                                    </a:rPr>
                                    <m:t>𝜔</m:t>
                                  </m:r>
                                </m:e>
                                <m:sup>
                                  <m:r>
                                    <a:rPr lang="vi-VN" i="0">
                                      <a:latin typeface="Cambria Math" panose="02040503050406030204" pitchFamily="18" charset="0"/>
                                    </a:rPr>
                                    <m:t>2</m:t>
                                  </m:r>
                                </m:sup>
                              </m:sSup>
                            </m:e>
                          </m:rad>
                        </m:num>
                        <m:den>
                          <m:d>
                            <m:dPr>
                              <m:ctrlPr>
                                <a:rPr lang="vi-VN" i="1">
                                  <a:solidFill>
                                    <a:srgbClr val="836967"/>
                                  </a:solidFill>
                                  <a:latin typeface="Cambria Math" panose="02040503050406030204" pitchFamily="18" charset="0"/>
                                </a:rPr>
                              </m:ctrlPr>
                            </m:dPr>
                            <m:e>
                              <m:sSubSup>
                                <m:sSubSupPr>
                                  <m:ctrlPr>
                                    <a:rPr lang="vi-VN" i="1">
                                      <a:latin typeface="Cambria Math" panose="02040503050406030204" pitchFamily="18" charset="0"/>
                                    </a:rPr>
                                  </m:ctrlPr>
                                </m:sSubSupPr>
                                <m:e>
                                  <m:r>
                                    <a:rPr lang="vi-VN" i="1">
                                      <a:latin typeface="Cambria Math" panose="02040503050406030204" pitchFamily="18" charset="0"/>
                                    </a:rPr>
                                    <m:t>𝜔</m:t>
                                  </m:r>
                                </m:e>
                                <m:sub>
                                  <m:r>
                                    <a:rPr lang="vi-VN" i="1">
                                      <a:latin typeface="Cambria Math" panose="02040503050406030204" pitchFamily="18" charset="0"/>
                                    </a:rPr>
                                    <m:t>ℎ</m:t>
                                  </m:r>
                                </m:sub>
                                <m:sup>
                                  <m:r>
                                    <a:rPr lang="vi-VN" i="0">
                                      <a:latin typeface="Cambria Math" panose="02040503050406030204" pitchFamily="18" charset="0"/>
                                    </a:rPr>
                                    <m:t>2</m:t>
                                  </m:r>
                                </m:sup>
                              </m:sSubSup>
                              <m:r>
                                <a:rPr lang="vi-VN" i="0">
                                  <a:latin typeface="Cambria Math" panose="02040503050406030204" pitchFamily="18" charset="0"/>
                                </a:rPr>
                                <m:t>−</m:t>
                              </m:r>
                              <m:sSup>
                                <m:sSupPr>
                                  <m:ctrlPr>
                                    <a:rPr lang="vi-VN" i="1">
                                      <a:latin typeface="Cambria Math" panose="02040503050406030204" pitchFamily="18" charset="0"/>
                                    </a:rPr>
                                  </m:ctrlPr>
                                </m:sSupPr>
                                <m:e>
                                  <m:r>
                                    <a:rPr lang="vi-VN" i="1">
                                      <a:latin typeface="Cambria Math" panose="02040503050406030204" pitchFamily="18" charset="0"/>
                                    </a:rPr>
                                    <m:t>𝜔</m:t>
                                  </m:r>
                                </m:e>
                                <m:sup>
                                  <m:r>
                                    <a:rPr lang="vi-VN" i="0">
                                      <a:latin typeface="Cambria Math" panose="02040503050406030204" pitchFamily="18" charset="0"/>
                                    </a:rPr>
                                    <m:t>2</m:t>
                                  </m:r>
                                </m:sup>
                              </m:sSup>
                            </m:e>
                          </m:d>
                        </m:den>
                      </m:f>
                    </m:oMath>
                  </m:oMathPara>
                </a14:m>
                <a:endParaRPr lang="vi-VN"/>
              </a:p>
            </p:txBody>
          </p:sp>
        </mc:Choice>
        <mc:Fallback xmlns="">
          <p:sp>
            <p:nvSpPr>
              <p:cNvPr id="18" name="Hộp Văn bản 17">
                <a:extLst>
                  <a:ext uri="{FF2B5EF4-FFF2-40B4-BE49-F238E27FC236}">
                    <a16:creationId xmlns:a16="http://schemas.microsoft.com/office/drawing/2014/main" id="{41792A94-1F61-AF41-02C8-D710E1E18A86}"/>
                  </a:ext>
                </a:extLst>
              </p:cNvPr>
              <p:cNvSpPr txBox="1">
                <a:spLocks noRot="1" noChangeAspect="1" noMove="1" noResize="1" noEditPoints="1" noAdjustHandles="1" noChangeArrowheads="1" noChangeShapeType="1" noTextEdit="1"/>
              </p:cNvSpPr>
              <p:nvPr/>
            </p:nvSpPr>
            <p:spPr>
              <a:xfrm>
                <a:off x="1749098" y="2133607"/>
                <a:ext cx="3976181" cy="985911"/>
              </a:xfrm>
              <a:prstGeom prst="rect">
                <a:avLst/>
              </a:prstGeom>
              <a:blipFill>
                <a:blip r:embed="rId4"/>
                <a:stretch>
                  <a:fillRect/>
                </a:stretch>
              </a:blipFill>
            </p:spPr>
            <p:txBody>
              <a:bodyPr/>
              <a:lstStyle/>
              <a:p>
                <a:r>
                  <a:rPr lang="vi-VN">
                    <a:noFill/>
                  </a:rPr>
                  <a:t> </a:t>
                </a:r>
              </a:p>
            </p:txBody>
          </p:sp>
        </mc:Fallback>
      </mc:AlternateContent>
      <p:pic>
        <p:nvPicPr>
          <p:cNvPr id="19" name="Picture 11">
            <a:extLst>
              <a:ext uri="{FF2B5EF4-FFF2-40B4-BE49-F238E27FC236}">
                <a16:creationId xmlns:a16="http://schemas.microsoft.com/office/drawing/2014/main" id="{9AD85C19-8D0D-79F1-E680-D140A839E022}"/>
              </a:ext>
            </a:extLst>
          </p:cNvPr>
          <p:cNvPicPr>
            <a:picLocks noChangeAspect="1"/>
          </p:cNvPicPr>
          <p:nvPr/>
        </p:nvPicPr>
        <p:blipFill>
          <a:blip r:embed="rId5"/>
          <a:stretch>
            <a:fillRect/>
          </a:stretch>
        </p:blipFill>
        <p:spPr>
          <a:xfrm>
            <a:off x="7215723" y="2148112"/>
            <a:ext cx="4833435" cy="3310571"/>
          </a:xfrm>
          <a:prstGeom prst="rect">
            <a:avLst/>
          </a:prstGeom>
        </p:spPr>
      </p:pic>
      <p:sp>
        <p:nvSpPr>
          <p:cNvPr id="21" name="Hộp Văn bản 20">
            <a:extLst>
              <a:ext uri="{FF2B5EF4-FFF2-40B4-BE49-F238E27FC236}">
                <a16:creationId xmlns:a16="http://schemas.microsoft.com/office/drawing/2014/main" id="{D3648D3D-890E-DE9E-CD63-383072A643DE}"/>
              </a:ext>
            </a:extLst>
          </p:cNvPr>
          <p:cNvSpPr txBox="1"/>
          <p:nvPr/>
        </p:nvSpPr>
        <p:spPr>
          <a:xfrm>
            <a:off x="7334655" y="5637206"/>
            <a:ext cx="4328809" cy="584775"/>
          </a:xfrm>
          <a:prstGeom prst="rect">
            <a:avLst/>
          </a:prstGeom>
          <a:noFill/>
        </p:spPr>
        <p:txBody>
          <a:bodyPr wrap="square">
            <a:spAutoFit/>
          </a:bodyPr>
          <a:lstStyle/>
          <a:p>
            <a:pPr algn="ctr"/>
            <a:r>
              <a:rPr lang="vi-VN" sz="1600" i="1">
                <a:latin typeface="Times New Roman" panose="02020603050405020304" pitchFamily="18" charset="0"/>
                <a:cs typeface="Times New Roman" panose="02020603050405020304" pitchFamily="18" charset="0"/>
              </a:rPr>
              <a:t>Đồ thị </a:t>
            </a:r>
            <a:r>
              <a:rPr lang="vi-VN" sz="1600" i="1" err="1">
                <a:latin typeface="Times New Roman" panose="02020603050405020304" pitchFamily="18" charset="0"/>
                <a:cs typeface="Times New Roman" panose="02020603050405020304" pitchFamily="18" charset="0"/>
              </a:rPr>
              <a:t>Bode</a:t>
            </a:r>
            <a:r>
              <a:rPr lang="vi-VN" sz="1600" i="1">
                <a:latin typeface="Times New Roman" panose="02020603050405020304" pitchFamily="18" charset="0"/>
                <a:cs typeface="Times New Roman" panose="02020603050405020304" pitchFamily="18" charset="0"/>
              </a:rPr>
              <a:t> của bộ điều chỉnh PR (</a:t>
            </a:r>
            <a:r>
              <a:rPr lang="vi-VN" sz="1600" i="1" err="1">
                <a:latin typeface="Times New Roman" panose="02020603050405020304" pitchFamily="18" charset="0"/>
                <a:cs typeface="Times New Roman" panose="02020603050405020304" pitchFamily="18" charset="0"/>
              </a:rPr>
              <a:t>Kpr</a:t>
            </a:r>
            <a:r>
              <a:rPr lang="vi-VN" sz="1600" i="1">
                <a:latin typeface="Times New Roman" panose="02020603050405020304" pitchFamily="18" charset="0"/>
                <a:cs typeface="Times New Roman" panose="02020603050405020304" pitchFamily="18" charset="0"/>
              </a:rPr>
              <a:t> =1, </a:t>
            </a:r>
            <a:r>
              <a:rPr lang="vi-VN" sz="1600" i="1" err="1">
                <a:latin typeface="Times New Roman" panose="02020603050405020304" pitchFamily="18" charset="0"/>
                <a:cs typeface="Times New Roman" panose="02020603050405020304" pitchFamily="18" charset="0"/>
              </a:rPr>
              <a:t>Kir</a:t>
            </a:r>
            <a:r>
              <a:rPr lang="vi-VN" sz="1600" i="1">
                <a:latin typeface="Times New Roman" panose="02020603050405020304" pitchFamily="18" charset="0"/>
                <a:cs typeface="Times New Roman" panose="02020603050405020304" pitchFamily="18" charset="0"/>
              </a:rPr>
              <a:t> = 100, 1000, 10000 tại tần số cộng hưởng 50Hz</a:t>
            </a:r>
            <a:endParaRPr lang="en-ID" sz="1600" i="1">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4" name="Hộp Văn bản 23">
                <a:extLst>
                  <a:ext uri="{FF2B5EF4-FFF2-40B4-BE49-F238E27FC236}">
                    <a16:creationId xmlns:a16="http://schemas.microsoft.com/office/drawing/2014/main" id="{B952CC3F-3D70-B4C9-414B-A5A4106D5F19}"/>
                  </a:ext>
                </a:extLst>
              </p:cNvPr>
              <p:cNvSpPr txBox="1"/>
              <p:nvPr/>
            </p:nvSpPr>
            <p:spPr>
              <a:xfrm>
                <a:off x="1749098" y="3283536"/>
                <a:ext cx="4251442" cy="726096"/>
              </a:xfrm>
              <a:prstGeom prst="rect">
                <a:avLst/>
              </a:prstGeom>
              <a:noFill/>
            </p:spPr>
            <p:txBody>
              <a:bodyPr wrap="square">
                <a:spAutoFit/>
              </a:bodyPr>
              <a:lstStyle/>
              <a:p>
                <a:pPr/>
                <a14:m>
                  <m:oMathPara xmlns:m="http://schemas.openxmlformats.org/officeDocument/2006/math">
                    <m:oMath>
                      <m:sSub>
                        <m:sSubPr>
                          <m:ctrlPr>
                            <a:rPr lang="vi-VN" i="1">
                              <a:latin typeface="Cambria Math" panose="02040503050406030204" pitchFamily="18" charset="0"/>
                            </a:rPr>
                          </m:ctrlPr>
                        </m:sSubPr>
                        <m:e>
                          <m:r>
                            <a:rPr lang="vi-VN" i="1">
                              <a:latin typeface="Cambria Math" panose="02040503050406030204" pitchFamily="18" charset="0"/>
                            </a:rPr>
                            <m:t>𝐴</m:t>
                          </m:r>
                        </m:e>
                        <m:sub>
                          <m:r>
                            <a:rPr lang="vi-VN" i="1">
                              <a:latin typeface="Cambria Math" panose="02040503050406030204" pitchFamily="18" charset="0"/>
                            </a:rPr>
                            <m:t>𝑐</m:t>
                          </m:r>
                        </m:sub>
                      </m:sSub>
                      <m:r>
                        <a:rPr lang="vi-VN" i="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𝐺</m:t>
                          </m:r>
                        </m:e>
                        <m:sub>
                          <m:r>
                            <a:rPr lang="vi-VN" i="1">
                              <a:latin typeface="Cambria Math" panose="02040503050406030204" pitchFamily="18" charset="0"/>
                            </a:rPr>
                            <m:t>𝑝𝑟</m:t>
                          </m:r>
                        </m:sub>
                      </m:sSub>
                      <m:d>
                        <m:dPr>
                          <m:ctrlPr>
                            <a:rPr lang="vi-VN" i="1">
                              <a:latin typeface="Cambria Math" panose="02040503050406030204" pitchFamily="18" charset="0"/>
                            </a:rPr>
                          </m:ctrlPr>
                        </m:dPr>
                        <m:e>
                          <m:r>
                            <a:rPr lang="vi-VN" i="1">
                              <a:latin typeface="Cambria Math" panose="02040503050406030204" pitchFamily="18" charset="0"/>
                            </a:rPr>
                            <m:t>𝑗</m:t>
                          </m:r>
                          <m:r>
                            <a:rPr lang="vi-VN" i="1">
                              <a:latin typeface="Cambria Math" panose="02040503050406030204" pitchFamily="18" charset="0"/>
                            </a:rPr>
                            <m:t>𝜔</m:t>
                          </m:r>
                        </m:e>
                      </m:d>
                      <m:r>
                        <a:rPr lang="vi-VN" i="0">
                          <a:latin typeface="Cambria Math" panose="02040503050406030204" pitchFamily="18" charset="0"/>
                        </a:rPr>
                        <m:t>=</m:t>
                      </m:r>
                      <m:func>
                        <m:funcPr>
                          <m:ctrlPr>
                            <a:rPr lang="vi-VN" i="0">
                              <a:latin typeface="Cambria Math" panose="02040503050406030204" pitchFamily="18" charset="0"/>
                            </a:rPr>
                          </m:ctrlPr>
                        </m:funcPr>
                        <m:fName>
                          <m:r>
                            <m:rPr>
                              <m:sty m:val="p"/>
                            </m:rPr>
                            <a:rPr lang="vi-VN" i="0">
                              <a:latin typeface="Cambria Math" panose="02040503050406030204" pitchFamily="18" charset="0"/>
                            </a:rPr>
                            <m:t>arctan</m:t>
                          </m:r>
                        </m:fName>
                        <m:e>
                          <m:d>
                            <m:dPr>
                              <m:begChr m:val="["/>
                              <m:endChr m:val="]"/>
                              <m:ctrlPr>
                                <a:rPr lang="vi-VN" i="1">
                                  <a:solidFill>
                                    <a:srgbClr val="836967"/>
                                  </a:solidFill>
                                  <a:latin typeface="Cambria Math" panose="02040503050406030204" pitchFamily="18" charset="0"/>
                                </a:rPr>
                              </m:ctrlPr>
                            </m:dPr>
                            <m:e>
                              <m:f>
                                <m:fPr>
                                  <m:ctrlPr>
                                    <a:rPr lang="vi-VN" i="1">
                                      <a:solidFill>
                                        <a:srgbClr val="836967"/>
                                      </a:solidFill>
                                      <a:latin typeface="Cambria Math" panose="02040503050406030204" pitchFamily="18" charset="0"/>
                                    </a:rPr>
                                  </m:ctrlPr>
                                </m:fPr>
                                <m:num>
                                  <m:sSub>
                                    <m:sSubPr>
                                      <m:ctrlPr>
                                        <a:rPr lang="vi-VN" i="1">
                                          <a:latin typeface="Cambria Math" panose="02040503050406030204" pitchFamily="18" charset="0"/>
                                        </a:rPr>
                                      </m:ctrlPr>
                                    </m:sSubPr>
                                    <m:e>
                                      <m:r>
                                        <a:rPr lang="vi-VN" i="1">
                                          <a:latin typeface="Cambria Math" panose="02040503050406030204" pitchFamily="18" charset="0"/>
                                        </a:rPr>
                                        <m:t>𝐾</m:t>
                                      </m:r>
                                    </m:e>
                                    <m:sub>
                                      <m:r>
                                        <a:rPr lang="vi-VN" i="1">
                                          <a:latin typeface="Cambria Math" panose="02040503050406030204" pitchFamily="18" charset="0"/>
                                        </a:rPr>
                                        <m:t>𝑖𝑟</m:t>
                                      </m:r>
                                    </m:sub>
                                  </m:sSub>
                                  <m:r>
                                    <a:rPr lang="vi-VN" i="1">
                                      <a:latin typeface="Cambria Math" panose="02040503050406030204" pitchFamily="18" charset="0"/>
                                    </a:rPr>
                                    <m:t>𝜔</m:t>
                                  </m:r>
                                </m:num>
                                <m:den>
                                  <m:sSub>
                                    <m:sSubPr>
                                      <m:ctrlPr>
                                        <a:rPr lang="vi-VN" i="1">
                                          <a:latin typeface="Cambria Math" panose="02040503050406030204" pitchFamily="18" charset="0"/>
                                        </a:rPr>
                                      </m:ctrlPr>
                                    </m:sSubPr>
                                    <m:e>
                                      <m:r>
                                        <a:rPr lang="vi-VN" i="1">
                                          <a:latin typeface="Cambria Math" panose="02040503050406030204" pitchFamily="18" charset="0"/>
                                        </a:rPr>
                                        <m:t>𝐾</m:t>
                                      </m:r>
                                    </m:e>
                                    <m:sub>
                                      <m:r>
                                        <a:rPr lang="vi-VN" i="1">
                                          <a:latin typeface="Cambria Math" panose="02040503050406030204" pitchFamily="18" charset="0"/>
                                        </a:rPr>
                                        <m:t>𝑝𝑟</m:t>
                                      </m:r>
                                    </m:sub>
                                  </m:sSub>
                                  <m:d>
                                    <m:dPr>
                                      <m:ctrlPr>
                                        <a:rPr lang="vi-VN" i="1">
                                          <a:solidFill>
                                            <a:srgbClr val="836967"/>
                                          </a:solidFill>
                                          <a:latin typeface="Cambria Math" panose="02040503050406030204" pitchFamily="18" charset="0"/>
                                        </a:rPr>
                                      </m:ctrlPr>
                                    </m:dPr>
                                    <m:e>
                                      <m:sSubSup>
                                        <m:sSubSupPr>
                                          <m:ctrlPr>
                                            <a:rPr lang="vi-VN" i="1">
                                              <a:latin typeface="Cambria Math" panose="02040503050406030204" pitchFamily="18" charset="0"/>
                                            </a:rPr>
                                          </m:ctrlPr>
                                        </m:sSubSupPr>
                                        <m:e>
                                          <m:r>
                                            <a:rPr lang="vi-VN" i="1">
                                              <a:latin typeface="Cambria Math" panose="02040503050406030204" pitchFamily="18" charset="0"/>
                                            </a:rPr>
                                            <m:t>𝜔</m:t>
                                          </m:r>
                                        </m:e>
                                        <m:sub>
                                          <m:r>
                                            <a:rPr lang="vi-VN" i="1">
                                              <a:latin typeface="Cambria Math" panose="02040503050406030204" pitchFamily="18" charset="0"/>
                                            </a:rPr>
                                            <m:t>ℎ</m:t>
                                          </m:r>
                                        </m:sub>
                                        <m:sup>
                                          <m:r>
                                            <a:rPr lang="vi-VN" i="0">
                                              <a:latin typeface="Cambria Math" panose="02040503050406030204" pitchFamily="18" charset="0"/>
                                            </a:rPr>
                                            <m:t>2</m:t>
                                          </m:r>
                                        </m:sup>
                                      </m:sSubSup>
                                      <m:r>
                                        <a:rPr lang="vi-VN" i="0">
                                          <a:latin typeface="Cambria Math" panose="02040503050406030204" pitchFamily="18" charset="0"/>
                                        </a:rPr>
                                        <m:t>−</m:t>
                                      </m:r>
                                      <m:sSup>
                                        <m:sSupPr>
                                          <m:ctrlPr>
                                            <a:rPr lang="vi-VN" i="1">
                                              <a:latin typeface="Cambria Math" panose="02040503050406030204" pitchFamily="18" charset="0"/>
                                            </a:rPr>
                                          </m:ctrlPr>
                                        </m:sSupPr>
                                        <m:e>
                                          <m:r>
                                            <a:rPr lang="vi-VN" i="1">
                                              <a:latin typeface="Cambria Math" panose="02040503050406030204" pitchFamily="18" charset="0"/>
                                            </a:rPr>
                                            <m:t>𝜔</m:t>
                                          </m:r>
                                        </m:e>
                                        <m:sup>
                                          <m:r>
                                            <a:rPr lang="vi-VN" i="0">
                                              <a:latin typeface="Cambria Math" panose="02040503050406030204" pitchFamily="18" charset="0"/>
                                            </a:rPr>
                                            <m:t>2</m:t>
                                          </m:r>
                                        </m:sup>
                                      </m:sSup>
                                    </m:e>
                                  </m:d>
                                </m:den>
                              </m:f>
                            </m:e>
                          </m:d>
                        </m:e>
                      </m:func>
                    </m:oMath>
                  </m:oMathPara>
                </a14:m>
                <a:endParaRPr lang="vi-VN"/>
              </a:p>
            </p:txBody>
          </p:sp>
        </mc:Choice>
        <mc:Fallback xmlns="">
          <p:sp>
            <p:nvSpPr>
              <p:cNvPr id="24" name="Hộp Văn bản 23">
                <a:extLst>
                  <a:ext uri="{FF2B5EF4-FFF2-40B4-BE49-F238E27FC236}">
                    <a16:creationId xmlns:a16="http://schemas.microsoft.com/office/drawing/2014/main" id="{B952CC3F-3D70-B4C9-414B-A5A4106D5F19}"/>
                  </a:ext>
                </a:extLst>
              </p:cNvPr>
              <p:cNvSpPr txBox="1">
                <a:spLocks noRot="1" noChangeAspect="1" noMove="1" noResize="1" noEditPoints="1" noAdjustHandles="1" noChangeArrowheads="1" noChangeShapeType="1" noTextEdit="1"/>
              </p:cNvSpPr>
              <p:nvPr/>
            </p:nvSpPr>
            <p:spPr>
              <a:xfrm>
                <a:off x="1749098" y="3283536"/>
                <a:ext cx="4251442" cy="726096"/>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6" name="Hộp Văn bản 25">
                <a:extLst>
                  <a:ext uri="{FF2B5EF4-FFF2-40B4-BE49-F238E27FC236}">
                    <a16:creationId xmlns:a16="http://schemas.microsoft.com/office/drawing/2014/main" id="{3B9384CA-9509-1711-CE72-8D8B1B8D4CE6}"/>
                  </a:ext>
                </a:extLst>
              </p:cNvPr>
              <p:cNvSpPr txBox="1"/>
              <p:nvPr/>
            </p:nvSpPr>
            <p:spPr>
              <a:xfrm>
                <a:off x="374948" y="4009632"/>
                <a:ext cx="6094378" cy="492443"/>
              </a:xfrm>
              <a:prstGeom prst="rect">
                <a:avLst/>
              </a:prstGeom>
              <a:noFill/>
            </p:spPr>
            <p:txBody>
              <a:bodyPr wrap="square">
                <a:spAutoFit/>
              </a:bodyPr>
              <a:lstStyle/>
              <a:p>
                <a:r>
                  <a:rPr lang="vi-VN">
                    <a:latin typeface="Times New Roman" panose="02020603050405020304" pitchFamily="18" charset="0"/>
                    <a:cs typeface="Times New Roman" panose="02020603050405020304" pitchFamily="18" charset="0"/>
                  </a:rPr>
                  <a:t>Lựa chọn tần số cắt </a:t>
                </a:r>
                <a14:m>
                  <m:oMath xmlns:m="http://schemas.openxmlformats.org/officeDocument/2006/math">
                    <m:sSub>
                      <m:sSub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b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𝑓</m:t>
                        </m:r>
                      </m:e>
                      <m:sub>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𝑐</m:t>
                        </m:r>
                      </m:sub>
                    </m:sSub>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m:t>
                    </m:r>
                    <m:f>
                      <m:f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fPr>
                      <m:num>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1</m:t>
                        </m:r>
                      </m:num>
                      <m:den>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10</m:t>
                        </m:r>
                      </m:den>
                    </m:f>
                    <m:sSub>
                      <m:sSubPr>
                        <m:ctrlP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ctrlPr>
                      </m:sSubPr>
                      <m:e>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𝑓</m:t>
                        </m:r>
                      </m:e>
                      <m:sub>
                        <m:r>
                          <a:rPr lang="vi-VN" sz="1800" i="1" kern="100">
                            <a:effectLst/>
                            <a:latin typeface="Cambria Math" panose="02040503050406030204" pitchFamily="18" charset="0"/>
                            <a:ea typeface="Yu Gothic" panose="020B0400000000000000" pitchFamily="34" charset="-128"/>
                            <a:cs typeface="Times New Roman" panose="02020603050405020304" pitchFamily="18" charset="0"/>
                          </a:rPr>
                          <m:t>𝑠𝑤</m:t>
                        </m:r>
                      </m:sub>
                    </m:sSub>
                  </m:oMath>
                </a14:m>
                <a:endParaRPr lang="vi-VN" sz="1800" kern="100">
                  <a:effectLst/>
                  <a:latin typeface="Times New Roman" panose="02020603050405020304" pitchFamily="18" charset="0"/>
                  <a:ea typeface="Yu Gothic" panose="020B0400000000000000" pitchFamily="34" charset="-128"/>
                  <a:cs typeface="Times New Roman" panose="02020603050405020304" pitchFamily="18" charset="0"/>
                </a:endParaRPr>
              </a:p>
            </p:txBody>
          </p:sp>
        </mc:Choice>
        <mc:Fallback xmlns="">
          <p:sp>
            <p:nvSpPr>
              <p:cNvPr id="26" name="Hộp Văn bản 25">
                <a:extLst>
                  <a:ext uri="{FF2B5EF4-FFF2-40B4-BE49-F238E27FC236}">
                    <a16:creationId xmlns:a16="http://schemas.microsoft.com/office/drawing/2014/main" id="{3B9384CA-9509-1711-CE72-8D8B1B8D4CE6}"/>
                  </a:ext>
                </a:extLst>
              </p:cNvPr>
              <p:cNvSpPr txBox="1">
                <a:spLocks noRot="1" noChangeAspect="1" noMove="1" noResize="1" noEditPoints="1" noAdjustHandles="1" noChangeArrowheads="1" noChangeShapeType="1" noTextEdit="1"/>
              </p:cNvSpPr>
              <p:nvPr/>
            </p:nvSpPr>
            <p:spPr>
              <a:xfrm>
                <a:off x="374948" y="4009632"/>
                <a:ext cx="6094378" cy="492443"/>
              </a:xfrm>
              <a:prstGeom prst="rect">
                <a:avLst/>
              </a:prstGeom>
              <a:blipFill>
                <a:blip r:embed="rId7"/>
                <a:stretch>
                  <a:fillRect l="-901" b="-617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0" name="Hộp Văn bản 29">
                <a:extLst>
                  <a:ext uri="{FF2B5EF4-FFF2-40B4-BE49-F238E27FC236}">
                    <a16:creationId xmlns:a16="http://schemas.microsoft.com/office/drawing/2014/main" id="{3A567B1D-3BD4-234C-3925-6E957ED74A6B}"/>
                  </a:ext>
                </a:extLst>
              </p:cNvPr>
              <p:cNvSpPr txBox="1"/>
              <p:nvPr/>
            </p:nvSpPr>
            <p:spPr>
              <a:xfrm>
                <a:off x="374948" y="4558212"/>
                <a:ext cx="3837491" cy="714683"/>
              </a:xfrm>
              <a:prstGeom prst="rect">
                <a:avLst/>
              </a:prstGeom>
              <a:noFill/>
            </p:spPr>
            <p:txBody>
              <a:bodyPr wrap="square">
                <a:spAutoFit/>
              </a:bodyPr>
              <a:lstStyle/>
              <a:p>
                <a:pPr/>
                <a14:m>
                  <m:oMathPara xmlns:m="http://schemas.openxmlformats.org/officeDocument/2006/math">
                    <m:oMath>
                      <m:sSub>
                        <m:sSubPr>
                          <m:ctrlPr>
                            <a:rPr lang="vi-VN" i="1">
                              <a:latin typeface="Cambria Math" panose="02040503050406030204" pitchFamily="18" charset="0"/>
                            </a:rPr>
                          </m:ctrlPr>
                        </m:sSubPr>
                        <m:e>
                          <m:r>
                            <a:rPr lang="vi-VN" i="1">
                              <a:latin typeface="Cambria Math" panose="02040503050406030204" pitchFamily="18" charset="0"/>
                            </a:rPr>
                            <m:t>𝐴</m:t>
                          </m:r>
                        </m:e>
                        <m:sub>
                          <m:r>
                            <a:rPr lang="vi-VN" i="1">
                              <a:latin typeface="Cambria Math" panose="02040503050406030204" pitchFamily="18" charset="0"/>
                            </a:rPr>
                            <m:t>𝑐</m:t>
                          </m:r>
                        </m:sub>
                      </m:sSub>
                      <m:r>
                        <a:rPr lang="vi-VN" i="0">
                          <a:latin typeface="Cambria Math" panose="02040503050406030204" pitchFamily="18" charset="0"/>
                        </a:rPr>
                        <m:t>=</m:t>
                      </m:r>
                      <m:r>
                        <a:rPr lang="vi-VN" i="1">
                          <a:latin typeface="Cambria Math" panose="02040503050406030204" pitchFamily="18" charset="0"/>
                        </a:rPr>
                        <m:t>𝑃𝑀</m:t>
                      </m:r>
                      <m:r>
                        <a:rPr lang="vi-VN" i="0">
                          <a:latin typeface="Cambria Math" panose="02040503050406030204" pitchFamily="18" charset="0"/>
                        </a:rPr>
                        <m:t>−</m:t>
                      </m:r>
                      <m:d>
                        <m:dPr>
                          <m:ctrlPr>
                            <a:rPr lang="vi-VN" i="0">
                              <a:latin typeface="Cambria Math" panose="02040503050406030204" pitchFamily="18" charset="0"/>
                            </a:rPr>
                          </m:ctrlPr>
                        </m:dPr>
                        <m:e>
                          <m:r>
                            <a:rPr lang="vi-VN" i="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𝐺</m:t>
                              </m:r>
                            </m:e>
                            <m:sub>
                              <m:r>
                                <a:rPr lang="vi-VN" i="1">
                                  <a:latin typeface="Cambria Math" panose="02040503050406030204" pitchFamily="18" charset="0"/>
                                </a:rPr>
                                <m:t>𝑑𝑡𝑖</m:t>
                              </m:r>
                            </m:sub>
                          </m:sSub>
                          <m:d>
                            <m:dPr>
                              <m:ctrlPr>
                                <a:rPr lang="vi-VN" i="1">
                                  <a:latin typeface="Cambria Math" panose="02040503050406030204" pitchFamily="18" charset="0"/>
                                </a:rPr>
                              </m:ctrlPr>
                            </m:dPr>
                            <m:e>
                              <m:r>
                                <a:rPr lang="vi-VN" i="1">
                                  <a:latin typeface="Cambria Math" panose="02040503050406030204" pitchFamily="18" charset="0"/>
                                </a:rPr>
                                <m:t>𝑠</m:t>
                              </m:r>
                            </m:e>
                          </m:d>
                          <m:sSub>
                            <m:sSubPr>
                              <m:ctrlPr>
                                <a:rPr lang="vi-VN" i="1">
                                  <a:solidFill>
                                    <a:srgbClr val="836967"/>
                                  </a:solidFill>
                                  <a:latin typeface="Cambria Math" panose="02040503050406030204" pitchFamily="18" charset="0"/>
                                </a:rPr>
                              </m:ctrlPr>
                            </m:sSubPr>
                            <m:e>
                              <m:d>
                                <m:dPr>
                                  <m:begChr m:val=""/>
                                  <m:endChr m:val="|"/>
                                  <m:ctrlPr>
                                    <a:rPr lang="vi-VN" i="0">
                                      <a:latin typeface="Cambria Math" panose="02040503050406030204" pitchFamily="18" charset="0"/>
                                    </a:rPr>
                                  </m:ctrlPr>
                                </m:dPr>
                                <m:e>
                                  <m:r>
                                    <a:rPr lang="vi-VN" i="0">
                                      <a:latin typeface="Cambria Math" panose="02040503050406030204" pitchFamily="18" charset="0"/>
                                    </a:rPr>
                                    <m:t>​</m:t>
                                  </m:r>
                                </m:e>
                              </m:d>
                            </m:e>
                            <m:sub>
                              <m:r>
                                <a:rPr lang="vi-VN" i="1">
                                  <a:latin typeface="Cambria Math" panose="02040503050406030204" pitchFamily="18" charset="0"/>
                                </a:rPr>
                                <m:t>𝑠</m:t>
                              </m:r>
                              <m:r>
                                <a:rPr lang="vi-VN" i="0">
                                  <a:latin typeface="Cambria Math" panose="02040503050406030204" pitchFamily="18" charset="0"/>
                                </a:rPr>
                                <m:t>=</m:t>
                              </m:r>
                              <m:r>
                                <a:rPr lang="vi-VN" i="1">
                                  <a:latin typeface="Cambria Math" panose="02040503050406030204" pitchFamily="18" charset="0"/>
                                </a:rPr>
                                <m:t>𝑗</m:t>
                              </m:r>
                              <m:sSub>
                                <m:sSubPr>
                                  <m:ctrlPr>
                                    <a:rPr lang="vi-VN" i="1">
                                      <a:latin typeface="Cambria Math" panose="02040503050406030204" pitchFamily="18" charset="0"/>
                                    </a:rPr>
                                  </m:ctrlPr>
                                </m:sSubPr>
                                <m:e>
                                  <m:r>
                                    <a:rPr lang="vi-VN" i="1">
                                      <a:latin typeface="Cambria Math" panose="02040503050406030204" pitchFamily="18" charset="0"/>
                                    </a:rPr>
                                    <m:t>𝜔</m:t>
                                  </m:r>
                                </m:e>
                                <m:sub>
                                  <m:r>
                                    <a:rPr lang="vi-VN" i="1">
                                      <a:latin typeface="Cambria Math" panose="02040503050406030204" pitchFamily="18" charset="0"/>
                                    </a:rPr>
                                    <m:t>𝑐</m:t>
                                  </m:r>
                                </m:sub>
                              </m:sSub>
                            </m:sub>
                          </m:sSub>
                          <m:r>
                            <a:rPr lang="vi-VN" i="0">
                              <a:latin typeface="Cambria Math" panose="02040503050406030204" pitchFamily="18" charset="0"/>
                            </a:rPr>
                            <m:t>+</m:t>
                          </m:r>
                          <m:sSup>
                            <m:sSupPr>
                              <m:ctrlPr>
                                <a:rPr lang="vi-VN" i="0">
                                  <a:latin typeface="Cambria Math" panose="02040503050406030204" pitchFamily="18" charset="0"/>
                                </a:rPr>
                              </m:ctrlPr>
                            </m:sSupPr>
                            <m:e>
                              <m:r>
                                <a:rPr lang="vi-VN" i="0">
                                  <a:latin typeface="Cambria Math" panose="02040503050406030204" pitchFamily="18" charset="0"/>
                                </a:rPr>
                                <m:t>180</m:t>
                              </m:r>
                            </m:e>
                            <m:sup>
                              <m:r>
                                <a:rPr lang="vi-VN" i="1">
                                  <a:latin typeface="Cambria Math" panose="02040503050406030204" pitchFamily="18" charset="0"/>
                                </a:rPr>
                                <m:t>𝑜</m:t>
                              </m:r>
                            </m:sup>
                          </m:sSup>
                        </m:e>
                      </m:d>
                    </m:oMath>
                  </m:oMathPara>
                </a14:m>
                <a:endParaRPr lang="vi-VN"/>
              </a:p>
            </p:txBody>
          </p:sp>
        </mc:Choice>
        <mc:Fallback xmlns="">
          <p:sp>
            <p:nvSpPr>
              <p:cNvPr id="30" name="Hộp Văn bản 29">
                <a:extLst>
                  <a:ext uri="{FF2B5EF4-FFF2-40B4-BE49-F238E27FC236}">
                    <a16:creationId xmlns:a16="http://schemas.microsoft.com/office/drawing/2014/main" id="{3A567B1D-3BD4-234C-3925-6E957ED74A6B}"/>
                  </a:ext>
                </a:extLst>
              </p:cNvPr>
              <p:cNvSpPr txBox="1">
                <a:spLocks noRot="1" noChangeAspect="1" noMove="1" noResize="1" noEditPoints="1" noAdjustHandles="1" noChangeArrowheads="1" noChangeShapeType="1" noTextEdit="1"/>
              </p:cNvSpPr>
              <p:nvPr/>
            </p:nvSpPr>
            <p:spPr>
              <a:xfrm>
                <a:off x="374948" y="4558212"/>
                <a:ext cx="3837491" cy="714683"/>
              </a:xfrm>
              <a:prstGeom prst="rect">
                <a:avLst/>
              </a:prstGeom>
              <a:blipFill>
                <a:blip r:embed="rId8"/>
                <a:stretch>
                  <a:fillRect/>
                </a:stretch>
              </a:blipFill>
            </p:spPr>
            <p:txBody>
              <a:bodyPr/>
              <a:lstStyle/>
              <a:p>
                <a:r>
                  <a:rPr lang="vi-VN">
                    <a:noFill/>
                  </a:rPr>
                  <a:t> </a:t>
                </a:r>
              </a:p>
            </p:txBody>
          </p:sp>
        </mc:Fallback>
      </mc:AlternateContent>
      <p:sp>
        <p:nvSpPr>
          <p:cNvPr id="32" name="Hộp Văn bản 31">
            <a:extLst>
              <a:ext uri="{FF2B5EF4-FFF2-40B4-BE49-F238E27FC236}">
                <a16:creationId xmlns:a16="http://schemas.microsoft.com/office/drawing/2014/main" id="{24F101E3-7707-939B-BCC4-DD7B1F9F0E6D}"/>
              </a:ext>
            </a:extLst>
          </p:cNvPr>
          <p:cNvSpPr txBox="1"/>
          <p:nvPr/>
        </p:nvSpPr>
        <p:spPr>
          <a:xfrm>
            <a:off x="4836357" y="4533189"/>
            <a:ext cx="2006168" cy="646331"/>
          </a:xfrm>
          <a:prstGeom prst="rect">
            <a:avLst/>
          </a:prstGeom>
          <a:noFill/>
        </p:spPr>
        <p:txBody>
          <a:bodyPr wrap="square">
            <a:spAutoFit/>
          </a:bodyPr>
          <a:lstStyle/>
          <a:p>
            <a:r>
              <a:rPr lang="vi-VN">
                <a:latin typeface="Times New Roman" panose="02020603050405020304" pitchFamily="18" charset="0"/>
                <a:cs typeface="Times New Roman" panose="02020603050405020304" pitchFamily="18" charset="0"/>
              </a:rPr>
              <a:t>PM là độ dự trữ pha mong muốn</a:t>
            </a:r>
            <a:endParaRPr lang="en-ID">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5" name="Hộp Văn bản 34">
                <a:extLst>
                  <a:ext uri="{FF2B5EF4-FFF2-40B4-BE49-F238E27FC236}">
                    <a16:creationId xmlns:a16="http://schemas.microsoft.com/office/drawing/2014/main" id="{35759620-B4F7-3022-A2CD-A382C114A06D}"/>
                  </a:ext>
                </a:extLst>
              </p:cNvPr>
              <p:cNvSpPr txBox="1"/>
              <p:nvPr/>
            </p:nvSpPr>
            <p:spPr>
              <a:xfrm>
                <a:off x="374948" y="5273357"/>
                <a:ext cx="4579296" cy="661271"/>
              </a:xfrm>
              <a:prstGeom prst="rect">
                <a:avLst/>
              </a:prstGeom>
              <a:noFill/>
            </p:spPr>
            <p:txBody>
              <a:bodyPr wrap="square">
                <a:spAutoFit/>
              </a:bodyPr>
              <a:lstStyle/>
              <a:p>
                <a:pPr/>
                <a14:m>
                  <m:oMathPara xmlns:m="http://schemas.openxmlformats.org/officeDocument/2006/math">
                    <m:oMath>
                      <m:d>
                        <m:dPr>
                          <m:begChr m:val="|"/>
                          <m:endChr m:val="|"/>
                          <m:ctrlPr>
                            <a:rPr lang="vi-VN" i="1">
                              <a:solidFill>
                                <a:srgbClr val="836967"/>
                              </a:solidFill>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𝐺</m:t>
                              </m:r>
                            </m:e>
                            <m:sub>
                              <m:r>
                                <a:rPr lang="vi-VN" i="1">
                                  <a:latin typeface="Cambria Math" panose="02040503050406030204" pitchFamily="18" charset="0"/>
                                </a:rPr>
                                <m:t>𝑖</m:t>
                              </m:r>
                            </m:sub>
                          </m:sSub>
                          <m:d>
                            <m:dPr>
                              <m:ctrlPr>
                                <a:rPr lang="vi-VN" i="1">
                                  <a:latin typeface="Cambria Math" panose="02040503050406030204" pitchFamily="18" charset="0"/>
                                </a:rPr>
                              </m:ctrlPr>
                            </m:dPr>
                            <m:e>
                              <m:r>
                                <a:rPr lang="vi-VN" i="1">
                                  <a:latin typeface="Cambria Math" panose="02040503050406030204" pitchFamily="18" charset="0"/>
                                </a:rPr>
                                <m:t>𝑗</m:t>
                              </m:r>
                              <m:sSub>
                                <m:sSubPr>
                                  <m:ctrlPr>
                                    <a:rPr lang="vi-VN" i="1">
                                      <a:latin typeface="Cambria Math" panose="02040503050406030204" pitchFamily="18" charset="0"/>
                                    </a:rPr>
                                  </m:ctrlPr>
                                </m:sSubPr>
                                <m:e>
                                  <m:r>
                                    <a:rPr lang="vi-VN" i="1">
                                      <a:latin typeface="Cambria Math" panose="02040503050406030204" pitchFamily="18" charset="0"/>
                                    </a:rPr>
                                    <m:t>𝜔</m:t>
                                  </m:r>
                                </m:e>
                                <m:sub>
                                  <m:r>
                                    <a:rPr lang="vi-VN" i="1">
                                      <a:latin typeface="Cambria Math" panose="02040503050406030204" pitchFamily="18" charset="0"/>
                                    </a:rPr>
                                    <m:t>𝑐</m:t>
                                  </m:r>
                                </m:sub>
                              </m:sSub>
                            </m:e>
                          </m:d>
                        </m:e>
                      </m:d>
                      <m:r>
                        <a:rPr lang="vi-VN" i="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𝐾</m:t>
                          </m:r>
                        </m:e>
                        <m:sub>
                          <m:r>
                            <a:rPr lang="vi-VN" i="1">
                              <a:latin typeface="Cambria Math" panose="02040503050406030204" pitchFamily="18" charset="0"/>
                            </a:rPr>
                            <m:t>𝑝𝑟</m:t>
                          </m:r>
                        </m:sub>
                      </m:sSub>
                      <m:rad>
                        <m:radPr>
                          <m:degHide m:val="on"/>
                          <m:ctrlPr>
                            <a:rPr lang="vi-VN" i="1">
                              <a:solidFill>
                                <a:srgbClr val="836967"/>
                              </a:solidFill>
                              <a:latin typeface="Cambria Math" panose="02040503050406030204" pitchFamily="18" charset="0"/>
                            </a:rPr>
                          </m:ctrlPr>
                        </m:radPr>
                        <m:deg/>
                        <m:e>
                          <m:r>
                            <a:rPr lang="vi-VN" i="0">
                              <a:latin typeface="Cambria Math" panose="02040503050406030204" pitchFamily="18" charset="0"/>
                            </a:rPr>
                            <m:t>1+</m:t>
                          </m:r>
                          <m:func>
                            <m:funcPr>
                              <m:ctrlPr>
                                <a:rPr lang="vi-VN" i="1">
                                  <a:solidFill>
                                    <a:srgbClr val="836967"/>
                                  </a:solidFill>
                                  <a:latin typeface="Cambria Math" panose="02040503050406030204" pitchFamily="18" charset="0"/>
                                </a:rPr>
                              </m:ctrlPr>
                            </m:funcPr>
                            <m:fName>
                              <m:sSup>
                                <m:sSupPr>
                                  <m:ctrlPr>
                                    <a:rPr lang="vi-VN" i="0">
                                      <a:latin typeface="Cambria Math" panose="02040503050406030204" pitchFamily="18" charset="0"/>
                                    </a:rPr>
                                  </m:ctrlPr>
                                </m:sSupPr>
                                <m:e>
                                  <m:r>
                                    <m:rPr>
                                      <m:sty m:val="p"/>
                                    </m:rPr>
                                    <a:rPr lang="vi-VN" i="0">
                                      <a:latin typeface="Cambria Math" panose="02040503050406030204" pitchFamily="18" charset="0"/>
                                    </a:rPr>
                                    <m:t>tan</m:t>
                                  </m:r>
                                </m:e>
                                <m:sup>
                                  <m:r>
                                    <a:rPr lang="vi-VN" i="0">
                                      <a:latin typeface="Cambria Math" panose="02040503050406030204" pitchFamily="18" charset="0"/>
                                    </a:rPr>
                                    <m:t>2</m:t>
                                  </m:r>
                                </m:sup>
                              </m:sSup>
                            </m:fName>
                            <m:e>
                              <m:d>
                                <m:dPr>
                                  <m:ctrlPr>
                                    <a:rPr lang="vi-VN" i="1">
                                      <a:solidFill>
                                        <a:srgbClr val="836967"/>
                                      </a:solidFill>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𝐴</m:t>
                                      </m:r>
                                    </m:e>
                                    <m:sub>
                                      <m:r>
                                        <a:rPr lang="vi-VN" i="1">
                                          <a:latin typeface="Cambria Math" panose="02040503050406030204" pitchFamily="18" charset="0"/>
                                        </a:rPr>
                                        <m:t>𝑐</m:t>
                                      </m:r>
                                    </m:sub>
                                  </m:sSub>
                                </m:e>
                              </m:d>
                            </m:e>
                          </m:func>
                        </m:e>
                      </m:rad>
                      <m:r>
                        <a:rPr lang="vi-VN" i="0">
                          <a:latin typeface="Cambria Math" panose="02040503050406030204" pitchFamily="18" charset="0"/>
                        </a:rPr>
                        <m:t>=</m:t>
                      </m:r>
                      <m:f>
                        <m:fPr>
                          <m:ctrlPr>
                            <a:rPr lang="vi-VN" i="0">
                              <a:latin typeface="Cambria Math" panose="02040503050406030204" pitchFamily="18" charset="0"/>
                            </a:rPr>
                          </m:ctrlPr>
                        </m:fPr>
                        <m:num>
                          <m:r>
                            <a:rPr lang="vi-VN" i="0">
                              <a:latin typeface="Cambria Math" panose="02040503050406030204" pitchFamily="18" charset="0"/>
                            </a:rPr>
                            <m:t>1</m:t>
                          </m:r>
                        </m:num>
                        <m:den>
                          <m:d>
                            <m:dPr>
                              <m:begChr m:val="|"/>
                              <m:endChr m:val="|"/>
                              <m:ctrlPr>
                                <a:rPr lang="vi-VN" i="1">
                                  <a:solidFill>
                                    <a:srgbClr val="836967"/>
                                  </a:solidFill>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𝐺</m:t>
                                  </m:r>
                                </m:e>
                                <m:sub>
                                  <m:r>
                                    <a:rPr lang="vi-VN" i="1">
                                      <a:latin typeface="Cambria Math" panose="02040503050406030204" pitchFamily="18" charset="0"/>
                                    </a:rPr>
                                    <m:t>𝑑𝑡𝑖</m:t>
                                  </m:r>
                                </m:sub>
                              </m:sSub>
                              <m:d>
                                <m:dPr>
                                  <m:ctrlPr>
                                    <a:rPr lang="vi-VN" i="1">
                                      <a:latin typeface="Cambria Math" panose="02040503050406030204" pitchFamily="18" charset="0"/>
                                    </a:rPr>
                                  </m:ctrlPr>
                                </m:dPr>
                                <m:e>
                                  <m:r>
                                    <a:rPr lang="vi-VN" i="1">
                                      <a:latin typeface="Cambria Math" panose="02040503050406030204" pitchFamily="18" charset="0"/>
                                    </a:rPr>
                                    <m:t>𝑗</m:t>
                                  </m:r>
                                  <m:sSub>
                                    <m:sSubPr>
                                      <m:ctrlPr>
                                        <a:rPr lang="vi-VN" i="1">
                                          <a:latin typeface="Cambria Math" panose="02040503050406030204" pitchFamily="18" charset="0"/>
                                        </a:rPr>
                                      </m:ctrlPr>
                                    </m:sSubPr>
                                    <m:e>
                                      <m:r>
                                        <a:rPr lang="vi-VN" i="1">
                                          <a:latin typeface="Cambria Math" panose="02040503050406030204" pitchFamily="18" charset="0"/>
                                        </a:rPr>
                                        <m:t>𝜔</m:t>
                                      </m:r>
                                    </m:e>
                                    <m:sub>
                                      <m:r>
                                        <a:rPr lang="vi-VN" i="1">
                                          <a:latin typeface="Cambria Math" panose="02040503050406030204" pitchFamily="18" charset="0"/>
                                        </a:rPr>
                                        <m:t>𝑐</m:t>
                                      </m:r>
                                    </m:sub>
                                  </m:sSub>
                                </m:e>
                              </m:d>
                            </m:e>
                          </m:d>
                        </m:den>
                      </m:f>
                    </m:oMath>
                  </m:oMathPara>
                </a14:m>
                <a:endParaRPr lang="vi-VN"/>
              </a:p>
            </p:txBody>
          </p:sp>
        </mc:Choice>
        <mc:Fallback xmlns="">
          <p:sp>
            <p:nvSpPr>
              <p:cNvPr id="35" name="Hộp Văn bản 34">
                <a:extLst>
                  <a:ext uri="{FF2B5EF4-FFF2-40B4-BE49-F238E27FC236}">
                    <a16:creationId xmlns:a16="http://schemas.microsoft.com/office/drawing/2014/main" id="{35759620-B4F7-3022-A2CD-A382C114A06D}"/>
                  </a:ext>
                </a:extLst>
              </p:cNvPr>
              <p:cNvSpPr txBox="1">
                <a:spLocks noRot="1" noChangeAspect="1" noMove="1" noResize="1" noEditPoints="1" noAdjustHandles="1" noChangeArrowheads="1" noChangeShapeType="1" noTextEdit="1"/>
              </p:cNvSpPr>
              <p:nvPr/>
            </p:nvSpPr>
            <p:spPr>
              <a:xfrm>
                <a:off x="374948" y="5273357"/>
                <a:ext cx="4579296" cy="661271"/>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8" name="Hộp Văn bản 37">
                <a:extLst>
                  <a:ext uri="{FF2B5EF4-FFF2-40B4-BE49-F238E27FC236}">
                    <a16:creationId xmlns:a16="http://schemas.microsoft.com/office/drawing/2014/main" id="{B3E74185-E3EA-CAF1-B22B-C0EFD04EF81D}"/>
                  </a:ext>
                </a:extLst>
              </p:cNvPr>
              <p:cNvSpPr txBox="1"/>
              <p:nvPr/>
            </p:nvSpPr>
            <p:spPr>
              <a:xfrm>
                <a:off x="374948" y="5947553"/>
                <a:ext cx="3144273" cy="716222"/>
              </a:xfrm>
              <a:prstGeom prst="rect">
                <a:avLst/>
              </a:prstGeom>
              <a:noFill/>
            </p:spPr>
            <p:txBody>
              <a:bodyPr wrap="square">
                <a:spAutoFit/>
              </a:bodyPr>
              <a:lstStyle/>
              <a:p>
                <a:pPr/>
                <a14:m>
                  <m:oMathPara xmlns:m="http://schemas.openxmlformats.org/officeDocument/2006/math">
                    <m:oMath>
                      <m:sSub>
                        <m:sSubPr>
                          <m:ctrlPr>
                            <a:rPr lang="vi-VN" i="1">
                              <a:latin typeface="Cambria Math" panose="02040503050406030204" pitchFamily="18" charset="0"/>
                            </a:rPr>
                          </m:ctrlPr>
                        </m:sSubPr>
                        <m:e>
                          <m:r>
                            <a:rPr lang="vi-VN" i="1">
                              <a:latin typeface="Cambria Math" panose="02040503050406030204" pitchFamily="18" charset="0"/>
                            </a:rPr>
                            <m:t>𝐾</m:t>
                          </m:r>
                        </m:e>
                        <m:sub>
                          <m:r>
                            <a:rPr lang="vi-VN" i="1">
                              <a:latin typeface="Cambria Math" panose="02040503050406030204" pitchFamily="18" charset="0"/>
                            </a:rPr>
                            <m:t>𝑖𝑟</m:t>
                          </m:r>
                        </m:sub>
                      </m:sSub>
                      <m:r>
                        <a:rPr lang="vi-VN" i="0">
                          <a:latin typeface="Cambria Math" panose="02040503050406030204" pitchFamily="18" charset="0"/>
                        </a:rPr>
                        <m:t>=</m:t>
                      </m:r>
                      <m:f>
                        <m:fPr>
                          <m:ctrlPr>
                            <a:rPr lang="vi-VN" i="1">
                              <a:latin typeface="Cambria Math" panose="02040503050406030204" pitchFamily="18" charset="0"/>
                            </a:rPr>
                          </m:ctrlPr>
                        </m:fPr>
                        <m:num>
                          <m:func>
                            <m:funcPr>
                              <m:ctrlPr>
                                <a:rPr lang="vi-VN" i="0">
                                  <a:latin typeface="Cambria Math" panose="02040503050406030204" pitchFamily="18" charset="0"/>
                                </a:rPr>
                              </m:ctrlPr>
                            </m:funcPr>
                            <m:fName>
                              <m:r>
                                <m:rPr>
                                  <m:sty m:val="p"/>
                                </m:rPr>
                                <a:rPr lang="vi-VN" i="0">
                                  <a:latin typeface="Cambria Math" panose="02040503050406030204" pitchFamily="18" charset="0"/>
                                </a:rPr>
                                <m:t>tan</m:t>
                              </m:r>
                            </m:fName>
                            <m:e>
                              <m:d>
                                <m:dPr>
                                  <m:ctrlPr>
                                    <a:rPr lang="vi-VN" i="1">
                                      <a:solidFill>
                                        <a:srgbClr val="836967"/>
                                      </a:solidFill>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𝐴</m:t>
                                      </m:r>
                                    </m:e>
                                    <m:sub>
                                      <m:r>
                                        <a:rPr lang="vi-VN" i="1">
                                          <a:latin typeface="Cambria Math" panose="02040503050406030204" pitchFamily="18" charset="0"/>
                                        </a:rPr>
                                        <m:t>𝑐</m:t>
                                      </m:r>
                                    </m:sub>
                                  </m:sSub>
                                </m:e>
                              </m:d>
                            </m:e>
                          </m:func>
                          <m:sSub>
                            <m:sSubPr>
                              <m:ctrlPr>
                                <a:rPr lang="vi-VN" i="1">
                                  <a:latin typeface="Cambria Math" panose="02040503050406030204" pitchFamily="18" charset="0"/>
                                </a:rPr>
                              </m:ctrlPr>
                            </m:sSubPr>
                            <m:e>
                              <m:r>
                                <a:rPr lang="vi-VN" i="1">
                                  <a:latin typeface="Cambria Math" panose="02040503050406030204" pitchFamily="18" charset="0"/>
                                </a:rPr>
                                <m:t>𝐾</m:t>
                              </m:r>
                            </m:e>
                            <m:sub>
                              <m:r>
                                <a:rPr lang="vi-VN" i="1">
                                  <a:latin typeface="Cambria Math" panose="02040503050406030204" pitchFamily="18" charset="0"/>
                                </a:rPr>
                                <m:t>𝑝𝑟</m:t>
                              </m:r>
                            </m:sub>
                          </m:sSub>
                          <m:d>
                            <m:dPr>
                              <m:ctrlPr>
                                <a:rPr lang="vi-VN" i="1">
                                  <a:solidFill>
                                    <a:srgbClr val="836967"/>
                                  </a:solidFill>
                                  <a:latin typeface="Cambria Math" panose="02040503050406030204" pitchFamily="18" charset="0"/>
                                </a:rPr>
                              </m:ctrlPr>
                            </m:dPr>
                            <m:e>
                              <m:sSubSup>
                                <m:sSubSupPr>
                                  <m:ctrlPr>
                                    <a:rPr lang="vi-VN" i="1">
                                      <a:latin typeface="Cambria Math" panose="02040503050406030204" pitchFamily="18" charset="0"/>
                                    </a:rPr>
                                  </m:ctrlPr>
                                </m:sSubSupPr>
                                <m:e>
                                  <m:r>
                                    <a:rPr lang="vi-VN" i="1">
                                      <a:latin typeface="Cambria Math" panose="02040503050406030204" pitchFamily="18" charset="0"/>
                                    </a:rPr>
                                    <m:t>𝜔</m:t>
                                  </m:r>
                                </m:e>
                                <m:sub>
                                  <m:r>
                                    <a:rPr lang="vi-VN" i="1">
                                      <a:latin typeface="Cambria Math" panose="02040503050406030204" pitchFamily="18" charset="0"/>
                                    </a:rPr>
                                    <m:t>ℎ</m:t>
                                  </m:r>
                                </m:sub>
                                <m:sup>
                                  <m:r>
                                    <a:rPr lang="vi-VN" i="0">
                                      <a:latin typeface="Cambria Math" panose="02040503050406030204" pitchFamily="18" charset="0"/>
                                    </a:rPr>
                                    <m:t>2</m:t>
                                  </m:r>
                                </m:sup>
                              </m:sSubSup>
                              <m:r>
                                <a:rPr lang="vi-VN" i="0">
                                  <a:latin typeface="Cambria Math" panose="02040503050406030204" pitchFamily="18" charset="0"/>
                                </a:rPr>
                                <m:t>−</m:t>
                              </m:r>
                              <m:sSup>
                                <m:sSupPr>
                                  <m:ctrlPr>
                                    <a:rPr lang="vi-VN" i="1">
                                      <a:latin typeface="Cambria Math" panose="02040503050406030204" pitchFamily="18" charset="0"/>
                                    </a:rPr>
                                  </m:ctrlPr>
                                </m:sSupPr>
                                <m:e>
                                  <m:r>
                                    <a:rPr lang="vi-VN" i="1">
                                      <a:latin typeface="Cambria Math" panose="02040503050406030204" pitchFamily="18" charset="0"/>
                                    </a:rPr>
                                    <m:t>𝜔</m:t>
                                  </m:r>
                                </m:e>
                                <m:sup>
                                  <m:r>
                                    <a:rPr lang="vi-VN" i="0">
                                      <a:latin typeface="Cambria Math" panose="02040503050406030204" pitchFamily="18" charset="0"/>
                                    </a:rPr>
                                    <m:t>2</m:t>
                                  </m:r>
                                </m:sup>
                              </m:sSup>
                            </m:e>
                          </m:d>
                        </m:num>
                        <m:den>
                          <m:sSub>
                            <m:sSubPr>
                              <m:ctrlPr>
                                <a:rPr lang="vi-VN" i="1">
                                  <a:latin typeface="Cambria Math" panose="02040503050406030204" pitchFamily="18" charset="0"/>
                                </a:rPr>
                              </m:ctrlPr>
                            </m:sSubPr>
                            <m:e>
                              <m:r>
                                <a:rPr lang="vi-VN" i="1">
                                  <a:latin typeface="Cambria Math" panose="02040503050406030204" pitchFamily="18" charset="0"/>
                                </a:rPr>
                                <m:t>𝜔</m:t>
                              </m:r>
                            </m:e>
                            <m:sub>
                              <m:r>
                                <a:rPr lang="vi-VN" i="1">
                                  <a:latin typeface="Cambria Math" panose="02040503050406030204" pitchFamily="18" charset="0"/>
                                </a:rPr>
                                <m:t>𝑐</m:t>
                              </m:r>
                            </m:sub>
                          </m:sSub>
                        </m:den>
                      </m:f>
                    </m:oMath>
                  </m:oMathPara>
                </a14:m>
                <a:endParaRPr lang="vi-VN"/>
              </a:p>
            </p:txBody>
          </p:sp>
        </mc:Choice>
        <mc:Fallback xmlns="">
          <p:sp>
            <p:nvSpPr>
              <p:cNvPr id="38" name="Hộp Văn bản 37">
                <a:extLst>
                  <a:ext uri="{FF2B5EF4-FFF2-40B4-BE49-F238E27FC236}">
                    <a16:creationId xmlns:a16="http://schemas.microsoft.com/office/drawing/2014/main" id="{B3E74185-E3EA-CAF1-B22B-C0EFD04EF81D}"/>
                  </a:ext>
                </a:extLst>
              </p:cNvPr>
              <p:cNvSpPr txBox="1">
                <a:spLocks noRot="1" noChangeAspect="1" noMove="1" noResize="1" noEditPoints="1" noAdjustHandles="1" noChangeArrowheads="1" noChangeShapeType="1" noTextEdit="1"/>
              </p:cNvSpPr>
              <p:nvPr/>
            </p:nvSpPr>
            <p:spPr>
              <a:xfrm>
                <a:off x="374948" y="5947553"/>
                <a:ext cx="3144273" cy="716222"/>
              </a:xfrm>
              <a:prstGeom prst="rect">
                <a:avLst/>
              </a:prstGeom>
              <a:blipFill>
                <a:blip r:embed="rId10"/>
                <a:stretch>
                  <a:fillRect/>
                </a:stretch>
              </a:blipFill>
            </p:spPr>
            <p:txBody>
              <a:bodyPr/>
              <a:lstStyle/>
              <a:p>
                <a:r>
                  <a:rPr lang="vi-VN">
                    <a:noFill/>
                  </a:rPr>
                  <a:t> </a:t>
                </a:r>
              </a:p>
            </p:txBody>
          </p:sp>
        </mc:Fallback>
      </mc:AlternateContent>
      <p:sp>
        <p:nvSpPr>
          <p:cNvPr id="6" name="TextBox 23">
            <a:extLst>
              <a:ext uri="{FF2B5EF4-FFF2-40B4-BE49-F238E27FC236}">
                <a16:creationId xmlns:a16="http://schemas.microsoft.com/office/drawing/2014/main" id="{3A0A36A5-D4E8-8B6A-7690-DD241B1CB71D}"/>
              </a:ext>
            </a:extLst>
          </p:cNvPr>
          <p:cNvSpPr txBox="1"/>
          <p:nvPr/>
        </p:nvSpPr>
        <p:spPr>
          <a:xfrm>
            <a:off x="374948" y="1036129"/>
            <a:ext cx="10549214" cy="400110"/>
          </a:xfrm>
          <a:prstGeom prst="rect">
            <a:avLst/>
          </a:prstGeom>
          <a:noFill/>
        </p:spPr>
        <p:txBody>
          <a:bodyPr wrap="square" rtlCol="0">
            <a:spAutoFit/>
          </a:bodyPr>
          <a:lstStyle/>
          <a:p>
            <a:pPr defTabSz="609585">
              <a:defRPr/>
            </a:pPr>
            <a:r>
              <a:rPr lang="vi-VN" sz="2000" b="1">
                <a:solidFill>
                  <a:prstClr val="black"/>
                </a:solidFill>
                <a:latin typeface="Times New Roman" panose="02020603050405020304" pitchFamily="18" charset="0"/>
                <a:cs typeface="Times New Roman" panose="02020603050405020304" pitchFamily="18" charset="0"/>
              </a:rPr>
              <a:t>2.8. Thiết kế bộ điều khiển điện áp và dòng điện cho sơ đồ vòng kín trên miền liên tục</a:t>
            </a:r>
          </a:p>
        </p:txBody>
      </p:sp>
    </p:spTree>
    <p:extLst>
      <p:ext uri="{BB962C8B-B14F-4D97-AF65-F5344CB8AC3E}">
        <p14:creationId xmlns:p14="http://schemas.microsoft.com/office/powerpoint/2010/main" val="12738191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27BA3-4368-0222-8278-0054780C13C4}"/>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A3506939-638C-0CA1-B6B8-DD4DAFB9E5DC}"/>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32E3ADC9-2499-9533-2FC8-FAC449919FEC}"/>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AE8F86E6-8305-6F10-9F2D-76AC9257F7FC}"/>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pic>
        <p:nvPicPr>
          <p:cNvPr id="6" name="Picture 6">
            <a:extLst>
              <a:ext uri="{FF2B5EF4-FFF2-40B4-BE49-F238E27FC236}">
                <a16:creationId xmlns:a16="http://schemas.microsoft.com/office/drawing/2014/main" id="{AD444AB3-83A7-03A6-F0CB-6A455E8D2C09}"/>
              </a:ext>
            </a:extLst>
          </p:cNvPr>
          <p:cNvPicPr>
            <a:picLocks noChangeAspect="1"/>
          </p:cNvPicPr>
          <p:nvPr/>
        </p:nvPicPr>
        <p:blipFill>
          <a:blip r:embed="rId2"/>
          <a:stretch>
            <a:fillRect/>
          </a:stretch>
        </p:blipFill>
        <p:spPr>
          <a:xfrm>
            <a:off x="510284" y="1497795"/>
            <a:ext cx="4972744" cy="3734321"/>
          </a:xfrm>
          <a:prstGeom prst="rect">
            <a:avLst/>
          </a:prstGeom>
        </p:spPr>
      </p:pic>
      <p:sp>
        <p:nvSpPr>
          <p:cNvPr id="8" name="Hộp Văn bản 7">
            <a:extLst>
              <a:ext uri="{FF2B5EF4-FFF2-40B4-BE49-F238E27FC236}">
                <a16:creationId xmlns:a16="http://schemas.microsoft.com/office/drawing/2014/main" id="{B7C3B0EA-5C67-3F10-2E64-C4F2DB343408}"/>
              </a:ext>
            </a:extLst>
          </p:cNvPr>
          <p:cNvSpPr txBox="1"/>
          <p:nvPr/>
        </p:nvSpPr>
        <p:spPr>
          <a:xfrm>
            <a:off x="510284" y="5378813"/>
            <a:ext cx="11037388" cy="400110"/>
          </a:xfrm>
          <a:prstGeom prst="rect">
            <a:avLst/>
          </a:prstGeom>
          <a:noFill/>
        </p:spPr>
        <p:txBody>
          <a:bodyPr wrap="square">
            <a:spAutoFit/>
          </a:bodyPr>
          <a:lstStyle/>
          <a:p>
            <a:r>
              <a:rPr lang="vi-VN" sz="2000" err="1">
                <a:latin typeface="Times New Roman" panose="02020603050405020304" pitchFamily="18" charset="0"/>
                <a:cs typeface="Times New Roman" panose="02020603050405020304" pitchFamily="18" charset="0"/>
              </a:rPr>
              <a:t>f</a:t>
            </a:r>
            <a:r>
              <a:rPr lang="vi-VN" sz="2000" baseline="-25000" err="1">
                <a:latin typeface="Times New Roman" panose="02020603050405020304" pitchFamily="18" charset="0"/>
                <a:cs typeface="Times New Roman" panose="02020603050405020304" pitchFamily="18" charset="0"/>
              </a:rPr>
              <a:t>sw</a:t>
            </a:r>
            <a:r>
              <a:rPr lang="vi-VN" sz="2000">
                <a:latin typeface="Times New Roman" panose="02020603050405020304" pitchFamily="18" charset="0"/>
                <a:cs typeface="Times New Roman" panose="02020603050405020304" pitchFamily="18" charset="0"/>
              </a:rPr>
              <a:t>=25Khz , ta chọn tần số cắt của mạch vòng dòng điện là: </a:t>
            </a:r>
            <a:r>
              <a:rPr lang="vi-VN" sz="2000" err="1">
                <a:latin typeface="Times New Roman" panose="02020603050405020304" pitchFamily="18" charset="0"/>
                <a:cs typeface="Times New Roman" panose="02020603050405020304" pitchFamily="18" charset="0"/>
              </a:rPr>
              <a:t>f</a:t>
            </a:r>
            <a:r>
              <a:rPr lang="vi-VN" sz="2000" baseline="-25000" err="1">
                <a:latin typeface="Times New Roman" panose="02020603050405020304" pitchFamily="18" charset="0"/>
                <a:cs typeface="Times New Roman" panose="02020603050405020304" pitchFamily="18" charset="0"/>
              </a:rPr>
              <a:t>ci</a:t>
            </a:r>
            <a:r>
              <a:rPr lang="vi-VN" sz="2000">
                <a:latin typeface="Times New Roman" panose="02020603050405020304" pitchFamily="18" charset="0"/>
                <a:cs typeface="Times New Roman" panose="02020603050405020304" pitchFamily="18" charset="0"/>
              </a:rPr>
              <a:t>=2700hz .</a:t>
            </a:r>
          </a:p>
        </p:txBody>
      </p:sp>
      <mc:AlternateContent xmlns:mc="http://schemas.openxmlformats.org/markup-compatibility/2006" xmlns:a14="http://schemas.microsoft.com/office/drawing/2010/main">
        <mc:Choice Requires="a14">
          <p:sp>
            <p:nvSpPr>
              <p:cNvPr id="10" name="Hộp Văn bản 9">
                <a:extLst>
                  <a:ext uri="{FF2B5EF4-FFF2-40B4-BE49-F238E27FC236}">
                    <a16:creationId xmlns:a16="http://schemas.microsoft.com/office/drawing/2014/main" id="{F243E006-3BCD-3141-19C6-69BA06E7E7F0}"/>
                  </a:ext>
                </a:extLst>
              </p:cNvPr>
              <p:cNvSpPr txBox="1"/>
              <p:nvPr/>
            </p:nvSpPr>
            <p:spPr>
              <a:xfrm>
                <a:off x="510284" y="5805404"/>
                <a:ext cx="6990682" cy="423770"/>
              </a:xfrm>
              <a:prstGeom prst="rect">
                <a:avLst/>
              </a:prstGeom>
              <a:noFill/>
            </p:spPr>
            <p:txBody>
              <a:bodyPr wrap="square">
                <a:spAutoFit/>
              </a:bodyPr>
              <a:lstStyle/>
              <a:p>
                <a:r>
                  <a:rPr lang="vi-VN" sz="2000">
                    <a:latin typeface="Times New Roman" panose="02020603050405020304" pitchFamily="18" charset="0"/>
                    <a:cs typeface="Times New Roman" panose="02020603050405020304" pitchFamily="18" charset="0"/>
                  </a:rPr>
                  <a:t>Từ đó tính được </a:t>
                </a:r>
                <a14:m>
                  <m:oMath xmlns:m="http://schemas.openxmlformats.org/officeDocument/2006/math">
                    <m:sSub>
                      <m:sSubPr>
                        <m:ctrlPr>
                          <a:rPr lang="vi-VN" sz="2000" i="1">
                            <a:latin typeface="Cambria Math" panose="02040503050406030204" pitchFamily="18" charset="0"/>
                          </a:rPr>
                        </m:ctrlPr>
                      </m:sSubPr>
                      <m:e>
                        <m:r>
                          <a:rPr lang="vi-VN" sz="2000" i="1">
                            <a:latin typeface="Cambria Math" panose="02040503050406030204" pitchFamily="18" charset="0"/>
                          </a:rPr>
                          <m:t>𝐾</m:t>
                        </m:r>
                      </m:e>
                      <m:sub>
                        <m:r>
                          <a:rPr lang="vi-VN" sz="2000" i="1">
                            <a:latin typeface="Cambria Math" panose="02040503050406030204" pitchFamily="18" charset="0"/>
                          </a:rPr>
                          <m:t>𝑖𝑟</m:t>
                        </m:r>
                      </m:sub>
                    </m:sSub>
                  </m:oMath>
                </a14:m>
                <a:r>
                  <a:rPr lang="vi-VN" sz="2000">
                    <a:latin typeface="Times New Roman" panose="02020603050405020304" pitchFamily="18" charset="0"/>
                    <a:cs typeface="Times New Roman" panose="02020603050405020304" pitchFamily="18" charset="0"/>
                  </a:rPr>
                  <a:t> và </a:t>
                </a:r>
                <a14:m>
                  <m:oMath xmlns:m="http://schemas.openxmlformats.org/officeDocument/2006/math">
                    <m:sSub>
                      <m:sSubPr>
                        <m:ctrlPr>
                          <a:rPr lang="vi-VN" sz="2000" i="1">
                            <a:effectLst/>
                            <a:latin typeface="Cambria Math" panose="02040503050406030204" pitchFamily="18" charset="0"/>
                            <a:ea typeface="Yu Gothic" panose="020B0400000000000000" pitchFamily="34" charset="-128"/>
                            <a:cs typeface="Times New Roman" panose="02020603050405020304" pitchFamily="18" charset="0"/>
                          </a:rPr>
                        </m:ctrlPr>
                      </m:sSubPr>
                      <m:e>
                        <m:r>
                          <a:rPr lang="vi-VN" sz="2000" i="1">
                            <a:effectLst/>
                            <a:latin typeface="Cambria Math" panose="02040503050406030204" pitchFamily="18" charset="0"/>
                            <a:ea typeface="Yu Gothic" panose="020B0400000000000000" pitchFamily="34" charset="-128"/>
                            <a:cs typeface="Times New Roman" panose="02020603050405020304" pitchFamily="18" charset="0"/>
                          </a:rPr>
                          <m:t>𝐾</m:t>
                        </m:r>
                      </m:e>
                      <m:sub>
                        <m:r>
                          <a:rPr lang="vi-VN" sz="2000" i="1">
                            <a:effectLst/>
                            <a:latin typeface="Cambria Math" panose="02040503050406030204" pitchFamily="18" charset="0"/>
                            <a:ea typeface="Yu Gothic" panose="020B0400000000000000" pitchFamily="34" charset="-128"/>
                            <a:cs typeface="Times New Roman" panose="02020603050405020304" pitchFamily="18" charset="0"/>
                          </a:rPr>
                          <m:t>𝑝𝑟</m:t>
                        </m:r>
                      </m:sub>
                    </m:sSub>
                  </m:oMath>
                </a14:m>
                <a:r>
                  <a:rPr lang="vi-VN" sz="2000">
                    <a:latin typeface="Times New Roman" panose="02020603050405020304" pitchFamily="18" charset="0"/>
                    <a:cs typeface="Times New Roman" panose="02020603050405020304" pitchFamily="18" charset="0"/>
                  </a:rPr>
                  <a:t> của bộ điều khiển dòng điện như sau: </a:t>
                </a:r>
                <a:endParaRPr lang="en-ID" sz="2000">
                  <a:latin typeface="Times New Roman" panose="02020603050405020304" pitchFamily="18" charset="0"/>
                  <a:cs typeface="Times New Roman" panose="02020603050405020304" pitchFamily="18" charset="0"/>
                </a:endParaRPr>
              </a:p>
            </p:txBody>
          </p:sp>
        </mc:Choice>
        <mc:Fallback xmlns="">
          <p:sp>
            <p:nvSpPr>
              <p:cNvPr id="10" name="Hộp Văn bản 9">
                <a:extLst>
                  <a:ext uri="{FF2B5EF4-FFF2-40B4-BE49-F238E27FC236}">
                    <a16:creationId xmlns:a16="http://schemas.microsoft.com/office/drawing/2014/main" id="{F243E006-3BCD-3141-19C6-69BA06E7E7F0}"/>
                  </a:ext>
                </a:extLst>
              </p:cNvPr>
              <p:cNvSpPr txBox="1">
                <a:spLocks noRot="1" noChangeAspect="1" noMove="1" noResize="1" noEditPoints="1" noAdjustHandles="1" noChangeArrowheads="1" noChangeShapeType="1" noTextEdit="1"/>
              </p:cNvSpPr>
              <p:nvPr/>
            </p:nvSpPr>
            <p:spPr>
              <a:xfrm>
                <a:off x="510284" y="5805404"/>
                <a:ext cx="6990682" cy="423770"/>
              </a:xfrm>
              <a:prstGeom prst="rect">
                <a:avLst/>
              </a:prstGeom>
              <a:blipFill>
                <a:blip r:embed="rId3"/>
                <a:stretch>
                  <a:fillRect l="-960" t="-7143" b="-1857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TextBox 13">
                <a:extLst>
                  <a:ext uri="{FF2B5EF4-FFF2-40B4-BE49-F238E27FC236}">
                    <a16:creationId xmlns:a16="http://schemas.microsoft.com/office/drawing/2014/main" id="{8F969E23-2B9B-6FEF-441E-42E6589134EA}"/>
                  </a:ext>
                </a:extLst>
              </p:cNvPr>
              <p:cNvSpPr txBox="1"/>
              <p:nvPr/>
            </p:nvSpPr>
            <p:spPr>
              <a:xfrm>
                <a:off x="8371202" y="5865997"/>
                <a:ext cx="2076450" cy="667747"/>
              </a:xfrm>
              <a:prstGeom prst="rect">
                <a:avLst/>
              </a:prstGeom>
              <a:noFill/>
            </p:spPr>
            <p:txBody>
              <a:bodyPr wrap="square" rtlCol="0">
                <a:spAutoFit/>
              </a:bodyPr>
              <a:lstStyle/>
              <a:p>
                <a14:m>
                  <m:oMath xmlns:m="http://schemas.openxmlformats.org/officeDocument/2006/math">
                    <m:sSub>
                      <m:sSubPr>
                        <m:ctrlPr>
                          <a:rPr lang="vi-VN" sz="1800" b="1" i="1">
                            <a:effectLst/>
                            <a:latin typeface="Cambria Math" panose="02040503050406030204" pitchFamily="18" charset="0"/>
                            <a:ea typeface="Yu Gothic" panose="020B0400000000000000" pitchFamily="34" charset="-128"/>
                            <a:cs typeface="Times New Roman" panose="02020603050405020304" pitchFamily="18" charset="0"/>
                          </a:rPr>
                        </m:ctrlPr>
                      </m:sSubPr>
                      <m:e>
                        <m:r>
                          <a:rPr lang="vi-VN" sz="1800" b="1" i="1">
                            <a:effectLst/>
                            <a:latin typeface="Cambria Math" panose="02040503050406030204" pitchFamily="18" charset="0"/>
                            <a:ea typeface="Yu Gothic" panose="020B0400000000000000" pitchFamily="34" charset="-128"/>
                            <a:cs typeface="Times New Roman" panose="02020603050405020304" pitchFamily="18" charset="0"/>
                          </a:rPr>
                          <m:t>𝑲</m:t>
                        </m:r>
                      </m:e>
                      <m:sub>
                        <m:r>
                          <a:rPr lang="vi-VN" sz="1800" b="1" i="1">
                            <a:effectLst/>
                            <a:latin typeface="Cambria Math" panose="02040503050406030204" pitchFamily="18" charset="0"/>
                            <a:ea typeface="Yu Gothic" panose="020B0400000000000000" pitchFamily="34" charset="-128"/>
                            <a:cs typeface="Times New Roman" panose="02020603050405020304" pitchFamily="18" charset="0"/>
                          </a:rPr>
                          <m:t>𝒊𝒓</m:t>
                        </m:r>
                      </m:sub>
                    </m:sSub>
                  </m:oMath>
                </a14:m>
                <a:r>
                  <a:rPr lang="vi-VN" b="1" i="1"/>
                  <a:t>  =  719.6146</a:t>
                </a:r>
              </a:p>
              <a:p>
                <a14:m>
                  <m:oMath xmlns:m="http://schemas.openxmlformats.org/officeDocument/2006/math">
                    <m:sSub>
                      <m:sSubPr>
                        <m:ctrlPr>
                          <a:rPr lang="vi-VN" sz="1800" b="1" i="1">
                            <a:effectLst/>
                            <a:latin typeface="Cambria Math" panose="02040503050406030204" pitchFamily="18" charset="0"/>
                            <a:ea typeface="Yu Gothic" panose="020B0400000000000000" pitchFamily="34" charset="-128"/>
                            <a:cs typeface="Times New Roman" panose="02020603050405020304" pitchFamily="18" charset="0"/>
                          </a:rPr>
                        </m:ctrlPr>
                      </m:sSubPr>
                      <m:e>
                        <m:r>
                          <a:rPr lang="vi-VN" sz="1800" b="1" i="1">
                            <a:effectLst/>
                            <a:latin typeface="Cambria Math" panose="02040503050406030204" pitchFamily="18" charset="0"/>
                            <a:ea typeface="Yu Gothic" panose="020B0400000000000000" pitchFamily="34" charset="-128"/>
                            <a:cs typeface="Times New Roman" panose="02020603050405020304" pitchFamily="18" charset="0"/>
                          </a:rPr>
                          <m:t>𝑲</m:t>
                        </m:r>
                      </m:e>
                      <m:sub>
                        <m:r>
                          <a:rPr lang="vi-VN" sz="1800" b="1" i="1">
                            <a:effectLst/>
                            <a:latin typeface="Cambria Math" panose="02040503050406030204" pitchFamily="18" charset="0"/>
                            <a:ea typeface="Yu Gothic" panose="020B0400000000000000" pitchFamily="34" charset="-128"/>
                            <a:cs typeface="Times New Roman" panose="02020603050405020304" pitchFamily="18" charset="0"/>
                          </a:rPr>
                          <m:t>𝒑𝒓</m:t>
                        </m:r>
                      </m:sub>
                    </m:sSub>
                  </m:oMath>
                </a14:m>
                <a:r>
                  <a:rPr lang="vi-VN" b="1" i="1"/>
                  <a:t> =  0.0734</a:t>
                </a:r>
                <a:endParaRPr lang="en-ID" b="1" i="1"/>
              </a:p>
            </p:txBody>
          </p:sp>
        </mc:Choice>
        <mc:Fallback xmlns="">
          <p:sp>
            <p:nvSpPr>
              <p:cNvPr id="11" name="TextBox 13">
                <a:extLst>
                  <a:ext uri="{FF2B5EF4-FFF2-40B4-BE49-F238E27FC236}">
                    <a16:creationId xmlns:a16="http://schemas.microsoft.com/office/drawing/2014/main" id="{8F969E23-2B9B-6FEF-441E-42E6589134EA}"/>
                  </a:ext>
                </a:extLst>
              </p:cNvPr>
              <p:cNvSpPr txBox="1">
                <a:spLocks noRot="1" noChangeAspect="1" noMove="1" noResize="1" noEditPoints="1" noAdjustHandles="1" noChangeArrowheads="1" noChangeShapeType="1" noTextEdit="1"/>
              </p:cNvSpPr>
              <p:nvPr/>
            </p:nvSpPr>
            <p:spPr>
              <a:xfrm>
                <a:off x="8371202" y="5865997"/>
                <a:ext cx="2076450" cy="667747"/>
              </a:xfrm>
              <a:prstGeom prst="rect">
                <a:avLst/>
              </a:prstGeom>
              <a:blipFill>
                <a:blip r:embed="rId4"/>
                <a:stretch>
                  <a:fillRect t="-4545" b="-10000"/>
                </a:stretch>
              </a:blipFill>
            </p:spPr>
            <p:txBody>
              <a:bodyPr/>
              <a:lstStyle/>
              <a:p>
                <a:r>
                  <a:rPr lang="vi-VN">
                    <a:noFill/>
                  </a:rPr>
                  <a:t> </a:t>
                </a:r>
              </a:p>
            </p:txBody>
          </p:sp>
        </mc:Fallback>
      </mc:AlternateContent>
      <p:sp>
        <p:nvSpPr>
          <p:cNvPr id="7" name="TextBox 23">
            <a:extLst>
              <a:ext uri="{FF2B5EF4-FFF2-40B4-BE49-F238E27FC236}">
                <a16:creationId xmlns:a16="http://schemas.microsoft.com/office/drawing/2014/main" id="{7C2F7284-918D-79FE-C936-89D13C9B7FCF}"/>
              </a:ext>
            </a:extLst>
          </p:cNvPr>
          <p:cNvSpPr txBox="1"/>
          <p:nvPr/>
        </p:nvSpPr>
        <p:spPr>
          <a:xfrm>
            <a:off x="374948" y="1036129"/>
            <a:ext cx="10549214" cy="400110"/>
          </a:xfrm>
          <a:prstGeom prst="rect">
            <a:avLst/>
          </a:prstGeom>
          <a:noFill/>
        </p:spPr>
        <p:txBody>
          <a:bodyPr wrap="square" rtlCol="0">
            <a:spAutoFit/>
          </a:bodyPr>
          <a:lstStyle/>
          <a:p>
            <a:pPr defTabSz="609585">
              <a:defRPr/>
            </a:pPr>
            <a:r>
              <a:rPr lang="vi-VN" sz="2000" b="1">
                <a:solidFill>
                  <a:prstClr val="black"/>
                </a:solidFill>
                <a:latin typeface="Times New Roman" panose="02020603050405020304" pitchFamily="18" charset="0"/>
                <a:cs typeface="Times New Roman" panose="02020603050405020304" pitchFamily="18" charset="0"/>
              </a:rPr>
              <a:t>2.8. Thiết kế bộ điều khiển điện áp và dòng điện cho sơ đồ vòng kín trên miền liên tục</a:t>
            </a:r>
          </a:p>
        </p:txBody>
      </p:sp>
    </p:spTree>
    <p:extLst>
      <p:ext uri="{BB962C8B-B14F-4D97-AF65-F5344CB8AC3E}">
        <p14:creationId xmlns:p14="http://schemas.microsoft.com/office/powerpoint/2010/main" val="1855498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61B76-7857-3F81-1B47-532BAB6D3168}"/>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33BE169D-BD7A-3161-B52A-B71F305CA25D}"/>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3846413B-5E0D-B8D5-2B1B-20E94FF58342}"/>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E651AA47-83AA-1AF3-068A-CF7DD136C2A3}"/>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6" name="TextBox 8">
            <a:extLst>
              <a:ext uri="{FF2B5EF4-FFF2-40B4-BE49-F238E27FC236}">
                <a16:creationId xmlns:a16="http://schemas.microsoft.com/office/drawing/2014/main" id="{5AC9DF87-E20E-A856-A956-3C8C9E057D66}"/>
              </a:ext>
            </a:extLst>
          </p:cNvPr>
          <p:cNvSpPr txBox="1"/>
          <p:nvPr/>
        </p:nvSpPr>
        <p:spPr>
          <a:xfrm>
            <a:off x="7494516" y="4612239"/>
            <a:ext cx="4191000" cy="646331"/>
          </a:xfrm>
          <a:prstGeom prst="rect">
            <a:avLst/>
          </a:prstGeom>
          <a:noFill/>
        </p:spPr>
        <p:txBody>
          <a:bodyPr wrap="square">
            <a:spAutoFit/>
          </a:bodyPr>
          <a:lstStyle/>
          <a:p>
            <a:pPr algn="ctr"/>
            <a:r>
              <a:rPr lang="en-ID" i="1" err="1">
                <a:latin typeface="Times New Roman" panose="02020603050405020304" pitchFamily="18" charset="0"/>
                <a:cs typeface="Times New Roman" panose="02020603050405020304" pitchFamily="18" charset="0"/>
              </a:rPr>
              <a:t>Mô</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tả</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toán</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học</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mạch</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vòng</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điều</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khiển</a:t>
            </a:r>
            <a:r>
              <a:rPr lang="en-ID" i="1">
                <a:latin typeface="Times New Roman" panose="02020603050405020304" pitchFamily="18" charset="0"/>
                <a:cs typeface="Times New Roman" panose="02020603050405020304" pitchFamily="18" charset="0"/>
              </a:rPr>
              <a:t> </a:t>
            </a:r>
            <a:r>
              <a:rPr lang="vi-VN" i="1">
                <a:latin typeface="Times New Roman" panose="02020603050405020304" pitchFamily="18" charset="0"/>
                <a:cs typeface="Times New Roman" panose="02020603050405020304" pitchFamily="18" charset="0"/>
              </a:rPr>
              <a:t>điện áp</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trên</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miền</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toán</a:t>
            </a:r>
            <a:r>
              <a:rPr lang="en-ID" i="1">
                <a:latin typeface="Times New Roman" panose="02020603050405020304" pitchFamily="18" charset="0"/>
                <a:cs typeface="Times New Roman" panose="02020603050405020304" pitchFamily="18" charset="0"/>
              </a:rPr>
              <a:t> </a:t>
            </a:r>
            <a:r>
              <a:rPr lang="en-ID" i="1" err="1">
                <a:latin typeface="Times New Roman" panose="02020603050405020304" pitchFamily="18" charset="0"/>
                <a:cs typeface="Times New Roman" panose="02020603050405020304" pitchFamily="18" charset="0"/>
              </a:rPr>
              <a:t>tử</a:t>
            </a:r>
            <a:r>
              <a:rPr lang="en-ID" i="1">
                <a:latin typeface="Times New Roman" panose="02020603050405020304" pitchFamily="18" charset="0"/>
                <a:cs typeface="Times New Roman" panose="02020603050405020304" pitchFamily="18" charset="0"/>
              </a:rPr>
              <a:t> Laplace</a:t>
            </a:r>
            <a:endParaRPr lang="en-ID">
              <a:latin typeface="Times New Roman" panose="02020603050405020304" pitchFamily="18" charset="0"/>
              <a:cs typeface="Times New Roman" panose="02020603050405020304" pitchFamily="18" charset="0"/>
            </a:endParaRPr>
          </a:p>
        </p:txBody>
      </p:sp>
      <p:pic>
        <p:nvPicPr>
          <p:cNvPr id="7" name="Picture 10">
            <a:extLst>
              <a:ext uri="{FF2B5EF4-FFF2-40B4-BE49-F238E27FC236}">
                <a16:creationId xmlns:a16="http://schemas.microsoft.com/office/drawing/2014/main" id="{31510F54-5B49-C4F1-079E-44E011CC9F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5391" y="2335080"/>
            <a:ext cx="4810125" cy="1947862"/>
          </a:xfrm>
          <a:prstGeom prst="rect">
            <a:avLst/>
          </a:prstGeom>
        </p:spPr>
      </p:pic>
      <mc:AlternateContent xmlns:mc="http://schemas.openxmlformats.org/markup-compatibility/2006" xmlns:a14="http://schemas.microsoft.com/office/drawing/2010/main">
        <mc:Choice Requires="a14">
          <p:sp>
            <p:nvSpPr>
              <p:cNvPr id="8" name="TextBox 11">
                <a:extLst>
                  <a:ext uri="{FF2B5EF4-FFF2-40B4-BE49-F238E27FC236}">
                    <a16:creationId xmlns:a16="http://schemas.microsoft.com/office/drawing/2014/main" id="{B035F7F5-ABD4-2335-6790-1ECA4277E52F}"/>
                  </a:ext>
                </a:extLst>
              </p:cNvPr>
              <p:cNvSpPr txBox="1"/>
              <p:nvPr/>
            </p:nvSpPr>
            <p:spPr>
              <a:xfrm>
                <a:off x="687238" y="1686446"/>
                <a:ext cx="2274636" cy="743409"/>
              </a:xfrm>
              <a:prstGeom prst="rect">
                <a:avLst/>
              </a:prstGeom>
              <a:noFill/>
            </p:spPr>
            <p:txBody>
              <a:bodyPr wrap="square">
                <a:spAutoFit/>
              </a:bodyPr>
              <a:lstStyle/>
              <a:p>
                <a:pPr>
                  <a:lnSpc>
                    <a:spcPct val="107000"/>
                  </a:lnSpc>
                  <a:spcAft>
                    <a:spcPts val="800"/>
                  </a:spcAft>
                </a:pPr>
                <a:r>
                  <a:rPr lang="vi-VN" sz="2400">
                    <a:effectLst/>
                    <a:latin typeface="Calibri" panose="020F0502020204030204" pitchFamily="34" charset="0"/>
                    <a:ea typeface="Calibri" panose="020F0502020204030204" pitchFamily="34" charset="0"/>
                    <a:cs typeface="Times New Roman" panose="02020603050405020304" pitchFamily="18" charset="0"/>
                  </a:rPr>
                  <a:t>G</a:t>
                </a:r>
                <a:r>
                  <a:rPr lang="vi-VN" sz="2400" baseline="-25000">
                    <a:effectLst/>
                    <a:latin typeface="Calibri" panose="020F0502020204030204" pitchFamily="34" charset="0"/>
                    <a:ea typeface="Calibri" panose="020F0502020204030204" pitchFamily="34" charset="0"/>
                    <a:cs typeface="Times New Roman" panose="02020603050405020304" pitchFamily="18" charset="0"/>
                  </a:rPr>
                  <a:t>dtv</a:t>
                </a:r>
                <a:r>
                  <a:rPr lang="vi-VN" sz="2400">
                    <a:effectLst/>
                    <a:latin typeface="Calibri" panose="020F0502020204030204" pitchFamily="34" charset="0"/>
                    <a:ea typeface="Calibri" panose="020F0502020204030204" pitchFamily="34" charset="0"/>
                    <a:cs typeface="Times New Roman" panose="02020603050405020304" pitchFamily="18" charset="0"/>
                  </a:rPr>
                  <a:t>(s)=</a:t>
                </a:r>
                <a14:m>
                  <m:oMath xmlns:m="http://schemas.openxmlformats.org/officeDocument/2006/math">
                    <m:f>
                      <m:fPr>
                        <m:ctrlPr>
                          <a:rPr lang="vi-VN" sz="2400" i="1">
                            <a:effectLst/>
                            <a:latin typeface="Cambria Math" panose="02040503050406030204" pitchFamily="18" charset="0"/>
                            <a:ea typeface="Calibri" panose="020F0502020204030204" pitchFamily="34" charset="0"/>
                            <a:cs typeface="Times New Roman" panose="02020603050405020304" pitchFamily="18" charset="0"/>
                          </a:rPr>
                        </m:ctrlPr>
                      </m:fPr>
                      <m:num>
                        <m:r>
                          <a:rPr lang="vi-VN" sz="2400" i="1">
                            <a:effectLst/>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vi-VN" sz="2400" i="1">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vi-VN" sz="2400" i="1">
                                <a:latin typeface="Cambria Math" panose="02040503050406030204" pitchFamily="18" charset="0"/>
                                <a:ea typeface="Calibri" panose="020F0502020204030204" pitchFamily="34" charset="0"/>
                                <a:cs typeface="Times New Roman" panose="02020603050405020304" pitchFamily="18" charset="0"/>
                              </a:rPr>
                              <m:t>C</m:t>
                            </m:r>
                          </m:e>
                          <m:sub>
                            <m:r>
                              <a:rPr lang="vi-VN" sz="2400" i="1">
                                <a:effectLst/>
                                <a:latin typeface="Cambria Math" panose="02040503050406030204" pitchFamily="18" charset="0"/>
                                <a:ea typeface="Calibri" panose="020F0502020204030204" pitchFamily="34" charset="0"/>
                                <a:cs typeface="Times New Roman" panose="02020603050405020304" pitchFamily="18" charset="0"/>
                              </a:rPr>
                              <m:t>𝑓</m:t>
                            </m:r>
                          </m:sub>
                        </m:sSub>
                        <m:r>
                          <a:rPr lang="vi-VN" sz="2400" i="1">
                            <a:effectLst/>
                            <a:latin typeface="Cambria Math" panose="02040503050406030204" pitchFamily="18" charset="0"/>
                            <a:ea typeface="Calibri" panose="020F0502020204030204" pitchFamily="34" charset="0"/>
                            <a:cs typeface="Times New Roman" panose="02020603050405020304" pitchFamily="18" charset="0"/>
                          </a:rPr>
                          <m:t>∗</m:t>
                        </m:r>
                        <m:r>
                          <a:rPr lang="vi-VN" sz="2400" i="1">
                            <a:effectLst/>
                            <a:latin typeface="Cambria Math" panose="02040503050406030204" pitchFamily="18" charset="0"/>
                            <a:ea typeface="Calibri" panose="020F0502020204030204" pitchFamily="34" charset="0"/>
                            <a:cs typeface="Times New Roman" panose="02020603050405020304" pitchFamily="18" charset="0"/>
                          </a:rPr>
                          <m:t>𝑠</m:t>
                        </m:r>
                      </m:den>
                    </m:f>
                  </m:oMath>
                </a14:m>
                <a:endParaRPr lang="en-ID" sz="24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8" name="TextBox 11">
                <a:extLst>
                  <a:ext uri="{FF2B5EF4-FFF2-40B4-BE49-F238E27FC236}">
                    <a16:creationId xmlns:a16="http://schemas.microsoft.com/office/drawing/2014/main" id="{B035F7F5-ABD4-2335-6790-1ECA4277E52F}"/>
                  </a:ext>
                </a:extLst>
              </p:cNvPr>
              <p:cNvSpPr txBox="1">
                <a:spLocks noRot="1" noChangeAspect="1" noMove="1" noResize="1" noEditPoints="1" noAdjustHandles="1" noChangeArrowheads="1" noChangeShapeType="1" noTextEdit="1"/>
              </p:cNvSpPr>
              <p:nvPr/>
            </p:nvSpPr>
            <p:spPr>
              <a:xfrm>
                <a:off x="687238" y="1686446"/>
                <a:ext cx="2274636" cy="743409"/>
              </a:xfrm>
              <a:prstGeom prst="rect">
                <a:avLst/>
              </a:prstGeom>
              <a:blipFill>
                <a:blip r:embed="rId3"/>
                <a:stretch>
                  <a:fillRect l="-4290"/>
                </a:stretch>
              </a:blipFill>
            </p:spPr>
            <p:txBody>
              <a:bodyPr/>
              <a:lstStyle/>
              <a:p>
                <a:r>
                  <a:rPr lang="vi-VN">
                    <a:noFill/>
                  </a:rPr>
                  <a:t> </a:t>
                </a:r>
              </a:p>
            </p:txBody>
          </p:sp>
        </mc:Fallback>
      </mc:AlternateContent>
      <p:sp>
        <p:nvSpPr>
          <p:cNvPr id="9" name="TextBox 12">
            <a:extLst>
              <a:ext uri="{FF2B5EF4-FFF2-40B4-BE49-F238E27FC236}">
                <a16:creationId xmlns:a16="http://schemas.microsoft.com/office/drawing/2014/main" id="{EC668F87-795E-A3D2-337D-FA3910498CFB}"/>
              </a:ext>
            </a:extLst>
          </p:cNvPr>
          <p:cNvSpPr txBox="1"/>
          <p:nvPr/>
        </p:nvSpPr>
        <p:spPr>
          <a:xfrm>
            <a:off x="374948" y="2463470"/>
            <a:ext cx="5200650" cy="400110"/>
          </a:xfrm>
          <a:prstGeom prst="rect">
            <a:avLst/>
          </a:prstGeom>
          <a:noFill/>
        </p:spPr>
        <p:txBody>
          <a:bodyPr wrap="square" rtlCol="0">
            <a:spAutoFit/>
          </a:bodyPr>
          <a:lstStyle/>
          <a:p>
            <a:r>
              <a:rPr lang="vi-VN" sz="2000">
                <a:latin typeface="Times New Roman" panose="02020603050405020304" pitchFamily="18" charset="0"/>
                <a:cs typeface="Times New Roman" panose="02020603050405020304" pitchFamily="18" charset="0"/>
              </a:rPr>
              <a:t>Tính toán tương tự như mạch vòng dòng điện</a:t>
            </a:r>
            <a:endParaRPr lang="en-ID" sz="2000">
              <a:latin typeface="Times New Roman" panose="02020603050405020304" pitchFamily="18" charset="0"/>
              <a:cs typeface="Times New Roman" panose="02020603050405020304" pitchFamily="18" charset="0"/>
            </a:endParaRPr>
          </a:p>
        </p:txBody>
      </p:sp>
      <p:pic>
        <p:nvPicPr>
          <p:cNvPr id="10" name="Picture 14">
            <a:extLst>
              <a:ext uri="{FF2B5EF4-FFF2-40B4-BE49-F238E27FC236}">
                <a16:creationId xmlns:a16="http://schemas.microsoft.com/office/drawing/2014/main" id="{C3D1C5E9-6A9C-7C05-F38D-F80EEDD10AB6}"/>
              </a:ext>
            </a:extLst>
          </p:cNvPr>
          <p:cNvPicPr>
            <a:picLocks noChangeAspect="1"/>
          </p:cNvPicPr>
          <p:nvPr/>
        </p:nvPicPr>
        <p:blipFill>
          <a:blip r:embed="rId4"/>
          <a:stretch>
            <a:fillRect/>
          </a:stretch>
        </p:blipFill>
        <p:spPr>
          <a:xfrm>
            <a:off x="374948" y="3070091"/>
            <a:ext cx="4686954" cy="2162477"/>
          </a:xfrm>
          <a:prstGeom prst="rect">
            <a:avLst/>
          </a:prstGeom>
        </p:spPr>
      </p:pic>
      <mc:AlternateContent xmlns:mc="http://schemas.openxmlformats.org/markup-compatibility/2006" xmlns:a14="http://schemas.microsoft.com/office/drawing/2010/main">
        <mc:Choice Requires="a14">
          <p:sp>
            <p:nvSpPr>
              <p:cNvPr id="12" name="Hộp Văn bản 11">
                <a:extLst>
                  <a:ext uri="{FF2B5EF4-FFF2-40B4-BE49-F238E27FC236}">
                    <a16:creationId xmlns:a16="http://schemas.microsoft.com/office/drawing/2014/main" id="{C1C24488-D121-1F93-53EA-2E2C15A809AA}"/>
                  </a:ext>
                </a:extLst>
              </p:cNvPr>
              <p:cNvSpPr txBox="1"/>
              <p:nvPr/>
            </p:nvSpPr>
            <p:spPr>
              <a:xfrm>
                <a:off x="380256" y="5450849"/>
                <a:ext cx="6094378" cy="400110"/>
              </a:xfrm>
              <a:prstGeom prst="rect">
                <a:avLst/>
              </a:prstGeom>
              <a:noFill/>
            </p:spPr>
            <p:txBody>
              <a:bodyPr wrap="square">
                <a:spAutoFit/>
              </a:bodyPr>
              <a:lstStyle/>
              <a:p>
                <a:r>
                  <a:rPr lang="vi-VN" sz="2000">
                    <a:latin typeface="Times New Roman" panose="02020603050405020304" pitchFamily="18" charset="0"/>
                    <a:cs typeface="Times New Roman" panose="02020603050405020304" pitchFamily="18" charset="0"/>
                  </a:rPr>
                  <a:t>Chọn tần số cắt của mạch vòng điện áp là: </a:t>
                </a:r>
                <a14:m>
                  <m:oMath xmlns:m="http://schemas.openxmlformats.org/officeDocument/2006/math">
                    <m:sSub>
                      <m:sSubPr>
                        <m:ctrlPr>
                          <a:rPr lang="vi-VN" sz="2000" i="1">
                            <a:effectLst/>
                            <a:latin typeface="Cambria Math" panose="02040503050406030204" pitchFamily="18" charset="0"/>
                            <a:ea typeface="Yu Gothic" panose="020B0400000000000000" pitchFamily="34" charset="-128"/>
                            <a:cs typeface="Times New Roman" panose="02020603050405020304" pitchFamily="18" charset="0"/>
                          </a:rPr>
                        </m:ctrlPr>
                      </m:sSubPr>
                      <m:e>
                        <m:r>
                          <a:rPr lang="vi-VN" sz="2000" i="1">
                            <a:effectLst/>
                            <a:latin typeface="Cambria Math" panose="02040503050406030204" pitchFamily="18" charset="0"/>
                            <a:ea typeface="Yu Gothic" panose="020B0400000000000000" pitchFamily="34" charset="-128"/>
                            <a:cs typeface="Times New Roman" panose="02020603050405020304" pitchFamily="18" charset="0"/>
                          </a:rPr>
                          <m:t>𝑓</m:t>
                        </m:r>
                      </m:e>
                      <m:sub>
                        <m:r>
                          <a:rPr lang="vi-VN" sz="2000" i="1">
                            <a:effectLst/>
                            <a:latin typeface="Cambria Math" panose="02040503050406030204" pitchFamily="18" charset="0"/>
                            <a:ea typeface="Yu Gothic" panose="020B0400000000000000" pitchFamily="34" charset="-128"/>
                            <a:cs typeface="Times New Roman" panose="02020603050405020304" pitchFamily="18" charset="0"/>
                          </a:rPr>
                          <m:t>𝑐𝑣</m:t>
                        </m:r>
                      </m:sub>
                    </m:sSub>
                  </m:oMath>
                </a14:m>
                <a:r>
                  <a:rPr lang="vi-VN" sz="2000">
                    <a:latin typeface="Times New Roman" panose="02020603050405020304" pitchFamily="18" charset="0"/>
                    <a:cs typeface="Times New Roman" panose="02020603050405020304" pitchFamily="18" charset="0"/>
                  </a:rPr>
                  <a:t>=500hz .</a:t>
                </a:r>
              </a:p>
            </p:txBody>
          </p:sp>
        </mc:Choice>
        <mc:Fallback xmlns="">
          <p:sp>
            <p:nvSpPr>
              <p:cNvPr id="12" name="Hộp Văn bản 11">
                <a:extLst>
                  <a:ext uri="{FF2B5EF4-FFF2-40B4-BE49-F238E27FC236}">
                    <a16:creationId xmlns:a16="http://schemas.microsoft.com/office/drawing/2014/main" id="{C1C24488-D121-1F93-53EA-2E2C15A809AA}"/>
                  </a:ext>
                </a:extLst>
              </p:cNvPr>
              <p:cNvSpPr txBox="1">
                <a:spLocks noRot="1" noChangeAspect="1" noMove="1" noResize="1" noEditPoints="1" noAdjustHandles="1" noChangeArrowheads="1" noChangeShapeType="1" noTextEdit="1"/>
              </p:cNvSpPr>
              <p:nvPr/>
            </p:nvSpPr>
            <p:spPr>
              <a:xfrm>
                <a:off x="380256" y="5450849"/>
                <a:ext cx="6094378" cy="400110"/>
              </a:xfrm>
              <a:prstGeom prst="rect">
                <a:avLst/>
              </a:prstGeom>
              <a:blipFill>
                <a:blip r:embed="rId5"/>
                <a:stretch>
                  <a:fillRect l="-1000" t="-7576" b="-2575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Hộp Văn bản 14">
                <a:extLst>
                  <a:ext uri="{FF2B5EF4-FFF2-40B4-BE49-F238E27FC236}">
                    <a16:creationId xmlns:a16="http://schemas.microsoft.com/office/drawing/2014/main" id="{DF112A10-0191-634B-5C75-ED034064D2BD}"/>
                  </a:ext>
                </a:extLst>
              </p:cNvPr>
              <p:cNvSpPr txBox="1"/>
              <p:nvPr/>
            </p:nvSpPr>
            <p:spPr>
              <a:xfrm>
                <a:off x="380256" y="5820181"/>
                <a:ext cx="6495135" cy="423770"/>
              </a:xfrm>
              <a:prstGeom prst="rect">
                <a:avLst/>
              </a:prstGeom>
              <a:noFill/>
            </p:spPr>
            <p:txBody>
              <a:bodyPr wrap="square">
                <a:spAutoFit/>
              </a:bodyPr>
              <a:lstStyle/>
              <a:p>
                <a:r>
                  <a:rPr lang="vi-VN" sz="2000">
                    <a:latin typeface="Times New Roman" panose="02020603050405020304" pitchFamily="18" charset="0"/>
                    <a:cs typeface="Times New Roman" panose="02020603050405020304" pitchFamily="18" charset="0"/>
                  </a:rPr>
                  <a:t>Từ đó tính được </a:t>
                </a:r>
                <a14:m>
                  <m:oMath xmlns:m="http://schemas.openxmlformats.org/officeDocument/2006/math">
                    <m:sSub>
                      <m:sSubPr>
                        <m:ctrlPr>
                          <a:rPr lang="vi-VN" sz="2000" i="1">
                            <a:latin typeface="Cambria Math" panose="02040503050406030204" pitchFamily="18" charset="0"/>
                          </a:rPr>
                        </m:ctrlPr>
                      </m:sSubPr>
                      <m:e>
                        <m:r>
                          <a:rPr lang="vi-VN" sz="2000" i="1">
                            <a:latin typeface="Cambria Math" panose="02040503050406030204" pitchFamily="18" charset="0"/>
                          </a:rPr>
                          <m:t>𝐾</m:t>
                        </m:r>
                      </m:e>
                      <m:sub>
                        <m:r>
                          <a:rPr lang="vi-VN" sz="2000" i="1">
                            <a:latin typeface="Cambria Math" panose="02040503050406030204" pitchFamily="18" charset="0"/>
                          </a:rPr>
                          <m:t>𝑖𝑟</m:t>
                        </m:r>
                      </m:sub>
                    </m:sSub>
                  </m:oMath>
                </a14:m>
                <a:r>
                  <a:rPr lang="vi-VN" sz="2000">
                    <a:latin typeface="Times New Roman" panose="02020603050405020304" pitchFamily="18" charset="0"/>
                    <a:cs typeface="Times New Roman" panose="02020603050405020304" pitchFamily="18" charset="0"/>
                  </a:rPr>
                  <a:t> và </a:t>
                </a:r>
                <a14:m>
                  <m:oMath xmlns:m="http://schemas.openxmlformats.org/officeDocument/2006/math">
                    <m:sSub>
                      <m:sSubPr>
                        <m:ctrlPr>
                          <a:rPr lang="vi-VN" sz="2000" i="1">
                            <a:effectLst/>
                            <a:latin typeface="Cambria Math" panose="02040503050406030204" pitchFamily="18" charset="0"/>
                            <a:ea typeface="Yu Gothic" panose="020B0400000000000000" pitchFamily="34" charset="-128"/>
                            <a:cs typeface="Times New Roman" panose="02020603050405020304" pitchFamily="18" charset="0"/>
                          </a:rPr>
                        </m:ctrlPr>
                      </m:sSubPr>
                      <m:e>
                        <m:r>
                          <a:rPr lang="vi-VN" sz="2000" i="1">
                            <a:effectLst/>
                            <a:latin typeface="Cambria Math" panose="02040503050406030204" pitchFamily="18" charset="0"/>
                            <a:ea typeface="Yu Gothic" panose="020B0400000000000000" pitchFamily="34" charset="-128"/>
                            <a:cs typeface="Times New Roman" panose="02020603050405020304" pitchFamily="18" charset="0"/>
                          </a:rPr>
                          <m:t>𝐾</m:t>
                        </m:r>
                      </m:e>
                      <m:sub>
                        <m:r>
                          <a:rPr lang="vi-VN" sz="2000" i="1">
                            <a:effectLst/>
                            <a:latin typeface="Cambria Math" panose="02040503050406030204" pitchFamily="18" charset="0"/>
                            <a:ea typeface="Yu Gothic" panose="020B0400000000000000" pitchFamily="34" charset="-128"/>
                            <a:cs typeface="Times New Roman" panose="02020603050405020304" pitchFamily="18" charset="0"/>
                          </a:rPr>
                          <m:t>𝑝𝑟</m:t>
                        </m:r>
                      </m:sub>
                    </m:sSub>
                  </m:oMath>
                </a14:m>
                <a:r>
                  <a:rPr lang="vi-VN" sz="2000">
                    <a:latin typeface="Times New Roman" panose="02020603050405020304" pitchFamily="18" charset="0"/>
                    <a:cs typeface="Times New Roman" panose="02020603050405020304" pitchFamily="18" charset="0"/>
                  </a:rPr>
                  <a:t> bộ điều khiển điện áp như sau: </a:t>
                </a:r>
                <a:endParaRPr lang="en-ID" sz="2000">
                  <a:latin typeface="Times New Roman" panose="02020603050405020304" pitchFamily="18" charset="0"/>
                  <a:cs typeface="Times New Roman" panose="02020603050405020304" pitchFamily="18" charset="0"/>
                </a:endParaRPr>
              </a:p>
            </p:txBody>
          </p:sp>
        </mc:Choice>
        <mc:Fallback xmlns="">
          <p:sp>
            <p:nvSpPr>
              <p:cNvPr id="15" name="Hộp Văn bản 14">
                <a:extLst>
                  <a:ext uri="{FF2B5EF4-FFF2-40B4-BE49-F238E27FC236}">
                    <a16:creationId xmlns:a16="http://schemas.microsoft.com/office/drawing/2014/main" id="{DF112A10-0191-634B-5C75-ED034064D2BD}"/>
                  </a:ext>
                </a:extLst>
              </p:cNvPr>
              <p:cNvSpPr txBox="1">
                <a:spLocks noRot="1" noChangeAspect="1" noMove="1" noResize="1" noEditPoints="1" noAdjustHandles="1" noChangeArrowheads="1" noChangeShapeType="1" noTextEdit="1"/>
              </p:cNvSpPr>
              <p:nvPr/>
            </p:nvSpPr>
            <p:spPr>
              <a:xfrm>
                <a:off x="380256" y="5820181"/>
                <a:ext cx="6495135" cy="423770"/>
              </a:xfrm>
              <a:prstGeom prst="rect">
                <a:avLst/>
              </a:prstGeom>
              <a:blipFill>
                <a:blip r:embed="rId6"/>
                <a:stretch>
                  <a:fillRect l="-938" t="-8696" b="-20290"/>
                </a:stretch>
              </a:blipFill>
            </p:spPr>
            <p:txBody>
              <a:bodyPr/>
              <a:lstStyle/>
              <a:p>
                <a:r>
                  <a:rPr lang="vi-VN">
                    <a:noFill/>
                  </a:rPr>
                  <a:t> </a:t>
                </a:r>
              </a:p>
            </p:txBody>
          </p:sp>
        </mc:Fallback>
      </mc:AlternateContent>
      <p:sp>
        <p:nvSpPr>
          <p:cNvPr id="16" name="TextBox 16">
            <a:extLst>
              <a:ext uri="{FF2B5EF4-FFF2-40B4-BE49-F238E27FC236}">
                <a16:creationId xmlns:a16="http://schemas.microsoft.com/office/drawing/2014/main" id="{F540856C-07D0-3E65-2A55-B28D8A39B0C2}"/>
              </a:ext>
            </a:extLst>
          </p:cNvPr>
          <p:cNvSpPr txBox="1"/>
          <p:nvPr/>
        </p:nvSpPr>
        <p:spPr>
          <a:xfrm>
            <a:off x="8170791" y="5887413"/>
            <a:ext cx="2140528" cy="646331"/>
          </a:xfrm>
          <a:prstGeom prst="rect">
            <a:avLst/>
          </a:prstGeom>
          <a:noFill/>
        </p:spPr>
        <p:txBody>
          <a:bodyPr wrap="square" rtlCol="0">
            <a:spAutoFit/>
          </a:bodyPr>
          <a:lstStyle/>
          <a:p>
            <a:r>
              <a:rPr lang="vi-VN" b="1" i="1"/>
              <a:t>Kir  = 195.4182</a:t>
            </a:r>
          </a:p>
          <a:p>
            <a:r>
              <a:rPr lang="vi-VN" b="1" i="1"/>
              <a:t>Kpr =   0.1088</a:t>
            </a:r>
            <a:endParaRPr lang="en-ID" b="1" i="1"/>
          </a:p>
        </p:txBody>
      </p:sp>
      <p:sp>
        <p:nvSpPr>
          <p:cNvPr id="11" name="TextBox 23">
            <a:extLst>
              <a:ext uri="{FF2B5EF4-FFF2-40B4-BE49-F238E27FC236}">
                <a16:creationId xmlns:a16="http://schemas.microsoft.com/office/drawing/2014/main" id="{E0687C05-A54E-F5E3-BB49-E5735C0167E1}"/>
              </a:ext>
            </a:extLst>
          </p:cNvPr>
          <p:cNvSpPr txBox="1"/>
          <p:nvPr/>
        </p:nvSpPr>
        <p:spPr>
          <a:xfrm>
            <a:off x="374948" y="1036129"/>
            <a:ext cx="10549214" cy="400110"/>
          </a:xfrm>
          <a:prstGeom prst="rect">
            <a:avLst/>
          </a:prstGeom>
          <a:noFill/>
        </p:spPr>
        <p:txBody>
          <a:bodyPr wrap="square" rtlCol="0">
            <a:spAutoFit/>
          </a:bodyPr>
          <a:lstStyle/>
          <a:p>
            <a:pPr defTabSz="609585">
              <a:defRPr/>
            </a:pPr>
            <a:r>
              <a:rPr lang="vi-VN" sz="2000" b="1">
                <a:solidFill>
                  <a:prstClr val="black"/>
                </a:solidFill>
                <a:latin typeface="Times New Roman" panose="02020603050405020304" pitchFamily="18" charset="0"/>
                <a:cs typeface="Times New Roman" panose="02020603050405020304" pitchFamily="18" charset="0"/>
              </a:rPr>
              <a:t>2.8. Thiết kế bộ điều khiển điện áp và dòng điện cho sơ đồ vòng kín trên miền liên tục</a:t>
            </a:r>
          </a:p>
        </p:txBody>
      </p:sp>
    </p:spTree>
    <p:extLst>
      <p:ext uri="{BB962C8B-B14F-4D97-AF65-F5344CB8AC3E}">
        <p14:creationId xmlns:p14="http://schemas.microsoft.com/office/powerpoint/2010/main" val="21644799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977E0-55B9-33CC-ACB0-A67AEA9EF105}"/>
            </a:ext>
          </a:extLst>
        </p:cNvPr>
        <p:cNvGrpSpPr/>
        <p:nvPr/>
      </p:nvGrpSpPr>
      <p:grpSpPr>
        <a:xfrm>
          <a:off x="0" y="0"/>
          <a:ext cx="0" cy="0"/>
          <a:chOff x="0" y="0"/>
          <a:chExt cx="0" cy="0"/>
        </a:xfrm>
      </p:grpSpPr>
      <p:pic>
        <p:nvPicPr>
          <p:cNvPr id="37" name="Hình ảnh 36">
            <a:extLst>
              <a:ext uri="{FF2B5EF4-FFF2-40B4-BE49-F238E27FC236}">
                <a16:creationId xmlns:a16="http://schemas.microsoft.com/office/drawing/2014/main" id="{A09E8B17-D366-DC94-E9B3-7B8AAEBCD581}"/>
              </a:ext>
            </a:extLst>
          </p:cNvPr>
          <p:cNvPicPr>
            <a:picLocks noChangeAspect="1"/>
          </p:cNvPicPr>
          <p:nvPr/>
        </p:nvPicPr>
        <p:blipFill>
          <a:blip r:embed="rId2"/>
          <a:stretch>
            <a:fillRect/>
          </a:stretch>
        </p:blipFill>
        <p:spPr>
          <a:xfrm>
            <a:off x="6604661" y="1717116"/>
            <a:ext cx="5503876" cy="2616435"/>
          </a:xfrm>
          <a:prstGeom prst="rect">
            <a:avLst/>
          </a:prstGeom>
        </p:spPr>
      </p:pic>
      <p:pic>
        <p:nvPicPr>
          <p:cNvPr id="19" name="Hình ảnh 18">
            <a:extLst>
              <a:ext uri="{FF2B5EF4-FFF2-40B4-BE49-F238E27FC236}">
                <a16:creationId xmlns:a16="http://schemas.microsoft.com/office/drawing/2014/main" id="{0BD95204-0A5D-7CCB-2B19-A2403606506C}"/>
              </a:ext>
            </a:extLst>
          </p:cNvPr>
          <p:cNvPicPr>
            <a:picLocks noChangeAspect="1"/>
          </p:cNvPicPr>
          <p:nvPr/>
        </p:nvPicPr>
        <p:blipFill>
          <a:blip r:embed="rId3"/>
          <a:stretch>
            <a:fillRect/>
          </a:stretch>
        </p:blipFill>
        <p:spPr>
          <a:xfrm>
            <a:off x="374949" y="4333551"/>
            <a:ext cx="11123146" cy="2507565"/>
          </a:xfrm>
          <a:prstGeom prst="rect">
            <a:avLst/>
          </a:prstGeom>
        </p:spPr>
      </p:pic>
      <p:grpSp>
        <p:nvGrpSpPr>
          <p:cNvPr id="2" name="Group 17">
            <a:extLst>
              <a:ext uri="{FF2B5EF4-FFF2-40B4-BE49-F238E27FC236}">
                <a16:creationId xmlns:a16="http://schemas.microsoft.com/office/drawing/2014/main" id="{B26C2477-63A7-C2A8-5F96-9A1E449AD8AF}"/>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7F79EC34-D247-3AA6-6879-27EB5BA2469F}"/>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EE8E65B9-A5D0-E1A1-01E2-54847BC73811}"/>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9" name="Hộp Văn bản 8">
            <a:extLst>
              <a:ext uri="{FF2B5EF4-FFF2-40B4-BE49-F238E27FC236}">
                <a16:creationId xmlns:a16="http://schemas.microsoft.com/office/drawing/2014/main" id="{9BD60136-9A2D-2E75-4352-B6EC69F89FF0}"/>
              </a:ext>
            </a:extLst>
          </p:cNvPr>
          <p:cNvSpPr txBox="1"/>
          <p:nvPr/>
        </p:nvSpPr>
        <p:spPr>
          <a:xfrm>
            <a:off x="374948" y="1497795"/>
            <a:ext cx="6094378" cy="369332"/>
          </a:xfrm>
          <a:prstGeom prst="rect">
            <a:avLst/>
          </a:prstGeom>
          <a:noFill/>
        </p:spPr>
        <p:txBody>
          <a:bodyPr wrap="square">
            <a:spAutoFit/>
          </a:bodyPr>
          <a:lstStyle/>
          <a:p>
            <a:r>
              <a:rPr lang="vi-VN" sz="1800">
                <a:latin typeface="Times New Roman" panose="02020603050405020304" pitchFamily="18" charset="0"/>
                <a:cs typeface="Times New Roman" panose="02020603050405020304" pitchFamily="18" charset="0"/>
              </a:rPr>
              <a:t>Sơ đồ 2 </a:t>
            </a:r>
            <a:r>
              <a:rPr lang="vi-VN" sz="1800" err="1">
                <a:latin typeface="Times New Roman" panose="02020603050405020304" pitchFamily="18" charset="0"/>
                <a:cs typeface="Times New Roman" panose="02020603050405020304" pitchFamily="18" charset="0"/>
              </a:rPr>
              <a:t>inverter</a:t>
            </a:r>
            <a:r>
              <a:rPr lang="vi-VN" sz="1800">
                <a:latin typeface="Times New Roman" panose="02020603050405020304" pitchFamily="18" charset="0"/>
                <a:cs typeface="Times New Roman" panose="02020603050405020304" pitchFamily="18" charset="0"/>
              </a:rPr>
              <a:t> làm việc song </a:t>
            </a:r>
            <a:r>
              <a:rPr lang="vi-VN" sz="1800" err="1">
                <a:latin typeface="Times New Roman" panose="02020603050405020304" pitchFamily="18" charset="0"/>
                <a:cs typeface="Times New Roman" panose="02020603050405020304" pitchFamily="18" charset="0"/>
              </a:rPr>
              <a:t>song</a:t>
            </a:r>
            <a:r>
              <a:rPr lang="vi-VN" sz="1800">
                <a:latin typeface="Times New Roman" panose="02020603050405020304" pitchFamily="18" charset="0"/>
                <a:cs typeface="Times New Roman" panose="02020603050405020304" pitchFamily="18" charset="0"/>
              </a:rPr>
              <a:t> trên </a:t>
            </a:r>
            <a:r>
              <a:rPr lang="vi-VN" sz="1800" err="1">
                <a:latin typeface="Times New Roman" panose="02020603050405020304" pitchFamily="18" charset="0"/>
                <a:cs typeface="Times New Roman" panose="02020603050405020304" pitchFamily="18" charset="0"/>
              </a:rPr>
              <a:t>Matlab</a:t>
            </a:r>
            <a:r>
              <a:rPr lang="vi-VN" sz="1800">
                <a:latin typeface="Times New Roman" panose="02020603050405020304" pitchFamily="18" charset="0"/>
                <a:cs typeface="Times New Roman" panose="02020603050405020304" pitchFamily="18" charset="0"/>
              </a:rPr>
              <a:t> </a:t>
            </a:r>
            <a:r>
              <a:rPr lang="vi-VN" sz="1800" err="1">
                <a:latin typeface="Times New Roman" panose="02020603050405020304" pitchFamily="18" charset="0"/>
                <a:cs typeface="Times New Roman" panose="02020603050405020304" pitchFamily="18" charset="0"/>
              </a:rPr>
              <a:t>Simulink</a:t>
            </a:r>
            <a:r>
              <a:rPr lang="vi-VN" sz="1800">
                <a:latin typeface="Times New Roman" panose="02020603050405020304" pitchFamily="18" charset="0"/>
                <a:cs typeface="Times New Roman" panose="02020603050405020304" pitchFamily="18" charset="0"/>
              </a:rPr>
              <a:t>:</a:t>
            </a:r>
            <a:endParaRPr lang="en-ID" sz="1800">
              <a:latin typeface="Times New Roman" panose="02020603050405020304" pitchFamily="18" charset="0"/>
              <a:cs typeface="Times New Roman" panose="02020603050405020304" pitchFamily="18" charset="0"/>
            </a:endParaRPr>
          </a:p>
        </p:txBody>
      </p:sp>
      <p:pic>
        <p:nvPicPr>
          <p:cNvPr id="12" name="Hình ảnh 8">
            <a:extLst>
              <a:ext uri="{FF2B5EF4-FFF2-40B4-BE49-F238E27FC236}">
                <a16:creationId xmlns:a16="http://schemas.microsoft.com/office/drawing/2014/main" id="{5B40E832-3D42-62E7-CB1E-A38E83E2A16C}"/>
              </a:ext>
            </a:extLst>
          </p:cNvPr>
          <p:cNvPicPr>
            <a:picLocks noChangeAspect="1"/>
          </p:cNvPicPr>
          <p:nvPr/>
        </p:nvPicPr>
        <p:blipFill>
          <a:blip r:embed="rId4"/>
          <a:stretch>
            <a:fillRect/>
          </a:stretch>
        </p:blipFill>
        <p:spPr>
          <a:xfrm>
            <a:off x="510284" y="1871843"/>
            <a:ext cx="4886110" cy="2633284"/>
          </a:xfrm>
          <a:prstGeom prst="rect">
            <a:avLst/>
          </a:prstGeom>
        </p:spPr>
      </p:pic>
      <p:cxnSp>
        <p:nvCxnSpPr>
          <p:cNvPr id="14" name="Đường kết nối Mũi tên Thẳng 13">
            <a:extLst>
              <a:ext uri="{FF2B5EF4-FFF2-40B4-BE49-F238E27FC236}">
                <a16:creationId xmlns:a16="http://schemas.microsoft.com/office/drawing/2014/main" id="{7B8D4176-AB16-0AC9-364E-D5E1199B5102}"/>
              </a:ext>
            </a:extLst>
          </p:cNvPr>
          <p:cNvCxnSpPr>
            <a:cxnSpLocks/>
          </p:cNvCxnSpPr>
          <p:nvPr/>
        </p:nvCxnSpPr>
        <p:spPr>
          <a:xfrm>
            <a:off x="2493121" y="3320059"/>
            <a:ext cx="7993296" cy="1396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Đường kết nối Mũi tên Thẳng 15">
            <a:extLst>
              <a:ext uri="{FF2B5EF4-FFF2-40B4-BE49-F238E27FC236}">
                <a16:creationId xmlns:a16="http://schemas.microsoft.com/office/drawing/2014/main" id="{3EC5C308-6E2C-5338-D8AC-0D92E6C8BA32}"/>
              </a:ext>
            </a:extLst>
          </p:cNvPr>
          <p:cNvCxnSpPr>
            <a:cxnSpLocks/>
          </p:cNvCxnSpPr>
          <p:nvPr/>
        </p:nvCxnSpPr>
        <p:spPr>
          <a:xfrm flipH="1">
            <a:off x="510284" y="3258766"/>
            <a:ext cx="1814627" cy="13289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Đường kết nối Mũi tên Thẳng 26">
            <a:extLst>
              <a:ext uri="{FF2B5EF4-FFF2-40B4-BE49-F238E27FC236}">
                <a16:creationId xmlns:a16="http://schemas.microsoft.com/office/drawing/2014/main" id="{9DF39884-BDB0-5FFB-ED29-129403E316B9}"/>
              </a:ext>
            </a:extLst>
          </p:cNvPr>
          <p:cNvCxnSpPr>
            <a:cxnSpLocks/>
          </p:cNvCxnSpPr>
          <p:nvPr/>
        </p:nvCxnSpPr>
        <p:spPr>
          <a:xfrm flipV="1">
            <a:off x="2101174" y="1928683"/>
            <a:ext cx="5205477" cy="6275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1" name="Đường kết nối Mũi tên Thẳng 30">
            <a:extLst>
              <a:ext uri="{FF2B5EF4-FFF2-40B4-BE49-F238E27FC236}">
                <a16:creationId xmlns:a16="http://schemas.microsoft.com/office/drawing/2014/main" id="{81A0B8FD-06FF-ED51-66BF-9D03F793C90C}"/>
              </a:ext>
            </a:extLst>
          </p:cNvPr>
          <p:cNvCxnSpPr>
            <a:cxnSpLocks/>
          </p:cNvCxnSpPr>
          <p:nvPr/>
        </p:nvCxnSpPr>
        <p:spPr>
          <a:xfrm>
            <a:off x="2101174" y="2259558"/>
            <a:ext cx="4805464" cy="139043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40" name="TextBox 23">
            <a:extLst>
              <a:ext uri="{FF2B5EF4-FFF2-40B4-BE49-F238E27FC236}">
                <a16:creationId xmlns:a16="http://schemas.microsoft.com/office/drawing/2014/main" id="{D04B702D-FC81-01DD-650C-149710E50BFF}"/>
              </a:ext>
            </a:extLst>
          </p:cNvPr>
          <p:cNvSpPr txBox="1"/>
          <p:nvPr/>
        </p:nvSpPr>
        <p:spPr>
          <a:xfrm>
            <a:off x="374948" y="1036129"/>
            <a:ext cx="10549214" cy="400110"/>
          </a:xfrm>
          <a:prstGeom prst="rect">
            <a:avLst/>
          </a:prstGeom>
          <a:noFill/>
        </p:spPr>
        <p:txBody>
          <a:bodyPr wrap="square" rtlCol="0">
            <a:spAutoFit/>
          </a:bodyPr>
          <a:lstStyle/>
          <a:p>
            <a:pPr defTabSz="609585">
              <a:defRPr/>
            </a:pPr>
            <a:r>
              <a:rPr lang="vi-VN" sz="2000" b="1">
                <a:solidFill>
                  <a:prstClr val="black"/>
                </a:solidFill>
                <a:latin typeface="Times New Roman" panose="02020603050405020304" pitchFamily="18" charset="0"/>
                <a:cs typeface="Times New Roman" panose="02020603050405020304" pitchFamily="18" charset="0"/>
              </a:rPr>
              <a:t>2.8. Thiết kế bộ điều khiển điện áp và dòng điện cho sơ đồ vòng kín trên miền liên tục</a:t>
            </a:r>
          </a:p>
        </p:txBody>
      </p:sp>
    </p:spTree>
    <p:extLst>
      <p:ext uri="{BB962C8B-B14F-4D97-AF65-F5344CB8AC3E}">
        <p14:creationId xmlns:p14="http://schemas.microsoft.com/office/powerpoint/2010/main" val="23533677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0583D-DADA-2A54-1F9A-D7FA8894BEB8}"/>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18195999-DB1D-BC04-D536-AED20A2B2805}"/>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5F954D56-A952-31E1-9700-C9DD853CB7AF}"/>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5D7A639B-6C08-36E2-B0FF-83DCF4B0FDC9}"/>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5" name="TextBox 23">
            <a:extLst>
              <a:ext uri="{FF2B5EF4-FFF2-40B4-BE49-F238E27FC236}">
                <a16:creationId xmlns:a16="http://schemas.microsoft.com/office/drawing/2014/main" id="{2F82CED9-2C12-F07B-964E-6117266CC703}"/>
              </a:ext>
            </a:extLst>
          </p:cNvPr>
          <p:cNvSpPr txBox="1"/>
          <p:nvPr/>
        </p:nvSpPr>
        <p:spPr>
          <a:xfrm>
            <a:off x="374948" y="1036129"/>
            <a:ext cx="10378208" cy="400110"/>
          </a:xfrm>
          <a:prstGeom prst="rect">
            <a:avLst/>
          </a:prstGeom>
          <a:noFill/>
        </p:spPr>
        <p:txBody>
          <a:bodyPr wrap="square" rtlCol="0">
            <a:spAutoFit/>
          </a:bodyPr>
          <a:lstStyle/>
          <a:p>
            <a:pPr defTabSz="609585">
              <a:defRPr/>
            </a:pPr>
            <a:r>
              <a:rPr lang="vi-VN" sz="2000" b="1">
                <a:solidFill>
                  <a:prstClr val="black"/>
                </a:solidFill>
                <a:latin typeface="Times New Roman" panose="02020603050405020304" pitchFamily="18" charset="0"/>
                <a:cs typeface="Times New Roman" panose="02020603050405020304" pitchFamily="18" charset="0"/>
              </a:rPr>
              <a:t>2.9. Thiết kế bộ điều khiển điện áp và dòng điện cho sơ đồ vòng kín trên miền rời rạc</a:t>
            </a:r>
          </a:p>
        </p:txBody>
      </p:sp>
      <p:sp>
        <p:nvSpPr>
          <p:cNvPr id="7" name="Hộp Văn bản 6">
            <a:extLst>
              <a:ext uri="{FF2B5EF4-FFF2-40B4-BE49-F238E27FC236}">
                <a16:creationId xmlns:a16="http://schemas.microsoft.com/office/drawing/2014/main" id="{728F303E-70B3-F032-0175-11C91E891B4D}"/>
              </a:ext>
            </a:extLst>
          </p:cNvPr>
          <p:cNvSpPr txBox="1"/>
          <p:nvPr/>
        </p:nvSpPr>
        <p:spPr>
          <a:xfrm>
            <a:off x="374948" y="1436239"/>
            <a:ext cx="4423654" cy="369332"/>
          </a:xfrm>
          <a:prstGeom prst="rect">
            <a:avLst/>
          </a:prstGeom>
          <a:noFill/>
        </p:spPr>
        <p:txBody>
          <a:bodyPr wrap="square">
            <a:spAutoFit/>
          </a:bodyPr>
          <a:lstStyle/>
          <a:p>
            <a:r>
              <a:rPr lang="vi-VN" sz="1800">
                <a:latin typeface="Times New Roman" panose="02020603050405020304" pitchFamily="18" charset="0"/>
                <a:cs typeface="Times New Roman" panose="02020603050405020304" pitchFamily="18" charset="0"/>
              </a:rPr>
              <a:t>Số hóa bộ điều khiển PR:</a:t>
            </a:r>
            <a:endParaRPr lang="en-ID" sz="1800">
              <a:latin typeface="Times New Roman" panose="02020603050405020304" pitchFamily="18" charset="0"/>
              <a:cs typeface="Times New Roman" panose="02020603050405020304" pitchFamily="18" charset="0"/>
            </a:endParaRPr>
          </a:p>
        </p:txBody>
      </p:sp>
      <p:pic>
        <p:nvPicPr>
          <p:cNvPr id="10" name="Hình ảnh 9" descr="Ảnh có chứa biểu đồ, Kế hoạch, Bản vẽ kỹ thuật, sơ đồ&#10;&#10;Mô tả được tạo tự động">
            <a:extLst>
              <a:ext uri="{FF2B5EF4-FFF2-40B4-BE49-F238E27FC236}">
                <a16:creationId xmlns:a16="http://schemas.microsoft.com/office/drawing/2014/main" id="{149C5272-AE6B-11CB-D3F7-58243D48D9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58114" y="1585610"/>
            <a:ext cx="6866047" cy="5074520"/>
          </a:xfrm>
          <a:prstGeom prst="rect">
            <a:avLst/>
          </a:prstGeom>
        </p:spPr>
      </p:pic>
    </p:spTree>
    <p:extLst>
      <p:ext uri="{BB962C8B-B14F-4D97-AF65-F5344CB8AC3E}">
        <p14:creationId xmlns:p14="http://schemas.microsoft.com/office/powerpoint/2010/main" val="11220224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47020-5C3D-AF37-8670-5DFA40B6EB94}"/>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E02E3A28-D7C3-C507-6F13-5DC7996D40FC}"/>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30B5A4A7-EB82-45BF-043B-4085ADFB32F0}"/>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A9E4B33F-EAD9-E5F4-12AD-76D69AA4649E}"/>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5" name="TextBox 23">
            <a:extLst>
              <a:ext uri="{FF2B5EF4-FFF2-40B4-BE49-F238E27FC236}">
                <a16:creationId xmlns:a16="http://schemas.microsoft.com/office/drawing/2014/main" id="{E2E4E1B8-AAE1-3A1C-0004-B8263C48789D}"/>
              </a:ext>
            </a:extLst>
          </p:cNvPr>
          <p:cNvSpPr txBox="1"/>
          <p:nvPr/>
        </p:nvSpPr>
        <p:spPr>
          <a:xfrm>
            <a:off x="374948" y="1036129"/>
            <a:ext cx="10378208" cy="400110"/>
          </a:xfrm>
          <a:prstGeom prst="rect">
            <a:avLst/>
          </a:prstGeom>
          <a:noFill/>
        </p:spPr>
        <p:txBody>
          <a:bodyPr wrap="square" rtlCol="0">
            <a:spAutoFit/>
          </a:bodyPr>
          <a:lstStyle/>
          <a:p>
            <a:pPr defTabSz="609585">
              <a:defRPr/>
            </a:pPr>
            <a:r>
              <a:rPr lang="vi-VN" sz="2000" b="1">
                <a:solidFill>
                  <a:prstClr val="black"/>
                </a:solidFill>
                <a:latin typeface="Times New Roman" panose="02020603050405020304" pitchFamily="18" charset="0"/>
                <a:cs typeface="Times New Roman" panose="02020603050405020304" pitchFamily="18" charset="0"/>
              </a:rPr>
              <a:t>2.9. Thiết kế bộ điều khiển điện áp và dòng điện cho sơ đồ vòng kín trên miền rời rạc</a:t>
            </a:r>
          </a:p>
        </p:txBody>
      </p:sp>
      <p:sp>
        <p:nvSpPr>
          <p:cNvPr id="6" name="TextBox 5">
            <a:extLst>
              <a:ext uri="{FF2B5EF4-FFF2-40B4-BE49-F238E27FC236}">
                <a16:creationId xmlns:a16="http://schemas.microsoft.com/office/drawing/2014/main" id="{BFB7E59B-C794-5EC9-2131-34DC18DFCC4E}"/>
              </a:ext>
            </a:extLst>
          </p:cNvPr>
          <p:cNvSpPr txBox="1"/>
          <p:nvPr/>
        </p:nvSpPr>
        <p:spPr>
          <a:xfrm>
            <a:off x="374948" y="1415592"/>
            <a:ext cx="2056973"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b="1" u="sng"/>
              <a:t>a. ADC </a:t>
            </a:r>
            <a:r>
              <a:rPr lang="vi-VN" b="1" u="sng" err="1"/>
              <a:t>converter</a:t>
            </a:r>
            <a:endParaRPr lang="vi-VN" b="1" u="sng"/>
          </a:p>
        </p:txBody>
      </p:sp>
      <p:pic>
        <p:nvPicPr>
          <p:cNvPr id="8" name="Picture 9" descr="A diagram of a converter&#10;&#10;Description automatically generated">
            <a:extLst>
              <a:ext uri="{FF2B5EF4-FFF2-40B4-BE49-F238E27FC236}">
                <a16:creationId xmlns:a16="http://schemas.microsoft.com/office/drawing/2014/main" id="{DA92F218-6897-CAE3-9A9A-6D7AC533D8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947" y="2485642"/>
            <a:ext cx="5950283" cy="2329591"/>
          </a:xfrm>
          <a:prstGeom prst="rect">
            <a:avLst/>
          </a:prstGeom>
        </p:spPr>
      </p:pic>
      <p:sp>
        <p:nvSpPr>
          <p:cNvPr id="9" name="TextBox 2">
            <a:extLst>
              <a:ext uri="{FF2B5EF4-FFF2-40B4-BE49-F238E27FC236}">
                <a16:creationId xmlns:a16="http://schemas.microsoft.com/office/drawing/2014/main" id="{FEF17214-F233-1B5E-5CE7-2C6AAA7831FA}"/>
              </a:ext>
            </a:extLst>
          </p:cNvPr>
          <p:cNvSpPr txBox="1"/>
          <p:nvPr/>
        </p:nvSpPr>
        <p:spPr>
          <a:xfrm>
            <a:off x="6865562" y="2431593"/>
            <a:ext cx="3286797"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buFont typeface="Arial" panose="020B0604020202020204" pitchFamily="34" charset="0"/>
              <a:buChar char="•"/>
            </a:pPr>
            <a:r>
              <a:rPr lang="vi-VN"/>
              <a:t>Bỏ qua khâu trễ của tín hiệu</a:t>
            </a:r>
          </a:p>
        </p:txBody>
      </p:sp>
      <p:sp>
        <p:nvSpPr>
          <p:cNvPr id="10" name="TextBox 3">
            <a:extLst>
              <a:ext uri="{FF2B5EF4-FFF2-40B4-BE49-F238E27FC236}">
                <a16:creationId xmlns:a16="http://schemas.microsoft.com/office/drawing/2014/main" id="{776A6009-D193-8B91-DB75-D7AAB5F4C10B}"/>
              </a:ext>
            </a:extLst>
          </p:cNvPr>
          <p:cNvSpPr txBox="1"/>
          <p:nvPr/>
        </p:nvSpPr>
        <p:spPr>
          <a:xfrm>
            <a:off x="6865562" y="2908175"/>
            <a:ext cx="4516871" cy="92333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buFont typeface="Arial" panose="020B0604020202020204" pitchFamily="34" charset="0"/>
              <a:buChar char="•"/>
            </a:pPr>
            <a:r>
              <a:rPr lang="vi-VN"/>
              <a:t>ZOH (</a:t>
            </a:r>
            <a:r>
              <a:rPr lang="vi-VN" err="1"/>
              <a:t>Zero-Order-Hold</a:t>
            </a:r>
            <a:r>
              <a:rPr lang="vi-VN"/>
              <a:t>): chuyển đổi tín hiệu từ miền liên tục sang miền rời rạc theo một chu kỳ lấy mẫu xác định.</a:t>
            </a:r>
          </a:p>
        </p:txBody>
      </p:sp>
      <p:sp>
        <p:nvSpPr>
          <p:cNvPr id="11" name="TextBox 6">
            <a:extLst>
              <a:ext uri="{FF2B5EF4-FFF2-40B4-BE49-F238E27FC236}">
                <a16:creationId xmlns:a16="http://schemas.microsoft.com/office/drawing/2014/main" id="{856A25A8-4D1A-1D87-3700-66B5637A6998}"/>
              </a:ext>
            </a:extLst>
          </p:cNvPr>
          <p:cNvSpPr txBox="1"/>
          <p:nvPr/>
        </p:nvSpPr>
        <p:spPr>
          <a:xfrm>
            <a:off x="6865562" y="3861266"/>
            <a:ext cx="4379611" cy="92333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buFont typeface="Arial" panose="020B0604020202020204" pitchFamily="34" charset="0"/>
              <a:buChar char="•"/>
            </a:pPr>
            <a:r>
              <a:rPr lang="vi-VN"/>
              <a:t>Khâu lượng tử hóa: mô hình hóa sự mất mát thông tin trong một quá trình rời rạc hóa</a:t>
            </a:r>
          </a:p>
        </p:txBody>
      </p:sp>
      <p:sp>
        <p:nvSpPr>
          <p:cNvPr id="12" name="TextBox 8">
            <a:extLst>
              <a:ext uri="{FF2B5EF4-FFF2-40B4-BE49-F238E27FC236}">
                <a16:creationId xmlns:a16="http://schemas.microsoft.com/office/drawing/2014/main" id="{23575AA0-EE0B-FC4D-E445-FDBEF1FC6AB8}"/>
              </a:ext>
            </a:extLst>
          </p:cNvPr>
          <p:cNvSpPr txBox="1"/>
          <p:nvPr/>
        </p:nvSpPr>
        <p:spPr>
          <a:xfrm>
            <a:off x="6865562" y="4814358"/>
            <a:ext cx="4113947"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buFont typeface="Arial" panose="020B0604020202020204" pitchFamily="34" charset="0"/>
              <a:buChar char="•"/>
            </a:pPr>
            <a:r>
              <a:rPr lang="vi-VN"/>
              <a:t>Khâu giới hạn: giúp giới hạn tín hiệu</a:t>
            </a:r>
          </a:p>
        </p:txBody>
      </p:sp>
    </p:spTree>
    <p:extLst>
      <p:ext uri="{BB962C8B-B14F-4D97-AF65-F5344CB8AC3E}">
        <p14:creationId xmlns:p14="http://schemas.microsoft.com/office/powerpoint/2010/main" val="18649638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7C70D-C8CF-AB3D-0D1C-190F0846510A}"/>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0A38CA0A-A4A5-E63C-0C89-00DD98C7C460}"/>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876ED00E-4806-AE88-7032-74961E6C62E3}"/>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FA97895E-D3FB-0512-0EF9-DD2880363784}"/>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5" name="TextBox 23">
            <a:extLst>
              <a:ext uri="{FF2B5EF4-FFF2-40B4-BE49-F238E27FC236}">
                <a16:creationId xmlns:a16="http://schemas.microsoft.com/office/drawing/2014/main" id="{91524707-E22C-DB1F-1C98-848D36B03093}"/>
              </a:ext>
            </a:extLst>
          </p:cNvPr>
          <p:cNvSpPr txBox="1"/>
          <p:nvPr/>
        </p:nvSpPr>
        <p:spPr>
          <a:xfrm>
            <a:off x="374948" y="1036129"/>
            <a:ext cx="10378208" cy="400110"/>
          </a:xfrm>
          <a:prstGeom prst="rect">
            <a:avLst/>
          </a:prstGeom>
          <a:noFill/>
        </p:spPr>
        <p:txBody>
          <a:bodyPr wrap="square" rtlCol="0">
            <a:spAutoFit/>
          </a:bodyPr>
          <a:lstStyle/>
          <a:p>
            <a:pPr defTabSz="609585">
              <a:defRPr/>
            </a:pPr>
            <a:r>
              <a:rPr lang="vi-VN" sz="2000" b="1">
                <a:solidFill>
                  <a:prstClr val="black"/>
                </a:solidFill>
                <a:latin typeface="Times New Roman" panose="02020603050405020304" pitchFamily="18" charset="0"/>
                <a:cs typeface="Times New Roman" panose="02020603050405020304" pitchFamily="18" charset="0"/>
              </a:rPr>
              <a:t>2.9. Thiết kế bộ điều khiển điện áp và dòng điện cho sơ đồ vòng kín trên miền rời rạc</a:t>
            </a:r>
          </a:p>
        </p:txBody>
      </p:sp>
      <p:pic>
        <p:nvPicPr>
          <p:cNvPr id="6" name="Picture 6">
            <a:extLst>
              <a:ext uri="{FF2B5EF4-FFF2-40B4-BE49-F238E27FC236}">
                <a16:creationId xmlns:a16="http://schemas.microsoft.com/office/drawing/2014/main" id="{3BE70048-D871-0576-79FD-851036BBB9B9}"/>
              </a:ext>
            </a:extLst>
          </p:cNvPr>
          <p:cNvPicPr>
            <a:picLocks noChangeAspect="1"/>
          </p:cNvPicPr>
          <p:nvPr/>
        </p:nvPicPr>
        <p:blipFill>
          <a:blip r:embed="rId2"/>
          <a:stretch>
            <a:fillRect/>
          </a:stretch>
        </p:blipFill>
        <p:spPr>
          <a:xfrm>
            <a:off x="226727" y="2559317"/>
            <a:ext cx="5919489" cy="2404194"/>
          </a:xfrm>
          <a:prstGeom prst="rect">
            <a:avLst/>
          </a:prstGeom>
        </p:spPr>
      </p:pic>
      <p:sp>
        <p:nvSpPr>
          <p:cNvPr id="7" name="TextBox 7">
            <a:extLst>
              <a:ext uri="{FF2B5EF4-FFF2-40B4-BE49-F238E27FC236}">
                <a16:creationId xmlns:a16="http://schemas.microsoft.com/office/drawing/2014/main" id="{B64010B1-91B9-2F7F-21BF-0BB8BEB33CCE}"/>
              </a:ext>
            </a:extLst>
          </p:cNvPr>
          <p:cNvSpPr txBox="1"/>
          <p:nvPr/>
        </p:nvSpPr>
        <p:spPr>
          <a:xfrm>
            <a:off x="374948" y="1436239"/>
            <a:ext cx="1787669"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b="1" u="sng"/>
              <a:t>b. </a:t>
            </a:r>
            <a:r>
              <a:rPr lang="vi-VN" b="1" u="sng" err="1"/>
              <a:t>Digital</a:t>
            </a:r>
            <a:r>
              <a:rPr lang="vi-VN" b="1" u="sng"/>
              <a:t> PWM</a:t>
            </a:r>
          </a:p>
        </p:txBody>
      </p:sp>
      <p:sp>
        <p:nvSpPr>
          <p:cNvPr id="8" name="TextBox 2">
            <a:extLst>
              <a:ext uri="{FF2B5EF4-FFF2-40B4-BE49-F238E27FC236}">
                <a16:creationId xmlns:a16="http://schemas.microsoft.com/office/drawing/2014/main" id="{578EA0E0-0CDF-BD50-CA20-7506095B2640}"/>
              </a:ext>
            </a:extLst>
          </p:cNvPr>
          <p:cNvSpPr txBox="1"/>
          <p:nvPr/>
        </p:nvSpPr>
        <p:spPr>
          <a:xfrm>
            <a:off x="6920265" y="2692095"/>
            <a:ext cx="4902557"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vi-VN"/>
              <a:t>Đầu vào khâu Digital PWM đã là tín hiệu số, tương tự như khâu ADC</a:t>
            </a:r>
          </a:p>
        </p:txBody>
      </p:sp>
      <p:sp>
        <p:nvSpPr>
          <p:cNvPr id="9" name="Arrow: Right 3">
            <a:extLst>
              <a:ext uri="{FF2B5EF4-FFF2-40B4-BE49-F238E27FC236}">
                <a16:creationId xmlns:a16="http://schemas.microsoft.com/office/drawing/2014/main" id="{585DBC83-4521-C9D3-AC4F-8657C739372E}"/>
              </a:ext>
            </a:extLst>
          </p:cNvPr>
          <p:cNvSpPr/>
          <p:nvPr/>
        </p:nvSpPr>
        <p:spPr>
          <a:xfrm>
            <a:off x="7050893" y="3742562"/>
            <a:ext cx="317241" cy="2146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a:p>
        </p:txBody>
      </p:sp>
      <p:sp>
        <p:nvSpPr>
          <p:cNvPr id="10" name="TextBox 5">
            <a:extLst>
              <a:ext uri="{FF2B5EF4-FFF2-40B4-BE49-F238E27FC236}">
                <a16:creationId xmlns:a16="http://schemas.microsoft.com/office/drawing/2014/main" id="{593DD1AB-4246-0305-9A6F-B77D4B65B438}"/>
              </a:ext>
            </a:extLst>
          </p:cNvPr>
          <p:cNvSpPr txBox="1"/>
          <p:nvPr/>
        </p:nvSpPr>
        <p:spPr>
          <a:xfrm>
            <a:off x="7489432" y="3665198"/>
            <a:ext cx="4089581"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a:t>Bỏ qua khâu lượng tử hóa và giới hạn</a:t>
            </a:r>
          </a:p>
        </p:txBody>
      </p:sp>
      <mc:AlternateContent xmlns:mc="http://schemas.openxmlformats.org/markup-compatibility/2006" xmlns:a14="http://schemas.microsoft.com/office/drawing/2010/main">
        <mc:Choice Requires="a14">
          <p:sp>
            <p:nvSpPr>
              <p:cNvPr id="11" name="TextBox 8">
                <a:extLst>
                  <a:ext uri="{FF2B5EF4-FFF2-40B4-BE49-F238E27FC236}">
                    <a16:creationId xmlns:a16="http://schemas.microsoft.com/office/drawing/2014/main" id="{003B0ECC-D6C7-8915-C89E-2B46914C3D6F}"/>
                  </a:ext>
                </a:extLst>
              </p:cNvPr>
              <p:cNvSpPr txBox="1"/>
              <p:nvPr/>
            </p:nvSpPr>
            <p:spPr>
              <a:xfrm>
                <a:off x="7489432" y="4361302"/>
                <a:ext cx="4475841"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a:t>Chỉ cần khâu PWM với chu kì lấy mẫu </a:t>
                </a:r>
                <a14:m>
                  <m:oMath xmlns:m="http://schemas.openxmlformats.org/officeDocument/2006/math">
                    <m:sSub>
                      <m:sSubPr>
                        <m:ctrlPr>
                          <a:rPr lang="vi-VN" i="1">
                            <a:solidFill>
                              <a:srgbClr val="836967"/>
                            </a:solidFill>
                            <a:latin typeface="Cambria Math" panose="02040503050406030204" pitchFamily="18" charset="0"/>
                          </a:rPr>
                        </m:ctrlPr>
                      </m:sSubPr>
                      <m:e>
                        <m:r>
                          <m:rPr>
                            <m:sty m:val="p"/>
                          </m:rPr>
                          <a:rPr lang="vi-VN" i="1">
                            <a:solidFill>
                              <a:srgbClr val="836967"/>
                            </a:solidFill>
                            <a:latin typeface="Cambria Math" panose="02040503050406030204" pitchFamily="18" charset="0"/>
                          </a:rPr>
                          <m:t>T</m:t>
                        </m:r>
                      </m:e>
                      <m:sub>
                        <m:r>
                          <m:rPr>
                            <m:sty m:val="p"/>
                          </m:rPr>
                          <a:rPr lang="vi-VN" i="1" smtClean="0">
                            <a:latin typeface="Cambria Math" panose="02040503050406030204" pitchFamily="18" charset="0"/>
                          </a:rPr>
                          <m:t>s</m:t>
                        </m:r>
                      </m:sub>
                    </m:sSub>
                  </m:oMath>
                </a14:m>
                <a:endParaRPr lang="vi-VN"/>
              </a:p>
            </p:txBody>
          </p:sp>
        </mc:Choice>
        <mc:Fallback xmlns="">
          <p:sp>
            <p:nvSpPr>
              <p:cNvPr id="11" name="TextBox 8">
                <a:extLst>
                  <a:ext uri="{FF2B5EF4-FFF2-40B4-BE49-F238E27FC236}">
                    <a16:creationId xmlns:a16="http://schemas.microsoft.com/office/drawing/2014/main" id="{003B0ECC-D6C7-8915-C89E-2B46914C3D6F}"/>
                  </a:ext>
                </a:extLst>
              </p:cNvPr>
              <p:cNvSpPr txBox="1">
                <a:spLocks noRot="1" noChangeAspect="1" noMove="1" noResize="1" noEditPoints="1" noAdjustHandles="1" noChangeArrowheads="1" noChangeShapeType="1" noTextEdit="1"/>
              </p:cNvSpPr>
              <p:nvPr/>
            </p:nvSpPr>
            <p:spPr>
              <a:xfrm>
                <a:off x="7489432" y="4361302"/>
                <a:ext cx="4475841" cy="369332"/>
              </a:xfrm>
              <a:prstGeom prst="rect">
                <a:avLst/>
              </a:prstGeom>
              <a:blipFill>
                <a:blip r:embed="rId3"/>
                <a:stretch>
                  <a:fillRect l="-1226" t="-8197" b="-24590"/>
                </a:stretch>
              </a:blipFill>
            </p:spPr>
            <p:txBody>
              <a:bodyPr/>
              <a:lstStyle/>
              <a:p>
                <a:r>
                  <a:rPr lang="vi-VN">
                    <a:noFill/>
                  </a:rPr>
                  <a:t> </a:t>
                </a:r>
              </a:p>
            </p:txBody>
          </p:sp>
        </mc:Fallback>
      </mc:AlternateContent>
      <p:sp>
        <p:nvSpPr>
          <p:cNvPr id="12" name="Arrow: Right 10">
            <a:extLst>
              <a:ext uri="{FF2B5EF4-FFF2-40B4-BE49-F238E27FC236}">
                <a16:creationId xmlns:a16="http://schemas.microsoft.com/office/drawing/2014/main" id="{369A4169-B5DC-7665-8176-A0859B6D0734}"/>
              </a:ext>
            </a:extLst>
          </p:cNvPr>
          <p:cNvSpPr/>
          <p:nvPr/>
        </p:nvSpPr>
        <p:spPr>
          <a:xfrm>
            <a:off x="7044672" y="4456365"/>
            <a:ext cx="317241" cy="2146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a:p>
        </p:txBody>
      </p:sp>
    </p:spTree>
    <p:extLst>
      <p:ext uri="{BB962C8B-B14F-4D97-AF65-F5344CB8AC3E}">
        <p14:creationId xmlns:p14="http://schemas.microsoft.com/office/powerpoint/2010/main" val="31085498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90016-CD3E-7FE4-8ECF-6E1512D066F8}"/>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208D86A6-8E65-02E2-4DF2-BFACF0AC9A31}"/>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FC366F66-9F3D-4EE4-DFC9-0B7C96465F22}"/>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5AC8D131-6F79-06EB-A091-8C9FA62DF17C}"/>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5" name="TextBox 23">
            <a:extLst>
              <a:ext uri="{FF2B5EF4-FFF2-40B4-BE49-F238E27FC236}">
                <a16:creationId xmlns:a16="http://schemas.microsoft.com/office/drawing/2014/main" id="{97D69CA7-8EF0-7684-4737-BCCF1C4545C5}"/>
              </a:ext>
            </a:extLst>
          </p:cNvPr>
          <p:cNvSpPr txBox="1"/>
          <p:nvPr/>
        </p:nvSpPr>
        <p:spPr>
          <a:xfrm>
            <a:off x="374948" y="1036129"/>
            <a:ext cx="10378208" cy="400110"/>
          </a:xfrm>
          <a:prstGeom prst="rect">
            <a:avLst/>
          </a:prstGeom>
          <a:noFill/>
        </p:spPr>
        <p:txBody>
          <a:bodyPr wrap="square" rtlCol="0">
            <a:spAutoFit/>
          </a:bodyPr>
          <a:lstStyle/>
          <a:p>
            <a:pPr defTabSz="609585">
              <a:defRPr/>
            </a:pPr>
            <a:r>
              <a:rPr lang="vi-VN" sz="2000" b="1">
                <a:solidFill>
                  <a:prstClr val="black"/>
                </a:solidFill>
                <a:latin typeface="Times New Roman" panose="02020603050405020304" pitchFamily="18" charset="0"/>
                <a:cs typeface="Times New Roman" panose="02020603050405020304" pitchFamily="18" charset="0"/>
              </a:rPr>
              <a:t>2.9. Thiết kế bộ điều khiển điện áp và dòng điện cho sơ đồ vòng kín trên miền rời rạc</a:t>
            </a:r>
          </a:p>
        </p:txBody>
      </p:sp>
      <p:sp>
        <p:nvSpPr>
          <p:cNvPr id="6" name="TextBox 5">
            <a:extLst>
              <a:ext uri="{FF2B5EF4-FFF2-40B4-BE49-F238E27FC236}">
                <a16:creationId xmlns:a16="http://schemas.microsoft.com/office/drawing/2014/main" id="{57BF7212-3481-E559-AC16-B91447B9E919}"/>
              </a:ext>
            </a:extLst>
          </p:cNvPr>
          <p:cNvSpPr txBox="1"/>
          <p:nvPr/>
        </p:nvSpPr>
        <p:spPr>
          <a:xfrm>
            <a:off x="374948" y="1392368"/>
            <a:ext cx="3147015"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b="1" u="sng"/>
              <a:t>c. Số hóa bộ điều khiển PR</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15D9996-60E8-B44F-A8C8-DB6388DCE52E}"/>
                  </a:ext>
                </a:extLst>
              </p:cNvPr>
              <p:cNvSpPr txBox="1"/>
              <p:nvPr/>
            </p:nvSpPr>
            <p:spPr>
              <a:xfrm>
                <a:off x="431945" y="1947668"/>
                <a:ext cx="4794133" cy="52527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vi-VN"/>
                  <a:t>Thỏa mãn điều kiện </a:t>
                </a:r>
                <a14:m>
                  <m:oMath xmlns:m="http://schemas.openxmlformats.org/officeDocument/2006/math">
                    <m:f>
                      <m:fPr>
                        <m:ctrlPr>
                          <a:rPr lang="vi-VN" i="1">
                            <a:solidFill>
                              <a:srgbClr val="836967"/>
                            </a:solidFill>
                            <a:latin typeface="Cambria Math" panose="02040503050406030204" pitchFamily="18" charset="0"/>
                          </a:rPr>
                        </m:ctrlPr>
                      </m:fPr>
                      <m:num>
                        <m:sSub>
                          <m:sSubPr>
                            <m:ctrlPr>
                              <a:rPr lang="vi-VN" i="1">
                                <a:latin typeface="Cambria Math" panose="02040503050406030204" pitchFamily="18" charset="0"/>
                              </a:rPr>
                            </m:ctrlPr>
                          </m:sSubPr>
                          <m:e>
                            <m:r>
                              <a:rPr lang="vi-VN" i="1">
                                <a:latin typeface="Cambria Math" panose="02040503050406030204" pitchFamily="18" charset="0"/>
                              </a:rPr>
                              <m:t>𝑓</m:t>
                            </m:r>
                          </m:e>
                          <m:sub>
                            <m:r>
                              <a:rPr lang="vi-VN" i="1" smtClean="0">
                                <a:latin typeface="Cambria Math" panose="02040503050406030204" pitchFamily="18" charset="0"/>
                              </a:rPr>
                              <m:t>𝑠𝑤</m:t>
                            </m:r>
                          </m:sub>
                        </m:sSub>
                      </m:num>
                      <m:den>
                        <m:r>
                          <a:rPr lang="vi-VN" i="1" smtClean="0">
                            <a:latin typeface="Cambria Math" panose="02040503050406030204" pitchFamily="18" charset="0"/>
                          </a:rPr>
                          <m:t>𝑓</m:t>
                        </m:r>
                      </m:den>
                    </m:f>
                    <m:r>
                      <a:rPr lang="vi-VN" b="0" i="1" smtClean="0">
                        <a:latin typeface="Cambria Math" panose="02040503050406030204" pitchFamily="18" charset="0"/>
                      </a:rPr>
                      <m:t>=</m:t>
                    </m:r>
                    <m:f>
                      <m:fPr>
                        <m:ctrlPr>
                          <a:rPr lang="vi-VN" i="1">
                            <a:solidFill>
                              <a:srgbClr val="836967"/>
                            </a:solidFill>
                            <a:latin typeface="Cambria Math" panose="02040503050406030204" pitchFamily="18" charset="0"/>
                          </a:rPr>
                        </m:ctrlPr>
                      </m:fPr>
                      <m:num>
                        <m:r>
                          <a:rPr lang="vi-VN" i="1">
                            <a:solidFill>
                              <a:srgbClr val="836967"/>
                            </a:solidFill>
                            <a:latin typeface="Cambria Math" panose="02040503050406030204" pitchFamily="18" charset="0"/>
                          </a:rPr>
                          <m:t>5000</m:t>
                        </m:r>
                      </m:num>
                      <m:den>
                        <m:r>
                          <a:rPr lang="vi-VN" i="1" smtClean="0">
                            <a:latin typeface="Cambria Math" panose="02040503050406030204" pitchFamily="18" charset="0"/>
                          </a:rPr>
                          <m:t>50</m:t>
                        </m:r>
                      </m:den>
                    </m:f>
                    <m:r>
                      <a:rPr lang="vi-VN" b="0" i="1" smtClean="0">
                        <a:latin typeface="Cambria Math" panose="02040503050406030204" pitchFamily="18" charset="0"/>
                      </a:rPr>
                      <m:t>=</m:t>
                    </m:r>
                    <m:r>
                      <a:rPr lang="vi-VN" i="1">
                        <a:latin typeface="Cambria Math" panose="02040503050406030204" pitchFamily="18" charset="0"/>
                      </a:rPr>
                      <m:t>100</m:t>
                    </m:r>
                  </m:oMath>
                </a14:m>
                <a:r>
                  <a:rPr lang="vi-VN" i="1"/>
                  <a:t> &gt; 10 </a:t>
                </a:r>
              </a:p>
            </p:txBody>
          </p:sp>
        </mc:Choice>
        <mc:Fallback xmlns="">
          <p:sp>
            <p:nvSpPr>
              <p:cNvPr id="7" name="TextBox 6">
                <a:extLst>
                  <a:ext uri="{FF2B5EF4-FFF2-40B4-BE49-F238E27FC236}">
                    <a16:creationId xmlns:a16="http://schemas.microsoft.com/office/drawing/2014/main" id="{015D9996-60E8-B44F-A8C8-DB6388DCE52E}"/>
                  </a:ext>
                </a:extLst>
              </p:cNvPr>
              <p:cNvSpPr txBox="1">
                <a:spLocks noRot="1" noChangeAspect="1" noMove="1" noResize="1" noEditPoints="1" noAdjustHandles="1" noChangeArrowheads="1" noChangeShapeType="1" noTextEdit="1"/>
              </p:cNvSpPr>
              <p:nvPr/>
            </p:nvSpPr>
            <p:spPr>
              <a:xfrm>
                <a:off x="431945" y="1947668"/>
                <a:ext cx="4794133" cy="525272"/>
              </a:xfrm>
              <a:prstGeom prst="rect">
                <a:avLst/>
              </a:prstGeom>
              <a:blipFill>
                <a:blip r:embed="rId2"/>
                <a:stretch>
                  <a:fillRect l="-891" r="-127" b="-5747"/>
                </a:stretch>
              </a:blipFill>
            </p:spPr>
            <p:txBody>
              <a:bodyPr/>
              <a:lstStyle/>
              <a:p>
                <a:r>
                  <a:rPr lang="vi-VN">
                    <a:noFill/>
                  </a:rPr>
                  <a:t> </a:t>
                </a:r>
              </a:p>
            </p:txBody>
          </p:sp>
        </mc:Fallback>
      </mc:AlternateContent>
      <p:sp>
        <p:nvSpPr>
          <p:cNvPr id="8" name="TextBox 7">
            <a:extLst>
              <a:ext uri="{FF2B5EF4-FFF2-40B4-BE49-F238E27FC236}">
                <a16:creationId xmlns:a16="http://schemas.microsoft.com/office/drawing/2014/main" id="{ED3923B0-4C09-6BC1-BA20-71E6BE0CBC03}"/>
              </a:ext>
            </a:extLst>
          </p:cNvPr>
          <p:cNvSpPr txBox="1"/>
          <p:nvPr/>
        </p:nvSpPr>
        <p:spPr>
          <a:xfrm>
            <a:off x="6066333" y="2025638"/>
            <a:ext cx="493495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a:t>Chọn phương pháp gián đoạn hóa Tustin</a:t>
            </a:r>
          </a:p>
        </p:txBody>
      </p:sp>
      <p:sp>
        <p:nvSpPr>
          <p:cNvPr id="9" name="Arrow: Right 8">
            <a:extLst>
              <a:ext uri="{FF2B5EF4-FFF2-40B4-BE49-F238E27FC236}">
                <a16:creationId xmlns:a16="http://schemas.microsoft.com/office/drawing/2014/main" id="{8F795B7D-429E-60CE-7AF7-4A3D8B85EAA9}"/>
              </a:ext>
            </a:extLst>
          </p:cNvPr>
          <p:cNvSpPr/>
          <p:nvPr/>
        </p:nvSpPr>
        <p:spPr>
          <a:xfrm flipV="1">
            <a:off x="5683777" y="2117971"/>
            <a:ext cx="382556" cy="18466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a:p>
        </p:txBody>
      </p:sp>
      <p:sp>
        <p:nvSpPr>
          <p:cNvPr id="10" name="TextBox 9">
            <a:extLst>
              <a:ext uri="{FF2B5EF4-FFF2-40B4-BE49-F238E27FC236}">
                <a16:creationId xmlns:a16="http://schemas.microsoft.com/office/drawing/2014/main" id="{EC37BA7C-3D87-5665-E0A0-525393E9554A}"/>
              </a:ext>
            </a:extLst>
          </p:cNvPr>
          <p:cNvSpPr txBox="1"/>
          <p:nvPr/>
        </p:nvSpPr>
        <p:spPr>
          <a:xfrm>
            <a:off x="431945" y="2600303"/>
            <a:ext cx="5086714"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vi-VN"/>
              <a:t> Tustin là phương pháp tích phân hình thang:</a:t>
            </a:r>
          </a:p>
        </p:txBody>
      </p:sp>
      <p:sp>
        <p:nvSpPr>
          <p:cNvPr id="11" name="TextBox 13">
            <a:extLst>
              <a:ext uri="{FF2B5EF4-FFF2-40B4-BE49-F238E27FC236}">
                <a16:creationId xmlns:a16="http://schemas.microsoft.com/office/drawing/2014/main" id="{0B420E6F-866F-5630-E564-956C3F819ED9}"/>
              </a:ext>
            </a:extLst>
          </p:cNvPr>
          <p:cNvSpPr txBox="1"/>
          <p:nvPr/>
        </p:nvSpPr>
        <p:spPr>
          <a:xfrm>
            <a:off x="809933" y="3096998"/>
            <a:ext cx="4630315"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a:t>Diện tích dưới đường cong được xấp xỉ bằng tổng diện tích các hình thang</a:t>
            </a:r>
          </a:p>
        </p:txBody>
      </p:sp>
      <p:pic>
        <p:nvPicPr>
          <p:cNvPr id="12" name="Picture 16" descr="A graph with a line and text&#10;&#10;Description automatically generated with medium confidence">
            <a:extLst>
              <a:ext uri="{FF2B5EF4-FFF2-40B4-BE49-F238E27FC236}">
                <a16:creationId xmlns:a16="http://schemas.microsoft.com/office/drawing/2014/main" id="{73C7E645-8E02-0412-9A71-ED977BCBCD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3201" y="2777026"/>
            <a:ext cx="4155343" cy="2766338"/>
          </a:xfrm>
          <a:prstGeom prst="rect">
            <a:avLst/>
          </a:prstGeom>
        </p:spPr>
      </p:pic>
      <p:sp>
        <p:nvSpPr>
          <p:cNvPr id="13" name="TextBox 17">
            <a:extLst>
              <a:ext uri="{FF2B5EF4-FFF2-40B4-BE49-F238E27FC236}">
                <a16:creationId xmlns:a16="http://schemas.microsoft.com/office/drawing/2014/main" id="{2A29187C-8CF7-EDE7-7E2F-3E60E9414F91}"/>
              </a:ext>
            </a:extLst>
          </p:cNvPr>
          <p:cNvSpPr txBox="1"/>
          <p:nvPr/>
        </p:nvSpPr>
        <p:spPr>
          <a:xfrm>
            <a:off x="431945" y="3879039"/>
            <a:ext cx="140936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vi-VN"/>
              <a:t>Như vậy:</a:t>
            </a:r>
          </a:p>
        </p:txBody>
      </p:sp>
      <mc:AlternateContent xmlns:mc="http://schemas.openxmlformats.org/markup-compatibility/2006" xmlns:a14="http://schemas.microsoft.com/office/drawing/2010/main">
        <mc:Choice Requires="a14">
          <p:sp>
            <p:nvSpPr>
              <p:cNvPr id="14" name="TextBox 18">
                <a:extLst>
                  <a:ext uri="{FF2B5EF4-FFF2-40B4-BE49-F238E27FC236}">
                    <a16:creationId xmlns:a16="http://schemas.microsoft.com/office/drawing/2014/main" id="{CF97ED49-D5C7-6B6F-66B9-81403592162A}"/>
                  </a:ext>
                </a:extLst>
              </p:cNvPr>
              <p:cNvSpPr txBox="1"/>
              <p:nvPr/>
            </p:nvSpPr>
            <p:spPr>
              <a:xfrm>
                <a:off x="1321450" y="4435333"/>
                <a:ext cx="3015121" cy="722442"/>
              </a:xfrm>
              <a:prstGeom prst="rect">
                <a:avLst/>
              </a:prstGeom>
              <a:noFill/>
              <a:ln w="12700">
                <a:solidFill>
                  <a:schemeClr val="tx1"/>
                </a:solidFill>
              </a:ln>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
                      <m:r>
                        <a:rPr lang="vi-VN" sz="2000" i="1" smtClean="0">
                          <a:latin typeface="Cambria Math" panose="02040503050406030204" pitchFamily="18" charset="0"/>
                        </a:rPr>
                        <m:t>𝑠</m:t>
                      </m:r>
                      <m:r>
                        <a:rPr lang="vi-VN" sz="2000" i="0">
                          <a:latin typeface="Cambria Math" panose="02040503050406030204" pitchFamily="18" charset="0"/>
                        </a:rPr>
                        <m:t>=</m:t>
                      </m:r>
                      <m:f>
                        <m:fPr>
                          <m:ctrlPr>
                            <a:rPr lang="vi-VN" sz="2000" i="0">
                              <a:latin typeface="Cambria Math" panose="02040503050406030204" pitchFamily="18" charset="0"/>
                            </a:rPr>
                          </m:ctrlPr>
                        </m:fPr>
                        <m:num>
                          <m:r>
                            <a:rPr lang="vi-VN" sz="2000" i="0">
                              <a:latin typeface="Cambria Math" panose="02040503050406030204" pitchFamily="18" charset="0"/>
                            </a:rPr>
                            <m:t>1</m:t>
                          </m:r>
                        </m:num>
                        <m:den>
                          <m:sSub>
                            <m:sSubPr>
                              <m:ctrlPr>
                                <a:rPr lang="vi-VN" sz="2000" i="1" smtClean="0">
                                  <a:solidFill>
                                    <a:srgbClr val="836967"/>
                                  </a:solidFill>
                                  <a:latin typeface="Cambria Math" panose="02040503050406030204" pitchFamily="18" charset="0"/>
                                </a:rPr>
                              </m:ctrlPr>
                            </m:sSubPr>
                            <m:e>
                              <m:r>
                                <m:rPr>
                                  <m:sty m:val="p"/>
                                </m:rPr>
                                <a:rPr lang="vi-VN" sz="2000" i="1" smtClean="0">
                                  <a:solidFill>
                                    <a:srgbClr val="836967"/>
                                  </a:solidFill>
                                  <a:latin typeface="Cambria Math" panose="02040503050406030204" pitchFamily="18" charset="0"/>
                                </a:rPr>
                                <m:t>T</m:t>
                              </m:r>
                            </m:e>
                            <m:sub>
                              <m:r>
                                <a:rPr lang="vi-VN" sz="2000" i="1">
                                  <a:latin typeface="Cambria Math" panose="02040503050406030204" pitchFamily="18" charset="0"/>
                                </a:rPr>
                                <m:t>𝑠</m:t>
                              </m:r>
                            </m:sub>
                          </m:sSub>
                        </m:den>
                      </m:f>
                      <m:r>
                        <a:rPr lang="vi-VN" sz="2000" i="0">
                          <a:latin typeface="Cambria Math" panose="02040503050406030204" pitchFamily="18" charset="0"/>
                        </a:rPr>
                        <m:t>⋅</m:t>
                      </m:r>
                      <m:func>
                        <m:funcPr>
                          <m:ctrlPr>
                            <a:rPr lang="vi-VN" sz="2000" i="0">
                              <a:latin typeface="Cambria Math" panose="02040503050406030204" pitchFamily="18" charset="0"/>
                            </a:rPr>
                          </m:ctrlPr>
                        </m:funcPr>
                        <m:fName>
                          <m:r>
                            <m:rPr>
                              <m:sty m:val="p"/>
                            </m:rPr>
                            <a:rPr lang="vi-VN" sz="2000" i="0">
                              <a:latin typeface="Cambria Math" panose="02040503050406030204" pitchFamily="18" charset="0"/>
                            </a:rPr>
                            <m:t>ln</m:t>
                          </m:r>
                        </m:fName>
                        <m:e>
                          <m:d>
                            <m:dPr>
                              <m:ctrlPr>
                                <a:rPr lang="vi-VN" sz="2000" i="1">
                                  <a:latin typeface="Cambria Math" panose="02040503050406030204" pitchFamily="18" charset="0"/>
                                </a:rPr>
                              </m:ctrlPr>
                            </m:dPr>
                            <m:e>
                              <m:r>
                                <a:rPr lang="vi-VN" sz="2000" i="1">
                                  <a:latin typeface="Cambria Math" panose="02040503050406030204" pitchFamily="18" charset="0"/>
                                </a:rPr>
                                <m:t>𝑧</m:t>
                              </m:r>
                            </m:e>
                          </m:d>
                        </m:e>
                      </m:func>
                      <m:r>
                        <a:rPr lang="vi-VN" sz="2000" i="0">
                          <a:latin typeface="Cambria Math" panose="02040503050406030204" pitchFamily="18" charset="0"/>
                        </a:rPr>
                        <m:t>≈</m:t>
                      </m:r>
                      <m:f>
                        <m:fPr>
                          <m:ctrlPr>
                            <a:rPr lang="vi-VN" sz="2000" i="0">
                              <a:latin typeface="Cambria Math" panose="02040503050406030204" pitchFamily="18" charset="0"/>
                            </a:rPr>
                          </m:ctrlPr>
                        </m:fPr>
                        <m:num>
                          <m:r>
                            <a:rPr lang="vi-VN" sz="2000" i="0">
                              <a:latin typeface="Cambria Math" panose="02040503050406030204" pitchFamily="18" charset="0"/>
                            </a:rPr>
                            <m:t>2</m:t>
                          </m:r>
                        </m:num>
                        <m:den>
                          <m:sSub>
                            <m:sSubPr>
                              <m:ctrlPr>
                                <a:rPr lang="vi-VN" sz="2000" i="1" smtClean="0">
                                  <a:solidFill>
                                    <a:srgbClr val="836967"/>
                                  </a:solidFill>
                                  <a:latin typeface="Cambria Math" panose="02040503050406030204" pitchFamily="18" charset="0"/>
                                </a:rPr>
                              </m:ctrlPr>
                            </m:sSubPr>
                            <m:e>
                              <m:r>
                                <m:rPr>
                                  <m:sty m:val="p"/>
                                </m:rPr>
                                <a:rPr lang="vi-VN" sz="2000" i="1" smtClean="0">
                                  <a:solidFill>
                                    <a:srgbClr val="836967"/>
                                  </a:solidFill>
                                  <a:latin typeface="Cambria Math" panose="02040503050406030204" pitchFamily="18" charset="0"/>
                                </a:rPr>
                                <m:t>T</m:t>
                              </m:r>
                            </m:e>
                            <m:sub>
                              <m:r>
                                <a:rPr lang="vi-VN" sz="2000" i="1">
                                  <a:latin typeface="Cambria Math" panose="02040503050406030204" pitchFamily="18" charset="0"/>
                                </a:rPr>
                                <m:t>𝑠</m:t>
                              </m:r>
                            </m:sub>
                          </m:sSub>
                        </m:den>
                      </m:f>
                      <m:r>
                        <a:rPr lang="vi-VN" sz="2000" i="0">
                          <a:latin typeface="Cambria Math" panose="02040503050406030204" pitchFamily="18" charset="0"/>
                        </a:rPr>
                        <m:t>⋅</m:t>
                      </m:r>
                      <m:f>
                        <m:fPr>
                          <m:ctrlPr>
                            <a:rPr lang="vi-VN" sz="2000" i="1">
                              <a:latin typeface="Cambria Math" panose="02040503050406030204" pitchFamily="18" charset="0"/>
                            </a:rPr>
                          </m:ctrlPr>
                        </m:fPr>
                        <m:num>
                          <m:r>
                            <a:rPr lang="vi-VN" sz="2000" i="1">
                              <a:latin typeface="Cambria Math" panose="02040503050406030204" pitchFamily="18" charset="0"/>
                            </a:rPr>
                            <m:t>𝑧</m:t>
                          </m:r>
                          <m:r>
                            <a:rPr lang="vi-VN" sz="2000" i="0">
                              <a:latin typeface="Cambria Math" panose="02040503050406030204" pitchFamily="18" charset="0"/>
                            </a:rPr>
                            <m:t>−1</m:t>
                          </m:r>
                        </m:num>
                        <m:den>
                          <m:r>
                            <a:rPr lang="vi-VN" sz="2000" i="1">
                              <a:latin typeface="Cambria Math" panose="02040503050406030204" pitchFamily="18" charset="0"/>
                            </a:rPr>
                            <m:t>𝑧</m:t>
                          </m:r>
                          <m:r>
                            <a:rPr lang="vi-VN" sz="2000" i="0">
                              <a:latin typeface="Cambria Math" panose="02040503050406030204" pitchFamily="18" charset="0"/>
                            </a:rPr>
                            <m:t>+1</m:t>
                          </m:r>
                        </m:den>
                      </m:f>
                    </m:oMath>
                  </m:oMathPara>
                </a14:m>
                <a:endParaRPr lang="vi-VN" sz="2000"/>
              </a:p>
            </p:txBody>
          </p:sp>
        </mc:Choice>
        <mc:Fallback xmlns="">
          <p:sp>
            <p:nvSpPr>
              <p:cNvPr id="14" name="TextBox 18">
                <a:extLst>
                  <a:ext uri="{FF2B5EF4-FFF2-40B4-BE49-F238E27FC236}">
                    <a16:creationId xmlns:a16="http://schemas.microsoft.com/office/drawing/2014/main" id="{CF97ED49-D5C7-6B6F-66B9-81403592162A}"/>
                  </a:ext>
                </a:extLst>
              </p:cNvPr>
              <p:cNvSpPr txBox="1">
                <a:spLocks noRot="1" noChangeAspect="1" noMove="1" noResize="1" noEditPoints="1" noAdjustHandles="1" noChangeArrowheads="1" noChangeShapeType="1" noTextEdit="1"/>
              </p:cNvSpPr>
              <p:nvPr/>
            </p:nvSpPr>
            <p:spPr>
              <a:xfrm>
                <a:off x="1321450" y="4435333"/>
                <a:ext cx="3015121" cy="722442"/>
              </a:xfrm>
              <a:prstGeom prst="rect">
                <a:avLst/>
              </a:prstGeom>
              <a:blipFill>
                <a:blip r:embed="rId4"/>
                <a:stretch>
                  <a:fillRect/>
                </a:stretch>
              </a:blipFill>
              <a:ln w="12700">
                <a:solidFill>
                  <a:schemeClr val="tx1"/>
                </a:solidFill>
              </a:ln>
            </p:spPr>
            <p:txBody>
              <a:bodyPr/>
              <a:lstStyle/>
              <a:p>
                <a:r>
                  <a:rPr lang="vi-VN">
                    <a:noFill/>
                  </a:rPr>
                  <a:t> </a:t>
                </a:r>
              </a:p>
            </p:txBody>
          </p:sp>
        </mc:Fallback>
      </mc:AlternateContent>
    </p:spTree>
    <p:extLst>
      <p:ext uri="{BB962C8B-B14F-4D97-AF65-F5344CB8AC3E}">
        <p14:creationId xmlns:p14="http://schemas.microsoft.com/office/powerpoint/2010/main" val="125941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57C5F-E470-7C09-A532-4A065C583C1D}"/>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290A78C2-9836-2B98-14BB-43F94FCEB680}"/>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BC251280-8B89-6028-CFF0-8751FF0377D2}"/>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AAE59482-D718-47EF-A041-30210DE09773}"/>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5" name="TextBox 23">
            <a:extLst>
              <a:ext uri="{FF2B5EF4-FFF2-40B4-BE49-F238E27FC236}">
                <a16:creationId xmlns:a16="http://schemas.microsoft.com/office/drawing/2014/main" id="{9DCD1AB3-1503-6D9E-5584-2F27AA94521B}"/>
              </a:ext>
            </a:extLst>
          </p:cNvPr>
          <p:cNvSpPr txBox="1"/>
          <p:nvPr/>
        </p:nvSpPr>
        <p:spPr>
          <a:xfrm>
            <a:off x="374948" y="1036129"/>
            <a:ext cx="10378208" cy="400110"/>
          </a:xfrm>
          <a:prstGeom prst="rect">
            <a:avLst/>
          </a:prstGeom>
          <a:noFill/>
        </p:spPr>
        <p:txBody>
          <a:bodyPr wrap="square" rtlCol="0">
            <a:spAutoFit/>
          </a:bodyPr>
          <a:lstStyle/>
          <a:p>
            <a:pPr defTabSz="609585">
              <a:defRPr/>
            </a:pPr>
            <a:r>
              <a:rPr lang="vi-VN" sz="2000" b="1">
                <a:solidFill>
                  <a:prstClr val="black"/>
                </a:solidFill>
                <a:latin typeface="Times New Roman" panose="02020603050405020304" pitchFamily="18" charset="0"/>
                <a:cs typeface="Times New Roman" panose="02020603050405020304" pitchFamily="18" charset="0"/>
              </a:rPr>
              <a:t>2.9. Thiết kế bộ điều khiển điện áp và dòng điện cho sơ đồ vòng kín trên miền rời rạc</a:t>
            </a:r>
          </a:p>
        </p:txBody>
      </p:sp>
      <p:sp>
        <p:nvSpPr>
          <p:cNvPr id="6" name="TextBox 5">
            <a:extLst>
              <a:ext uri="{FF2B5EF4-FFF2-40B4-BE49-F238E27FC236}">
                <a16:creationId xmlns:a16="http://schemas.microsoft.com/office/drawing/2014/main" id="{165D20D9-8105-09C3-2A30-6BF8CF9EF6E8}"/>
              </a:ext>
            </a:extLst>
          </p:cNvPr>
          <p:cNvSpPr txBox="1"/>
          <p:nvPr/>
        </p:nvSpPr>
        <p:spPr>
          <a:xfrm>
            <a:off x="374948" y="1497795"/>
            <a:ext cx="6810413"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vi-VN"/>
              <a:t>Gián đoạn hóa bộ điều chỉnh PR:</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6EE2761-604C-B832-F555-33F7DB7DAE9F}"/>
                  </a:ext>
                </a:extLst>
              </p:cNvPr>
              <p:cNvSpPr txBox="1"/>
              <p:nvPr/>
            </p:nvSpPr>
            <p:spPr>
              <a:xfrm>
                <a:off x="671292" y="1902749"/>
                <a:ext cx="5886611" cy="57868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Courier New" panose="02070309020205020404" pitchFamily="49" charset="0"/>
                  <a:buChar char="o"/>
                </a:pPr>
                <a:r>
                  <a:rPr lang="vi-VN"/>
                  <a:t>Cấu trúc bộ điều chỉnh PR:         </a:t>
                </a:r>
                <a:r>
                  <a:rPr lang="en-US" sz="2000"/>
                  <a:t>G</a:t>
                </a:r>
                <a14:m>
                  <m:oMath xmlns:m="http://schemas.openxmlformats.org/officeDocument/2006/math">
                    <m:d>
                      <m:dPr>
                        <m:ctrlPr>
                          <a:rPr lang="en-US" sz="2000" b="0" i="0" smtClean="0">
                            <a:solidFill>
                              <a:schemeClr val="tx1"/>
                            </a:solidFill>
                            <a:latin typeface="Cambria Math" panose="02040503050406030204" pitchFamily="18" charset="0"/>
                          </a:rPr>
                        </m:ctrlPr>
                      </m:dPr>
                      <m:e>
                        <m:r>
                          <m:rPr>
                            <m:sty m:val="p"/>
                          </m:rPr>
                          <a:rPr lang="en-US" sz="2000" b="0" i="0" smtClean="0">
                            <a:solidFill>
                              <a:schemeClr val="tx1"/>
                            </a:solidFill>
                            <a:latin typeface="Cambria Math" panose="02040503050406030204" pitchFamily="18" charset="0"/>
                          </a:rPr>
                          <m:t>s</m:t>
                        </m:r>
                      </m:e>
                    </m:d>
                    <m:r>
                      <a:rPr lang="en-US" sz="2000" i="0" smtClean="0">
                        <a:solidFill>
                          <a:schemeClr val="tx1"/>
                        </a:solidFill>
                        <a:latin typeface="Cambria Math" panose="02040503050406030204" pitchFamily="18" charset="0"/>
                      </a:rPr>
                      <m:t>=</m:t>
                    </m:r>
                    <m:sSub>
                      <m:sSubPr>
                        <m:ctrlPr>
                          <a:rPr lang="en-US" sz="2000" b="0" i="0"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K</m:t>
                        </m:r>
                      </m:e>
                      <m:sub>
                        <m:r>
                          <m:rPr>
                            <m:sty m:val="p"/>
                          </m:rPr>
                          <a:rPr lang="en-US" sz="2000" b="0" i="0" smtClean="0">
                            <a:solidFill>
                              <a:schemeClr val="tx1"/>
                            </a:solidFill>
                            <a:latin typeface="Cambria Math" panose="02040503050406030204" pitchFamily="18" charset="0"/>
                          </a:rPr>
                          <m:t>p</m:t>
                        </m:r>
                      </m:sub>
                    </m:sSub>
                    <m:r>
                      <a:rPr lang="en-US" sz="2000" i="0" smtClean="0">
                        <a:solidFill>
                          <a:schemeClr val="tx1"/>
                        </a:solidFill>
                        <a:latin typeface="Cambria Math" panose="02040503050406030204" pitchFamily="18" charset="0"/>
                      </a:rPr>
                      <m:t>+</m:t>
                    </m:r>
                    <m:f>
                      <m:fPr>
                        <m:ctrlPr>
                          <a:rPr lang="en-US" sz="2000" i="1" smtClean="0">
                            <a:solidFill>
                              <a:schemeClr val="tx1"/>
                            </a:solidFill>
                            <a:latin typeface="Cambria Math" panose="02040503050406030204" pitchFamily="18" charset="0"/>
                          </a:rPr>
                        </m:ctrlPr>
                      </m:fPr>
                      <m:num>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𝐾</m:t>
                            </m:r>
                          </m:e>
                          <m:sub>
                            <m:r>
                              <m:rPr>
                                <m:sty m:val="p"/>
                              </m:rPr>
                              <a:rPr lang="en-US" sz="2000" b="0" i="0" smtClean="0">
                                <a:solidFill>
                                  <a:schemeClr val="tx1"/>
                                </a:solidFill>
                                <a:latin typeface="Cambria Math" panose="02040503050406030204" pitchFamily="18" charset="0"/>
                              </a:rPr>
                              <m:t>i</m:t>
                            </m:r>
                          </m:sub>
                        </m:sSub>
                        <m:r>
                          <a:rPr lang="en-US" sz="2000" i="0"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𝑠</m:t>
                        </m:r>
                      </m:num>
                      <m:den>
                        <m:sSup>
                          <m:sSupPr>
                            <m:ctrlPr>
                              <a:rPr lang="en-US" sz="2000" i="1" smtClean="0">
                                <a:solidFill>
                                  <a:schemeClr val="tx1"/>
                                </a:solidFill>
                                <a:latin typeface="Cambria Math" panose="02040503050406030204" pitchFamily="18" charset="0"/>
                              </a:rPr>
                            </m:ctrlPr>
                          </m:sSupPr>
                          <m:e>
                            <m:r>
                              <a:rPr lang="en-US" sz="2000" i="1" smtClean="0">
                                <a:solidFill>
                                  <a:schemeClr val="tx1"/>
                                </a:solidFill>
                                <a:latin typeface="Cambria Math" panose="02040503050406030204" pitchFamily="18" charset="0"/>
                              </a:rPr>
                              <m:t>𝑠</m:t>
                            </m:r>
                          </m:e>
                          <m:sup>
                            <m:r>
                              <a:rPr lang="en-US" sz="2000" i="0" smtClean="0">
                                <a:solidFill>
                                  <a:schemeClr val="tx1"/>
                                </a:solidFill>
                                <a:latin typeface="Cambria Math" panose="02040503050406030204" pitchFamily="18" charset="0"/>
                              </a:rPr>
                              <m:t>2</m:t>
                            </m:r>
                          </m:sup>
                        </m:sSup>
                        <m:r>
                          <a:rPr lang="en-US" sz="2000" i="0" smtClean="0">
                            <a:solidFill>
                              <a:schemeClr val="tx1"/>
                            </a:solidFill>
                            <a:latin typeface="Cambria Math" panose="02040503050406030204" pitchFamily="18" charset="0"/>
                          </a:rPr>
                          <m:t>+</m:t>
                        </m:r>
                        <m:sSubSup>
                          <m:sSubSupPr>
                            <m:ctrlPr>
                              <a:rPr lang="en-US" sz="2000" i="1" smtClean="0">
                                <a:solidFill>
                                  <a:schemeClr val="tx1"/>
                                </a:solidFill>
                                <a:latin typeface="Cambria Math" panose="02040503050406030204" pitchFamily="18" charset="0"/>
                              </a:rPr>
                            </m:ctrlPr>
                          </m:sSubSupPr>
                          <m:e>
                            <m:r>
                              <a:rPr lang="en-US" sz="2000" i="1" smtClean="0">
                                <a:solidFill>
                                  <a:schemeClr val="tx1"/>
                                </a:solidFill>
                                <a:latin typeface="Cambria Math" panose="02040503050406030204" pitchFamily="18" charset="0"/>
                              </a:rPr>
                              <m:t>𝜔</m:t>
                            </m:r>
                          </m:e>
                          <m:sub>
                            <m:r>
                              <a:rPr lang="en-US" sz="2000" i="0" smtClean="0">
                                <a:solidFill>
                                  <a:schemeClr val="tx1"/>
                                </a:solidFill>
                                <a:latin typeface="Cambria Math" panose="02040503050406030204" pitchFamily="18" charset="0"/>
                              </a:rPr>
                              <m:t>1</m:t>
                            </m:r>
                          </m:sub>
                          <m:sup>
                            <m:r>
                              <a:rPr lang="en-US" sz="2000" i="0" smtClean="0">
                                <a:solidFill>
                                  <a:schemeClr val="tx1"/>
                                </a:solidFill>
                                <a:latin typeface="Cambria Math" panose="02040503050406030204" pitchFamily="18" charset="0"/>
                              </a:rPr>
                              <m:t>2</m:t>
                            </m:r>
                          </m:sup>
                        </m:sSubSup>
                      </m:den>
                    </m:f>
                  </m:oMath>
                </a14:m>
                <a:r>
                  <a:rPr lang="vi-VN"/>
                  <a:t> </a:t>
                </a:r>
              </a:p>
            </p:txBody>
          </p:sp>
        </mc:Choice>
        <mc:Fallback xmlns="">
          <p:sp>
            <p:nvSpPr>
              <p:cNvPr id="7" name="TextBox 6">
                <a:extLst>
                  <a:ext uri="{FF2B5EF4-FFF2-40B4-BE49-F238E27FC236}">
                    <a16:creationId xmlns:a16="http://schemas.microsoft.com/office/drawing/2014/main" id="{A6EE2761-604C-B832-F555-33F7DB7DAE9F}"/>
                  </a:ext>
                </a:extLst>
              </p:cNvPr>
              <p:cNvSpPr txBox="1">
                <a:spLocks noRot="1" noChangeAspect="1" noMove="1" noResize="1" noEditPoints="1" noAdjustHandles="1" noChangeArrowheads="1" noChangeShapeType="1" noTextEdit="1"/>
              </p:cNvSpPr>
              <p:nvPr/>
            </p:nvSpPr>
            <p:spPr>
              <a:xfrm>
                <a:off x="671292" y="1902749"/>
                <a:ext cx="5886611" cy="578685"/>
              </a:xfrm>
              <a:prstGeom prst="rect">
                <a:avLst/>
              </a:prstGeom>
              <a:blipFill>
                <a:blip r:embed="rId2"/>
                <a:stretch>
                  <a:fillRect l="-725"/>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702010F-4337-C382-22F4-B21EDBCB5316}"/>
                  </a:ext>
                </a:extLst>
              </p:cNvPr>
              <p:cNvSpPr txBox="1"/>
              <p:nvPr/>
            </p:nvSpPr>
            <p:spPr>
              <a:xfrm>
                <a:off x="671292" y="2563847"/>
                <a:ext cx="7578613" cy="56733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Courier New" panose="02070309020205020404" pitchFamily="49" charset="0"/>
                  <a:buChar char="o"/>
                </a:pPr>
                <a:r>
                  <a:rPr lang="vi-VN"/>
                  <a:t>Chuyển sang miền số sử dụng phương pháp Tustin, thay s</a:t>
                </a:r>
                <a:r>
                  <a:rPr lang="vi-VN" sz="2000"/>
                  <a:t>=</a:t>
                </a:r>
                <a:r>
                  <a:rPr lang="vi-VN" sz="2000">
                    <a:solidFill>
                      <a:srgbClr val="836967"/>
                    </a:solidFill>
                  </a:rPr>
                  <a:t> </a:t>
                </a:r>
                <a14:m>
                  <m:oMath xmlns:m="http://schemas.openxmlformats.org/officeDocument/2006/math">
                    <m:f>
                      <m:fPr>
                        <m:ctrlPr>
                          <a:rPr lang="vi-VN" sz="2000" i="0">
                            <a:latin typeface="Cambria Math" panose="02040503050406030204" pitchFamily="18" charset="0"/>
                          </a:rPr>
                        </m:ctrlPr>
                      </m:fPr>
                      <m:num>
                        <m:r>
                          <a:rPr lang="vi-VN" sz="2000" i="0">
                            <a:latin typeface="Cambria Math" panose="02040503050406030204" pitchFamily="18" charset="0"/>
                          </a:rPr>
                          <m:t>2</m:t>
                        </m:r>
                      </m:num>
                      <m:den>
                        <m:sSub>
                          <m:sSubPr>
                            <m:ctrlPr>
                              <a:rPr lang="vi-VN" sz="2000" i="1" smtClean="0">
                                <a:solidFill>
                                  <a:srgbClr val="836967"/>
                                </a:solidFill>
                                <a:latin typeface="Cambria Math" panose="02040503050406030204" pitchFamily="18" charset="0"/>
                              </a:rPr>
                            </m:ctrlPr>
                          </m:sSubPr>
                          <m:e>
                            <m:r>
                              <m:rPr>
                                <m:sty m:val="p"/>
                              </m:rPr>
                              <a:rPr lang="vi-VN" sz="2000" i="1" smtClean="0">
                                <a:solidFill>
                                  <a:srgbClr val="836967"/>
                                </a:solidFill>
                                <a:latin typeface="Cambria Math" panose="02040503050406030204" pitchFamily="18" charset="0"/>
                              </a:rPr>
                              <m:t>T</m:t>
                            </m:r>
                          </m:e>
                          <m:sub>
                            <m:r>
                              <a:rPr lang="vi-VN" sz="2000" i="1">
                                <a:latin typeface="Cambria Math" panose="02040503050406030204" pitchFamily="18" charset="0"/>
                              </a:rPr>
                              <m:t>𝑠</m:t>
                            </m:r>
                          </m:sub>
                        </m:sSub>
                      </m:den>
                    </m:f>
                    <m:r>
                      <a:rPr lang="vi-VN" sz="2000" i="0">
                        <a:latin typeface="Cambria Math" panose="02040503050406030204" pitchFamily="18" charset="0"/>
                      </a:rPr>
                      <m:t>⋅</m:t>
                    </m:r>
                    <m:f>
                      <m:fPr>
                        <m:ctrlPr>
                          <a:rPr lang="vi-VN" sz="2000" i="1">
                            <a:latin typeface="Cambria Math" panose="02040503050406030204" pitchFamily="18" charset="0"/>
                          </a:rPr>
                        </m:ctrlPr>
                      </m:fPr>
                      <m:num>
                        <m:r>
                          <a:rPr lang="vi-VN" sz="2000" i="1">
                            <a:latin typeface="Cambria Math" panose="02040503050406030204" pitchFamily="18" charset="0"/>
                          </a:rPr>
                          <m:t>𝑧</m:t>
                        </m:r>
                        <m:r>
                          <a:rPr lang="vi-VN" sz="2000" i="0">
                            <a:latin typeface="Cambria Math" panose="02040503050406030204" pitchFamily="18" charset="0"/>
                          </a:rPr>
                          <m:t>−1</m:t>
                        </m:r>
                      </m:num>
                      <m:den>
                        <m:r>
                          <a:rPr lang="vi-VN" sz="2000" i="1">
                            <a:latin typeface="Cambria Math" panose="02040503050406030204" pitchFamily="18" charset="0"/>
                          </a:rPr>
                          <m:t>𝑧</m:t>
                        </m:r>
                        <m:r>
                          <a:rPr lang="vi-VN" sz="2000" i="0">
                            <a:latin typeface="Cambria Math" panose="02040503050406030204" pitchFamily="18" charset="0"/>
                          </a:rPr>
                          <m:t>+1</m:t>
                        </m:r>
                      </m:den>
                    </m:f>
                    <m:r>
                      <a:rPr lang="vi-VN" sz="2000" i="1">
                        <a:latin typeface="Cambria Math" panose="02040503050406030204" pitchFamily="18" charset="0"/>
                      </a:rPr>
                      <m:t> </m:t>
                    </m:r>
                  </m:oMath>
                </a14:m>
                <a:r>
                  <a:rPr lang="vi-VN"/>
                  <a:t>:</a:t>
                </a:r>
              </a:p>
            </p:txBody>
          </p:sp>
        </mc:Choice>
        <mc:Fallback xmlns="">
          <p:sp>
            <p:nvSpPr>
              <p:cNvPr id="8" name="TextBox 7">
                <a:extLst>
                  <a:ext uri="{FF2B5EF4-FFF2-40B4-BE49-F238E27FC236}">
                    <a16:creationId xmlns:a16="http://schemas.microsoft.com/office/drawing/2014/main" id="{C702010F-4337-C382-22F4-B21EDBCB5316}"/>
                  </a:ext>
                </a:extLst>
              </p:cNvPr>
              <p:cNvSpPr txBox="1">
                <a:spLocks noRot="1" noChangeAspect="1" noMove="1" noResize="1" noEditPoints="1" noAdjustHandles="1" noChangeArrowheads="1" noChangeShapeType="1" noTextEdit="1"/>
              </p:cNvSpPr>
              <p:nvPr/>
            </p:nvSpPr>
            <p:spPr>
              <a:xfrm>
                <a:off x="671292" y="2563847"/>
                <a:ext cx="7578613" cy="567335"/>
              </a:xfrm>
              <a:prstGeom prst="rect">
                <a:avLst/>
              </a:prstGeom>
              <a:blipFill>
                <a:blip r:embed="rId3"/>
                <a:stretch>
                  <a:fillRect l="-56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DEE62FC-70E5-51B3-ECA0-AD5BD31DE61C}"/>
                  </a:ext>
                </a:extLst>
              </p:cNvPr>
              <p:cNvSpPr txBox="1"/>
              <p:nvPr/>
            </p:nvSpPr>
            <p:spPr>
              <a:xfrm>
                <a:off x="967911" y="3160793"/>
                <a:ext cx="11253978" cy="936988"/>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a:latin typeface="Cambria Math" panose="02040503050406030204" pitchFamily="18" charset="0"/>
                    <a:ea typeface="Cambria Math" panose="02040503050406030204" pitchFamily="18" charset="0"/>
                  </a:rPr>
                  <a:t>G</a:t>
                </a:r>
                <a14:m>
                  <m:oMath xmlns:m="http://schemas.openxmlformats.org/officeDocument/2006/math">
                    <m:d>
                      <m:dPr>
                        <m:ctrlPr>
                          <a:rPr lang="en-US" sz="2200" b="0" i="0" smtClean="0">
                            <a:solidFill>
                              <a:schemeClr val="tx1"/>
                            </a:solidFill>
                            <a:latin typeface="Cambria Math" panose="02040503050406030204" pitchFamily="18" charset="0"/>
                            <a:ea typeface="Cambria Math" panose="02040503050406030204" pitchFamily="18" charset="0"/>
                          </a:rPr>
                        </m:ctrlPr>
                      </m:dPr>
                      <m:e>
                        <m:r>
                          <m:rPr>
                            <m:sty m:val="p"/>
                          </m:rPr>
                          <a:rPr lang="en-US" sz="2200" b="0" i="0" smtClean="0">
                            <a:solidFill>
                              <a:schemeClr val="tx1"/>
                            </a:solidFill>
                            <a:latin typeface="Cambria Math" panose="02040503050406030204" pitchFamily="18" charset="0"/>
                            <a:ea typeface="Cambria Math" panose="02040503050406030204" pitchFamily="18" charset="0"/>
                          </a:rPr>
                          <m:t>z</m:t>
                        </m:r>
                      </m:e>
                    </m:d>
                    <m:r>
                      <a:rPr lang="en-US" sz="2200" i="0" smtClean="0">
                        <a:solidFill>
                          <a:schemeClr val="tx1"/>
                        </a:solidFill>
                        <a:latin typeface="Cambria Math" panose="02040503050406030204" pitchFamily="18" charset="0"/>
                        <a:ea typeface="Cambria Math" panose="02040503050406030204" pitchFamily="18" charset="0"/>
                      </a:rPr>
                      <m:t>=</m:t>
                    </m:r>
                    <m:sSub>
                      <m:sSubPr>
                        <m:ctrlPr>
                          <a:rPr lang="en-US" sz="2200" b="0" i="0" smtClean="0">
                            <a:solidFill>
                              <a:schemeClr val="tx1"/>
                            </a:solidFill>
                            <a:latin typeface="Cambria Math" panose="02040503050406030204" pitchFamily="18" charset="0"/>
                            <a:ea typeface="Cambria Math" panose="02040503050406030204" pitchFamily="18" charset="0"/>
                          </a:rPr>
                        </m:ctrlPr>
                      </m:sSubPr>
                      <m:e>
                        <m:r>
                          <m:rPr>
                            <m:sty m:val="p"/>
                          </m:rPr>
                          <a:rPr lang="en-US" sz="2200" b="0" i="0" smtClean="0">
                            <a:solidFill>
                              <a:schemeClr val="tx1"/>
                            </a:solidFill>
                            <a:latin typeface="Cambria Math" panose="02040503050406030204" pitchFamily="18" charset="0"/>
                            <a:ea typeface="Cambria Math" panose="02040503050406030204" pitchFamily="18" charset="0"/>
                          </a:rPr>
                          <m:t>K</m:t>
                        </m:r>
                      </m:e>
                      <m:sub>
                        <m:r>
                          <m:rPr>
                            <m:sty m:val="p"/>
                          </m:rPr>
                          <a:rPr lang="en-US" sz="2200" b="0" i="0" smtClean="0">
                            <a:solidFill>
                              <a:schemeClr val="tx1"/>
                            </a:solidFill>
                            <a:latin typeface="Cambria Math" panose="02040503050406030204" pitchFamily="18" charset="0"/>
                            <a:ea typeface="Cambria Math" panose="02040503050406030204" pitchFamily="18" charset="0"/>
                          </a:rPr>
                          <m:t>p</m:t>
                        </m:r>
                      </m:sub>
                    </m:sSub>
                    <m:r>
                      <a:rPr lang="en-US" sz="2200" i="0" smtClean="0">
                        <a:solidFill>
                          <a:schemeClr val="tx1"/>
                        </a:solidFill>
                        <a:latin typeface="Cambria Math" panose="02040503050406030204" pitchFamily="18" charset="0"/>
                        <a:ea typeface="Cambria Math" panose="02040503050406030204" pitchFamily="18" charset="0"/>
                      </a:rPr>
                      <m:t>+</m:t>
                    </m:r>
                    <m:f>
                      <m:fPr>
                        <m:ctrlPr>
                          <a:rPr lang="en-US" sz="2200" i="1" smtClean="0">
                            <a:solidFill>
                              <a:schemeClr val="tx1"/>
                            </a:solidFill>
                            <a:latin typeface="Cambria Math" panose="02040503050406030204" pitchFamily="18" charset="0"/>
                            <a:ea typeface="Cambria Math" panose="02040503050406030204" pitchFamily="18" charset="0"/>
                          </a:rPr>
                        </m:ctrlPr>
                      </m:fPr>
                      <m:num>
                        <m:sSub>
                          <m:sSubPr>
                            <m:ctrlPr>
                              <a:rPr lang="en-US" sz="2200" b="0" i="1" smtClean="0">
                                <a:solidFill>
                                  <a:schemeClr val="tx1"/>
                                </a:solidFill>
                                <a:latin typeface="Cambria Math" panose="02040503050406030204" pitchFamily="18" charset="0"/>
                                <a:ea typeface="Cambria Math" panose="02040503050406030204" pitchFamily="18" charset="0"/>
                              </a:rPr>
                            </m:ctrlPr>
                          </m:sSubPr>
                          <m:e>
                            <m:r>
                              <a:rPr lang="en-US" sz="2200" b="0" i="1" smtClean="0">
                                <a:solidFill>
                                  <a:schemeClr val="tx1"/>
                                </a:solidFill>
                                <a:latin typeface="Cambria Math" panose="02040503050406030204" pitchFamily="18" charset="0"/>
                                <a:ea typeface="Cambria Math" panose="02040503050406030204" pitchFamily="18" charset="0"/>
                              </a:rPr>
                              <m:t>𝐾</m:t>
                            </m:r>
                          </m:e>
                          <m:sub>
                            <m:r>
                              <m:rPr>
                                <m:sty m:val="p"/>
                              </m:rPr>
                              <a:rPr lang="en-US" sz="2200" b="0" i="0" smtClean="0">
                                <a:solidFill>
                                  <a:schemeClr val="tx1"/>
                                </a:solidFill>
                                <a:latin typeface="Cambria Math" panose="02040503050406030204" pitchFamily="18" charset="0"/>
                                <a:ea typeface="Cambria Math" panose="02040503050406030204" pitchFamily="18" charset="0"/>
                              </a:rPr>
                              <m:t>i</m:t>
                            </m:r>
                          </m:sub>
                        </m:sSub>
                        <m:r>
                          <a:rPr lang="en-US" sz="2200" i="0" smtClean="0">
                            <a:solidFill>
                              <a:schemeClr val="tx1"/>
                            </a:solidFill>
                            <a:latin typeface="Cambria Math" panose="02040503050406030204" pitchFamily="18" charset="0"/>
                            <a:ea typeface="Cambria Math" panose="02040503050406030204" pitchFamily="18" charset="0"/>
                          </a:rPr>
                          <m:t>⋅</m:t>
                        </m:r>
                        <m:f>
                          <m:fPr>
                            <m:ctrlPr>
                              <a:rPr lang="vi-VN" sz="2200" b="1" i="1">
                                <a:latin typeface="Cambria Math" panose="02040503050406030204" pitchFamily="18" charset="0"/>
                                <a:ea typeface="Cambria Math" panose="02040503050406030204" pitchFamily="18" charset="0"/>
                              </a:rPr>
                            </m:ctrlPr>
                          </m:fPr>
                          <m:num>
                            <m:r>
                              <a:rPr lang="vi-VN" sz="2200" b="1" i="1">
                                <a:latin typeface="Cambria Math" panose="02040503050406030204" pitchFamily="18" charset="0"/>
                                <a:ea typeface="Cambria Math" panose="02040503050406030204" pitchFamily="18" charset="0"/>
                              </a:rPr>
                              <m:t>𝟐</m:t>
                            </m:r>
                          </m:num>
                          <m:den>
                            <m:sSub>
                              <m:sSubPr>
                                <m:ctrlPr>
                                  <a:rPr lang="vi-VN" sz="2200" b="1" i="1">
                                    <a:solidFill>
                                      <a:srgbClr val="836967"/>
                                    </a:solidFill>
                                    <a:latin typeface="Cambria Math" panose="02040503050406030204" pitchFamily="18" charset="0"/>
                                    <a:ea typeface="Cambria Math" panose="02040503050406030204" pitchFamily="18" charset="0"/>
                                  </a:rPr>
                                </m:ctrlPr>
                              </m:sSubPr>
                              <m:e>
                                <m:r>
                                  <a:rPr lang="vi-VN" sz="2200" b="1" i="1">
                                    <a:solidFill>
                                      <a:srgbClr val="836967"/>
                                    </a:solidFill>
                                    <a:latin typeface="Cambria Math" panose="02040503050406030204" pitchFamily="18" charset="0"/>
                                    <a:ea typeface="Cambria Math" panose="02040503050406030204" pitchFamily="18" charset="0"/>
                                  </a:rPr>
                                  <m:t>𝑻</m:t>
                                </m:r>
                              </m:e>
                              <m:sub>
                                <m:r>
                                  <a:rPr lang="vi-VN" sz="2200" b="1" i="1">
                                    <a:latin typeface="Cambria Math" panose="02040503050406030204" pitchFamily="18" charset="0"/>
                                    <a:ea typeface="Cambria Math" panose="02040503050406030204" pitchFamily="18" charset="0"/>
                                  </a:rPr>
                                  <m:t>𝒔</m:t>
                                </m:r>
                              </m:sub>
                            </m:sSub>
                          </m:den>
                        </m:f>
                        <m:r>
                          <a:rPr lang="vi-VN" sz="2200" b="1">
                            <a:latin typeface="Cambria Math" panose="02040503050406030204" pitchFamily="18" charset="0"/>
                            <a:ea typeface="Cambria Math" panose="02040503050406030204" pitchFamily="18" charset="0"/>
                          </a:rPr>
                          <m:t>⋅</m:t>
                        </m:r>
                        <m:f>
                          <m:fPr>
                            <m:ctrlPr>
                              <a:rPr lang="vi-VN" sz="2200" b="1" i="1">
                                <a:latin typeface="Cambria Math" panose="02040503050406030204" pitchFamily="18" charset="0"/>
                                <a:ea typeface="Cambria Math" panose="02040503050406030204" pitchFamily="18" charset="0"/>
                              </a:rPr>
                            </m:ctrlPr>
                          </m:fPr>
                          <m:num>
                            <m:r>
                              <a:rPr lang="vi-VN" sz="2200" b="1" i="1">
                                <a:latin typeface="Cambria Math" panose="02040503050406030204" pitchFamily="18" charset="0"/>
                                <a:ea typeface="Cambria Math" panose="02040503050406030204" pitchFamily="18" charset="0"/>
                              </a:rPr>
                              <m:t>𝒛</m:t>
                            </m:r>
                            <m:r>
                              <a:rPr lang="vi-VN" sz="2200" b="1">
                                <a:latin typeface="Cambria Math" panose="02040503050406030204" pitchFamily="18" charset="0"/>
                                <a:ea typeface="Cambria Math" panose="02040503050406030204" pitchFamily="18" charset="0"/>
                              </a:rPr>
                              <m:t>−</m:t>
                            </m:r>
                            <m:r>
                              <a:rPr lang="vi-VN" sz="2200" b="1" i="1">
                                <a:latin typeface="Cambria Math" panose="02040503050406030204" pitchFamily="18" charset="0"/>
                                <a:ea typeface="Cambria Math" panose="02040503050406030204" pitchFamily="18" charset="0"/>
                              </a:rPr>
                              <m:t>𝟏</m:t>
                            </m:r>
                          </m:num>
                          <m:den>
                            <m:r>
                              <a:rPr lang="vi-VN" sz="2200" b="1" i="1">
                                <a:latin typeface="Cambria Math" panose="02040503050406030204" pitchFamily="18" charset="0"/>
                                <a:ea typeface="Cambria Math" panose="02040503050406030204" pitchFamily="18" charset="0"/>
                              </a:rPr>
                              <m:t>𝒛</m:t>
                            </m:r>
                            <m:r>
                              <a:rPr lang="vi-VN" sz="2200" b="1">
                                <a:latin typeface="Cambria Math" panose="02040503050406030204" pitchFamily="18" charset="0"/>
                                <a:ea typeface="Cambria Math" panose="02040503050406030204" pitchFamily="18" charset="0"/>
                              </a:rPr>
                              <m:t>+</m:t>
                            </m:r>
                            <m:r>
                              <a:rPr lang="vi-VN" sz="2200" b="1" i="1">
                                <a:latin typeface="Cambria Math" panose="02040503050406030204" pitchFamily="18" charset="0"/>
                                <a:ea typeface="Cambria Math" panose="02040503050406030204" pitchFamily="18" charset="0"/>
                              </a:rPr>
                              <m:t>𝟏</m:t>
                            </m:r>
                          </m:den>
                        </m:f>
                      </m:num>
                      <m:den>
                        <m:sSup>
                          <m:sSupPr>
                            <m:ctrlPr>
                              <a:rPr lang="en-US" sz="2200" b="0" i="1" smtClean="0">
                                <a:solidFill>
                                  <a:schemeClr val="tx1"/>
                                </a:solidFill>
                                <a:latin typeface="Cambria Math" panose="02040503050406030204" pitchFamily="18" charset="0"/>
                                <a:ea typeface="Cambria Math" panose="02040503050406030204" pitchFamily="18" charset="0"/>
                              </a:rPr>
                            </m:ctrlPr>
                          </m:sSupPr>
                          <m:e>
                            <m:r>
                              <a:rPr lang="en-US" sz="2200" b="0" i="1" smtClean="0">
                                <a:solidFill>
                                  <a:schemeClr val="tx1"/>
                                </a:solidFill>
                                <a:latin typeface="Cambria Math" panose="02040503050406030204" pitchFamily="18" charset="0"/>
                                <a:ea typeface="Cambria Math" panose="02040503050406030204" pitchFamily="18" charset="0"/>
                              </a:rPr>
                              <m:t>(</m:t>
                            </m:r>
                            <m:f>
                              <m:fPr>
                                <m:ctrlPr>
                                  <a:rPr lang="vi-VN" sz="2200" b="1" i="1">
                                    <a:latin typeface="Cambria Math" panose="02040503050406030204" pitchFamily="18" charset="0"/>
                                    <a:ea typeface="Cambria Math" panose="02040503050406030204" pitchFamily="18" charset="0"/>
                                  </a:rPr>
                                </m:ctrlPr>
                              </m:fPr>
                              <m:num>
                                <m:r>
                                  <a:rPr lang="vi-VN" sz="2200" b="1" i="1">
                                    <a:latin typeface="Cambria Math" panose="02040503050406030204" pitchFamily="18" charset="0"/>
                                    <a:ea typeface="Cambria Math" panose="02040503050406030204" pitchFamily="18" charset="0"/>
                                  </a:rPr>
                                  <m:t>𝟐</m:t>
                                </m:r>
                              </m:num>
                              <m:den>
                                <m:sSub>
                                  <m:sSubPr>
                                    <m:ctrlPr>
                                      <a:rPr lang="vi-VN" sz="2200" b="1" i="1">
                                        <a:solidFill>
                                          <a:srgbClr val="836967"/>
                                        </a:solidFill>
                                        <a:latin typeface="Cambria Math" panose="02040503050406030204" pitchFamily="18" charset="0"/>
                                        <a:ea typeface="Cambria Math" panose="02040503050406030204" pitchFamily="18" charset="0"/>
                                      </a:rPr>
                                    </m:ctrlPr>
                                  </m:sSubPr>
                                  <m:e>
                                    <m:r>
                                      <a:rPr lang="vi-VN" sz="2200" b="1" i="1">
                                        <a:solidFill>
                                          <a:srgbClr val="836967"/>
                                        </a:solidFill>
                                        <a:latin typeface="Cambria Math" panose="02040503050406030204" pitchFamily="18" charset="0"/>
                                        <a:ea typeface="Cambria Math" panose="02040503050406030204" pitchFamily="18" charset="0"/>
                                      </a:rPr>
                                      <m:t>𝑻</m:t>
                                    </m:r>
                                  </m:e>
                                  <m:sub>
                                    <m:r>
                                      <a:rPr lang="vi-VN" sz="2200" b="1" i="1">
                                        <a:latin typeface="Cambria Math" panose="02040503050406030204" pitchFamily="18" charset="0"/>
                                        <a:ea typeface="Cambria Math" panose="02040503050406030204" pitchFamily="18" charset="0"/>
                                      </a:rPr>
                                      <m:t>𝒔</m:t>
                                    </m:r>
                                  </m:sub>
                                </m:sSub>
                              </m:den>
                            </m:f>
                            <m:r>
                              <a:rPr lang="vi-VN" sz="2200" b="1">
                                <a:latin typeface="Cambria Math" panose="02040503050406030204" pitchFamily="18" charset="0"/>
                                <a:ea typeface="Cambria Math" panose="02040503050406030204" pitchFamily="18" charset="0"/>
                              </a:rPr>
                              <m:t>⋅</m:t>
                            </m:r>
                            <m:f>
                              <m:fPr>
                                <m:ctrlPr>
                                  <a:rPr lang="vi-VN" sz="2200" b="1" i="1">
                                    <a:latin typeface="Cambria Math" panose="02040503050406030204" pitchFamily="18" charset="0"/>
                                    <a:ea typeface="Cambria Math" panose="02040503050406030204" pitchFamily="18" charset="0"/>
                                  </a:rPr>
                                </m:ctrlPr>
                              </m:fPr>
                              <m:num>
                                <m:r>
                                  <a:rPr lang="vi-VN" sz="2200" b="1" i="1">
                                    <a:latin typeface="Cambria Math" panose="02040503050406030204" pitchFamily="18" charset="0"/>
                                    <a:ea typeface="Cambria Math" panose="02040503050406030204" pitchFamily="18" charset="0"/>
                                  </a:rPr>
                                  <m:t>𝒛</m:t>
                                </m:r>
                                <m:r>
                                  <a:rPr lang="vi-VN" sz="2200" b="1">
                                    <a:latin typeface="Cambria Math" panose="02040503050406030204" pitchFamily="18" charset="0"/>
                                    <a:ea typeface="Cambria Math" panose="02040503050406030204" pitchFamily="18" charset="0"/>
                                  </a:rPr>
                                  <m:t>−</m:t>
                                </m:r>
                                <m:r>
                                  <a:rPr lang="vi-VN" sz="2200" b="1" i="1">
                                    <a:latin typeface="Cambria Math" panose="02040503050406030204" pitchFamily="18" charset="0"/>
                                    <a:ea typeface="Cambria Math" panose="02040503050406030204" pitchFamily="18" charset="0"/>
                                  </a:rPr>
                                  <m:t>𝟏</m:t>
                                </m:r>
                              </m:num>
                              <m:den>
                                <m:r>
                                  <a:rPr lang="vi-VN" sz="2200" b="1" i="1">
                                    <a:latin typeface="Cambria Math" panose="02040503050406030204" pitchFamily="18" charset="0"/>
                                    <a:ea typeface="Cambria Math" panose="02040503050406030204" pitchFamily="18" charset="0"/>
                                  </a:rPr>
                                  <m:t>𝒛</m:t>
                                </m:r>
                                <m:r>
                                  <a:rPr lang="vi-VN" sz="2200" b="1">
                                    <a:latin typeface="Cambria Math" panose="02040503050406030204" pitchFamily="18" charset="0"/>
                                    <a:ea typeface="Cambria Math" panose="02040503050406030204" pitchFamily="18" charset="0"/>
                                  </a:rPr>
                                  <m:t>+</m:t>
                                </m:r>
                                <m:r>
                                  <a:rPr lang="vi-VN" sz="2200" b="1" i="1">
                                    <a:latin typeface="Cambria Math" panose="02040503050406030204" pitchFamily="18" charset="0"/>
                                    <a:ea typeface="Cambria Math" panose="02040503050406030204" pitchFamily="18" charset="0"/>
                                  </a:rPr>
                                  <m:t>𝟏</m:t>
                                </m:r>
                              </m:den>
                            </m:f>
                            <m:r>
                              <a:rPr lang="en-US" sz="2200" b="0" i="1" smtClean="0">
                                <a:solidFill>
                                  <a:schemeClr val="tx1"/>
                                </a:solidFill>
                                <a:latin typeface="Cambria Math" panose="02040503050406030204" pitchFamily="18" charset="0"/>
                                <a:ea typeface="Cambria Math" panose="02040503050406030204" pitchFamily="18" charset="0"/>
                              </a:rPr>
                              <m:t>)</m:t>
                            </m:r>
                          </m:e>
                          <m:sup>
                            <m:r>
                              <a:rPr lang="en-US" sz="2200" i="0" smtClean="0">
                                <a:solidFill>
                                  <a:schemeClr val="tx1"/>
                                </a:solidFill>
                                <a:latin typeface="Cambria Math" panose="02040503050406030204" pitchFamily="18" charset="0"/>
                                <a:ea typeface="Cambria Math" panose="02040503050406030204" pitchFamily="18" charset="0"/>
                              </a:rPr>
                              <m:t>2</m:t>
                            </m:r>
                          </m:sup>
                        </m:sSup>
                        <m:r>
                          <a:rPr lang="en-US" sz="2200" i="0" smtClean="0">
                            <a:solidFill>
                              <a:schemeClr val="tx1"/>
                            </a:solidFill>
                            <a:latin typeface="Cambria Math" panose="02040503050406030204" pitchFamily="18" charset="0"/>
                            <a:ea typeface="Cambria Math" panose="02040503050406030204" pitchFamily="18" charset="0"/>
                          </a:rPr>
                          <m:t>+</m:t>
                        </m:r>
                        <m:sSubSup>
                          <m:sSubSupPr>
                            <m:ctrlPr>
                              <a:rPr lang="en-US" sz="2200" i="1" smtClean="0">
                                <a:solidFill>
                                  <a:schemeClr val="tx1"/>
                                </a:solidFill>
                                <a:latin typeface="Cambria Math" panose="02040503050406030204" pitchFamily="18" charset="0"/>
                                <a:ea typeface="Cambria Math" panose="02040503050406030204" pitchFamily="18" charset="0"/>
                              </a:rPr>
                            </m:ctrlPr>
                          </m:sSubSupPr>
                          <m:e>
                            <m:r>
                              <a:rPr lang="en-US" sz="2200" i="1" smtClean="0">
                                <a:solidFill>
                                  <a:schemeClr val="tx1"/>
                                </a:solidFill>
                                <a:latin typeface="Cambria Math" panose="02040503050406030204" pitchFamily="18" charset="0"/>
                                <a:ea typeface="Cambria Math" panose="02040503050406030204" pitchFamily="18" charset="0"/>
                              </a:rPr>
                              <m:t>𝜔</m:t>
                            </m:r>
                          </m:e>
                          <m:sub>
                            <m:r>
                              <a:rPr lang="en-US" sz="2200" i="0" smtClean="0">
                                <a:solidFill>
                                  <a:schemeClr val="tx1"/>
                                </a:solidFill>
                                <a:latin typeface="Cambria Math" panose="02040503050406030204" pitchFamily="18" charset="0"/>
                                <a:ea typeface="Cambria Math" panose="02040503050406030204" pitchFamily="18" charset="0"/>
                              </a:rPr>
                              <m:t>1</m:t>
                            </m:r>
                          </m:sub>
                          <m:sup>
                            <m:r>
                              <a:rPr lang="en-US" sz="2200" i="0" smtClean="0">
                                <a:solidFill>
                                  <a:schemeClr val="tx1"/>
                                </a:solidFill>
                                <a:latin typeface="Cambria Math" panose="02040503050406030204" pitchFamily="18" charset="0"/>
                                <a:ea typeface="Cambria Math" panose="02040503050406030204" pitchFamily="18" charset="0"/>
                              </a:rPr>
                              <m:t>2</m:t>
                            </m:r>
                          </m:sup>
                        </m:sSubSup>
                      </m:den>
                    </m:f>
                  </m:oMath>
                </a14:m>
                <a:r>
                  <a:rPr lang="en-US" sz="2200">
                    <a:latin typeface="Cambria Math" panose="02040503050406030204" pitchFamily="18" charset="0"/>
                    <a:ea typeface="Cambria Math" panose="02040503050406030204" pitchFamily="18" charset="0"/>
                  </a:rPr>
                  <a:t> = </a:t>
                </a:r>
                <a14:m>
                  <m:oMath xmlns:m="http://schemas.openxmlformats.org/officeDocument/2006/math">
                    <m:f>
                      <m:fPr>
                        <m:ctrlPr>
                          <a:rPr lang="vi-VN" sz="2200" i="1">
                            <a:solidFill>
                              <a:srgbClr val="836967"/>
                            </a:solidFill>
                            <a:latin typeface="Cambria Math" panose="02040503050406030204" pitchFamily="18" charset="0"/>
                            <a:ea typeface="Cambria Math" panose="02040503050406030204" pitchFamily="18" charset="0"/>
                          </a:rPr>
                        </m:ctrlPr>
                      </m:fPr>
                      <m:num>
                        <m:d>
                          <m:dPr>
                            <m:ctrlPr>
                              <a:rPr lang="vi-VN" sz="2200">
                                <a:latin typeface="Cambria Math" panose="02040503050406030204" pitchFamily="18" charset="0"/>
                                <a:ea typeface="Cambria Math" panose="02040503050406030204" pitchFamily="18" charset="0"/>
                              </a:rPr>
                            </m:ctrlPr>
                          </m:dPr>
                          <m:e>
                            <m:r>
                              <a:rPr lang="vi-VN" sz="2200">
                                <a:latin typeface="Cambria Math" panose="02040503050406030204" pitchFamily="18" charset="0"/>
                                <a:ea typeface="Cambria Math" panose="02040503050406030204" pitchFamily="18" charset="0"/>
                              </a:rPr>
                              <m:t>4</m:t>
                            </m:r>
                            <m:sSub>
                              <m:sSubPr>
                                <m:ctrlPr>
                                  <a:rPr lang="vi-VN" sz="2200" i="1" smtClean="0">
                                    <a:solidFill>
                                      <a:srgbClr val="836967"/>
                                    </a:solidFill>
                                    <a:latin typeface="Cambria Math" panose="02040503050406030204" pitchFamily="18" charset="0"/>
                                    <a:ea typeface="Cambria Math" panose="02040503050406030204" pitchFamily="18" charset="0"/>
                                  </a:rPr>
                                </m:ctrlPr>
                              </m:sSubPr>
                              <m:e>
                                <m:r>
                                  <m:rPr>
                                    <m:sty m:val="p"/>
                                  </m:rPr>
                                  <a:rPr lang="vi-VN" sz="2200" i="1" smtClean="0">
                                    <a:solidFill>
                                      <a:srgbClr val="836967"/>
                                    </a:solidFill>
                                    <a:latin typeface="Cambria Math" panose="02040503050406030204" pitchFamily="18" charset="0"/>
                                    <a:ea typeface="Cambria Math" panose="02040503050406030204" pitchFamily="18" charset="0"/>
                                  </a:rPr>
                                  <m:t>K</m:t>
                                </m:r>
                              </m:e>
                              <m:sub>
                                <m:r>
                                  <a:rPr lang="vi-VN" sz="2200" i="1">
                                    <a:latin typeface="Cambria Math" panose="02040503050406030204" pitchFamily="18" charset="0"/>
                                    <a:ea typeface="Cambria Math" panose="02040503050406030204" pitchFamily="18" charset="0"/>
                                  </a:rPr>
                                  <m:t>𝑝</m:t>
                                </m:r>
                              </m:sub>
                            </m:sSub>
                            <m:r>
                              <a:rPr lang="vi-VN" sz="2200" i="0">
                                <a:latin typeface="Cambria Math" panose="02040503050406030204" pitchFamily="18" charset="0"/>
                                <a:ea typeface="Cambria Math" panose="02040503050406030204" pitchFamily="18" charset="0"/>
                              </a:rPr>
                              <m:t>+</m:t>
                            </m:r>
                            <m:sSub>
                              <m:sSubPr>
                                <m:ctrlPr>
                                  <a:rPr lang="vi-VN" sz="2200" i="1">
                                    <a:solidFill>
                                      <a:srgbClr val="836967"/>
                                    </a:solidFill>
                                    <a:latin typeface="Cambria Math" panose="02040503050406030204" pitchFamily="18" charset="0"/>
                                    <a:ea typeface="Cambria Math" panose="02040503050406030204" pitchFamily="18" charset="0"/>
                                  </a:rPr>
                                </m:ctrlPr>
                              </m:sSubPr>
                              <m:e>
                                <m:r>
                                  <m:rPr>
                                    <m:sty m:val="p"/>
                                  </m:rPr>
                                  <a:rPr lang="vi-VN" sz="2200" i="1">
                                    <a:solidFill>
                                      <a:srgbClr val="836967"/>
                                    </a:solidFill>
                                    <a:latin typeface="Cambria Math" panose="02040503050406030204" pitchFamily="18" charset="0"/>
                                    <a:ea typeface="Cambria Math" panose="02040503050406030204" pitchFamily="18" charset="0"/>
                                  </a:rPr>
                                  <m:t>K</m:t>
                                </m:r>
                              </m:e>
                              <m:sub>
                                <m:r>
                                  <a:rPr lang="vi-VN" sz="2200" i="1">
                                    <a:latin typeface="Cambria Math" panose="02040503050406030204" pitchFamily="18" charset="0"/>
                                    <a:ea typeface="Cambria Math" panose="02040503050406030204" pitchFamily="18" charset="0"/>
                                  </a:rPr>
                                  <m:t>𝑝</m:t>
                                </m:r>
                              </m:sub>
                            </m:sSub>
                            <m:r>
                              <a:rPr lang="vi-VN" sz="2200">
                                <a:latin typeface="Cambria Math" panose="02040503050406030204" pitchFamily="18" charset="0"/>
                                <a:ea typeface="Cambria Math" panose="02040503050406030204" pitchFamily="18" charset="0"/>
                              </a:rPr>
                              <m:t>⋅</m:t>
                            </m:r>
                            <m:sSup>
                              <m:sSupPr>
                                <m:ctrlPr>
                                  <a:rPr lang="vi-VN" sz="2200" i="1">
                                    <a:latin typeface="Cambria Math" panose="02040503050406030204" pitchFamily="18" charset="0"/>
                                    <a:ea typeface="Cambria Math" panose="02040503050406030204" pitchFamily="18" charset="0"/>
                                  </a:rPr>
                                </m:ctrlPr>
                              </m:sSupPr>
                              <m:e>
                                <m:r>
                                  <a:rPr lang="vi-VN" sz="2200" i="1">
                                    <a:latin typeface="Cambria Math" panose="02040503050406030204" pitchFamily="18" charset="0"/>
                                    <a:ea typeface="Cambria Math" panose="02040503050406030204" pitchFamily="18" charset="0"/>
                                  </a:rPr>
                                  <m:t>𝜔</m:t>
                                </m:r>
                              </m:e>
                              <m:sup>
                                <m:r>
                                  <a:rPr lang="vi-VN" sz="2200">
                                    <a:latin typeface="Cambria Math" panose="02040503050406030204" pitchFamily="18" charset="0"/>
                                    <a:ea typeface="Cambria Math" panose="02040503050406030204" pitchFamily="18" charset="0"/>
                                  </a:rPr>
                                  <m:t>2</m:t>
                                </m:r>
                              </m:sup>
                            </m:sSup>
                            <m:r>
                              <a:rPr lang="vi-VN" sz="2200">
                                <a:latin typeface="Cambria Math" panose="02040503050406030204" pitchFamily="18" charset="0"/>
                                <a:ea typeface="Cambria Math" panose="02040503050406030204" pitchFamily="18" charset="0"/>
                              </a:rPr>
                              <m:t>⋅</m:t>
                            </m:r>
                            <m:sSubSup>
                              <m:sSubSupPr>
                                <m:ctrlPr>
                                  <a:rPr lang="vi-VN" sz="2200" i="1">
                                    <a:solidFill>
                                      <a:srgbClr val="836967"/>
                                    </a:solidFill>
                                    <a:latin typeface="Cambria Math" panose="02040503050406030204" pitchFamily="18" charset="0"/>
                                    <a:ea typeface="Cambria Math" panose="02040503050406030204" pitchFamily="18" charset="0"/>
                                  </a:rPr>
                                </m:ctrlPr>
                              </m:sSubSupPr>
                              <m:e>
                                <m:r>
                                  <m:rPr>
                                    <m:sty m:val="p"/>
                                  </m:rPr>
                                  <a:rPr lang="vi-VN" sz="2200" i="1">
                                    <a:solidFill>
                                      <a:srgbClr val="836967"/>
                                    </a:solidFill>
                                    <a:latin typeface="Cambria Math" panose="02040503050406030204" pitchFamily="18" charset="0"/>
                                    <a:ea typeface="Cambria Math" panose="02040503050406030204" pitchFamily="18" charset="0"/>
                                  </a:rPr>
                                  <m:t>T</m:t>
                                </m:r>
                              </m:e>
                              <m:sub>
                                <m:r>
                                  <a:rPr lang="vi-VN" sz="2200" i="1">
                                    <a:latin typeface="Cambria Math" panose="02040503050406030204" pitchFamily="18" charset="0"/>
                                    <a:ea typeface="Cambria Math" panose="02040503050406030204" pitchFamily="18" charset="0"/>
                                  </a:rPr>
                                  <m:t>𝑠</m:t>
                                </m:r>
                              </m:sub>
                              <m:sup>
                                <m:r>
                                  <a:rPr lang="vi-VN" sz="2200">
                                    <a:latin typeface="Cambria Math" panose="02040503050406030204" pitchFamily="18" charset="0"/>
                                    <a:ea typeface="Cambria Math" panose="02040503050406030204" pitchFamily="18" charset="0"/>
                                  </a:rPr>
                                  <m:t>2</m:t>
                                </m:r>
                              </m:sup>
                            </m:sSubSup>
                            <m:r>
                              <a:rPr lang="vi-VN" sz="2200" b="0" i="0" smtClean="0">
                                <a:latin typeface="Cambria Math" panose="02040503050406030204" pitchFamily="18" charset="0"/>
                                <a:ea typeface="Cambria Math" panose="02040503050406030204" pitchFamily="18" charset="0"/>
                              </a:rPr>
                              <m:t>+</m:t>
                            </m:r>
                            <m:r>
                              <a:rPr lang="vi-VN" sz="2200" i="0">
                                <a:latin typeface="Cambria Math" panose="02040503050406030204" pitchFamily="18" charset="0"/>
                                <a:ea typeface="Cambria Math" panose="02040503050406030204" pitchFamily="18" charset="0"/>
                              </a:rPr>
                              <m:t>2</m:t>
                            </m:r>
                            <m:sSub>
                              <m:sSubPr>
                                <m:ctrlPr>
                                  <a:rPr lang="vi-VN" sz="2200" i="1" smtClean="0">
                                    <a:solidFill>
                                      <a:srgbClr val="836967"/>
                                    </a:solidFill>
                                    <a:latin typeface="Cambria Math" panose="02040503050406030204" pitchFamily="18" charset="0"/>
                                    <a:ea typeface="Cambria Math" panose="02040503050406030204" pitchFamily="18" charset="0"/>
                                  </a:rPr>
                                </m:ctrlPr>
                              </m:sSubPr>
                              <m:e>
                                <m:r>
                                  <m:rPr>
                                    <m:sty m:val="p"/>
                                  </m:rPr>
                                  <a:rPr lang="vi-VN" sz="2200" i="1" smtClean="0">
                                    <a:solidFill>
                                      <a:srgbClr val="836967"/>
                                    </a:solidFill>
                                    <a:latin typeface="Cambria Math" panose="02040503050406030204" pitchFamily="18" charset="0"/>
                                    <a:ea typeface="Cambria Math" panose="02040503050406030204" pitchFamily="18" charset="0"/>
                                  </a:rPr>
                                  <m:t>K</m:t>
                                </m:r>
                              </m:e>
                              <m:sub>
                                <m:r>
                                  <a:rPr lang="vi-VN" sz="2200" i="1">
                                    <a:latin typeface="Cambria Math" panose="02040503050406030204" pitchFamily="18" charset="0"/>
                                    <a:ea typeface="Cambria Math" panose="02040503050406030204" pitchFamily="18" charset="0"/>
                                  </a:rPr>
                                  <m:t>𝑖</m:t>
                                </m:r>
                              </m:sub>
                            </m:sSub>
                            <m:r>
                              <a:rPr lang="vi-VN" sz="2200" i="0">
                                <a:latin typeface="Cambria Math" panose="02040503050406030204" pitchFamily="18" charset="0"/>
                                <a:ea typeface="Cambria Math" panose="02040503050406030204" pitchFamily="18" charset="0"/>
                              </a:rPr>
                              <m:t>⋅</m:t>
                            </m:r>
                            <m:sSub>
                              <m:sSubPr>
                                <m:ctrlPr>
                                  <a:rPr lang="vi-VN" sz="2200" i="1">
                                    <a:latin typeface="Cambria Math" panose="02040503050406030204" pitchFamily="18" charset="0"/>
                                    <a:ea typeface="Cambria Math" panose="02040503050406030204" pitchFamily="18" charset="0"/>
                                  </a:rPr>
                                </m:ctrlPr>
                              </m:sSubPr>
                              <m:e>
                                <m:r>
                                  <a:rPr lang="vi-VN" sz="2200" i="1">
                                    <a:latin typeface="Cambria Math" panose="02040503050406030204" pitchFamily="18" charset="0"/>
                                    <a:ea typeface="Cambria Math" panose="02040503050406030204" pitchFamily="18" charset="0"/>
                                  </a:rPr>
                                  <m:t>𝑇</m:t>
                                </m:r>
                              </m:e>
                              <m:sub>
                                <m:r>
                                  <a:rPr lang="vi-VN" sz="2200" i="1">
                                    <a:latin typeface="Cambria Math" panose="02040503050406030204" pitchFamily="18" charset="0"/>
                                    <a:ea typeface="Cambria Math" panose="02040503050406030204" pitchFamily="18" charset="0"/>
                                  </a:rPr>
                                  <m:t>𝑠</m:t>
                                </m:r>
                              </m:sub>
                            </m:sSub>
                          </m:e>
                        </m:d>
                        <m:r>
                          <a:rPr lang="vi-VN" sz="2200" b="0" i="1" smtClean="0">
                            <a:latin typeface="Cambria Math" panose="02040503050406030204" pitchFamily="18" charset="0"/>
                            <a:ea typeface="Cambria Math" panose="02040503050406030204" pitchFamily="18" charset="0"/>
                          </a:rPr>
                          <m:t> +</m:t>
                        </m:r>
                        <m:d>
                          <m:dPr>
                            <m:ctrlPr>
                              <a:rPr lang="vi-VN" sz="2200" b="0" i="1" smtClean="0">
                                <a:latin typeface="Cambria Math" panose="02040503050406030204" pitchFamily="18" charset="0"/>
                                <a:ea typeface="Cambria Math" panose="02040503050406030204" pitchFamily="18" charset="0"/>
                              </a:rPr>
                            </m:ctrlPr>
                          </m:dPr>
                          <m:e>
                            <m:r>
                              <a:rPr lang="vi-VN" sz="2200" b="0" i="1" smtClean="0">
                                <a:latin typeface="Cambria Math" panose="02040503050406030204" pitchFamily="18" charset="0"/>
                                <a:ea typeface="Cambria Math" panose="02040503050406030204" pitchFamily="18" charset="0"/>
                              </a:rPr>
                              <m:t>−</m:t>
                            </m:r>
                            <m:r>
                              <a:rPr lang="vi-VN" sz="2200" i="1">
                                <a:latin typeface="Cambria Math" panose="02040503050406030204" pitchFamily="18" charset="0"/>
                                <a:ea typeface="Cambria Math" panose="02040503050406030204" pitchFamily="18" charset="0"/>
                              </a:rPr>
                              <m:t>8</m:t>
                            </m:r>
                            <m:sSub>
                              <m:sSubPr>
                                <m:ctrlPr>
                                  <a:rPr lang="vi-VN" sz="2200" i="1">
                                    <a:solidFill>
                                      <a:srgbClr val="836967"/>
                                    </a:solidFill>
                                    <a:latin typeface="Cambria Math" panose="02040503050406030204" pitchFamily="18" charset="0"/>
                                    <a:ea typeface="Cambria Math" panose="02040503050406030204" pitchFamily="18" charset="0"/>
                                  </a:rPr>
                                </m:ctrlPr>
                              </m:sSubPr>
                              <m:e>
                                <m:r>
                                  <m:rPr>
                                    <m:sty m:val="p"/>
                                  </m:rPr>
                                  <a:rPr lang="vi-VN" sz="2200" i="1">
                                    <a:solidFill>
                                      <a:srgbClr val="836967"/>
                                    </a:solidFill>
                                    <a:latin typeface="Cambria Math" panose="02040503050406030204" pitchFamily="18" charset="0"/>
                                    <a:ea typeface="Cambria Math" panose="02040503050406030204" pitchFamily="18" charset="0"/>
                                  </a:rPr>
                                  <m:t>K</m:t>
                                </m:r>
                              </m:e>
                              <m:sub>
                                <m:r>
                                  <a:rPr lang="vi-VN" sz="2200" i="1">
                                    <a:latin typeface="Cambria Math" panose="02040503050406030204" pitchFamily="18" charset="0"/>
                                    <a:ea typeface="Cambria Math" panose="02040503050406030204" pitchFamily="18" charset="0"/>
                                  </a:rPr>
                                  <m:t>𝑝</m:t>
                                </m:r>
                              </m:sub>
                            </m:sSub>
                            <m:r>
                              <a:rPr lang="vi-VN" sz="2200" b="0" i="1" smtClean="0">
                                <a:latin typeface="Cambria Math" panose="02040503050406030204" pitchFamily="18" charset="0"/>
                                <a:ea typeface="Cambria Math" panose="02040503050406030204" pitchFamily="18" charset="0"/>
                              </a:rPr>
                              <m:t>+</m:t>
                            </m:r>
                            <m:r>
                              <a:rPr lang="vi-VN" sz="2200" i="1">
                                <a:latin typeface="Cambria Math" panose="02040503050406030204" pitchFamily="18" charset="0"/>
                                <a:ea typeface="Cambria Math" panose="02040503050406030204" pitchFamily="18" charset="0"/>
                              </a:rPr>
                              <m:t>2</m:t>
                            </m:r>
                            <m:sSub>
                              <m:sSubPr>
                                <m:ctrlPr>
                                  <a:rPr lang="vi-VN" sz="2200" i="1">
                                    <a:solidFill>
                                      <a:srgbClr val="836967"/>
                                    </a:solidFill>
                                    <a:latin typeface="Cambria Math" panose="02040503050406030204" pitchFamily="18" charset="0"/>
                                    <a:ea typeface="Cambria Math" panose="02040503050406030204" pitchFamily="18" charset="0"/>
                                  </a:rPr>
                                </m:ctrlPr>
                              </m:sSubPr>
                              <m:e>
                                <m:r>
                                  <m:rPr>
                                    <m:sty m:val="p"/>
                                  </m:rPr>
                                  <a:rPr lang="vi-VN" sz="2200" i="1">
                                    <a:solidFill>
                                      <a:srgbClr val="836967"/>
                                    </a:solidFill>
                                    <a:latin typeface="Cambria Math" panose="02040503050406030204" pitchFamily="18" charset="0"/>
                                    <a:ea typeface="Cambria Math" panose="02040503050406030204" pitchFamily="18" charset="0"/>
                                  </a:rPr>
                                  <m:t>K</m:t>
                                </m:r>
                              </m:e>
                              <m:sub>
                                <m:r>
                                  <a:rPr lang="vi-VN" sz="2200" i="1">
                                    <a:latin typeface="Cambria Math" panose="02040503050406030204" pitchFamily="18" charset="0"/>
                                    <a:ea typeface="Cambria Math" panose="02040503050406030204" pitchFamily="18" charset="0"/>
                                  </a:rPr>
                                  <m:t>𝑝</m:t>
                                </m:r>
                              </m:sub>
                            </m:sSub>
                            <m:r>
                              <a:rPr lang="vi-VN" sz="2200">
                                <a:latin typeface="Cambria Math" panose="02040503050406030204" pitchFamily="18" charset="0"/>
                                <a:ea typeface="Cambria Math" panose="02040503050406030204" pitchFamily="18" charset="0"/>
                              </a:rPr>
                              <m:t>⋅</m:t>
                            </m:r>
                            <m:sSup>
                              <m:sSupPr>
                                <m:ctrlPr>
                                  <a:rPr lang="vi-VN" sz="2200" i="1">
                                    <a:latin typeface="Cambria Math" panose="02040503050406030204" pitchFamily="18" charset="0"/>
                                    <a:ea typeface="Cambria Math" panose="02040503050406030204" pitchFamily="18" charset="0"/>
                                  </a:rPr>
                                </m:ctrlPr>
                              </m:sSupPr>
                              <m:e>
                                <m:r>
                                  <a:rPr lang="vi-VN" sz="2200" i="1">
                                    <a:latin typeface="Cambria Math" panose="02040503050406030204" pitchFamily="18" charset="0"/>
                                    <a:ea typeface="Cambria Math" panose="02040503050406030204" pitchFamily="18" charset="0"/>
                                  </a:rPr>
                                  <m:t>𝜔</m:t>
                                </m:r>
                              </m:e>
                              <m:sup>
                                <m:r>
                                  <a:rPr lang="vi-VN" sz="2200">
                                    <a:latin typeface="Cambria Math" panose="02040503050406030204" pitchFamily="18" charset="0"/>
                                    <a:ea typeface="Cambria Math" panose="02040503050406030204" pitchFamily="18" charset="0"/>
                                  </a:rPr>
                                  <m:t>2</m:t>
                                </m:r>
                              </m:sup>
                            </m:sSup>
                            <m:r>
                              <a:rPr lang="vi-VN" sz="2200">
                                <a:latin typeface="Cambria Math" panose="02040503050406030204" pitchFamily="18" charset="0"/>
                                <a:ea typeface="Cambria Math" panose="02040503050406030204" pitchFamily="18" charset="0"/>
                              </a:rPr>
                              <m:t>⋅</m:t>
                            </m:r>
                            <m:sSubSup>
                              <m:sSubSupPr>
                                <m:ctrlPr>
                                  <a:rPr lang="vi-VN" sz="2200" i="1">
                                    <a:solidFill>
                                      <a:srgbClr val="836967"/>
                                    </a:solidFill>
                                    <a:latin typeface="Cambria Math" panose="02040503050406030204" pitchFamily="18" charset="0"/>
                                    <a:ea typeface="Cambria Math" panose="02040503050406030204" pitchFamily="18" charset="0"/>
                                  </a:rPr>
                                </m:ctrlPr>
                              </m:sSubSupPr>
                              <m:e>
                                <m:r>
                                  <m:rPr>
                                    <m:sty m:val="p"/>
                                  </m:rPr>
                                  <a:rPr lang="vi-VN" sz="2200" i="1">
                                    <a:solidFill>
                                      <a:srgbClr val="836967"/>
                                    </a:solidFill>
                                    <a:latin typeface="Cambria Math" panose="02040503050406030204" pitchFamily="18" charset="0"/>
                                    <a:ea typeface="Cambria Math" panose="02040503050406030204" pitchFamily="18" charset="0"/>
                                  </a:rPr>
                                  <m:t>T</m:t>
                                </m:r>
                              </m:e>
                              <m:sub>
                                <m:r>
                                  <a:rPr lang="vi-VN" sz="2200" i="1">
                                    <a:latin typeface="Cambria Math" panose="02040503050406030204" pitchFamily="18" charset="0"/>
                                    <a:ea typeface="Cambria Math" panose="02040503050406030204" pitchFamily="18" charset="0"/>
                                  </a:rPr>
                                  <m:t>𝑠</m:t>
                                </m:r>
                              </m:sub>
                              <m:sup>
                                <m:r>
                                  <a:rPr lang="vi-VN" sz="2200">
                                    <a:latin typeface="Cambria Math" panose="02040503050406030204" pitchFamily="18" charset="0"/>
                                    <a:ea typeface="Cambria Math" panose="02040503050406030204" pitchFamily="18" charset="0"/>
                                  </a:rPr>
                                  <m:t>2</m:t>
                                </m:r>
                              </m:sup>
                            </m:sSubSup>
                          </m:e>
                        </m:d>
                        <m:r>
                          <a:rPr lang="vi-VN" sz="2200" b="0" i="1" smtClean="0">
                            <a:latin typeface="Cambria Math" panose="02040503050406030204" pitchFamily="18" charset="0"/>
                            <a:ea typeface="Cambria Math" panose="02040503050406030204" pitchFamily="18" charset="0"/>
                          </a:rPr>
                          <m:t>∗</m:t>
                        </m:r>
                        <m:sSup>
                          <m:sSupPr>
                            <m:ctrlPr>
                              <a:rPr lang="vi-VN" sz="2200" b="1" i="1">
                                <a:latin typeface="Cambria Math" panose="02040503050406030204" pitchFamily="18" charset="0"/>
                                <a:ea typeface="Cambria Math" panose="02040503050406030204" pitchFamily="18" charset="0"/>
                              </a:rPr>
                            </m:ctrlPr>
                          </m:sSupPr>
                          <m:e>
                            <m:r>
                              <a:rPr lang="vi-VN" sz="2200" b="1" i="1">
                                <a:latin typeface="Cambria Math" panose="02040503050406030204" pitchFamily="18" charset="0"/>
                                <a:ea typeface="Cambria Math" panose="02040503050406030204" pitchFamily="18" charset="0"/>
                              </a:rPr>
                              <m:t>𝒛</m:t>
                            </m:r>
                          </m:e>
                          <m:sup>
                            <m:r>
                              <a:rPr lang="vi-VN" sz="2200" b="1" i="1">
                                <a:latin typeface="Cambria Math" panose="02040503050406030204" pitchFamily="18" charset="0"/>
                                <a:ea typeface="Cambria Math" panose="02040503050406030204" pitchFamily="18" charset="0"/>
                              </a:rPr>
                              <m:t>−</m:t>
                            </m:r>
                            <m:r>
                              <a:rPr lang="vi-VN" sz="2200" b="1" i="1">
                                <a:latin typeface="Cambria Math" panose="02040503050406030204" pitchFamily="18" charset="0"/>
                                <a:ea typeface="Cambria Math" panose="02040503050406030204" pitchFamily="18" charset="0"/>
                              </a:rPr>
                              <m:t>𝟏</m:t>
                            </m:r>
                          </m:sup>
                        </m:sSup>
                        <m:r>
                          <a:rPr lang="vi-VN" sz="2200" b="0" i="1" smtClean="0">
                            <a:latin typeface="Cambria Math" panose="02040503050406030204" pitchFamily="18" charset="0"/>
                            <a:ea typeface="Cambria Math" panose="02040503050406030204" pitchFamily="18" charset="0"/>
                          </a:rPr>
                          <m:t>+</m:t>
                        </m:r>
                        <m:d>
                          <m:dPr>
                            <m:ctrlPr>
                              <a:rPr lang="vi-VN" sz="2200" i="1">
                                <a:latin typeface="Cambria Math" panose="02040503050406030204" pitchFamily="18" charset="0"/>
                                <a:ea typeface="Cambria Math" panose="02040503050406030204" pitchFamily="18" charset="0"/>
                              </a:rPr>
                            </m:ctrlPr>
                          </m:dPr>
                          <m:e>
                            <m:r>
                              <a:rPr lang="vi-VN" sz="2200" i="1">
                                <a:latin typeface="Cambria Math" panose="02040503050406030204" pitchFamily="18" charset="0"/>
                                <a:ea typeface="Cambria Math" panose="02040503050406030204" pitchFamily="18" charset="0"/>
                              </a:rPr>
                              <m:t>4</m:t>
                            </m:r>
                            <m:sSub>
                              <m:sSubPr>
                                <m:ctrlPr>
                                  <a:rPr lang="vi-VN" sz="2200" i="1">
                                    <a:solidFill>
                                      <a:srgbClr val="836967"/>
                                    </a:solidFill>
                                    <a:latin typeface="Cambria Math" panose="02040503050406030204" pitchFamily="18" charset="0"/>
                                    <a:ea typeface="Cambria Math" panose="02040503050406030204" pitchFamily="18" charset="0"/>
                                  </a:rPr>
                                </m:ctrlPr>
                              </m:sSubPr>
                              <m:e>
                                <m:r>
                                  <m:rPr>
                                    <m:sty m:val="p"/>
                                  </m:rPr>
                                  <a:rPr lang="vi-VN" sz="2200" i="1">
                                    <a:solidFill>
                                      <a:srgbClr val="836967"/>
                                    </a:solidFill>
                                    <a:latin typeface="Cambria Math" panose="02040503050406030204" pitchFamily="18" charset="0"/>
                                    <a:ea typeface="Cambria Math" panose="02040503050406030204" pitchFamily="18" charset="0"/>
                                  </a:rPr>
                                  <m:t>K</m:t>
                                </m:r>
                              </m:e>
                              <m:sub>
                                <m:r>
                                  <a:rPr lang="vi-VN" sz="2200" i="1">
                                    <a:latin typeface="Cambria Math" panose="02040503050406030204" pitchFamily="18" charset="0"/>
                                    <a:ea typeface="Cambria Math" panose="02040503050406030204" pitchFamily="18" charset="0"/>
                                  </a:rPr>
                                  <m:t>𝑝</m:t>
                                </m:r>
                              </m:sub>
                            </m:sSub>
                            <m:r>
                              <a:rPr lang="vi-VN" sz="2200" b="0" i="1" smtClean="0">
                                <a:latin typeface="Cambria Math" panose="02040503050406030204" pitchFamily="18" charset="0"/>
                                <a:ea typeface="Cambria Math" panose="02040503050406030204" pitchFamily="18" charset="0"/>
                              </a:rPr>
                              <m:t>+</m:t>
                            </m:r>
                            <m:sSub>
                              <m:sSubPr>
                                <m:ctrlPr>
                                  <a:rPr lang="vi-VN" sz="2200" i="1">
                                    <a:solidFill>
                                      <a:srgbClr val="836967"/>
                                    </a:solidFill>
                                    <a:latin typeface="Cambria Math" panose="02040503050406030204" pitchFamily="18" charset="0"/>
                                    <a:ea typeface="Cambria Math" panose="02040503050406030204" pitchFamily="18" charset="0"/>
                                  </a:rPr>
                                </m:ctrlPr>
                              </m:sSubPr>
                              <m:e>
                                <m:r>
                                  <m:rPr>
                                    <m:sty m:val="p"/>
                                  </m:rPr>
                                  <a:rPr lang="vi-VN" sz="2200" i="1">
                                    <a:solidFill>
                                      <a:srgbClr val="836967"/>
                                    </a:solidFill>
                                    <a:latin typeface="Cambria Math" panose="02040503050406030204" pitchFamily="18" charset="0"/>
                                    <a:ea typeface="Cambria Math" panose="02040503050406030204" pitchFamily="18" charset="0"/>
                                  </a:rPr>
                                  <m:t>K</m:t>
                                </m:r>
                              </m:e>
                              <m:sub>
                                <m:r>
                                  <a:rPr lang="vi-VN" sz="2200" i="1">
                                    <a:latin typeface="Cambria Math" panose="02040503050406030204" pitchFamily="18" charset="0"/>
                                    <a:ea typeface="Cambria Math" panose="02040503050406030204" pitchFamily="18" charset="0"/>
                                  </a:rPr>
                                  <m:t>𝑝</m:t>
                                </m:r>
                              </m:sub>
                            </m:sSub>
                            <m:r>
                              <a:rPr lang="vi-VN" sz="2200">
                                <a:latin typeface="Cambria Math" panose="02040503050406030204" pitchFamily="18" charset="0"/>
                                <a:ea typeface="Cambria Math" panose="02040503050406030204" pitchFamily="18" charset="0"/>
                              </a:rPr>
                              <m:t>⋅</m:t>
                            </m:r>
                            <m:sSup>
                              <m:sSupPr>
                                <m:ctrlPr>
                                  <a:rPr lang="vi-VN" sz="2200" i="1">
                                    <a:latin typeface="Cambria Math" panose="02040503050406030204" pitchFamily="18" charset="0"/>
                                    <a:ea typeface="Cambria Math" panose="02040503050406030204" pitchFamily="18" charset="0"/>
                                  </a:rPr>
                                </m:ctrlPr>
                              </m:sSupPr>
                              <m:e>
                                <m:r>
                                  <a:rPr lang="vi-VN" sz="2200" i="1">
                                    <a:latin typeface="Cambria Math" panose="02040503050406030204" pitchFamily="18" charset="0"/>
                                    <a:ea typeface="Cambria Math" panose="02040503050406030204" pitchFamily="18" charset="0"/>
                                  </a:rPr>
                                  <m:t>𝜔</m:t>
                                </m:r>
                              </m:e>
                              <m:sup>
                                <m:r>
                                  <a:rPr lang="vi-VN" sz="2200">
                                    <a:latin typeface="Cambria Math" panose="02040503050406030204" pitchFamily="18" charset="0"/>
                                    <a:ea typeface="Cambria Math" panose="02040503050406030204" pitchFamily="18" charset="0"/>
                                  </a:rPr>
                                  <m:t>2</m:t>
                                </m:r>
                              </m:sup>
                            </m:sSup>
                            <m:r>
                              <a:rPr lang="vi-VN" sz="2200">
                                <a:latin typeface="Cambria Math" panose="02040503050406030204" pitchFamily="18" charset="0"/>
                                <a:ea typeface="Cambria Math" panose="02040503050406030204" pitchFamily="18" charset="0"/>
                              </a:rPr>
                              <m:t>⋅</m:t>
                            </m:r>
                            <m:sSubSup>
                              <m:sSubSupPr>
                                <m:ctrlPr>
                                  <a:rPr lang="vi-VN" sz="2200" i="1">
                                    <a:solidFill>
                                      <a:srgbClr val="836967"/>
                                    </a:solidFill>
                                    <a:latin typeface="Cambria Math" panose="02040503050406030204" pitchFamily="18" charset="0"/>
                                    <a:ea typeface="Cambria Math" panose="02040503050406030204" pitchFamily="18" charset="0"/>
                                  </a:rPr>
                                </m:ctrlPr>
                              </m:sSubSupPr>
                              <m:e>
                                <m:r>
                                  <m:rPr>
                                    <m:sty m:val="p"/>
                                  </m:rPr>
                                  <a:rPr lang="vi-VN" sz="2200" i="1">
                                    <a:solidFill>
                                      <a:srgbClr val="836967"/>
                                    </a:solidFill>
                                    <a:latin typeface="Cambria Math" panose="02040503050406030204" pitchFamily="18" charset="0"/>
                                    <a:ea typeface="Cambria Math" panose="02040503050406030204" pitchFamily="18" charset="0"/>
                                  </a:rPr>
                                  <m:t>T</m:t>
                                </m:r>
                              </m:e>
                              <m:sub>
                                <m:r>
                                  <a:rPr lang="vi-VN" sz="2200" i="1">
                                    <a:latin typeface="Cambria Math" panose="02040503050406030204" pitchFamily="18" charset="0"/>
                                    <a:ea typeface="Cambria Math" panose="02040503050406030204" pitchFamily="18" charset="0"/>
                                  </a:rPr>
                                  <m:t>𝑠</m:t>
                                </m:r>
                              </m:sub>
                              <m:sup>
                                <m:r>
                                  <a:rPr lang="vi-VN" sz="2200">
                                    <a:latin typeface="Cambria Math" panose="02040503050406030204" pitchFamily="18" charset="0"/>
                                    <a:ea typeface="Cambria Math" panose="02040503050406030204" pitchFamily="18" charset="0"/>
                                  </a:rPr>
                                  <m:t>2</m:t>
                                </m:r>
                              </m:sup>
                            </m:sSubSup>
                            <m:r>
                              <a:rPr lang="vi-VN" sz="2200" b="0" i="1" smtClean="0">
                                <a:latin typeface="Cambria Math" panose="02040503050406030204" pitchFamily="18" charset="0"/>
                                <a:ea typeface="Cambria Math" panose="02040503050406030204" pitchFamily="18" charset="0"/>
                              </a:rPr>
                              <m:t>−</m:t>
                            </m:r>
                            <m:sSub>
                              <m:sSubPr>
                                <m:ctrlPr>
                                  <a:rPr lang="vi-VN" sz="2200" i="1">
                                    <a:solidFill>
                                      <a:srgbClr val="836967"/>
                                    </a:solidFill>
                                    <a:latin typeface="Cambria Math" panose="02040503050406030204" pitchFamily="18" charset="0"/>
                                    <a:ea typeface="Cambria Math" panose="02040503050406030204" pitchFamily="18" charset="0"/>
                                  </a:rPr>
                                </m:ctrlPr>
                              </m:sSubPr>
                              <m:e>
                                <m:r>
                                  <m:rPr>
                                    <m:sty m:val="p"/>
                                  </m:rPr>
                                  <a:rPr lang="vi-VN" sz="2200" i="1">
                                    <a:solidFill>
                                      <a:srgbClr val="836967"/>
                                    </a:solidFill>
                                    <a:latin typeface="Cambria Math" panose="02040503050406030204" pitchFamily="18" charset="0"/>
                                    <a:ea typeface="Cambria Math" panose="02040503050406030204" pitchFamily="18" charset="0"/>
                                  </a:rPr>
                                  <m:t>K</m:t>
                                </m:r>
                              </m:e>
                              <m:sub>
                                <m:r>
                                  <a:rPr lang="vi-VN" sz="2200" i="1">
                                    <a:latin typeface="Cambria Math" panose="02040503050406030204" pitchFamily="18" charset="0"/>
                                    <a:ea typeface="Cambria Math" panose="02040503050406030204" pitchFamily="18" charset="0"/>
                                  </a:rPr>
                                  <m:t>𝑖</m:t>
                                </m:r>
                              </m:sub>
                            </m:sSub>
                            <m:r>
                              <a:rPr lang="vi-VN" sz="2200">
                                <a:latin typeface="Cambria Math" panose="02040503050406030204" pitchFamily="18" charset="0"/>
                                <a:ea typeface="Cambria Math" panose="02040503050406030204" pitchFamily="18" charset="0"/>
                              </a:rPr>
                              <m:t>⋅</m:t>
                            </m:r>
                            <m:sSub>
                              <m:sSubPr>
                                <m:ctrlPr>
                                  <a:rPr lang="vi-VN" sz="2200" i="1">
                                    <a:latin typeface="Cambria Math" panose="02040503050406030204" pitchFamily="18" charset="0"/>
                                    <a:ea typeface="Cambria Math" panose="02040503050406030204" pitchFamily="18" charset="0"/>
                                  </a:rPr>
                                </m:ctrlPr>
                              </m:sSubPr>
                              <m:e>
                                <m:r>
                                  <a:rPr lang="vi-VN" sz="2200" i="1">
                                    <a:latin typeface="Cambria Math" panose="02040503050406030204" pitchFamily="18" charset="0"/>
                                    <a:ea typeface="Cambria Math" panose="02040503050406030204" pitchFamily="18" charset="0"/>
                                  </a:rPr>
                                  <m:t>𝑇</m:t>
                                </m:r>
                              </m:e>
                              <m:sub>
                                <m:r>
                                  <a:rPr lang="vi-VN" sz="2200" i="1">
                                    <a:latin typeface="Cambria Math" panose="02040503050406030204" pitchFamily="18" charset="0"/>
                                    <a:ea typeface="Cambria Math" panose="02040503050406030204" pitchFamily="18" charset="0"/>
                                  </a:rPr>
                                  <m:t>𝑠</m:t>
                                </m:r>
                              </m:sub>
                            </m:sSub>
                            <m:r>
                              <m:rPr>
                                <m:nor/>
                              </m:rPr>
                              <a:rPr lang="vi-VN" sz="2200" i="0">
                                <a:latin typeface="Cambria Math" panose="02040503050406030204" pitchFamily="18" charset="0"/>
                                <a:ea typeface="Cambria Math" panose="02040503050406030204" pitchFamily="18" charset="0"/>
                              </a:rPr>
                              <m:t> </m:t>
                            </m:r>
                          </m:e>
                        </m:d>
                        <m:r>
                          <a:rPr lang="vi-VN" sz="2200" b="0" i="1" smtClean="0">
                            <a:latin typeface="Cambria Math" panose="02040503050406030204" pitchFamily="18" charset="0"/>
                            <a:ea typeface="Cambria Math" panose="02040503050406030204" pitchFamily="18" charset="0"/>
                          </a:rPr>
                          <m:t>∗</m:t>
                        </m:r>
                        <m:sSup>
                          <m:sSupPr>
                            <m:ctrlPr>
                              <a:rPr lang="vi-VN" sz="2200" b="1" i="1">
                                <a:latin typeface="Cambria Math" panose="02040503050406030204" pitchFamily="18" charset="0"/>
                                <a:ea typeface="Cambria Math" panose="02040503050406030204" pitchFamily="18" charset="0"/>
                              </a:rPr>
                            </m:ctrlPr>
                          </m:sSupPr>
                          <m:e>
                            <m:r>
                              <a:rPr lang="vi-VN" sz="2200" b="1" i="1">
                                <a:latin typeface="Cambria Math" panose="02040503050406030204" pitchFamily="18" charset="0"/>
                                <a:ea typeface="Cambria Math" panose="02040503050406030204" pitchFamily="18" charset="0"/>
                              </a:rPr>
                              <m:t>𝒛</m:t>
                            </m:r>
                          </m:e>
                          <m:sup>
                            <m:r>
                              <a:rPr lang="vi-VN" sz="2200" b="1" i="1">
                                <a:latin typeface="Cambria Math" panose="02040503050406030204" pitchFamily="18" charset="0"/>
                                <a:ea typeface="Cambria Math" panose="02040503050406030204" pitchFamily="18" charset="0"/>
                              </a:rPr>
                              <m:t>−</m:t>
                            </m:r>
                            <m:r>
                              <a:rPr lang="vi-VN" sz="2200" b="1" i="1">
                                <a:latin typeface="Cambria Math" panose="02040503050406030204" pitchFamily="18" charset="0"/>
                                <a:ea typeface="Cambria Math" panose="02040503050406030204" pitchFamily="18" charset="0"/>
                              </a:rPr>
                              <m:t>𝟐</m:t>
                            </m:r>
                          </m:sup>
                        </m:sSup>
                      </m:num>
                      <m:den>
                        <m:d>
                          <m:dPr>
                            <m:ctrlPr>
                              <a:rPr lang="vi-VN" sz="2200" i="0">
                                <a:latin typeface="Cambria Math" panose="02040503050406030204" pitchFamily="18" charset="0"/>
                                <a:ea typeface="Cambria Math" panose="02040503050406030204" pitchFamily="18" charset="0"/>
                              </a:rPr>
                            </m:ctrlPr>
                          </m:dPr>
                          <m:e>
                            <m:r>
                              <a:rPr lang="vi-VN" sz="2200" i="0">
                                <a:latin typeface="Cambria Math" panose="02040503050406030204" pitchFamily="18" charset="0"/>
                                <a:ea typeface="Cambria Math" panose="02040503050406030204" pitchFamily="18" charset="0"/>
                              </a:rPr>
                              <m:t>4+</m:t>
                            </m:r>
                            <m:sSup>
                              <m:sSupPr>
                                <m:ctrlPr>
                                  <a:rPr lang="vi-VN" sz="2200" i="1">
                                    <a:latin typeface="Cambria Math" panose="02040503050406030204" pitchFamily="18" charset="0"/>
                                    <a:ea typeface="Cambria Math" panose="02040503050406030204" pitchFamily="18" charset="0"/>
                                  </a:rPr>
                                </m:ctrlPr>
                              </m:sSupPr>
                              <m:e>
                                <m:r>
                                  <a:rPr lang="vi-VN" sz="2200" i="1">
                                    <a:latin typeface="Cambria Math" panose="02040503050406030204" pitchFamily="18" charset="0"/>
                                    <a:ea typeface="Cambria Math" panose="02040503050406030204" pitchFamily="18" charset="0"/>
                                  </a:rPr>
                                  <m:t>𝜔</m:t>
                                </m:r>
                              </m:e>
                              <m:sup>
                                <m:r>
                                  <a:rPr lang="vi-VN" sz="2200">
                                    <a:latin typeface="Cambria Math" panose="02040503050406030204" pitchFamily="18" charset="0"/>
                                    <a:ea typeface="Cambria Math" panose="02040503050406030204" pitchFamily="18" charset="0"/>
                                  </a:rPr>
                                  <m:t>2</m:t>
                                </m:r>
                              </m:sup>
                            </m:sSup>
                            <m:r>
                              <a:rPr lang="vi-VN" sz="2200">
                                <a:latin typeface="Cambria Math" panose="02040503050406030204" pitchFamily="18" charset="0"/>
                                <a:ea typeface="Cambria Math" panose="02040503050406030204" pitchFamily="18" charset="0"/>
                              </a:rPr>
                              <m:t>⋅</m:t>
                            </m:r>
                            <m:sSubSup>
                              <m:sSubSupPr>
                                <m:ctrlPr>
                                  <a:rPr lang="vi-VN" sz="2200" i="1">
                                    <a:solidFill>
                                      <a:srgbClr val="836967"/>
                                    </a:solidFill>
                                    <a:latin typeface="Cambria Math" panose="02040503050406030204" pitchFamily="18" charset="0"/>
                                    <a:ea typeface="Cambria Math" panose="02040503050406030204" pitchFamily="18" charset="0"/>
                                  </a:rPr>
                                </m:ctrlPr>
                              </m:sSubSupPr>
                              <m:e>
                                <m:r>
                                  <m:rPr>
                                    <m:sty m:val="p"/>
                                  </m:rPr>
                                  <a:rPr lang="vi-VN" sz="2200" i="1">
                                    <a:solidFill>
                                      <a:srgbClr val="836967"/>
                                    </a:solidFill>
                                    <a:latin typeface="Cambria Math" panose="02040503050406030204" pitchFamily="18" charset="0"/>
                                    <a:ea typeface="Cambria Math" panose="02040503050406030204" pitchFamily="18" charset="0"/>
                                  </a:rPr>
                                  <m:t>T</m:t>
                                </m:r>
                              </m:e>
                              <m:sub>
                                <m:r>
                                  <a:rPr lang="vi-VN" sz="2200" i="1">
                                    <a:latin typeface="Cambria Math" panose="02040503050406030204" pitchFamily="18" charset="0"/>
                                    <a:ea typeface="Cambria Math" panose="02040503050406030204" pitchFamily="18" charset="0"/>
                                  </a:rPr>
                                  <m:t>𝑠</m:t>
                                </m:r>
                              </m:sub>
                              <m:sup>
                                <m:r>
                                  <a:rPr lang="vi-VN" sz="2200">
                                    <a:latin typeface="Cambria Math" panose="02040503050406030204" pitchFamily="18" charset="0"/>
                                    <a:ea typeface="Cambria Math" panose="02040503050406030204" pitchFamily="18" charset="0"/>
                                  </a:rPr>
                                  <m:t>2</m:t>
                                </m:r>
                              </m:sup>
                            </m:sSubSup>
                          </m:e>
                        </m:d>
                        <m:r>
                          <a:rPr lang="vi-VN" sz="2200" b="0" i="1" smtClean="0">
                            <a:latin typeface="Cambria Math" panose="02040503050406030204" pitchFamily="18" charset="0"/>
                            <a:ea typeface="Cambria Math" panose="02040503050406030204" pitchFamily="18" charset="0"/>
                          </a:rPr>
                          <m:t> + </m:t>
                        </m:r>
                        <m:d>
                          <m:dPr>
                            <m:ctrlPr>
                              <a:rPr lang="vi-VN" sz="2200" b="0" i="1" smtClean="0">
                                <a:latin typeface="Cambria Math" panose="02040503050406030204" pitchFamily="18" charset="0"/>
                                <a:ea typeface="Cambria Math" panose="02040503050406030204" pitchFamily="18" charset="0"/>
                              </a:rPr>
                            </m:ctrlPr>
                          </m:dPr>
                          <m:e>
                            <m:r>
                              <a:rPr lang="vi-VN" sz="2200" b="0" i="1" smtClean="0">
                                <a:latin typeface="Cambria Math" panose="02040503050406030204" pitchFamily="18" charset="0"/>
                                <a:ea typeface="Cambria Math" panose="02040503050406030204" pitchFamily="18" charset="0"/>
                              </a:rPr>
                              <m:t>−</m:t>
                            </m:r>
                            <m:r>
                              <a:rPr lang="vi-VN" sz="2200" i="1">
                                <a:latin typeface="Cambria Math" panose="02040503050406030204" pitchFamily="18" charset="0"/>
                                <a:ea typeface="Cambria Math" panose="02040503050406030204" pitchFamily="18" charset="0"/>
                              </a:rPr>
                              <m:t>8</m:t>
                            </m:r>
                            <m:r>
                              <a:rPr lang="vi-VN" sz="2200" b="0" i="1" smtClean="0">
                                <a:latin typeface="Cambria Math" panose="02040503050406030204" pitchFamily="18" charset="0"/>
                                <a:ea typeface="Cambria Math" panose="02040503050406030204" pitchFamily="18" charset="0"/>
                              </a:rPr>
                              <m:t>+</m:t>
                            </m:r>
                            <m:sSup>
                              <m:sSupPr>
                                <m:ctrlPr>
                                  <a:rPr lang="vi-VN" sz="2200" i="1">
                                    <a:solidFill>
                                      <a:srgbClr val="836967"/>
                                    </a:solidFill>
                                    <a:latin typeface="Cambria Math" panose="02040503050406030204" pitchFamily="18" charset="0"/>
                                    <a:ea typeface="Cambria Math" panose="02040503050406030204" pitchFamily="18" charset="0"/>
                                  </a:rPr>
                                </m:ctrlPr>
                              </m:sSupPr>
                              <m:e>
                                <m:r>
                                  <a:rPr lang="vi-VN" sz="2200" i="1">
                                    <a:solidFill>
                                      <a:srgbClr val="836967"/>
                                    </a:solidFill>
                                    <a:latin typeface="Cambria Math" panose="02040503050406030204" pitchFamily="18" charset="0"/>
                                    <a:ea typeface="Cambria Math" panose="02040503050406030204" pitchFamily="18" charset="0"/>
                                  </a:rPr>
                                  <m:t>2</m:t>
                                </m:r>
                                <m:r>
                                  <a:rPr lang="vi-VN" sz="2200" i="1">
                                    <a:latin typeface="Cambria Math" panose="02040503050406030204" pitchFamily="18" charset="0"/>
                                    <a:ea typeface="Cambria Math" panose="02040503050406030204" pitchFamily="18" charset="0"/>
                                  </a:rPr>
                                  <m:t>𝜔</m:t>
                                </m:r>
                              </m:e>
                              <m:sup>
                                <m:r>
                                  <a:rPr lang="vi-VN" sz="2200">
                                    <a:latin typeface="Cambria Math" panose="02040503050406030204" pitchFamily="18" charset="0"/>
                                    <a:ea typeface="Cambria Math" panose="02040503050406030204" pitchFamily="18" charset="0"/>
                                  </a:rPr>
                                  <m:t>2</m:t>
                                </m:r>
                              </m:sup>
                            </m:sSup>
                            <m:r>
                              <a:rPr lang="vi-VN" sz="2200">
                                <a:latin typeface="Cambria Math" panose="02040503050406030204" pitchFamily="18" charset="0"/>
                                <a:ea typeface="Cambria Math" panose="02040503050406030204" pitchFamily="18" charset="0"/>
                              </a:rPr>
                              <m:t>⋅</m:t>
                            </m:r>
                            <m:sSubSup>
                              <m:sSubSupPr>
                                <m:ctrlPr>
                                  <a:rPr lang="vi-VN" sz="2200" i="1">
                                    <a:solidFill>
                                      <a:srgbClr val="836967"/>
                                    </a:solidFill>
                                    <a:latin typeface="Cambria Math" panose="02040503050406030204" pitchFamily="18" charset="0"/>
                                    <a:ea typeface="Cambria Math" panose="02040503050406030204" pitchFamily="18" charset="0"/>
                                  </a:rPr>
                                </m:ctrlPr>
                              </m:sSubSupPr>
                              <m:e>
                                <m:r>
                                  <m:rPr>
                                    <m:sty m:val="p"/>
                                  </m:rPr>
                                  <a:rPr lang="vi-VN" sz="2200" i="1">
                                    <a:solidFill>
                                      <a:srgbClr val="836967"/>
                                    </a:solidFill>
                                    <a:latin typeface="Cambria Math" panose="02040503050406030204" pitchFamily="18" charset="0"/>
                                    <a:ea typeface="Cambria Math" panose="02040503050406030204" pitchFamily="18" charset="0"/>
                                  </a:rPr>
                                  <m:t>T</m:t>
                                </m:r>
                              </m:e>
                              <m:sub>
                                <m:r>
                                  <a:rPr lang="vi-VN" sz="2200" i="1">
                                    <a:latin typeface="Cambria Math" panose="02040503050406030204" pitchFamily="18" charset="0"/>
                                    <a:ea typeface="Cambria Math" panose="02040503050406030204" pitchFamily="18" charset="0"/>
                                  </a:rPr>
                                  <m:t>𝑠</m:t>
                                </m:r>
                              </m:sub>
                              <m:sup>
                                <m:r>
                                  <a:rPr lang="vi-VN" sz="2200">
                                    <a:latin typeface="Cambria Math" panose="02040503050406030204" pitchFamily="18" charset="0"/>
                                    <a:ea typeface="Cambria Math" panose="02040503050406030204" pitchFamily="18" charset="0"/>
                                  </a:rPr>
                                  <m:t>2</m:t>
                                </m:r>
                              </m:sup>
                            </m:sSubSup>
                          </m:e>
                        </m:d>
                        <m:r>
                          <a:rPr lang="vi-VN" sz="2200" i="1">
                            <a:latin typeface="Cambria Math" panose="02040503050406030204" pitchFamily="18" charset="0"/>
                            <a:ea typeface="Cambria Math" panose="02040503050406030204" pitchFamily="18" charset="0"/>
                          </a:rPr>
                          <m:t>∗</m:t>
                        </m:r>
                        <m:sSup>
                          <m:sSupPr>
                            <m:ctrlPr>
                              <a:rPr lang="vi-VN" sz="2200" b="1" i="1">
                                <a:latin typeface="Cambria Math" panose="02040503050406030204" pitchFamily="18" charset="0"/>
                                <a:ea typeface="Cambria Math" panose="02040503050406030204" pitchFamily="18" charset="0"/>
                              </a:rPr>
                            </m:ctrlPr>
                          </m:sSupPr>
                          <m:e>
                            <m:r>
                              <a:rPr lang="vi-VN" sz="2200" b="1" i="1">
                                <a:latin typeface="Cambria Math" panose="02040503050406030204" pitchFamily="18" charset="0"/>
                                <a:ea typeface="Cambria Math" panose="02040503050406030204" pitchFamily="18" charset="0"/>
                              </a:rPr>
                              <m:t>𝒛</m:t>
                            </m:r>
                          </m:e>
                          <m:sup>
                            <m:r>
                              <a:rPr lang="vi-VN" sz="2200" b="1" i="1">
                                <a:latin typeface="Cambria Math" panose="02040503050406030204" pitchFamily="18" charset="0"/>
                                <a:ea typeface="Cambria Math" panose="02040503050406030204" pitchFamily="18" charset="0"/>
                              </a:rPr>
                              <m:t>−</m:t>
                            </m:r>
                            <m:r>
                              <a:rPr lang="vi-VN" sz="2200" b="1" i="1">
                                <a:latin typeface="Cambria Math" panose="02040503050406030204" pitchFamily="18" charset="0"/>
                                <a:ea typeface="Cambria Math" panose="02040503050406030204" pitchFamily="18" charset="0"/>
                              </a:rPr>
                              <m:t>𝟏</m:t>
                            </m:r>
                          </m:sup>
                        </m:sSup>
                        <m:r>
                          <a:rPr lang="vi-VN" sz="2200" b="0" i="1" smtClean="0">
                            <a:latin typeface="Cambria Math" panose="02040503050406030204" pitchFamily="18" charset="0"/>
                            <a:ea typeface="Cambria Math" panose="02040503050406030204" pitchFamily="18" charset="0"/>
                          </a:rPr>
                          <m:t>+(</m:t>
                        </m:r>
                        <m:r>
                          <a:rPr lang="vi-VN" sz="2200">
                            <a:latin typeface="Cambria Math" panose="02040503050406030204" pitchFamily="18" charset="0"/>
                            <a:ea typeface="Cambria Math" panose="02040503050406030204" pitchFamily="18" charset="0"/>
                          </a:rPr>
                          <m:t>4+</m:t>
                        </m:r>
                        <m:sSup>
                          <m:sSupPr>
                            <m:ctrlPr>
                              <a:rPr lang="vi-VN" sz="2200" i="1">
                                <a:latin typeface="Cambria Math" panose="02040503050406030204" pitchFamily="18" charset="0"/>
                                <a:ea typeface="Cambria Math" panose="02040503050406030204" pitchFamily="18" charset="0"/>
                              </a:rPr>
                            </m:ctrlPr>
                          </m:sSupPr>
                          <m:e>
                            <m:r>
                              <a:rPr lang="vi-VN" sz="2200" i="1">
                                <a:latin typeface="Cambria Math" panose="02040503050406030204" pitchFamily="18" charset="0"/>
                                <a:ea typeface="Cambria Math" panose="02040503050406030204" pitchFamily="18" charset="0"/>
                              </a:rPr>
                              <m:t>𝜔</m:t>
                            </m:r>
                          </m:e>
                          <m:sup>
                            <m:r>
                              <a:rPr lang="vi-VN" sz="2200">
                                <a:latin typeface="Cambria Math" panose="02040503050406030204" pitchFamily="18" charset="0"/>
                                <a:ea typeface="Cambria Math" panose="02040503050406030204" pitchFamily="18" charset="0"/>
                              </a:rPr>
                              <m:t>2</m:t>
                            </m:r>
                          </m:sup>
                        </m:sSup>
                        <m:r>
                          <a:rPr lang="vi-VN" sz="2200">
                            <a:latin typeface="Cambria Math" panose="02040503050406030204" pitchFamily="18" charset="0"/>
                            <a:ea typeface="Cambria Math" panose="02040503050406030204" pitchFamily="18" charset="0"/>
                          </a:rPr>
                          <m:t>⋅</m:t>
                        </m:r>
                        <m:sSubSup>
                          <m:sSubSupPr>
                            <m:ctrlPr>
                              <a:rPr lang="vi-VN" sz="2200" i="1">
                                <a:solidFill>
                                  <a:srgbClr val="836967"/>
                                </a:solidFill>
                                <a:latin typeface="Cambria Math" panose="02040503050406030204" pitchFamily="18" charset="0"/>
                                <a:ea typeface="Cambria Math" panose="02040503050406030204" pitchFamily="18" charset="0"/>
                              </a:rPr>
                            </m:ctrlPr>
                          </m:sSubSupPr>
                          <m:e>
                            <m:r>
                              <m:rPr>
                                <m:sty m:val="p"/>
                              </m:rPr>
                              <a:rPr lang="vi-VN" sz="2200" i="1">
                                <a:solidFill>
                                  <a:srgbClr val="836967"/>
                                </a:solidFill>
                                <a:latin typeface="Cambria Math" panose="02040503050406030204" pitchFamily="18" charset="0"/>
                                <a:ea typeface="Cambria Math" panose="02040503050406030204" pitchFamily="18" charset="0"/>
                              </a:rPr>
                              <m:t>T</m:t>
                            </m:r>
                          </m:e>
                          <m:sub>
                            <m:r>
                              <a:rPr lang="vi-VN" sz="2200" i="1">
                                <a:latin typeface="Cambria Math" panose="02040503050406030204" pitchFamily="18" charset="0"/>
                                <a:ea typeface="Cambria Math" panose="02040503050406030204" pitchFamily="18" charset="0"/>
                              </a:rPr>
                              <m:t>𝑠</m:t>
                            </m:r>
                          </m:sub>
                          <m:sup>
                            <m:r>
                              <a:rPr lang="vi-VN" sz="2200">
                                <a:latin typeface="Cambria Math" panose="02040503050406030204" pitchFamily="18" charset="0"/>
                                <a:ea typeface="Cambria Math" panose="02040503050406030204" pitchFamily="18" charset="0"/>
                              </a:rPr>
                              <m:t>2</m:t>
                            </m:r>
                          </m:sup>
                        </m:sSubSup>
                        <m:r>
                          <a:rPr lang="vi-VN" sz="2200" b="0" i="1" smtClean="0">
                            <a:latin typeface="Cambria Math" panose="02040503050406030204" pitchFamily="18" charset="0"/>
                            <a:ea typeface="Cambria Math" panose="02040503050406030204" pitchFamily="18" charset="0"/>
                          </a:rPr>
                          <m:t>)</m:t>
                        </m:r>
                        <m:r>
                          <a:rPr lang="vi-VN" sz="2200" i="1">
                            <a:latin typeface="Cambria Math" panose="02040503050406030204" pitchFamily="18" charset="0"/>
                            <a:ea typeface="Cambria Math" panose="02040503050406030204" pitchFamily="18" charset="0"/>
                          </a:rPr>
                          <m:t>∗</m:t>
                        </m:r>
                        <m:sSup>
                          <m:sSupPr>
                            <m:ctrlPr>
                              <a:rPr lang="vi-VN" sz="2200" b="1" i="1">
                                <a:latin typeface="Cambria Math" panose="02040503050406030204" pitchFamily="18" charset="0"/>
                                <a:ea typeface="Cambria Math" panose="02040503050406030204" pitchFamily="18" charset="0"/>
                              </a:rPr>
                            </m:ctrlPr>
                          </m:sSupPr>
                          <m:e>
                            <m:r>
                              <a:rPr lang="vi-VN" sz="2200" b="1" i="1">
                                <a:latin typeface="Cambria Math" panose="02040503050406030204" pitchFamily="18" charset="0"/>
                                <a:ea typeface="Cambria Math" panose="02040503050406030204" pitchFamily="18" charset="0"/>
                              </a:rPr>
                              <m:t>𝒛</m:t>
                            </m:r>
                          </m:e>
                          <m:sup>
                            <m:r>
                              <a:rPr lang="vi-VN" sz="2200" b="1" i="1">
                                <a:latin typeface="Cambria Math" panose="02040503050406030204" pitchFamily="18" charset="0"/>
                                <a:ea typeface="Cambria Math" panose="02040503050406030204" pitchFamily="18" charset="0"/>
                              </a:rPr>
                              <m:t>−</m:t>
                            </m:r>
                            <m:r>
                              <a:rPr lang="vi-VN" sz="2200" b="1" i="1">
                                <a:latin typeface="Cambria Math" panose="02040503050406030204" pitchFamily="18" charset="0"/>
                                <a:ea typeface="Cambria Math" panose="02040503050406030204" pitchFamily="18" charset="0"/>
                              </a:rPr>
                              <m:t>𝟐</m:t>
                            </m:r>
                          </m:sup>
                        </m:sSup>
                      </m:den>
                    </m:f>
                  </m:oMath>
                </a14:m>
                <a:endParaRPr lang="vi-VN" sz="2200">
                  <a:latin typeface="Cambria Math" panose="02040503050406030204" pitchFamily="18" charset="0"/>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DDEE62FC-70E5-51B3-ECA0-AD5BD31DE61C}"/>
                  </a:ext>
                </a:extLst>
              </p:cNvPr>
              <p:cNvSpPr txBox="1">
                <a:spLocks noRot="1" noChangeAspect="1" noMove="1" noResize="1" noEditPoints="1" noAdjustHandles="1" noChangeArrowheads="1" noChangeShapeType="1" noTextEdit="1"/>
              </p:cNvSpPr>
              <p:nvPr/>
            </p:nvSpPr>
            <p:spPr>
              <a:xfrm>
                <a:off x="967911" y="3160793"/>
                <a:ext cx="11253978" cy="936988"/>
              </a:xfrm>
              <a:prstGeom prst="rect">
                <a:avLst/>
              </a:prstGeom>
              <a:blipFill>
                <a:blip r:embed="rId4"/>
                <a:stretch>
                  <a:fillRect l="-59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 name="TextBox 14">
                <a:extLst>
                  <a:ext uri="{FF2B5EF4-FFF2-40B4-BE49-F238E27FC236}">
                    <a16:creationId xmlns:a16="http://schemas.microsoft.com/office/drawing/2014/main" id="{6545497A-C00A-20A1-B22A-9E301267A509}"/>
                  </a:ext>
                </a:extLst>
              </p:cNvPr>
              <p:cNvSpPr txBox="1"/>
              <p:nvPr/>
            </p:nvSpPr>
            <p:spPr>
              <a:xfrm>
                <a:off x="671292" y="4216217"/>
                <a:ext cx="8713026" cy="49808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Courier New" panose="02070309020205020404" pitchFamily="49" charset="0"/>
                  <a:buChar char="o"/>
                </a:pPr>
                <a:r>
                  <a:rPr lang="vi-VN"/>
                  <a:t>Với G(z)= </a:t>
                </a:r>
                <a14:m>
                  <m:oMath xmlns:m="http://schemas.openxmlformats.org/officeDocument/2006/math">
                    <m:f>
                      <m:fPr>
                        <m:ctrlPr>
                          <a:rPr lang="vi-VN" i="1">
                            <a:solidFill>
                              <a:srgbClr val="836967"/>
                            </a:solidFill>
                            <a:latin typeface="Cambria Math" panose="02040503050406030204" pitchFamily="18" charset="0"/>
                          </a:rPr>
                        </m:ctrlPr>
                      </m:fPr>
                      <m:num>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a:latin typeface="Cambria Math" panose="02040503050406030204" pitchFamily="18" charset="0"/>
                              </a:rPr>
                              <m:t>𝑘</m:t>
                            </m:r>
                          </m:sub>
                        </m:sSub>
                      </m:num>
                      <m:den>
                        <m:sSub>
                          <m:sSubPr>
                            <m:ctrlPr>
                              <a:rPr lang="vi-VN" i="1">
                                <a:latin typeface="Cambria Math" panose="02040503050406030204" pitchFamily="18" charset="0"/>
                              </a:rPr>
                            </m:ctrlPr>
                          </m:sSubPr>
                          <m:e>
                            <m:r>
                              <a:rPr lang="vi-VN" i="1">
                                <a:latin typeface="Cambria Math" panose="02040503050406030204" pitchFamily="18" charset="0"/>
                              </a:rPr>
                              <m:t>𝑢</m:t>
                            </m:r>
                          </m:e>
                          <m:sub>
                            <m:r>
                              <a:rPr lang="vi-VN" i="1">
                                <a:latin typeface="Cambria Math" panose="02040503050406030204" pitchFamily="18" charset="0"/>
                              </a:rPr>
                              <m:t>𝑘</m:t>
                            </m:r>
                          </m:sub>
                        </m:sSub>
                      </m:den>
                    </m:f>
                  </m:oMath>
                </a14:m>
                <a:r>
                  <a:rPr lang="vi-VN"/>
                  <a:t> ;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a:latin typeface="Cambria Math" panose="02040503050406030204" pitchFamily="18" charset="0"/>
                          </a:rPr>
                          <m:t>𝑘</m:t>
                        </m:r>
                        <m:r>
                          <a:rPr lang="vi-VN" i="0">
                            <a:latin typeface="Cambria Math" panose="02040503050406030204" pitchFamily="18" charset="0"/>
                          </a:rPr>
                          <m:t>−1</m:t>
                        </m:r>
                      </m:sub>
                    </m:sSub>
                    <m:r>
                      <a:rPr lang="vi-VN" i="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a:latin typeface="Cambria Math" panose="02040503050406030204" pitchFamily="18" charset="0"/>
                          </a:rPr>
                          <m:t>𝑘</m:t>
                        </m:r>
                      </m:sub>
                    </m:sSub>
                    <m:r>
                      <a:rPr lang="vi-VN" b="0" i="1" smtClean="0">
                        <a:latin typeface="Cambria Math" panose="02040503050406030204" pitchFamily="18" charset="0"/>
                      </a:rPr>
                      <m:t>∗</m:t>
                    </m:r>
                    <m:sSup>
                      <m:sSupPr>
                        <m:ctrlPr>
                          <a:rPr lang="vi-VN" i="1">
                            <a:latin typeface="Cambria Math" panose="02040503050406030204" pitchFamily="18" charset="0"/>
                          </a:rPr>
                        </m:ctrlPr>
                      </m:sSupPr>
                      <m:e>
                        <m:r>
                          <a:rPr lang="vi-VN" i="1">
                            <a:latin typeface="Cambria Math" panose="02040503050406030204" pitchFamily="18" charset="0"/>
                          </a:rPr>
                          <m:t>𝑧</m:t>
                        </m:r>
                      </m:e>
                      <m:sup>
                        <m:r>
                          <a:rPr lang="vi-VN" i="0">
                            <a:latin typeface="Cambria Math" panose="02040503050406030204" pitchFamily="18" charset="0"/>
                          </a:rPr>
                          <m:t>−1</m:t>
                        </m:r>
                      </m:sup>
                    </m:sSup>
                  </m:oMath>
                </a14:m>
                <a:r>
                  <a:rPr lang="vi-VN"/>
                  <a:t>;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a:latin typeface="Cambria Math" panose="02040503050406030204" pitchFamily="18" charset="0"/>
                          </a:rPr>
                          <m:t>𝑘</m:t>
                        </m:r>
                        <m:r>
                          <a:rPr lang="vi-VN" i="0">
                            <a:latin typeface="Cambria Math" panose="02040503050406030204" pitchFamily="18" charset="0"/>
                          </a:rPr>
                          <m:t>−2</m:t>
                        </m:r>
                      </m:sub>
                    </m:sSub>
                    <m:r>
                      <a:rPr lang="vi-VN" i="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a:latin typeface="Cambria Math" panose="02040503050406030204" pitchFamily="18" charset="0"/>
                          </a:rPr>
                          <m:t>𝑘</m:t>
                        </m:r>
                      </m:sub>
                    </m:sSub>
                    <m:r>
                      <a:rPr lang="vi-VN" b="0" i="0" smtClean="0">
                        <a:latin typeface="Cambria Math" panose="02040503050406030204" pitchFamily="18" charset="0"/>
                      </a:rPr>
                      <m:t>∗</m:t>
                    </m:r>
                    <m:sSup>
                      <m:sSupPr>
                        <m:ctrlPr>
                          <a:rPr lang="vi-VN" i="1">
                            <a:latin typeface="Cambria Math" panose="02040503050406030204" pitchFamily="18" charset="0"/>
                          </a:rPr>
                        </m:ctrlPr>
                      </m:sSupPr>
                      <m:e>
                        <m:r>
                          <a:rPr lang="vi-VN" i="1">
                            <a:latin typeface="Cambria Math" panose="02040503050406030204" pitchFamily="18" charset="0"/>
                          </a:rPr>
                          <m:t>𝑧</m:t>
                        </m:r>
                      </m:e>
                      <m:sup>
                        <m:r>
                          <a:rPr lang="vi-VN" i="0">
                            <a:latin typeface="Cambria Math" panose="02040503050406030204" pitchFamily="18" charset="0"/>
                          </a:rPr>
                          <m:t>−2</m:t>
                        </m:r>
                      </m:sup>
                    </m:sSup>
                    <m:r>
                      <a:rPr lang="vi-VN" b="0" i="1" smtClean="0">
                        <a:latin typeface="Cambria Math" panose="02040503050406030204" pitchFamily="18" charset="0"/>
                      </a:rPr>
                      <m:t>; </m:t>
                    </m:r>
                    <m:sSub>
                      <m:sSubPr>
                        <m:ctrlPr>
                          <a:rPr lang="vi-VN" i="1">
                            <a:latin typeface="Cambria Math" panose="02040503050406030204" pitchFamily="18" charset="0"/>
                          </a:rPr>
                        </m:ctrlPr>
                      </m:sSubPr>
                      <m:e>
                        <m:r>
                          <a:rPr lang="vi-VN" i="1">
                            <a:latin typeface="Cambria Math" panose="02040503050406030204" pitchFamily="18" charset="0"/>
                          </a:rPr>
                          <m:t>𝑢</m:t>
                        </m:r>
                      </m:e>
                      <m:sub>
                        <m:r>
                          <a:rPr lang="vi-VN" i="1">
                            <a:latin typeface="Cambria Math" panose="02040503050406030204" pitchFamily="18" charset="0"/>
                          </a:rPr>
                          <m:t>𝑘</m:t>
                        </m:r>
                        <m:r>
                          <a:rPr lang="vi-VN" b="0" i="1" smtClean="0">
                            <a:latin typeface="Cambria Math" panose="02040503050406030204" pitchFamily="18" charset="0"/>
                          </a:rPr>
                          <m:t>−</m:t>
                        </m:r>
                        <m:r>
                          <a:rPr lang="vi-VN" i="1">
                            <a:latin typeface="Cambria Math" panose="02040503050406030204" pitchFamily="18" charset="0"/>
                          </a:rPr>
                          <m:t>1</m:t>
                        </m:r>
                      </m:sub>
                    </m:sSub>
                    <m:r>
                      <a:rPr lang="vi-VN" i="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𝑢</m:t>
                        </m:r>
                      </m:e>
                      <m:sub>
                        <m:r>
                          <a:rPr lang="vi-VN" i="1">
                            <a:latin typeface="Cambria Math" panose="02040503050406030204" pitchFamily="18" charset="0"/>
                          </a:rPr>
                          <m:t>𝑘</m:t>
                        </m:r>
                      </m:sub>
                    </m:sSub>
                    <m:r>
                      <a:rPr lang="vi-VN" b="0" i="0" smtClean="0">
                        <a:latin typeface="Cambria Math" panose="02040503050406030204" pitchFamily="18" charset="0"/>
                      </a:rPr>
                      <m:t>∗</m:t>
                    </m:r>
                    <m:sSup>
                      <m:sSupPr>
                        <m:ctrlPr>
                          <a:rPr lang="vi-VN" i="1">
                            <a:latin typeface="Cambria Math" panose="02040503050406030204" pitchFamily="18" charset="0"/>
                          </a:rPr>
                        </m:ctrlPr>
                      </m:sSupPr>
                      <m:e>
                        <m:r>
                          <a:rPr lang="vi-VN" i="1">
                            <a:latin typeface="Cambria Math" panose="02040503050406030204" pitchFamily="18" charset="0"/>
                          </a:rPr>
                          <m:t>𝑧</m:t>
                        </m:r>
                      </m:e>
                      <m:sup>
                        <m:r>
                          <a:rPr lang="vi-VN" i="0">
                            <a:latin typeface="Cambria Math" panose="02040503050406030204" pitchFamily="18" charset="0"/>
                          </a:rPr>
                          <m:t>−1</m:t>
                        </m:r>
                      </m:sup>
                    </m:sSup>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𝑢</m:t>
                        </m:r>
                      </m:e>
                      <m:sub>
                        <m:r>
                          <a:rPr lang="vi-VN" i="1">
                            <a:latin typeface="Cambria Math" panose="02040503050406030204" pitchFamily="18" charset="0"/>
                          </a:rPr>
                          <m:t>𝑘</m:t>
                        </m:r>
                        <m:r>
                          <a:rPr lang="vi-VN" i="1">
                            <a:latin typeface="Cambria Math" panose="02040503050406030204" pitchFamily="18" charset="0"/>
                          </a:rPr>
                          <m:t>−2</m:t>
                        </m:r>
                      </m:sub>
                    </m:sSub>
                    <m:r>
                      <a:rPr lang="vi-VN">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𝑢</m:t>
                        </m:r>
                      </m:e>
                      <m:sub>
                        <m:r>
                          <a:rPr lang="vi-VN" i="1">
                            <a:latin typeface="Cambria Math" panose="02040503050406030204" pitchFamily="18" charset="0"/>
                          </a:rPr>
                          <m:t>𝑘</m:t>
                        </m:r>
                      </m:sub>
                    </m:sSub>
                    <m:r>
                      <a:rPr lang="vi-VN" b="0" i="0" smtClean="0">
                        <a:latin typeface="Cambria Math" panose="02040503050406030204" pitchFamily="18" charset="0"/>
                      </a:rPr>
                      <m:t>∗</m:t>
                    </m:r>
                    <m:sSup>
                      <m:sSupPr>
                        <m:ctrlPr>
                          <a:rPr lang="vi-VN" i="1">
                            <a:latin typeface="Cambria Math" panose="02040503050406030204" pitchFamily="18" charset="0"/>
                          </a:rPr>
                        </m:ctrlPr>
                      </m:sSupPr>
                      <m:e>
                        <m:r>
                          <a:rPr lang="vi-VN" i="1">
                            <a:latin typeface="Cambria Math" panose="02040503050406030204" pitchFamily="18" charset="0"/>
                          </a:rPr>
                          <m:t>𝑧</m:t>
                        </m:r>
                      </m:e>
                      <m:sup>
                        <m:r>
                          <a:rPr lang="vi-VN">
                            <a:latin typeface="Cambria Math" panose="02040503050406030204" pitchFamily="18" charset="0"/>
                          </a:rPr>
                          <m:t>−</m:t>
                        </m:r>
                        <m:r>
                          <a:rPr lang="vi-VN" i="1">
                            <a:latin typeface="Cambria Math" panose="02040503050406030204" pitchFamily="18" charset="0"/>
                          </a:rPr>
                          <m:t>2</m:t>
                        </m:r>
                      </m:sup>
                    </m:sSup>
                  </m:oMath>
                </a14:m>
                <a:r>
                  <a:rPr lang="vi-VN"/>
                  <a:t> :</a:t>
                </a:r>
              </a:p>
            </p:txBody>
          </p:sp>
        </mc:Choice>
        <mc:Fallback xmlns="">
          <p:sp>
            <p:nvSpPr>
              <p:cNvPr id="10" name="TextBox 14">
                <a:extLst>
                  <a:ext uri="{FF2B5EF4-FFF2-40B4-BE49-F238E27FC236}">
                    <a16:creationId xmlns:a16="http://schemas.microsoft.com/office/drawing/2014/main" id="{6545497A-C00A-20A1-B22A-9E301267A509}"/>
                  </a:ext>
                </a:extLst>
              </p:cNvPr>
              <p:cNvSpPr txBox="1">
                <a:spLocks noRot="1" noChangeAspect="1" noMove="1" noResize="1" noEditPoints="1" noAdjustHandles="1" noChangeArrowheads="1" noChangeShapeType="1" noTextEdit="1"/>
              </p:cNvSpPr>
              <p:nvPr/>
            </p:nvSpPr>
            <p:spPr>
              <a:xfrm>
                <a:off x="671292" y="4216217"/>
                <a:ext cx="8713026" cy="498085"/>
              </a:xfrm>
              <a:prstGeom prst="rect">
                <a:avLst/>
              </a:prstGeom>
              <a:blipFill>
                <a:blip r:embed="rId5"/>
                <a:stretch>
                  <a:fillRect l="-490" t="-1235" r="-350" b="-1235"/>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TextBox 15">
                <a:extLst>
                  <a:ext uri="{FF2B5EF4-FFF2-40B4-BE49-F238E27FC236}">
                    <a16:creationId xmlns:a16="http://schemas.microsoft.com/office/drawing/2014/main" id="{6F338C4F-CAC6-D2C3-2113-A76A3960D38F}"/>
                  </a:ext>
                </a:extLst>
              </p:cNvPr>
              <p:cNvSpPr txBox="1"/>
              <p:nvPr/>
            </p:nvSpPr>
            <p:spPr>
              <a:xfrm>
                <a:off x="1303814" y="4970774"/>
                <a:ext cx="7169194" cy="619657"/>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
                      <m:sSub>
                        <m:sSubPr>
                          <m:ctrlPr>
                            <a:rPr lang="vi-VN" b="1" i="1">
                              <a:latin typeface="Cambria Math" panose="02040503050406030204" pitchFamily="18" charset="0"/>
                            </a:rPr>
                          </m:ctrlPr>
                        </m:sSubPr>
                        <m:e>
                          <m:r>
                            <a:rPr lang="vi-VN" b="1" i="1">
                              <a:latin typeface="Cambria Math" panose="02040503050406030204" pitchFamily="18" charset="0"/>
                            </a:rPr>
                            <m:t>𝒚</m:t>
                          </m:r>
                        </m:e>
                        <m:sub>
                          <m:r>
                            <a:rPr lang="vi-VN" b="1" i="1">
                              <a:latin typeface="Cambria Math" panose="02040503050406030204" pitchFamily="18" charset="0"/>
                            </a:rPr>
                            <m:t>𝒌</m:t>
                          </m:r>
                        </m:sub>
                      </m:sSub>
                      <m:r>
                        <a:rPr lang="vi-VN" i="0">
                          <a:latin typeface="Cambria Math" panose="02040503050406030204" pitchFamily="18" charset="0"/>
                        </a:rPr>
                        <m:t>=</m:t>
                      </m:r>
                      <m:f>
                        <m:fPr>
                          <m:ctrlPr>
                            <a:rPr lang="vi-VN" i="1" smtClean="0">
                              <a:solidFill>
                                <a:srgbClr val="836967"/>
                              </a:solidFill>
                              <a:latin typeface="Cambria Math" panose="02040503050406030204" pitchFamily="18" charset="0"/>
                              <a:ea typeface="Cambria Math" panose="02040503050406030204" pitchFamily="18" charset="0"/>
                            </a:rPr>
                          </m:ctrlPr>
                        </m:fPr>
                        <m:num>
                          <m:r>
                            <a:rPr lang="vi-VN" i="1" smtClean="0">
                              <a:solidFill>
                                <a:srgbClr val="836967"/>
                              </a:solidFill>
                              <a:latin typeface="Cambria Math" panose="02040503050406030204" pitchFamily="18" charset="0"/>
                              <a:ea typeface="Cambria Math" panose="02040503050406030204" pitchFamily="18" charset="0"/>
                            </a:rPr>
                            <m:t>8</m:t>
                          </m:r>
                          <m:r>
                            <a:rPr lang="vi-VN" b="0" i="1" smtClean="0">
                              <a:solidFill>
                                <a:srgbClr val="836967"/>
                              </a:solidFill>
                              <a:latin typeface="Cambria Math" panose="02040503050406030204" pitchFamily="18" charset="0"/>
                              <a:ea typeface="Cambria Math" panose="02040503050406030204" pitchFamily="18" charset="0"/>
                            </a:rPr>
                            <m:t>−</m:t>
                          </m:r>
                          <m:sSup>
                            <m:sSupPr>
                              <m:ctrlPr>
                                <a:rPr lang="vi-VN" i="1">
                                  <a:solidFill>
                                    <a:srgbClr val="836967"/>
                                  </a:solidFill>
                                  <a:latin typeface="Cambria Math" panose="02040503050406030204" pitchFamily="18" charset="0"/>
                                  <a:ea typeface="Cambria Math" panose="02040503050406030204" pitchFamily="18" charset="0"/>
                                </a:rPr>
                              </m:ctrlPr>
                            </m:sSupPr>
                            <m:e>
                              <m:r>
                                <a:rPr lang="vi-VN" i="1">
                                  <a:solidFill>
                                    <a:srgbClr val="836967"/>
                                  </a:solidFill>
                                  <a:latin typeface="Cambria Math" panose="02040503050406030204" pitchFamily="18" charset="0"/>
                                  <a:ea typeface="Cambria Math" panose="02040503050406030204" pitchFamily="18" charset="0"/>
                                </a:rPr>
                                <m:t>2</m:t>
                              </m:r>
                              <m:r>
                                <a:rPr lang="vi-VN" i="1">
                                  <a:latin typeface="Cambria Math" panose="02040503050406030204" pitchFamily="18" charset="0"/>
                                  <a:ea typeface="Cambria Math" panose="02040503050406030204" pitchFamily="18" charset="0"/>
                                </a:rPr>
                                <m:t>𝜔</m:t>
                              </m:r>
                            </m:e>
                            <m:sup>
                              <m:r>
                                <a:rPr lang="vi-VN">
                                  <a:latin typeface="Cambria Math" panose="02040503050406030204" pitchFamily="18" charset="0"/>
                                  <a:ea typeface="Cambria Math" panose="02040503050406030204" pitchFamily="18" charset="0"/>
                                </a:rPr>
                                <m:t>2</m:t>
                              </m:r>
                            </m:sup>
                          </m:sSup>
                          <m:r>
                            <a:rPr lang="vi-VN">
                              <a:latin typeface="Cambria Math" panose="02040503050406030204" pitchFamily="18" charset="0"/>
                              <a:ea typeface="Cambria Math" panose="02040503050406030204" pitchFamily="18" charset="0"/>
                            </a:rPr>
                            <m:t>⋅</m:t>
                          </m:r>
                          <m:sSubSup>
                            <m:sSubSupPr>
                              <m:ctrlPr>
                                <a:rPr lang="vi-VN" i="1">
                                  <a:solidFill>
                                    <a:srgbClr val="836967"/>
                                  </a:solidFill>
                                  <a:latin typeface="Cambria Math" panose="02040503050406030204" pitchFamily="18" charset="0"/>
                                  <a:ea typeface="Cambria Math" panose="02040503050406030204" pitchFamily="18" charset="0"/>
                                </a:rPr>
                              </m:ctrlPr>
                            </m:sSubSupPr>
                            <m:e>
                              <m:r>
                                <m:rPr>
                                  <m:sty m:val="p"/>
                                </m:rPr>
                                <a:rPr lang="vi-VN" i="1">
                                  <a:solidFill>
                                    <a:srgbClr val="836967"/>
                                  </a:solidFill>
                                  <a:latin typeface="Cambria Math" panose="02040503050406030204" pitchFamily="18" charset="0"/>
                                  <a:ea typeface="Cambria Math" panose="02040503050406030204" pitchFamily="18" charset="0"/>
                                </a:rPr>
                                <m:t>T</m:t>
                              </m:r>
                            </m:e>
                            <m:sub>
                              <m:r>
                                <a:rPr lang="vi-VN" i="1">
                                  <a:latin typeface="Cambria Math" panose="02040503050406030204" pitchFamily="18" charset="0"/>
                                  <a:ea typeface="Cambria Math" panose="02040503050406030204" pitchFamily="18" charset="0"/>
                                </a:rPr>
                                <m:t>𝑠</m:t>
                              </m:r>
                            </m:sub>
                            <m:sup>
                              <m:r>
                                <a:rPr lang="vi-VN">
                                  <a:latin typeface="Cambria Math" panose="02040503050406030204" pitchFamily="18" charset="0"/>
                                  <a:ea typeface="Cambria Math" panose="02040503050406030204" pitchFamily="18" charset="0"/>
                                </a:rPr>
                                <m:t>2</m:t>
                              </m:r>
                            </m:sup>
                          </m:sSubSup>
                        </m:num>
                        <m:den>
                          <m:r>
                            <a:rPr lang="vi-VN">
                              <a:latin typeface="Cambria Math" panose="02040503050406030204" pitchFamily="18" charset="0"/>
                              <a:ea typeface="Cambria Math" panose="02040503050406030204" pitchFamily="18" charset="0"/>
                            </a:rPr>
                            <m:t>4+</m:t>
                          </m:r>
                          <m:sSup>
                            <m:sSupPr>
                              <m:ctrlPr>
                                <a:rPr lang="vi-VN" i="1">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𝜔</m:t>
                              </m:r>
                            </m:e>
                            <m:sup>
                              <m:r>
                                <a:rPr lang="vi-VN">
                                  <a:latin typeface="Cambria Math" panose="02040503050406030204" pitchFamily="18" charset="0"/>
                                  <a:ea typeface="Cambria Math" panose="02040503050406030204" pitchFamily="18" charset="0"/>
                                </a:rPr>
                                <m:t>2</m:t>
                              </m:r>
                            </m:sup>
                          </m:sSup>
                          <m:r>
                            <a:rPr lang="vi-VN">
                              <a:latin typeface="Cambria Math" panose="02040503050406030204" pitchFamily="18" charset="0"/>
                              <a:ea typeface="Cambria Math" panose="02040503050406030204" pitchFamily="18" charset="0"/>
                            </a:rPr>
                            <m:t>⋅</m:t>
                          </m:r>
                          <m:sSubSup>
                            <m:sSubSupPr>
                              <m:ctrlPr>
                                <a:rPr lang="vi-VN" i="1">
                                  <a:solidFill>
                                    <a:srgbClr val="836967"/>
                                  </a:solidFill>
                                  <a:latin typeface="Cambria Math" panose="02040503050406030204" pitchFamily="18" charset="0"/>
                                  <a:ea typeface="Cambria Math" panose="02040503050406030204" pitchFamily="18" charset="0"/>
                                </a:rPr>
                              </m:ctrlPr>
                            </m:sSubSupPr>
                            <m:e>
                              <m:r>
                                <m:rPr>
                                  <m:sty m:val="p"/>
                                </m:rPr>
                                <a:rPr lang="vi-VN" i="1">
                                  <a:solidFill>
                                    <a:srgbClr val="836967"/>
                                  </a:solidFill>
                                  <a:latin typeface="Cambria Math" panose="02040503050406030204" pitchFamily="18" charset="0"/>
                                  <a:ea typeface="Cambria Math" panose="02040503050406030204" pitchFamily="18" charset="0"/>
                                </a:rPr>
                                <m:t>T</m:t>
                              </m:r>
                            </m:e>
                            <m:sub>
                              <m:r>
                                <a:rPr lang="vi-VN" i="1">
                                  <a:latin typeface="Cambria Math" panose="02040503050406030204" pitchFamily="18" charset="0"/>
                                  <a:ea typeface="Cambria Math" panose="02040503050406030204" pitchFamily="18" charset="0"/>
                                </a:rPr>
                                <m:t>𝑠</m:t>
                              </m:r>
                            </m:sub>
                            <m:sup>
                              <m:r>
                                <a:rPr lang="vi-VN">
                                  <a:latin typeface="Cambria Math" panose="02040503050406030204" pitchFamily="18" charset="0"/>
                                  <a:ea typeface="Cambria Math" panose="02040503050406030204" pitchFamily="18" charset="0"/>
                                </a:rPr>
                                <m:t>2</m:t>
                              </m:r>
                            </m:sup>
                          </m:sSubSup>
                        </m:den>
                      </m:f>
                      <m:r>
                        <a:rPr lang="vi-VN" b="0" i="0" smtClean="0">
                          <a:latin typeface="Cambria Math" panose="02040503050406030204" pitchFamily="18" charset="0"/>
                        </a:rPr>
                        <m:t>∗</m:t>
                      </m:r>
                      <m:sSub>
                        <m:sSubPr>
                          <m:ctrlPr>
                            <a:rPr lang="vi-VN" b="1" i="1">
                              <a:latin typeface="Cambria Math" panose="02040503050406030204" pitchFamily="18" charset="0"/>
                            </a:rPr>
                          </m:ctrlPr>
                        </m:sSubPr>
                        <m:e>
                          <m:r>
                            <a:rPr lang="vi-VN" b="1" i="1">
                              <a:latin typeface="Cambria Math" panose="02040503050406030204" pitchFamily="18" charset="0"/>
                            </a:rPr>
                            <m:t>𝒚</m:t>
                          </m:r>
                        </m:e>
                        <m:sub>
                          <m:r>
                            <a:rPr lang="vi-VN" b="1" i="1">
                              <a:latin typeface="Cambria Math" panose="02040503050406030204" pitchFamily="18" charset="0"/>
                            </a:rPr>
                            <m:t>𝒌</m:t>
                          </m:r>
                          <m:r>
                            <a:rPr lang="vi-VN" b="1" i="0">
                              <a:latin typeface="Cambria Math" panose="02040503050406030204" pitchFamily="18" charset="0"/>
                            </a:rPr>
                            <m:t>−</m:t>
                          </m:r>
                          <m:r>
                            <a:rPr lang="vi-VN" b="1" i="0">
                              <a:latin typeface="Cambria Math" panose="02040503050406030204" pitchFamily="18" charset="0"/>
                            </a:rPr>
                            <m:t>𝟏</m:t>
                          </m:r>
                        </m:sub>
                      </m:sSub>
                      <m:r>
                        <a:rPr lang="vi-VN" i="0">
                          <a:latin typeface="Cambria Math" panose="02040503050406030204" pitchFamily="18" charset="0"/>
                        </a:rPr>
                        <m:t>−</m:t>
                      </m:r>
                      <m:sSub>
                        <m:sSubPr>
                          <m:ctrlPr>
                            <a:rPr lang="vi-VN" b="1" i="1">
                              <a:latin typeface="Cambria Math" panose="02040503050406030204" pitchFamily="18" charset="0"/>
                            </a:rPr>
                          </m:ctrlPr>
                        </m:sSubPr>
                        <m:e>
                          <m:r>
                            <a:rPr lang="vi-VN" b="1" i="1">
                              <a:latin typeface="Cambria Math" panose="02040503050406030204" pitchFamily="18" charset="0"/>
                            </a:rPr>
                            <m:t>𝒚</m:t>
                          </m:r>
                        </m:e>
                        <m:sub>
                          <m:r>
                            <a:rPr lang="vi-VN" b="1" i="1">
                              <a:latin typeface="Cambria Math" panose="02040503050406030204" pitchFamily="18" charset="0"/>
                            </a:rPr>
                            <m:t>𝒌</m:t>
                          </m:r>
                          <m:r>
                            <a:rPr lang="vi-VN" b="1" i="0">
                              <a:latin typeface="Cambria Math" panose="02040503050406030204" pitchFamily="18" charset="0"/>
                            </a:rPr>
                            <m:t>−</m:t>
                          </m:r>
                          <m:r>
                            <a:rPr lang="vi-VN" b="1" i="0">
                              <a:latin typeface="Cambria Math" panose="02040503050406030204" pitchFamily="18" charset="0"/>
                            </a:rPr>
                            <m:t>𝟐</m:t>
                          </m:r>
                        </m:sub>
                      </m:sSub>
                      <m:r>
                        <a:rPr lang="vi-VN" i="0">
                          <a:latin typeface="Cambria Math" panose="02040503050406030204" pitchFamily="18" charset="0"/>
                        </a:rPr>
                        <m:t>+</m:t>
                      </m:r>
                      <m:f>
                        <m:fPr>
                          <m:ctrlPr>
                            <a:rPr lang="vi-VN">
                              <a:latin typeface="Cambria Math" panose="02040503050406030204" pitchFamily="18" charset="0"/>
                              <a:ea typeface="Cambria Math" panose="02040503050406030204" pitchFamily="18" charset="0"/>
                            </a:rPr>
                          </m:ctrlPr>
                        </m:fPr>
                        <m:num>
                          <m:r>
                            <a:rPr lang="vi-VN">
                              <a:latin typeface="Cambria Math" panose="02040503050406030204" pitchFamily="18" charset="0"/>
                              <a:ea typeface="Cambria Math" panose="02040503050406030204" pitchFamily="18" charset="0"/>
                            </a:rPr>
                            <m:t>4</m:t>
                          </m:r>
                          <m:sSub>
                            <m:sSubPr>
                              <m:ctrlPr>
                                <a:rPr lang="vi-VN" i="1">
                                  <a:solidFill>
                                    <a:srgbClr val="836967"/>
                                  </a:solidFill>
                                  <a:latin typeface="Cambria Math" panose="02040503050406030204" pitchFamily="18" charset="0"/>
                                  <a:ea typeface="Cambria Math" panose="02040503050406030204" pitchFamily="18" charset="0"/>
                                </a:rPr>
                              </m:ctrlPr>
                            </m:sSubPr>
                            <m:e>
                              <m:r>
                                <m:rPr>
                                  <m:sty m:val="p"/>
                                </m:rPr>
                                <a:rPr lang="vi-VN" i="1">
                                  <a:solidFill>
                                    <a:srgbClr val="836967"/>
                                  </a:solidFill>
                                  <a:latin typeface="Cambria Math" panose="02040503050406030204" pitchFamily="18" charset="0"/>
                                  <a:ea typeface="Cambria Math" panose="02040503050406030204" pitchFamily="18" charset="0"/>
                                </a:rPr>
                                <m:t>K</m:t>
                              </m:r>
                            </m:e>
                            <m:sub>
                              <m:r>
                                <a:rPr lang="vi-VN" i="1">
                                  <a:latin typeface="Cambria Math" panose="02040503050406030204" pitchFamily="18" charset="0"/>
                                  <a:ea typeface="Cambria Math" panose="02040503050406030204" pitchFamily="18" charset="0"/>
                                </a:rPr>
                                <m:t>𝑝</m:t>
                              </m:r>
                            </m:sub>
                          </m:sSub>
                          <m:r>
                            <a:rPr lang="vi-VN">
                              <a:latin typeface="Cambria Math" panose="02040503050406030204" pitchFamily="18" charset="0"/>
                              <a:ea typeface="Cambria Math" panose="02040503050406030204" pitchFamily="18" charset="0"/>
                            </a:rPr>
                            <m:t>+</m:t>
                          </m:r>
                          <m:sSub>
                            <m:sSubPr>
                              <m:ctrlPr>
                                <a:rPr lang="vi-VN" i="1">
                                  <a:solidFill>
                                    <a:srgbClr val="836967"/>
                                  </a:solidFill>
                                  <a:latin typeface="Cambria Math" panose="02040503050406030204" pitchFamily="18" charset="0"/>
                                  <a:ea typeface="Cambria Math" panose="02040503050406030204" pitchFamily="18" charset="0"/>
                                </a:rPr>
                              </m:ctrlPr>
                            </m:sSubPr>
                            <m:e>
                              <m:r>
                                <m:rPr>
                                  <m:sty m:val="p"/>
                                </m:rPr>
                                <a:rPr lang="vi-VN" i="1">
                                  <a:solidFill>
                                    <a:srgbClr val="836967"/>
                                  </a:solidFill>
                                  <a:latin typeface="Cambria Math" panose="02040503050406030204" pitchFamily="18" charset="0"/>
                                  <a:ea typeface="Cambria Math" panose="02040503050406030204" pitchFamily="18" charset="0"/>
                                </a:rPr>
                                <m:t>K</m:t>
                              </m:r>
                            </m:e>
                            <m:sub>
                              <m:r>
                                <a:rPr lang="vi-VN" i="1">
                                  <a:latin typeface="Cambria Math" panose="02040503050406030204" pitchFamily="18" charset="0"/>
                                  <a:ea typeface="Cambria Math" panose="02040503050406030204" pitchFamily="18" charset="0"/>
                                </a:rPr>
                                <m:t>𝑝</m:t>
                              </m:r>
                            </m:sub>
                          </m:sSub>
                          <m:r>
                            <a:rPr lang="vi-VN">
                              <a:latin typeface="Cambria Math" panose="02040503050406030204" pitchFamily="18" charset="0"/>
                              <a:ea typeface="Cambria Math" panose="02040503050406030204" pitchFamily="18" charset="0"/>
                            </a:rPr>
                            <m:t>⋅</m:t>
                          </m:r>
                          <m:sSup>
                            <m:sSupPr>
                              <m:ctrlPr>
                                <a:rPr lang="vi-VN" i="1">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𝜔</m:t>
                              </m:r>
                            </m:e>
                            <m:sup>
                              <m:r>
                                <a:rPr lang="vi-VN">
                                  <a:latin typeface="Cambria Math" panose="02040503050406030204" pitchFamily="18" charset="0"/>
                                  <a:ea typeface="Cambria Math" panose="02040503050406030204" pitchFamily="18" charset="0"/>
                                </a:rPr>
                                <m:t>2</m:t>
                              </m:r>
                            </m:sup>
                          </m:sSup>
                          <m:r>
                            <a:rPr lang="vi-VN">
                              <a:latin typeface="Cambria Math" panose="02040503050406030204" pitchFamily="18" charset="0"/>
                              <a:ea typeface="Cambria Math" panose="02040503050406030204" pitchFamily="18" charset="0"/>
                            </a:rPr>
                            <m:t>⋅</m:t>
                          </m:r>
                          <m:sSubSup>
                            <m:sSubSupPr>
                              <m:ctrlPr>
                                <a:rPr lang="vi-VN" i="1">
                                  <a:solidFill>
                                    <a:srgbClr val="836967"/>
                                  </a:solidFill>
                                  <a:latin typeface="Cambria Math" panose="02040503050406030204" pitchFamily="18" charset="0"/>
                                  <a:ea typeface="Cambria Math" panose="02040503050406030204" pitchFamily="18" charset="0"/>
                                </a:rPr>
                              </m:ctrlPr>
                            </m:sSubSupPr>
                            <m:e>
                              <m:r>
                                <m:rPr>
                                  <m:sty m:val="p"/>
                                </m:rPr>
                                <a:rPr lang="vi-VN" i="1">
                                  <a:solidFill>
                                    <a:srgbClr val="836967"/>
                                  </a:solidFill>
                                  <a:latin typeface="Cambria Math" panose="02040503050406030204" pitchFamily="18" charset="0"/>
                                  <a:ea typeface="Cambria Math" panose="02040503050406030204" pitchFamily="18" charset="0"/>
                                </a:rPr>
                                <m:t>T</m:t>
                              </m:r>
                            </m:e>
                            <m:sub>
                              <m:r>
                                <a:rPr lang="vi-VN" i="1">
                                  <a:latin typeface="Cambria Math" panose="02040503050406030204" pitchFamily="18" charset="0"/>
                                  <a:ea typeface="Cambria Math" panose="02040503050406030204" pitchFamily="18" charset="0"/>
                                </a:rPr>
                                <m:t>𝑠</m:t>
                              </m:r>
                            </m:sub>
                            <m:sup>
                              <m:r>
                                <a:rPr lang="vi-VN">
                                  <a:latin typeface="Cambria Math" panose="02040503050406030204" pitchFamily="18" charset="0"/>
                                  <a:ea typeface="Cambria Math" panose="02040503050406030204" pitchFamily="18" charset="0"/>
                                </a:rPr>
                                <m:t>2</m:t>
                              </m:r>
                            </m:sup>
                          </m:sSubSup>
                          <m:r>
                            <a:rPr lang="vi-VN">
                              <a:latin typeface="Cambria Math" panose="02040503050406030204" pitchFamily="18" charset="0"/>
                              <a:ea typeface="Cambria Math" panose="02040503050406030204" pitchFamily="18" charset="0"/>
                            </a:rPr>
                            <m:t>+2</m:t>
                          </m:r>
                          <m:sSub>
                            <m:sSubPr>
                              <m:ctrlPr>
                                <a:rPr lang="vi-VN" i="1">
                                  <a:solidFill>
                                    <a:srgbClr val="836967"/>
                                  </a:solidFill>
                                  <a:latin typeface="Cambria Math" panose="02040503050406030204" pitchFamily="18" charset="0"/>
                                  <a:ea typeface="Cambria Math" panose="02040503050406030204" pitchFamily="18" charset="0"/>
                                </a:rPr>
                              </m:ctrlPr>
                            </m:sSubPr>
                            <m:e>
                              <m:r>
                                <m:rPr>
                                  <m:sty m:val="p"/>
                                </m:rPr>
                                <a:rPr lang="vi-VN" i="1">
                                  <a:solidFill>
                                    <a:srgbClr val="836967"/>
                                  </a:solidFill>
                                  <a:latin typeface="Cambria Math" panose="02040503050406030204" pitchFamily="18" charset="0"/>
                                  <a:ea typeface="Cambria Math" panose="02040503050406030204" pitchFamily="18" charset="0"/>
                                </a:rPr>
                                <m:t>K</m:t>
                              </m:r>
                            </m:e>
                            <m:sub>
                              <m:r>
                                <a:rPr lang="vi-VN" i="1">
                                  <a:latin typeface="Cambria Math" panose="02040503050406030204" pitchFamily="18" charset="0"/>
                                  <a:ea typeface="Cambria Math" panose="02040503050406030204" pitchFamily="18" charset="0"/>
                                </a:rPr>
                                <m:t>𝑖</m:t>
                              </m:r>
                            </m:sub>
                          </m:sSub>
                          <m:r>
                            <a:rPr lang="vi-VN">
                              <a:latin typeface="Cambria Math" panose="02040503050406030204" pitchFamily="18" charset="0"/>
                              <a:ea typeface="Cambria Math" panose="02040503050406030204" pitchFamily="18" charset="0"/>
                            </a:rPr>
                            <m:t>⋅</m:t>
                          </m:r>
                          <m:sSub>
                            <m:sSubPr>
                              <m:ctrlPr>
                                <a:rPr lang="vi-VN" i="1">
                                  <a:latin typeface="Cambria Math" panose="02040503050406030204" pitchFamily="18" charset="0"/>
                                  <a:ea typeface="Cambria Math" panose="02040503050406030204" pitchFamily="18" charset="0"/>
                                </a:rPr>
                              </m:ctrlPr>
                            </m:sSubPr>
                            <m:e>
                              <m:r>
                                <a:rPr lang="vi-VN" i="1">
                                  <a:latin typeface="Cambria Math" panose="02040503050406030204" pitchFamily="18" charset="0"/>
                                  <a:ea typeface="Cambria Math" panose="02040503050406030204" pitchFamily="18" charset="0"/>
                                </a:rPr>
                                <m:t>𝑇</m:t>
                              </m:r>
                            </m:e>
                            <m:sub>
                              <m:r>
                                <a:rPr lang="vi-VN" i="1">
                                  <a:latin typeface="Cambria Math" panose="02040503050406030204" pitchFamily="18" charset="0"/>
                                  <a:ea typeface="Cambria Math" panose="02040503050406030204" pitchFamily="18" charset="0"/>
                                </a:rPr>
                                <m:t>𝑠</m:t>
                              </m:r>
                            </m:sub>
                          </m:sSub>
                        </m:num>
                        <m:den>
                          <m:r>
                            <a:rPr lang="vi-VN">
                              <a:latin typeface="Cambria Math" panose="02040503050406030204" pitchFamily="18" charset="0"/>
                              <a:ea typeface="Cambria Math" panose="02040503050406030204" pitchFamily="18" charset="0"/>
                            </a:rPr>
                            <m:t>4+</m:t>
                          </m:r>
                          <m:sSup>
                            <m:sSupPr>
                              <m:ctrlPr>
                                <a:rPr lang="vi-VN" i="1">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𝜔</m:t>
                              </m:r>
                            </m:e>
                            <m:sup>
                              <m:r>
                                <a:rPr lang="vi-VN">
                                  <a:latin typeface="Cambria Math" panose="02040503050406030204" pitchFamily="18" charset="0"/>
                                  <a:ea typeface="Cambria Math" panose="02040503050406030204" pitchFamily="18" charset="0"/>
                                </a:rPr>
                                <m:t>2</m:t>
                              </m:r>
                            </m:sup>
                          </m:sSup>
                          <m:r>
                            <a:rPr lang="vi-VN">
                              <a:latin typeface="Cambria Math" panose="02040503050406030204" pitchFamily="18" charset="0"/>
                              <a:ea typeface="Cambria Math" panose="02040503050406030204" pitchFamily="18" charset="0"/>
                            </a:rPr>
                            <m:t>⋅</m:t>
                          </m:r>
                          <m:sSubSup>
                            <m:sSubSupPr>
                              <m:ctrlPr>
                                <a:rPr lang="vi-VN" i="1">
                                  <a:solidFill>
                                    <a:srgbClr val="836967"/>
                                  </a:solidFill>
                                  <a:latin typeface="Cambria Math" panose="02040503050406030204" pitchFamily="18" charset="0"/>
                                  <a:ea typeface="Cambria Math" panose="02040503050406030204" pitchFamily="18" charset="0"/>
                                </a:rPr>
                              </m:ctrlPr>
                            </m:sSubSupPr>
                            <m:e>
                              <m:r>
                                <m:rPr>
                                  <m:sty m:val="p"/>
                                </m:rPr>
                                <a:rPr lang="vi-VN" i="1">
                                  <a:solidFill>
                                    <a:srgbClr val="836967"/>
                                  </a:solidFill>
                                  <a:latin typeface="Cambria Math" panose="02040503050406030204" pitchFamily="18" charset="0"/>
                                  <a:ea typeface="Cambria Math" panose="02040503050406030204" pitchFamily="18" charset="0"/>
                                </a:rPr>
                                <m:t>T</m:t>
                              </m:r>
                            </m:e>
                            <m:sub>
                              <m:r>
                                <a:rPr lang="vi-VN" i="1">
                                  <a:latin typeface="Cambria Math" panose="02040503050406030204" pitchFamily="18" charset="0"/>
                                  <a:ea typeface="Cambria Math" panose="02040503050406030204" pitchFamily="18" charset="0"/>
                                </a:rPr>
                                <m:t>𝑠</m:t>
                              </m:r>
                            </m:sub>
                            <m:sup>
                              <m:r>
                                <a:rPr lang="vi-VN">
                                  <a:latin typeface="Cambria Math" panose="02040503050406030204" pitchFamily="18" charset="0"/>
                                  <a:ea typeface="Cambria Math" panose="02040503050406030204" pitchFamily="18" charset="0"/>
                                </a:rPr>
                                <m:t>2</m:t>
                              </m:r>
                            </m:sup>
                          </m:sSubSup>
                        </m:den>
                      </m:f>
                      <m:r>
                        <a:rPr lang="vi-VN" i="0">
                          <a:latin typeface="Cambria Math" panose="02040503050406030204" pitchFamily="18" charset="0"/>
                        </a:rPr>
                        <m:t>⋅</m:t>
                      </m:r>
                      <m:sSub>
                        <m:sSubPr>
                          <m:ctrlPr>
                            <a:rPr lang="vi-VN" b="1" i="1">
                              <a:latin typeface="Cambria Math" panose="02040503050406030204" pitchFamily="18" charset="0"/>
                            </a:rPr>
                          </m:ctrlPr>
                        </m:sSubPr>
                        <m:e>
                          <m:r>
                            <a:rPr lang="vi-VN" b="1" i="1">
                              <a:latin typeface="Cambria Math" panose="02040503050406030204" pitchFamily="18" charset="0"/>
                            </a:rPr>
                            <m:t>𝒖</m:t>
                          </m:r>
                        </m:e>
                        <m:sub>
                          <m:r>
                            <a:rPr lang="vi-VN" b="1" i="1">
                              <a:latin typeface="Cambria Math" panose="02040503050406030204" pitchFamily="18" charset="0"/>
                            </a:rPr>
                            <m:t>𝒌</m:t>
                          </m:r>
                        </m:sub>
                      </m:sSub>
                      <m:r>
                        <a:rPr lang="vi-VN" i="0">
                          <a:latin typeface="Cambria Math" panose="02040503050406030204" pitchFamily="18" charset="0"/>
                        </a:rPr>
                        <m:t>+</m:t>
                      </m:r>
                    </m:oMath>
                  </m:oMathPara>
                </a14:m>
                <a:endParaRPr lang="vi-VN"/>
              </a:p>
            </p:txBody>
          </p:sp>
        </mc:Choice>
        <mc:Fallback xmlns="">
          <p:sp>
            <p:nvSpPr>
              <p:cNvPr id="11" name="TextBox 15">
                <a:extLst>
                  <a:ext uri="{FF2B5EF4-FFF2-40B4-BE49-F238E27FC236}">
                    <a16:creationId xmlns:a16="http://schemas.microsoft.com/office/drawing/2014/main" id="{6F338C4F-CAC6-D2C3-2113-A76A3960D38F}"/>
                  </a:ext>
                </a:extLst>
              </p:cNvPr>
              <p:cNvSpPr txBox="1">
                <a:spLocks noRot="1" noChangeAspect="1" noMove="1" noResize="1" noEditPoints="1" noAdjustHandles="1" noChangeArrowheads="1" noChangeShapeType="1" noTextEdit="1"/>
              </p:cNvSpPr>
              <p:nvPr/>
            </p:nvSpPr>
            <p:spPr>
              <a:xfrm>
                <a:off x="1303814" y="4970774"/>
                <a:ext cx="7169194" cy="619657"/>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 name="TextBox 16">
                <a:extLst>
                  <a:ext uri="{FF2B5EF4-FFF2-40B4-BE49-F238E27FC236}">
                    <a16:creationId xmlns:a16="http://schemas.microsoft.com/office/drawing/2014/main" id="{08620119-D8FB-1E57-01B5-416A66DCEDA5}"/>
                  </a:ext>
                </a:extLst>
              </p:cNvPr>
              <p:cNvSpPr txBox="1"/>
              <p:nvPr/>
            </p:nvSpPr>
            <p:spPr>
              <a:xfrm>
                <a:off x="1941810" y="5980672"/>
                <a:ext cx="7107266" cy="71199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
                      <m:r>
                        <a:rPr lang="vi-VN" b="0" i="1" smtClean="0">
                          <a:solidFill>
                            <a:srgbClr val="836967"/>
                          </a:solidFill>
                          <a:latin typeface="Cambria Math" panose="02040503050406030204" pitchFamily="18" charset="0"/>
                        </a:rPr>
                        <m:t>+</m:t>
                      </m:r>
                      <m:f>
                        <m:fPr>
                          <m:ctrlPr>
                            <a:rPr lang="vi-VN" i="1">
                              <a:latin typeface="Cambria Math" panose="02040503050406030204" pitchFamily="18" charset="0"/>
                              <a:ea typeface="Cambria Math" panose="02040503050406030204" pitchFamily="18" charset="0"/>
                            </a:rPr>
                          </m:ctrlPr>
                        </m:fPr>
                        <m:num>
                          <m:r>
                            <a:rPr lang="vi-VN" i="1">
                              <a:latin typeface="Cambria Math" panose="02040503050406030204" pitchFamily="18" charset="0"/>
                              <a:ea typeface="Cambria Math" panose="02040503050406030204" pitchFamily="18" charset="0"/>
                            </a:rPr>
                            <m:t>−8</m:t>
                          </m:r>
                          <m:sSub>
                            <m:sSubPr>
                              <m:ctrlPr>
                                <a:rPr lang="vi-VN" i="1">
                                  <a:solidFill>
                                    <a:srgbClr val="836967"/>
                                  </a:solidFill>
                                  <a:latin typeface="Cambria Math" panose="02040503050406030204" pitchFamily="18" charset="0"/>
                                  <a:ea typeface="Cambria Math" panose="02040503050406030204" pitchFamily="18" charset="0"/>
                                </a:rPr>
                              </m:ctrlPr>
                            </m:sSubPr>
                            <m:e>
                              <m:r>
                                <m:rPr>
                                  <m:sty m:val="p"/>
                                </m:rPr>
                                <a:rPr lang="vi-VN" i="1">
                                  <a:solidFill>
                                    <a:srgbClr val="836967"/>
                                  </a:solidFill>
                                  <a:latin typeface="Cambria Math" panose="02040503050406030204" pitchFamily="18" charset="0"/>
                                  <a:ea typeface="Cambria Math" panose="02040503050406030204" pitchFamily="18" charset="0"/>
                                </a:rPr>
                                <m:t>K</m:t>
                              </m:r>
                            </m:e>
                            <m:sub>
                              <m:r>
                                <a:rPr lang="vi-VN" i="1">
                                  <a:latin typeface="Cambria Math" panose="02040503050406030204" pitchFamily="18" charset="0"/>
                                  <a:ea typeface="Cambria Math" panose="02040503050406030204" pitchFamily="18" charset="0"/>
                                </a:rPr>
                                <m:t>𝑝</m:t>
                              </m:r>
                            </m:sub>
                          </m:sSub>
                          <m:r>
                            <a:rPr lang="vi-VN" i="1">
                              <a:latin typeface="Cambria Math" panose="02040503050406030204" pitchFamily="18" charset="0"/>
                              <a:ea typeface="Cambria Math" panose="02040503050406030204" pitchFamily="18" charset="0"/>
                            </a:rPr>
                            <m:t>+</m:t>
                          </m:r>
                          <m:sSub>
                            <m:sSubPr>
                              <m:ctrlPr>
                                <a:rPr lang="vi-VN" i="1">
                                  <a:solidFill>
                                    <a:srgbClr val="836967"/>
                                  </a:solidFill>
                                  <a:latin typeface="Cambria Math" panose="02040503050406030204" pitchFamily="18" charset="0"/>
                                  <a:ea typeface="Cambria Math" panose="02040503050406030204" pitchFamily="18" charset="0"/>
                                </a:rPr>
                              </m:ctrlPr>
                            </m:sSubPr>
                            <m:e>
                              <m:r>
                                <a:rPr lang="vi-VN" i="1">
                                  <a:solidFill>
                                    <a:srgbClr val="836967"/>
                                  </a:solidFill>
                                  <a:latin typeface="Cambria Math" panose="02040503050406030204" pitchFamily="18" charset="0"/>
                                  <a:ea typeface="Cambria Math" panose="02040503050406030204" pitchFamily="18" charset="0"/>
                                </a:rPr>
                                <m:t>2</m:t>
                              </m:r>
                              <m:r>
                                <m:rPr>
                                  <m:sty m:val="p"/>
                                </m:rPr>
                                <a:rPr lang="vi-VN" i="1">
                                  <a:solidFill>
                                    <a:srgbClr val="836967"/>
                                  </a:solidFill>
                                  <a:latin typeface="Cambria Math" panose="02040503050406030204" pitchFamily="18" charset="0"/>
                                  <a:ea typeface="Cambria Math" panose="02040503050406030204" pitchFamily="18" charset="0"/>
                                </a:rPr>
                                <m:t>K</m:t>
                              </m:r>
                            </m:e>
                            <m:sub>
                              <m:r>
                                <a:rPr lang="vi-VN" i="1">
                                  <a:latin typeface="Cambria Math" panose="02040503050406030204" pitchFamily="18" charset="0"/>
                                  <a:ea typeface="Cambria Math" panose="02040503050406030204" pitchFamily="18" charset="0"/>
                                </a:rPr>
                                <m:t>𝑝</m:t>
                              </m:r>
                            </m:sub>
                          </m:sSub>
                          <m:r>
                            <a:rPr lang="vi-VN">
                              <a:latin typeface="Cambria Math" panose="02040503050406030204" pitchFamily="18" charset="0"/>
                              <a:ea typeface="Cambria Math" panose="02040503050406030204" pitchFamily="18" charset="0"/>
                            </a:rPr>
                            <m:t>⋅</m:t>
                          </m:r>
                          <m:sSup>
                            <m:sSupPr>
                              <m:ctrlPr>
                                <a:rPr lang="vi-VN" i="1">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𝜔</m:t>
                              </m:r>
                            </m:e>
                            <m:sup>
                              <m:r>
                                <a:rPr lang="vi-VN">
                                  <a:latin typeface="Cambria Math" panose="02040503050406030204" pitchFamily="18" charset="0"/>
                                  <a:ea typeface="Cambria Math" panose="02040503050406030204" pitchFamily="18" charset="0"/>
                                </a:rPr>
                                <m:t>2</m:t>
                              </m:r>
                            </m:sup>
                          </m:sSup>
                          <m:r>
                            <a:rPr lang="vi-VN">
                              <a:latin typeface="Cambria Math" panose="02040503050406030204" pitchFamily="18" charset="0"/>
                              <a:ea typeface="Cambria Math" panose="02040503050406030204" pitchFamily="18" charset="0"/>
                            </a:rPr>
                            <m:t>⋅</m:t>
                          </m:r>
                          <m:sSubSup>
                            <m:sSubSupPr>
                              <m:ctrlPr>
                                <a:rPr lang="vi-VN" i="1">
                                  <a:solidFill>
                                    <a:srgbClr val="836967"/>
                                  </a:solidFill>
                                  <a:latin typeface="Cambria Math" panose="02040503050406030204" pitchFamily="18" charset="0"/>
                                  <a:ea typeface="Cambria Math" panose="02040503050406030204" pitchFamily="18" charset="0"/>
                                </a:rPr>
                              </m:ctrlPr>
                            </m:sSubSupPr>
                            <m:e>
                              <m:r>
                                <m:rPr>
                                  <m:sty m:val="p"/>
                                </m:rPr>
                                <a:rPr lang="vi-VN" i="1">
                                  <a:solidFill>
                                    <a:srgbClr val="836967"/>
                                  </a:solidFill>
                                  <a:latin typeface="Cambria Math" panose="02040503050406030204" pitchFamily="18" charset="0"/>
                                  <a:ea typeface="Cambria Math" panose="02040503050406030204" pitchFamily="18" charset="0"/>
                                </a:rPr>
                                <m:t>T</m:t>
                              </m:r>
                            </m:e>
                            <m:sub>
                              <m:r>
                                <a:rPr lang="vi-VN" i="1">
                                  <a:latin typeface="Cambria Math" panose="02040503050406030204" pitchFamily="18" charset="0"/>
                                  <a:ea typeface="Cambria Math" panose="02040503050406030204" pitchFamily="18" charset="0"/>
                                </a:rPr>
                                <m:t>𝑠</m:t>
                              </m:r>
                            </m:sub>
                            <m:sup>
                              <m:r>
                                <a:rPr lang="vi-VN">
                                  <a:latin typeface="Cambria Math" panose="02040503050406030204" pitchFamily="18" charset="0"/>
                                  <a:ea typeface="Cambria Math" panose="02040503050406030204" pitchFamily="18" charset="0"/>
                                </a:rPr>
                                <m:t>2</m:t>
                              </m:r>
                            </m:sup>
                          </m:sSubSup>
                        </m:num>
                        <m:den>
                          <m:r>
                            <a:rPr lang="vi-VN">
                              <a:latin typeface="Cambria Math" panose="02040503050406030204" pitchFamily="18" charset="0"/>
                              <a:ea typeface="Cambria Math" panose="02040503050406030204" pitchFamily="18" charset="0"/>
                            </a:rPr>
                            <m:t>4+</m:t>
                          </m:r>
                          <m:sSup>
                            <m:sSupPr>
                              <m:ctrlPr>
                                <a:rPr lang="vi-VN" i="1">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𝜔</m:t>
                              </m:r>
                            </m:e>
                            <m:sup>
                              <m:r>
                                <a:rPr lang="vi-VN">
                                  <a:latin typeface="Cambria Math" panose="02040503050406030204" pitchFamily="18" charset="0"/>
                                  <a:ea typeface="Cambria Math" panose="02040503050406030204" pitchFamily="18" charset="0"/>
                                </a:rPr>
                                <m:t>2</m:t>
                              </m:r>
                            </m:sup>
                          </m:sSup>
                          <m:r>
                            <a:rPr lang="vi-VN">
                              <a:latin typeface="Cambria Math" panose="02040503050406030204" pitchFamily="18" charset="0"/>
                              <a:ea typeface="Cambria Math" panose="02040503050406030204" pitchFamily="18" charset="0"/>
                            </a:rPr>
                            <m:t>⋅</m:t>
                          </m:r>
                          <m:sSubSup>
                            <m:sSubSupPr>
                              <m:ctrlPr>
                                <a:rPr lang="vi-VN" i="1">
                                  <a:solidFill>
                                    <a:srgbClr val="836967"/>
                                  </a:solidFill>
                                  <a:latin typeface="Cambria Math" panose="02040503050406030204" pitchFamily="18" charset="0"/>
                                  <a:ea typeface="Cambria Math" panose="02040503050406030204" pitchFamily="18" charset="0"/>
                                </a:rPr>
                              </m:ctrlPr>
                            </m:sSubSupPr>
                            <m:e>
                              <m:r>
                                <m:rPr>
                                  <m:sty m:val="p"/>
                                </m:rPr>
                                <a:rPr lang="vi-VN" i="1">
                                  <a:solidFill>
                                    <a:srgbClr val="836967"/>
                                  </a:solidFill>
                                  <a:latin typeface="Cambria Math" panose="02040503050406030204" pitchFamily="18" charset="0"/>
                                  <a:ea typeface="Cambria Math" panose="02040503050406030204" pitchFamily="18" charset="0"/>
                                </a:rPr>
                                <m:t>T</m:t>
                              </m:r>
                            </m:e>
                            <m:sub>
                              <m:r>
                                <a:rPr lang="vi-VN" i="1">
                                  <a:latin typeface="Cambria Math" panose="02040503050406030204" pitchFamily="18" charset="0"/>
                                  <a:ea typeface="Cambria Math" panose="02040503050406030204" pitchFamily="18" charset="0"/>
                                </a:rPr>
                                <m:t>𝑠</m:t>
                              </m:r>
                            </m:sub>
                            <m:sup>
                              <m:r>
                                <a:rPr lang="vi-VN">
                                  <a:latin typeface="Cambria Math" panose="02040503050406030204" pitchFamily="18" charset="0"/>
                                  <a:ea typeface="Cambria Math" panose="02040503050406030204" pitchFamily="18" charset="0"/>
                                </a:rPr>
                                <m:t>2</m:t>
                              </m:r>
                            </m:sup>
                          </m:sSubSup>
                        </m:den>
                      </m:f>
                      <m:r>
                        <a:rPr lang="vi-VN" i="0">
                          <a:latin typeface="Cambria Math" panose="02040503050406030204" pitchFamily="18" charset="0"/>
                        </a:rPr>
                        <m:t>⋅</m:t>
                      </m:r>
                      <m:sSub>
                        <m:sSubPr>
                          <m:ctrlPr>
                            <a:rPr lang="vi-VN" b="1" i="1">
                              <a:latin typeface="Cambria Math" panose="02040503050406030204" pitchFamily="18" charset="0"/>
                            </a:rPr>
                          </m:ctrlPr>
                        </m:sSubPr>
                        <m:e>
                          <m:r>
                            <a:rPr lang="vi-VN" b="1" i="1">
                              <a:latin typeface="Cambria Math" panose="02040503050406030204" pitchFamily="18" charset="0"/>
                            </a:rPr>
                            <m:t>𝒖</m:t>
                          </m:r>
                        </m:e>
                        <m:sub>
                          <m:r>
                            <a:rPr lang="vi-VN" b="1" i="1">
                              <a:latin typeface="Cambria Math" panose="02040503050406030204" pitchFamily="18" charset="0"/>
                            </a:rPr>
                            <m:t>𝒌</m:t>
                          </m:r>
                          <m:r>
                            <a:rPr lang="vi-VN" b="1" i="0">
                              <a:latin typeface="Cambria Math" panose="02040503050406030204" pitchFamily="18" charset="0"/>
                            </a:rPr>
                            <m:t>−</m:t>
                          </m:r>
                          <m:r>
                            <a:rPr lang="vi-VN" b="1" i="0">
                              <a:latin typeface="Cambria Math" panose="02040503050406030204" pitchFamily="18" charset="0"/>
                            </a:rPr>
                            <m:t>𝟏</m:t>
                          </m:r>
                        </m:sub>
                      </m:sSub>
                      <m:r>
                        <a:rPr lang="vi-VN" i="0">
                          <a:latin typeface="Cambria Math" panose="02040503050406030204" pitchFamily="18" charset="0"/>
                        </a:rPr>
                        <m:t>+</m:t>
                      </m:r>
                      <m:f>
                        <m:fPr>
                          <m:ctrlPr>
                            <a:rPr lang="vi-VN" i="1">
                              <a:latin typeface="Cambria Math" panose="02040503050406030204" pitchFamily="18" charset="0"/>
                              <a:ea typeface="Cambria Math" panose="02040503050406030204" pitchFamily="18" charset="0"/>
                            </a:rPr>
                          </m:ctrlPr>
                        </m:fPr>
                        <m:num>
                          <m:r>
                            <a:rPr lang="vi-VN" i="1">
                              <a:latin typeface="Cambria Math" panose="02040503050406030204" pitchFamily="18" charset="0"/>
                              <a:ea typeface="Cambria Math" panose="02040503050406030204" pitchFamily="18" charset="0"/>
                            </a:rPr>
                            <m:t>4</m:t>
                          </m:r>
                          <m:sSub>
                            <m:sSubPr>
                              <m:ctrlPr>
                                <a:rPr lang="vi-VN" i="1">
                                  <a:solidFill>
                                    <a:srgbClr val="836967"/>
                                  </a:solidFill>
                                  <a:latin typeface="Cambria Math" panose="02040503050406030204" pitchFamily="18" charset="0"/>
                                  <a:ea typeface="Cambria Math" panose="02040503050406030204" pitchFamily="18" charset="0"/>
                                </a:rPr>
                              </m:ctrlPr>
                            </m:sSubPr>
                            <m:e>
                              <m:r>
                                <m:rPr>
                                  <m:sty m:val="p"/>
                                </m:rPr>
                                <a:rPr lang="vi-VN" i="1">
                                  <a:solidFill>
                                    <a:srgbClr val="836967"/>
                                  </a:solidFill>
                                  <a:latin typeface="Cambria Math" panose="02040503050406030204" pitchFamily="18" charset="0"/>
                                  <a:ea typeface="Cambria Math" panose="02040503050406030204" pitchFamily="18" charset="0"/>
                                </a:rPr>
                                <m:t>K</m:t>
                              </m:r>
                            </m:e>
                            <m:sub>
                              <m:r>
                                <a:rPr lang="vi-VN" i="1">
                                  <a:latin typeface="Cambria Math" panose="02040503050406030204" pitchFamily="18" charset="0"/>
                                  <a:ea typeface="Cambria Math" panose="02040503050406030204" pitchFamily="18" charset="0"/>
                                </a:rPr>
                                <m:t>𝑝</m:t>
                              </m:r>
                            </m:sub>
                          </m:sSub>
                          <m:r>
                            <a:rPr lang="vi-VN" i="1">
                              <a:latin typeface="Cambria Math" panose="02040503050406030204" pitchFamily="18" charset="0"/>
                              <a:ea typeface="Cambria Math" panose="02040503050406030204" pitchFamily="18" charset="0"/>
                            </a:rPr>
                            <m:t>+</m:t>
                          </m:r>
                          <m:sSub>
                            <m:sSubPr>
                              <m:ctrlPr>
                                <a:rPr lang="vi-VN" i="1">
                                  <a:solidFill>
                                    <a:srgbClr val="836967"/>
                                  </a:solidFill>
                                  <a:latin typeface="Cambria Math" panose="02040503050406030204" pitchFamily="18" charset="0"/>
                                  <a:ea typeface="Cambria Math" panose="02040503050406030204" pitchFamily="18" charset="0"/>
                                </a:rPr>
                              </m:ctrlPr>
                            </m:sSubPr>
                            <m:e>
                              <m:r>
                                <m:rPr>
                                  <m:sty m:val="p"/>
                                </m:rPr>
                                <a:rPr lang="vi-VN" i="1">
                                  <a:solidFill>
                                    <a:srgbClr val="836967"/>
                                  </a:solidFill>
                                  <a:latin typeface="Cambria Math" panose="02040503050406030204" pitchFamily="18" charset="0"/>
                                  <a:ea typeface="Cambria Math" panose="02040503050406030204" pitchFamily="18" charset="0"/>
                                </a:rPr>
                                <m:t>K</m:t>
                              </m:r>
                            </m:e>
                            <m:sub>
                              <m:r>
                                <a:rPr lang="vi-VN" i="1">
                                  <a:latin typeface="Cambria Math" panose="02040503050406030204" pitchFamily="18" charset="0"/>
                                  <a:ea typeface="Cambria Math" panose="02040503050406030204" pitchFamily="18" charset="0"/>
                                </a:rPr>
                                <m:t>𝑝</m:t>
                              </m:r>
                            </m:sub>
                          </m:sSub>
                          <m:r>
                            <a:rPr lang="vi-VN">
                              <a:latin typeface="Cambria Math" panose="02040503050406030204" pitchFamily="18" charset="0"/>
                              <a:ea typeface="Cambria Math" panose="02040503050406030204" pitchFamily="18" charset="0"/>
                            </a:rPr>
                            <m:t>⋅</m:t>
                          </m:r>
                          <m:sSup>
                            <m:sSupPr>
                              <m:ctrlPr>
                                <a:rPr lang="vi-VN" i="1">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𝜔</m:t>
                              </m:r>
                            </m:e>
                            <m:sup>
                              <m:r>
                                <a:rPr lang="vi-VN">
                                  <a:latin typeface="Cambria Math" panose="02040503050406030204" pitchFamily="18" charset="0"/>
                                  <a:ea typeface="Cambria Math" panose="02040503050406030204" pitchFamily="18" charset="0"/>
                                </a:rPr>
                                <m:t>2</m:t>
                              </m:r>
                            </m:sup>
                          </m:sSup>
                          <m:r>
                            <a:rPr lang="vi-VN">
                              <a:latin typeface="Cambria Math" panose="02040503050406030204" pitchFamily="18" charset="0"/>
                              <a:ea typeface="Cambria Math" panose="02040503050406030204" pitchFamily="18" charset="0"/>
                            </a:rPr>
                            <m:t>⋅</m:t>
                          </m:r>
                          <m:sSubSup>
                            <m:sSubSupPr>
                              <m:ctrlPr>
                                <a:rPr lang="vi-VN" i="1">
                                  <a:solidFill>
                                    <a:srgbClr val="836967"/>
                                  </a:solidFill>
                                  <a:latin typeface="Cambria Math" panose="02040503050406030204" pitchFamily="18" charset="0"/>
                                  <a:ea typeface="Cambria Math" panose="02040503050406030204" pitchFamily="18" charset="0"/>
                                </a:rPr>
                              </m:ctrlPr>
                            </m:sSubSupPr>
                            <m:e>
                              <m:r>
                                <m:rPr>
                                  <m:sty m:val="p"/>
                                </m:rPr>
                                <a:rPr lang="vi-VN" i="1">
                                  <a:solidFill>
                                    <a:srgbClr val="836967"/>
                                  </a:solidFill>
                                  <a:latin typeface="Cambria Math" panose="02040503050406030204" pitchFamily="18" charset="0"/>
                                  <a:ea typeface="Cambria Math" panose="02040503050406030204" pitchFamily="18" charset="0"/>
                                </a:rPr>
                                <m:t>T</m:t>
                              </m:r>
                            </m:e>
                            <m:sub>
                              <m:r>
                                <a:rPr lang="vi-VN" i="1">
                                  <a:latin typeface="Cambria Math" panose="02040503050406030204" pitchFamily="18" charset="0"/>
                                  <a:ea typeface="Cambria Math" panose="02040503050406030204" pitchFamily="18" charset="0"/>
                                </a:rPr>
                                <m:t>𝑠</m:t>
                              </m:r>
                            </m:sub>
                            <m:sup>
                              <m:r>
                                <a:rPr lang="vi-VN">
                                  <a:latin typeface="Cambria Math" panose="02040503050406030204" pitchFamily="18" charset="0"/>
                                  <a:ea typeface="Cambria Math" panose="02040503050406030204" pitchFamily="18" charset="0"/>
                                </a:rPr>
                                <m:t>2</m:t>
                              </m:r>
                            </m:sup>
                          </m:sSubSup>
                          <m:r>
                            <a:rPr lang="vi-VN" i="1">
                              <a:latin typeface="Cambria Math" panose="02040503050406030204" pitchFamily="18" charset="0"/>
                              <a:ea typeface="Cambria Math" panose="02040503050406030204" pitchFamily="18" charset="0"/>
                            </a:rPr>
                            <m:t>−</m:t>
                          </m:r>
                          <m:r>
                            <a:rPr lang="vi-VN">
                              <a:latin typeface="Cambria Math" panose="02040503050406030204" pitchFamily="18" charset="0"/>
                              <a:ea typeface="Cambria Math" panose="02040503050406030204" pitchFamily="18" charset="0"/>
                            </a:rPr>
                            <m:t>2</m:t>
                          </m:r>
                          <m:sSub>
                            <m:sSubPr>
                              <m:ctrlPr>
                                <a:rPr lang="vi-VN" i="1">
                                  <a:solidFill>
                                    <a:srgbClr val="836967"/>
                                  </a:solidFill>
                                  <a:latin typeface="Cambria Math" panose="02040503050406030204" pitchFamily="18" charset="0"/>
                                  <a:ea typeface="Cambria Math" panose="02040503050406030204" pitchFamily="18" charset="0"/>
                                </a:rPr>
                              </m:ctrlPr>
                            </m:sSubPr>
                            <m:e>
                              <m:r>
                                <m:rPr>
                                  <m:sty m:val="p"/>
                                </m:rPr>
                                <a:rPr lang="vi-VN" i="1">
                                  <a:solidFill>
                                    <a:srgbClr val="836967"/>
                                  </a:solidFill>
                                  <a:latin typeface="Cambria Math" panose="02040503050406030204" pitchFamily="18" charset="0"/>
                                  <a:ea typeface="Cambria Math" panose="02040503050406030204" pitchFamily="18" charset="0"/>
                                </a:rPr>
                                <m:t>K</m:t>
                              </m:r>
                            </m:e>
                            <m:sub>
                              <m:r>
                                <a:rPr lang="vi-VN" i="1">
                                  <a:latin typeface="Cambria Math" panose="02040503050406030204" pitchFamily="18" charset="0"/>
                                  <a:ea typeface="Cambria Math" panose="02040503050406030204" pitchFamily="18" charset="0"/>
                                </a:rPr>
                                <m:t>𝑖</m:t>
                              </m:r>
                            </m:sub>
                          </m:sSub>
                          <m:r>
                            <a:rPr lang="vi-VN">
                              <a:latin typeface="Cambria Math" panose="02040503050406030204" pitchFamily="18" charset="0"/>
                              <a:ea typeface="Cambria Math" panose="02040503050406030204" pitchFamily="18" charset="0"/>
                            </a:rPr>
                            <m:t>⋅</m:t>
                          </m:r>
                          <m:sSub>
                            <m:sSubPr>
                              <m:ctrlPr>
                                <a:rPr lang="vi-VN" i="1">
                                  <a:latin typeface="Cambria Math" panose="02040503050406030204" pitchFamily="18" charset="0"/>
                                  <a:ea typeface="Cambria Math" panose="02040503050406030204" pitchFamily="18" charset="0"/>
                                </a:rPr>
                              </m:ctrlPr>
                            </m:sSubPr>
                            <m:e>
                              <m:r>
                                <a:rPr lang="vi-VN" i="1">
                                  <a:latin typeface="Cambria Math" panose="02040503050406030204" pitchFamily="18" charset="0"/>
                                  <a:ea typeface="Cambria Math" panose="02040503050406030204" pitchFamily="18" charset="0"/>
                                </a:rPr>
                                <m:t>𝑇</m:t>
                              </m:r>
                            </m:e>
                            <m:sub>
                              <m:r>
                                <a:rPr lang="vi-VN" i="1">
                                  <a:latin typeface="Cambria Math" panose="02040503050406030204" pitchFamily="18" charset="0"/>
                                  <a:ea typeface="Cambria Math" panose="02040503050406030204" pitchFamily="18" charset="0"/>
                                </a:rPr>
                                <m:t>𝑠</m:t>
                              </m:r>
                            </m:sub>
                          </m:sSub>
                        </m:num>
                        <m:den>
                          <m:r>
                            <a:rPr lang="vi-VN">
                              <a:latin typeface="Cambria Math" panose="02040503050406030204" pitchFamily="18" charset="0"/>
                              <a:ea typeface="Cambria Math" panose="02040503050406030204" pitchFamily="18" charset="0"/>
                            </a:rPr>
                            <m:t>4+</m:t>
                          </m:r>
                          <m:sSup>
                            <m:sSupPr>
                              <m:ctrlPr>
                                <a:rPr lang="vi-VN" i="1">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𝜔</m:t>
                              </m:r>
                            </m:e>
                            <m:sup>
                              <m:r>
                                <a:rPr lang="vi-VN">
                                  <a:latin typeface="Cambria Math" panose="02040503050406030204" pitchFamily="18" charset="0"/>
                                  <a:ea typeface="Cambria Math" panose="02040503050406030204" pitchFamily="18" charset="0"/>
                                </a:rPr>
                                <m:t>2</m:t>
                              </m:r>
                            </m:sup>
                          </m:sSup>
                          <m:r>
                            <a:rPr lang="vi-VN">
                              <a:latin typeface="Cambria Math" panose="02040503050406030204" pitchFamily="18" charset="0"/>
                              <a:ea typeface="Cambria Math" panose="02040503050406030204" pitchFamily="18" charset="0"/>
                            </a:rPr>
                            <m:t>⋅</m:t>
                          </m:r>
                          <m:sSubSup>
                            <m:sSubSupPr>
                              <m:ctrlPr>
                                <a:rPr lang="vi-VN" i="1">
                                  <a:solidFill>
                                    <a:srgbClr val="836967"/>
                                  </a:solidFill>
                                  <a:latin typeface="Cambria Math" panose="02040503050406030204" pitchFamily="18" charset="0"/>
                                  <a:ea typeface="Cambria Math" panose="02040503050406030204" pitchFamily="18" charset="0"/>
                                </a:rPr>
                              </m:ctrlPr>
                            </m:sSubSupPr>
                            <m:e>
                              <m:r>
                                <m:rPr>
                                  <m:sty m:val="p"/>
                                </m:rPr>
                                <a:rPr lang="vi-VN" i="1">
                                  <a:solidFill>
                                    <a:srgbClr val="836967"/>
                                  </a:solidFill>
                                  <a:latin typeface="Cambria Math" panose="02040503050406030204" pitchFamily="18" charset="0"/>
                                  <a:ea typeface="Cambria Math" panose="02040503050406030204" pitchFamily="18" charset="0"/>
                                </a:rPr>
                                <m:t>T</m:t>
                              </m:r>
                            </m:e>
                            <m:sub>
                              <m:r>
                                <a:rPr lang="vi-VN" i="1">
                                  <a:latin typeface="Cambria Math" panose="02040503050406030204" pitchFamily="18" charset="0"/>
                                  <a:ea typeface="Cambria Math" panose="02040503050406030204" pitchFamily="18" charset="0"/>
                                </a:rPr>
                                <m:t>𝑠</m:t>
                              </m:r>
                            </m:sub>
                            <m:sup>
                              <m:r>
                                <a:rPr lang="vi-VN">
                                  <a:latin typeface="Cambria Math" panose="02040503050406030204" pitchFamily="18" charset="0"/>
                                  <a:ea typeface="Cambria Math" panose="02040503050406030204" pitchFamily="18" charset="0"/>
                                </a:rPr>
                                <m:t>2</m:t>
                              </m:r>
                            </m:sup>
                          </m:sSubSup>
                        </m:den>
                      </m:f>
                      <m:r>
                        <a:rPr lang="vi-VN" i="0">
                          <a:latin typeface="Cambria Math" panose="02040503050406030204" pitchFamily="18" charset="0"/>
                        </a:rPr>
                        <m:t>⋅</m:t>
                      </m:r>
                      <m:sSub>
                        <m:sSubPr>
                          <m:ctrlPr>
                            <a:rPr lang="vi-VN" b="1" i="1">
                              <a:latin typeface="Cambria Math" panose="02040503050406030204" pitchFamily="18" charset="0"/>
                            </a:rPr>
                          </m:ctrlPr>
                        </m:sSubPr>
                        <m:e>
                          <m:r>
                            <a:rPr lang="vi-VN" b="1" i="1">
                              <a:latin typeface="Cambria Math" panose="02040503050406030204" pitchFamily="18" charset="0"/>
                            </a:rPr>
                            <m:t>𝒖</m:t>
                          </m:r>
                        </m:e>
                        <m:sub>
                          <m:r>
                            <a:rPr lang="vi-VN" b="1" i="1">
                              <a:latin typeface="Cambria Math" panose="02040503050406030204" pitchFamily="18" charset="0"/>
                            </a:rPr>
                            <m:t>𝒌</m:t>
                          </m:r>
                          <m:r>
                            <a:rPr lang="vi-VN" b="1" i="0">
                              <a:latin typeface="Cambria Math" panose="02040503050406030204" pitchFamily="18" charset="0"/>
                            </a:rPr>
                            <m:t>−</m:t>
                          </m:r>
                          <m:r>
                            <a:rPr lang="vi-VN" b="1" i="0">
                              <a:latin typeface="Cambria Math" panose="02040503050406030204" pitchFamily="18" charset="0"/>
                            </a:rPr>
                            <m:t>𝟐</m:t>
                          </m:r>
                        </m:sub>
                      </m:sSub>
                    </m:oMath>
                  </m:oMathPara>
                </a14:m>
                <a:endParaRPr lang="vi-VN" b="1"/>
              </a:p>
            </p:txBody>
          </p:sp>
        </mc:Choice>
        <mc:Fallback xmlns="">
          <p:sp>
            <p:nvSpPr>
              <p:cNvPr id="12" name="TextBox 16">
                <a:extLst>
                  <a:ext uri="{FF2B5EF4-FFF2-40B4-BE49-F238E27FC236}">
                    <a16:creationId xmlns:a16="http://schemas.microsoft.com/office/drawing/2014/main" id="{08620119-D8FB-1E57-01B5-416A66DCEDA5}"/>
                  </a:ext>
                </a:extLst>
              </p:cNvPr>
              <p:cNvSpPr txBox="1">
                <a:spLocks noRot="1" noChangeAspect="1" noMove="1" noResize="1" noEditPoints="1" noAdjustHandles="1" noChangeArrowheads="1" noChangeShapeType="1" noTextEdit="1"/>
              </p:cNvSpPr>
              <p:nvPr/>
            </p:nvSpPr>
            <p:spPr>
              <a:xfrm>
                <a:off x="1941810" y="5980672"/>
                <a:ext cx="7107266" cy="711990"/>
              </a:xfrm>
              <a:prstGeom prst="rect">
                <a:avLst/>
              </a:prstGeom>
              <a:blipFill>
                <a:blip r:embed="rId7"/>
                <a:stretch>
                  <a:fillRect/>
                </a:stretch>
              </a:blipFill>
            </p:spPr>
            <p:txBody>
              <a:bodyPr/>
              <a:lstStyle/>
              <a:p>
                <a:r>
                  <a:rPr lang="vi-VN">
                    <a:noFill/>
                  </a:rPr>
                  <a:t> </a:t>
                </a:r>
              </a:p>
            </p:txBody>
          </p:sp>
        </mc:Fallback>
      </mc:AlternateContent>
      <p:sp>
        <p:nvSpPr>
          <p:cNvPr id="13" name="Arrow: Right 17">
            <a:extLst>
              <a:ext uri="{FF2B5EF4-FFF2-40B4-BE49-F238E27FC236}">
                <a16:creationId xmlns:a16="http://schemas.microsoft.com/office/drawing/2014/main" id="{0A79D336-AD1C-56AD-7296-9C76F0CBB527}"/>
              </a:ext>
            </a:extLst>
          </p:cNvPr>
          <p:cNvSpPr/>
          <p:nvPr/>
        </p:nvSpPr>
        <p:spPr>
          <a:xfrm>
            <a:off x="1042556" y="5221520"/>
            <a:ext cx="261258" cy="224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a:p>
        </p:txBody>
      </p:sp>
    </p:spTree>
    <p:extLst>
      <p:ext uri="{BB962C8B-B14F-4D97-AF65-F5344CB8AC3E}">
        <p14:creationId xmlns:p14="http://schemas.microsoft.com/office/powerpoint/2010/main" val="40034321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967CE-06BD-6495-D8B2-48B3C463A93D}"/>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1228EF4C-CE6E-3709-AE6E-6516CF49A057}"/>
              </a:ext>
            </a:extLst>
          </p:cNvPr>
          <p:cNvGrpSpPr/>
          <p:nvPr/>
        </p:nvGrpSpPr>
        <p:grpSpPr>
          <a:xfrm>
            <a:off x="510284" y="324255"/>
            <a:ext cx="9501431" cy="748796"/>
            <a:chOff x="1793005" y="1746584"/>
            <a:chExt cx="9501431" cy="748794"/>
          </a:xfrm>
        </p:grpSpPr>
        <p:sp>
          <p:nvSpPr>
            <p:cNvPr id="3" name="TextBox 26">
              <a:extLst>
                <a:ext uri="{FF2B5EF4-FFF2-40B4-BE49-F238E27FC236}">
                  <a16:creationId xmlns:a16="http://schemas.microsoft.com/office/drawing/2014/main" id="{F9EBDA5C-53A9-4019-EA47-FFAF621E3E28}"/>
                </a:ext>
              </a:extLst>
            </p:cNvPr>
            <p:cNvSpPr txBox="1"/>
            <p:nvPr/>
          </p:nvSpPr>
          <p:spPr>
            <a:xfrm>
              <a:off x="2721565" y="1746585"/>
              <a:ext cx="8572871" cy="748793"/>
            </a:xfrm>
            <a:prstGeom prst="rect">
              <a:avLst/>
            </a:prstGeom>
            <a:noFill/>
          </p:spPr>
          <p:txBody>
            <a:bodyPr wrap="square" rtlCol="0">
              <a:spAutoFit/>
            </a:bodyPr>
            <a:lstStyle/>
            <a:p>
              <a:r>
                <a:rPr lang="en-US" sz="2133" b="1">
                  <a:latin typeface="Arial (Body)"/>
                </a:rPr>
                <a:t>CHƯƠNG 2: THIẾT KẾ HỆ THỐNG ĐIỀU KHIỂN CÁC BỘ NGHỊCH LƯU THEO DAO ĐỘNG ANDRONOV-HOPF</a:t>
              </a:r>
            </a:p>
          </p:txBody>
        </p:sp>
        <p:sp>
          <p:nvSpPr>
            <p:cNvPr id="4" name="Rectangle 27">
              <a:extLst>
                <a:ext uri="{FF2B5EF4-FFF2-40B4-BE49-F238E27FC236}">
                  <a16:creationId xmlns:a16="http://schemas.microsoft.com/office/drawing/2014/main" id="{FC31AEBA-EAC5-7471-4809-709801328404}"/>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a:t>
              </a:r>
            </a:p>
          </p:txBody>
        </p:sp>
      </p:grpSp>
      <p:sp>
        <p:nvSpPr>
          <p:cNvPr id="5" name="TextBox 23">
            <a:extLst>
              <a:ext uri="{FF2B5EF4-FFF2-40B4-BE49-F238E27FC236}">
                <a16:creationId xmlns:a16="http://schemas.microsoft.com/office/drawing/2014/main" id="{AD084543-4D6F-B789-BF8E-7F210AF234F7}"/>
              </a:ext>
            </a:extLst>
          </p:cNvPr>
          <p:cNvSpPr txBox="1"/>
          <p:nvPr/>
        </p:nvSpPr>
        <p:spPr>
          <a:xfrm>
            <a:off x="374948" y="1036129"/>
            <a:ext cx="10378208" cy="400110"/>
          </a:xfrm>
          <a:prstGeom prst="rect">
            <a:avLst/>
          </a:prstGeom>
          <a:noFill/>
        </p:spPr>
        <p:txBody>
          <a:bodyPr wrap="square" rtlCol="0">
            <a:spAutoFit/>
          </a:bodyPr>
          <a:lstStyle/>
          <a:p>
            <a:pPr defTabSz="609585">
              <a:defRPr/>
            </a:pPr>
            <a:r>
              <a:rPr lang="vi-VN" sz="2000" b="1">
                <a:solidFill>
                  <a:prstClr val="black"/>
                </a:solidFill>
                <a:latin typeface="Times New Roman" panose="02020603050405020304" pitchFamily="18" charset="0"/>
                <a:cs typeface="Times New Roman" panose="02020603050405020304" pitchFamily="18" charset="0"/>
              </a:rPr>
              <a:t>2.9. Thiết kế bộ điều khiển điện áp và dòng điện cho sơ đồ vòng kín trên miền rời rạc</a:t>
            </a:r>
          </a:p>
        </p:txBody>
      </p:sp>
      <p:pic>
        <p:nvPicPr>
          <p:cNvPr id="10" name="Hình ảnh 9">
            <a:extLst>
              <a:ext uri="{FF2B5EF4-FFF2-40B4-BE49-F238E27FC236}">
                <a16:creationId xmlns:a16="http://schemas.microsoft.com/office/drawing/2014/main" id="{1CF69154-172D-7AF7-28AB-A705B35810FF}"/>
              </a:ext>
            </a:extLst>
          </p:cNvPr>
          <p:cNvPicPr>
            <a:picLocks noChangeAspect="1"/>
          </p:cNvPicPr>
          <p:nvPr/>
        </p:nvPicPr>
        <p:blipFill>
          <a:blip r:embed="rId2"/>
          <a:stretch>
            <a:fillRect/>
          </a:stretch>
        </p:blipFill>
        <p:spPr>
          <a:xfrm>
            <a:off x="7714034" y="1686446"/>
            <a:ext cx="4057004" cy="4622440"/>
          </a:xfrm>
          <a:prstGeom prst="rect">
            <a:avLst/>
          </a:prstGeom>
        </p:spPr>
      </p:pic>
      <p:pic>
        <p:nvPicPr>
          <p:cNvPr id="12" name="Hình ảnh 11">
            <a:extLst>
              <a:ext uri="{FF2B5EF4-FFF2-40B4-BE49-F238E27FC236}">
                <a16:creationId xmlns:a16="http://schemas.microsoft.com/office/drawing/2014/main" id="{90219FB8-58B5-762D-603B-B991737D8D43}"/>
              </a:ext>
            </a:extLst>
          </p:cNvPr>
          <p:cNvPicPr>
            <a:picLocks noChangeAspect="1"/>
          </p:cNvPicPr>
          <p:nvPr/>
        </p:nvPicPr>
        <p:blipFill>
          <a:blip r:embed="rId3"/>
          <a:stretch>
            <a:fillRect/>
          </a:stretch>
        </p:blipFill>
        <p:spPr>
          <a:xfrm>
            <a:off x="298890" y="1784924"/>
            <a:ext cx="6938489" cy="4199122"/>
          </a:xfrm>
          <a:prstGeom prst="rect">
            <a:avLst/>
          </a:prstGeom>
        </p:spPr>
      </p:pic>
    </p:spTree>
    <p:extLst>
      <p:ext uri="{BB962C8B-B14F-4D97-AF65-F5344CB8AC3E}">
        <p14:creationId xmlns:p14="http://schemas.microsoft.com/office/powerpoint/2010/main" val="30819086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a:extLst>
              <a:ext uri="{FF2B5EF4-FFF2-40B4-BE49-F238E27FC236}">
                <a16:creationId xmlns:a16="http://schemas.microsoft.com/office/drawing/2014/main" id="{638043F5-A63B-6E6D-2ED2-C7D432E08F33}"/>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5A95C8F2-392B-E8C6-762E-B289568CC3E8}"/>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3A6E74FE-EB2A-B906-C051-A50AD37D2BE5}"/>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11" name="Hộp Văn bản 10">
            <a:extLst>
              <a:ext uri="{FF2B5EF4-FFF2-40B4-BE49-F238E27FC236}">
                <a16:creationId xmlns:a16="http://schemas.microsoft.com/office/drawing/2014/main" id="{2539860E-2E3E-300D-B02C-5D02B2184655}"/>
              </a:ext>
            </a:extLst>
          </p:cNvPr>
          <p:cNvSpPr txBox="1"/>
          <p:nvPr/>
        </p:nvSpPr>
        <p:spPr>
          <a:xfrm>
            <a:off x="510283" y="1122279"/>
            <a:ext cx="11339971" cy="2246769"/>
          </a:xfrm>
          <a:prstGeom prst="rect">
            <a:avLst/>
          </a:prstGeom>
          <a:noFill/>
        </p:spPr>
        <p:txBody>
          <a:bodyPr wrap="square">
            <a:spAutoFit/>
          </a:bodyPr>
          <a:lstStyle/>
          <a:p>
            <a:pPr marL="285750" indent="-285750">
              <a:buFontTx/>
              <a:buChar char="-"/>
            </a:pPr>
            <a:r>
              <a:rPr lang="vi-VN" sz="2000"/>
              <a:t>Các kịch bản mô phỏng:</a:t>
            </a:r>
          </a:p>
          <a:p>
            <a:pPr marL="742950" lvl="1" indent="-285750">
              <a:buFontTx/>
              <a:buChar char="-"/>
            </a:pPr>
            <a:r>
              <a:rPr lang="vi-VN" sz="2000"/>
              <a:t>Kịch bản 1: 2 </a:t>
            </a:r>
            <a:r>
              <a:rPr lang="vi-VN" sz="2000" err="1"/>
              <a:t>Inverter</a:t>
            </a:r>
            <a:r>
              <a:rPr lang="vi-VN" sz="2000"/>
              <a:t> làm việc song </a:t>
            </a:r>
            <a:r>
              <a:rPr lang="vi-VN" sz="2000" err="1"/>
              <a:t>song</a:t>
            </a:r>
            <a:r>
              <a:rPr lang="vi-VN" sz="2000"/>
              <a:t> sử dụng tải tỉ lệ chia sẻ 1:1, tải R = 2000W</a:t>
            </a:r>
          </a:p>
          <a:p>
            <a:pPr marL="742950" lvl="1" indent="-285750">
              <a:buFontTx/>
              <a:buChar char="-"/>
            </a:pPr>
            <a:r>
              <a:rPr lang="vi-VN" sz="2000"/>
              <a:t>Kịch bản 2: 2 </a:t>
            </a:r>
            <a:r>
              <a:rPr lang="vi-VN" sz="2000" err="1"/>
              <a:t>Inverter</a:t>
            </a:r>
            <a:r>
              <a:rPr lang="vi-VN" sz="2000"/>
              <a:t> làm việc song </a:t>
            </a:r>
            <a:r>
              <a:rPr lang="vi-VN" sz="2000" err="1"/>
              <a:t>song</a:t>
            </a:r>
            <a:r>
              <a:rPr lang="vi-VN" sz="2000"/>
              <a:t> sử dụng tải tỉ lệ chia sẻ 1:1, tải RL 4kW + 2000VA.</a:t>
            </a:r>
          </a:p>
          <a:p>
            <a:pPr marL="742950" lvl="1" indent="-285750">
              <a:buFontTx/>
              <a:buChar char="-"/>
            </a:pPr>
            <a:r>
              <a:rPr lang="vi-VN" sz="2000"/>
              <a:t>Kịch bản 3: 2 </a:t>
            </a:r>
            <a:r>
              <a:rPr lang="vi-VN" sz="2000" err="1"/>
              <a:t>Inverter</a:t>
            </a:r>
            <a:r>
              <a:rPr lang="vi-VN" sz="2000"/>
              <a:t> làm việc song </a:t>
            </a:r>
            <a:r>
              <a:rPr lang="vi-VN" sz="2000" err="1"/>
              <a:t>song</a:t>
            </a:r>
            <a:r>
              <a:rPr lang="vi-VN" sz="2000"/>
              <a:t> sử dụng tải tỉ lệ chia sẻ 1:1, tải RL 4kW + 2000VA. Tại 0.3s, đóng thêm 1 tải RL 4kW 2000VA</a:t>
            </a:r>
          </a:p>
          <a:p>
            <a:pPr marL="742950" lvl="1" indent="-285750">
              <a:buFontTx/>
              <a:buChar char="-"/>
            </a:pPr>
            <a:r>
              <a:rPr lang="vi-VN" sz="2000"/>
              <a:t>Kịch bản 4: 2 </a:t>
            </a:r>
            <a:r>
              <a:rPr lang="vi-VN" sz="2000" err="1"/>
              <a:t>Inverter</a:t>
            </a:r>
            <a:r>
              <a:rPr lang="vi-VN" sz="2000"/>
              <a:t> làm việc song </a:t>
            </a:r>
            <a:r>
              <a:rPr lang="vi-VN" sz="2000" err="1"/>
              <a:t>song</a:t>
            </a:r>
            <a:r>
              <a:rPr lang="vi-VN" sz="2000"/>
              <a:t> sử dụng tải tỉ lệ chia sẻ 1:1, 2 tải RL 8kW + 4000VA. Tại 0.3s, ngắt 1 tải 4kW + 2000VA đi.</a:t>
            </a:r>
          </a:p>
        </p:txBody>
      </p:sp>
    </p:spTree>
    <p:extLst>
      <p:ext uri="{BB962C8B-B14F-4D97-AF65-F5344CB8AC3E}">
        <p14:creationId xmlns:p14="http://schemas.microsoft.com/office/powerpoint/2010/main" val="13382255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3C32C-507E-FC6D-9DDC-DD18DDF33B96}"/>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2313634B-2571-BD46-47B3-0F134E251CE7}"/>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A4215312-4B56-896A-572D-B5D8A076B47A}"/>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209BF140-226A-E2E9-8CFE-37FF03EC707C}"/>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5" name="TextBox 4">
            <a:extLst>
              <a:ext uri="{FF2B5EF4-FFF2-40B4-BE49-F238E27FC236}">
                <a16:creationId xmlns:a16="http://schemas.microsoft.com/office/drawing/2014/main" id="{2923C225-74F7-46CB-B6F6-621D20957ED0}"/>
              </a:ext>
            </a:extLst>
          </p:cNvPr>
          <p:cNvSpPr txBox="1"/>
          <p:nvPr/>
        </p:nvSpPr>
        <p:spPr>
          <a:xfrm>
            <a:off x="762000" y="1253449"/>
            <a:ext cx="11182350" cy="369332"/>
          </a:xfrm>
          <a:prstGeom prst="rect">
            <a:avLst/>
          </a:prstGeom>
          <a:noFill/>
        </p:spPr>
        <p:txBody>
          <a:bodyPr wrap="square" rtlCol="0">
            <a:spAutoFit/>
          </a:bodyPr>
          <a:lstStyle/>
          <a:p>
            <a:r>
              <a:rPr lang="vi-VN"/>
              <a:t>Kịch bản 1: Mô phỏng 2 inverter làm việc song song với tải công suất 2000 W. Tỉ lệ chia sẻ công suất 1:1</a:t>
            </a:r>
            <a:endParaRPr lang="en-ID"/>
          </a:p>
        </p:txBody>
      </p:sp>
      <p:pic>
        <p:nvPicPr>
          <p:cNvPr id="6" name="Hình ảnh 8">
            <a:extLst>
              <a:ext uri="{FF2B5EF4-FFF2-40B4-BE49-F238E27FC236}">
                <a16:creationId xmlns:a16="http://schemas.microsoft.com/office/drawing/2014/main" id="{971B465C-2780-4449-B346-B9291A7CAB02}"/>
              </a:ext>
            </a:extLst>
          </p:cNvPr>
          <p:cNvPicPr>
            <a:picLocks noChangeAspect="1"/>
          </p:cNvPicPr>
          <p:nvPr/>
        </p:nvPicPr>
        <p:blipFill>
          <a:blip r:embed="rId2"/>
          <a:stretch>
            <a:fillRect/>
          </a:stretch>
        </p:blipFill>
        <p:spPr>
          <a:xfrm>
            <a:off x="1495745" y="1711478"/>
            <a:ext cx="9200509" cy="4958454"/>
          </a:xfrm>
          <a:prstGeom prst="rect">
            <a:avLst/>
          </a:prstGeom>
        </p:spPr>
      </p:pic>
      <p:sp>
        <p:nvSpPr>
          <p:cNvPr id="8" name="Hộp Văn bản 7">
            <a:extLst>
              <a:ext uri="{FF2B5EF4-FFF2-40B4-BE49-F238E27FC236}">
                <a16:creationId xmlns:a16="http://schemas.microsoft.com/office/drawing/2014/main" id="{0BC2C2C2-7480-A5E9-9E27-074EFF7FB8C5}"/>
              </a:ext>
            </a:extLst>
          </p:cNvPr>
          <p:cNvSpPr txBox="1"/>
          <p:nvPr/>
        </p:nvSpPr>
        <p:spPr>
          <a:xfrm>
            <a:off x="510284" y="833516"/>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6258700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4A17E-F95C-90D4-0A51-A7908B3F7A21}"/>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A10C1415-81CD-8CF1-5F0B-E7051798DD76}"/>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CC4246D4-3FBB-C65E-872E-F7C6B8361BF2}"/>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DDE96039-62EF-82E9-EE4C-FA6B2BE3788D}"/>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pic>
        <p:nvPicPr>
          <p:cNvPr id="5" name="Hình ảnh 4">
            <a:extLst>
              <a:ext uri="{FF2B5EF4-FFF2-40B4-BE49-F238E27FC236}">
                <a16:creationId xmlns:a16="http://schemas.microsoft.com/office/drawing/2014/main" id="{08B7BB32-1D9E-FFC7-0177-15499D44F318}"/>
              </a:ext>
            </a:extLst>
          </p:cNvPr>
          <p:cNvPicPr>
            <a:picLocks noChangeAspect="1"/>
          </p:cNvPicPr>
          <p:nvPr/>
        </p:nvPicPr>
        <p:blipFill>
          <a:blip r:embed="rId2"/>
          <a:stretch>
            <a:fillRect/>
          </a:stretch>
        </p:blipFill>
        <p:spPr>
          <a:xfrm>
            <a:off x="780004" y="1281476"/>
            <a:ext cx="5027411" cy="2367073"/>
          </a:xfrm>
          <a:prstGeom prst="rect">
            <a:avLst/>
          </a:prstGeom>
        </p:spPr>
      </p:pic>
      <p:cxnSp>
        <p:nvCxnSpPr>
          <p:cNvPr id="7" name="Đường nối Thẳng 6">
            <a:extLst>
              <a:ext uri="{FF2B5EF4-FFF2-40B4-BE49-F238E27FC236}">
                <a16:creationId xmlns:a16="http://schemas.microsoft.com/office/drawing/2014/main" id="{17CFAF07-0015-CE10-84D3-28501197F049}"/>
              </a:ext>
            </a:extLst>
          </p:cNvPr>
          <p:cNvCxnSpPr/>
          <p:nvPr/>
        </p:nvCxnSpPr>
        <p:spPr>
          <a:xfrm>
            <a:off x="6186792" y="941029"/>
            <a:ext cx="0" cy="5625911"/>
          </a:xfrm>
          <a:prstGeom prst="line">
            <a:avLst/>
          </a:prstGeom>
        </p:spPr>
        <p:style>
          <a:lnRef idx="1">
            <a:schemeClr val="accent1"/>
          </a:lnRef>
          <a:fillRef idx="0">
            <a:schemeClr val="accent1"/>
          </a:fillRef>
          <a:effectRef idx="0">
            <a:schemeClr val="accent1"/>
          </a:effectRef>
          <a:fontRef idx="minor">
            <a:schemeClr val="tx1"/>
          </a:fontRef>
        </p:style>
      </p:cxnSp>
      <p:sp>
        <p:nvSpPr>
          <p:cNvPr id="9" name="Hình chữ nhật 8">
            <a:extLst>
              <a:ext uri="{FF2B5EF4-FFF2-40B4-BE49-F238E27FC236}">
                <a16:creationId xmlns:a16="http://schemas.microsoft.com/office/drawing/2014/main" id="{657FA842-37BB-5B5E-B8C1-710E701F8881}"/>
              </a:ext>
            </a:extLst>
          </p:cNvPr>
          <p:cNvSpPr/>
          <p:nvPr/>
        </p:nvSpPr>
        <p:spPr>
          <a:xfrm>
            <a:off x="1029306" y="1988991"/>
            <a:ext cx="618125" cy="58366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vi-VN"/>
          </a:p>
        </p:txBody>
      </p:sp>
      <p:cxnSp>
        <p:nvCxnSpPr>
          <p:cNvPr id="11" name="Đường kết nối Mũi tên Thẳng 10">
            <a:extLst>
              <a:ext uri="{FF2B5EF4-FFF2-40B4-BE49-F238E27FC236}">
                <a16:creationId xmlns:a16="http://schemas.microsoft.com/office/drawing/2014/main" id="{A8136A79-CB69-2E7F-AFF9-0B766777CC1C}"/>
              </a:ext>
            </a:extLst>
          </p:cNvPr>
          <p:cNvCxnSpPr>
            <a:cxnSpLocks/>
          </p:cNvCxnSpPr>
          <p:nvPr/>
        </p:nvCxnSpPr>
        <p:spPr>
          <a:xfrm flipH="1">
            <a:off x="403392" y="2538976"/>
            <a:ext cx="625914" cy="1758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Đường kết nối Mũi tên Thẳng 11">
            <a:extLst>
              <a:ext uri="{FF2B5EF4-FFF2-40B4-BE49-F238E27FC236}">
                <a16:creationId xmlns:a16="http://schemas.microsoft.com/office/drawing/2014/main" id="{D344E5EE-47DC-EBD1-085C-305D54857FDB}"/>
              </a:ext>
            </a:extLst>
          </p:cNvPr>
          <p:cNvCxnSpPr>
            <a:cxnSpLocks/>
          </p:cNvCxnSpPr>
          <p:nvPr/>
        </p:nvCxnSpPr>
        <p:spPr>
          <a:xfrm>
            <a:off x="1647431" y="2433979"/>
            <a:ext cx="3984026" cy="18637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Hình ảnh 14">
            <a:extLst>
              <a:ext uri="{FF2B5EF4-FFF2-40B4-BE49-F238E27FC236}">
                <a16:creationId xmlns:a16="http://schemas.microsoft.com/office/drawing/2014/main" id="{F8EF10E6-F42D-A479-FC1C-4F8CD1FFBD9C}"/>
              </a:ext>
            </a:extLst>
          </p:cNvPr>
          <p:cNvPicPr>
            <a:picLocks noChangeAspect="1"/>
          </p:cNvPicPr>
          <p:nvPr/>
        </p:nvPicPr>
        <p:blipFill>
          <a:blip r:embed="rId3"/>
          <a:stretch>
            <a:fillRect/>
          </a:stretch>
        </p:blipFill>
        <p:spPr>
          <a:xfrm>
            <a:off x="465214" y="4325706"/>
            <a:ext cx="5027409" cy="2380164"/>
          </a:xfrm>
          <a:prstGeom prst="rect">
            <a:avLst/>
          </a:prstGeom>
        </p:spPr>
      </p:pic>
      <p:sp>
        <p:nvSpPr>
          <p:cNvPr id="17" name="Hộp Văn bản 16">
            <a:extLst>
              <a:ext uri="{FF2B5EF4-FFF2-40B4-BE49-F238E27FC236}">
                <a16:creationId xmlns:a16="http://schemas.microsoft.com/office/drawing/2014/main" id="{FB1C9F00-B8FD-BFFC-ABBB-1498885856F9}"/>
              </a:ext>
            </a:extLst>
          </p:cNvPr>
          <p:cNvSpPr txBox="1"/>
          <p:nvPr/>
        </p:nvSpPr>
        <p:spPr>
          <a:xfrm>
            <a:off x="1853487" y="3835131"/>
            <a:ext cx="2733738" cy="369332"/>
          </a:xfrm>
          <a:prstGeom prst="rect">
            <a:avLst/>
          </a:prstGeom>
          <a:noFill/>
        </p:spPr>
        <p:txBody>
          <a:bodyPr wrap="square">
            <a:spAutoFit/>
          </a:bodyPr>
          <a:lstStyle/>
          <a:p>
            <a:pPr algn="ctr"/>
            <a:r>
              <a:rPr lang="vi-VN"/>
              <a:t>Đáp ứng điện áp đầu ra</a:t>
            </a:r>
            <a:endParaRPr lang="en-ID"/>
          </a:p>
        </p:txBody>
      </p:sp>
      <p:pic>
        <p:nvPicPr>
          <p:cNvPr id="18" name="Hình ảnh 17">
            <a:extLst>
              <a:ext uri="{FF2B5EF4-FFF2-40B4-BE49-F238E27FC236}">
                <a16:creationId xmlns:a16="http://schemas.microsoft.com/office/drawing/2014/main" id="{5414EABA-9CD9-EDFE-3350-6A5B13DB4D27}"/>
              </a:ext>
            </a:extLst>
          </p:cNvPr>
          <p:cNvPicPr>
            <a:picLocks noChangeAspect="1"/>
          </p:cNvPicPr>
          <p:nvPr/>
        </p:nvPicPr>
        <p:blipFill>
          <a:blip r:embed="rId4"/>
          <a:stretch>
            <a:fillRect/>
          </a:stretch>
        </p:blipFill>
        <p:spPr>
          <a:xfrm>
            <a:off x="6540757" y="1126957"/>
            <a:ext cx="5064342" cy="2398760"/>
          </a:xfrm>
          <a:prstGeom prst="rect">
            <a:avLst/>
          </a:prstGeom>
        </p:spPr>
      </p:pic>
      <p:sp>
        <p:nvSpPr>
          <p:cNvPr id="19" name="Hình chữ nhật 18">
            <a:extLst>
              <a:ext uri="{FF2B5EF4-FFF2-40B4-BE49-F238E27FC236}">
                <a16:creationId xmlns:a16="http://schemas.microsoft.com/office/drawing/2014/main" id="{1DC1DF18-AC84-332C-A49D-473EA6C6A928}"/>
              </a:ext>
            </a:extLst>
          </p:cNvPr>
          <p:cNvSpPr/>
          <p:nvPr/>
        </p:nvSpPr>
        <p:spPr>
          <a:xfrm>
            <a:off x="7175684" y="1228258"/>
            <a:ext cx="353963" cy="29183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vi-VN"/>
          </a:p>
        </p:txBody>
      </p:sp>
      <p:cxnSp>
        <p:nvCxnSpPr>
          <p:cNvPr id="20" name="Đường kết nối Mũi tên Thẳng 19">
            <a:extLst>
              <a:ext uri="{FF2B5EF4-FFF2-40B4-BE49-F238E27FC236}">
                <a16:creationId xmlns:a16="http://schemas.microsoft.com/office/drawing/2014/main" id="{475C4EBB-E529-A490-B0DB-1EBAAB8A7B13}"/>
              </a:ext>
            </a:extLst>
          </p:cNvPr>
          <p:cNvCxnSpPr>
            <a:cxnSpLocks/>
          </p:cNvCxnSpPr>
          <p:nvPr/>
        </p:nvCxnSpPr>
        <p:spPr>
          <a:xfrm flipH="1">
            <a:off x="6648306" y="1459150"/>
            <a:ext cx="527378" cy="2588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Đường kết nối Mũi tên Thẳng 20">
            <a:extLst>
              <a:ext uri="{FF2B5EF4-FFF2-40B4-BE49-F238E27FC236}">
                <a16:creationId xmlns:a16="http://schemas.microsoft.com/office/drawing/2014/main" id="{5B2FBA7A-2ACE-BC20-6669-4531F5B22DA0}"/>
              </a:ext>
            </a:extLst>
          </p:cNvPr>
          <p:cNvCxnSpPr>
            <a:cxnSpLocks/>
          </p:cNvCxnSpPr>
          <p:nvPr/>
        </p:nvCxnSpPr>
        <p:spPr>
          <a:xfrm>
            <a:off x="7529647" y="1400226"/>
            <a:ext cx="4326197" cy="2588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7" name="Hình ảnh 26">
            <a:extLst>
              <a:ext uri="{FF2B5EF4-FFF2-40B4-BE49-F238E27FC236}">
                <a16:creationId xmlns:a16="http://schemas.microsoft.com/office/drawing/2014/main" id="{6F9EC7BB-F0BF-E174-70BC-2720CE59FD89}"/>
              </a:ext>
            </a:extLst>
          </p:cNvPr>
          <p:cNvPicPr>
            <a:picLocks noChangeAspect="1"/>
          </p:cNvPicPr>
          <p:nvPr/>
        </p:nvPicPr>
        <p:blipFill>
          <a:blip r:embed="rId5"/>
          <a:stretch>
            <a:fillRect/>
          </a:stretch>
        </p:blipFill>
        <p:spPr>
          <a:xfrm>
            <a:off x="6648306" y="4217218"/>
            <a:ext cx="4837125" cy="2293400"/>
          </a:xfrm>
          <a:prstGeom prst="rect">
            <a:avLst/>
          </a:prstGeom>
        </p:spPr>
      </p:pic>
      <p:sp>
        <p:nvSpPr>
          <p:cNvPr id="29" name="Hộp Văn bản 28">
            <a:extLst>
              <a:ext uri="{FF2B5EF4-FFF2-40B4-BE49-F238E27FC236}">
                <a16:creationId xmlns:a16="http://schemas.microsoft.com/office/drawing/2014/main" id="{CCD65B8D-27D1-0108-A68D-CFFD92DE550F}"/>
              </a:ext>
            </a:extLst>
          </p:cNvPr>
          <p:cNvSpPr txBox="1"/>
          <p:nvPr/>
        </p:nvSpPr>
        <p:spPr>
          <a:xfrm>
            <a:off x="7175684" y="3579761"/>
            <a:ext cx="3652243" cy="369332"/>
          </a:xfrm>
          <a:prstGeom prst="rect">
            <a:avLst/>
          </a:prstGeom>
          <a:noFill/>
        </p:spPr>
        <p:txBody>
          <a:bodyPr wrap="square">
            <a:spAutoFit/>
          </a:bodyPr>
          <a:lstStyle/>
          <a:p>
            <a:pPr algn="ctr"/>
            <a:r>
              <a:rPr lang="vi-VN"/>
              <a:t>Đáp ứng dòng điện trên cuộn cảm</a:t>
            </a:r>
            <a:endParaRPr lang="en-ID"/>
          </a:p>
        </p:txBody>
      </p:sp>
      <p:sp>
        <p:nvSpPr>
          <p:cNvPr id="6" name="Hộp Văn bản 5">
            <a:extLst>
              <a:ext uri="{FF2B5EF4-FFF2-40B4-BE49-F238E27FC236}">
                <a16:creationId xmlns:a16="http://schemas.microsoft.com/office/drawing/2014/main" id="{13E09FD7-2DB9-5B1D-BEE0-D9916A002AE5}"/>
              </a:ext>
            </a:extLst>
          </p:cNvPr>
          <p:cNvSpPr txBox="1"/>
          <p:nvPr/>
        </p:nvSpPr>
        <p:spPr>
          <a:xfrm>
            <a:off x="510284" y="833516"/>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4578172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C4C20-D999-5757-4C83-31E033B49D94}"/>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ECFF5FE1-EA34-5B27-19BC-CF45164BDF33}"/>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8407EBA0-033F-4389-7FEF-F7F869BC464D}"/>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2FDEDF68-92C3-DF6B-2F27-9D72353FC442}"/>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pic>
        <p:nvPicPr>
          <p:cNvPr id="5" name="Hình ảnh 4">
            <a:extLst>
              <a:ext uri="{FF2B5EF4-FFF2-40B4-BE49-F238E27FC236}">
                <a16:creationId xmlns:a16="http://schemas.microsoft.com/office/drawing/2014/main" id="{313395E0-A164-9C80-1F74-FA1CFB093453}"/>
              </a:ext>
            </a:extLst>
          </p:cNvPr>
          <p:cNvPicPr>
            <a:picLocks noChangeAspect="1"/>
          </p:cNvPicPr>
          <p:nvPr/>
        </p:nvPicPr>
        <p:blipFill>
          <a:blip r:embed="rId2"/>
          <a:stretch>
            <a:fillRect/>
          </a:stretch>
        </p:blipFill>
        <p:spPr>
          <a:xfrm>
            <a:off x="904240" y="1280161"/>
            <a:ext cx="10383520" cy="4910540"/>
          </a:xfrm>
          <a:prstGeom prst="rect">
            <a:avLst/>
          </a:prstGeom>
        </p:spPr>
      </p:pic>
      <p:sp>
        <p:nvSpPr>
          <p:cNvPr id="6" name="Hộp Văn bản 5">
            <a:extLst>
              <a:ext uri="{FF2B5EF4-FFF2-40B4-BE49-F238E27FC236}">
                <a16:creationId xmlns:a16="http://schemas.microsoft.com/office/drawing/2014/main" id="{278F490A-6F4D-DBA7-F4AD-22BFDDE4E306}"/>
              </a:ext>
            </a:extLst>
          </p:cNvPr>
          <p:cNvSpPr txBox="1"/>
          <p:nvPr/>
        </p:nvSpPr>
        <p:spPr>
          <a:xfrm>
            <a:off x="3891281" y="6385575"/>
            <a:ext cx="4968240" cy="369332"/>
          </a:xfrm>
          <a:prstGeom prst="rect">
            <a:avLst/>
          </a:prstGeom>
          <a:noFill/>
        </p:spPr>
        <p:txBody>
          <a:bodyPr wrap="square">
            <a:spAutoFit/>
          </a:bodyPr>
          <a:lstStyle/>
          <a:p>
            <a:pPr algn="ctr"/>
            <a:r>
              <a:rPr lang="vi-VN"/>
              <a:t>Công suất tác dụng trên 2 bộ nghịch lưu</a:t>
            </a:r>
            <a:endParaRPr lang="en-ID"/>
          </a:p>
        </p:txBody>
      </p:sp>
      <p:sp>
        <p:nvSpPr>
          <p:cNvPr id="7" name="Hộp Văn bản 6">
            <a:extLst>
              <a:ext uri="{FF2B5EF4-FFF2-40B4-BE49-F238E27FC236}">
                <a16:creationId xmlns:a16="http://schemas.microsoft.com/office/drawing/2014/main" id="{10A429B6-2B0A-FB16-AD5C-2F4ADB0DF036}"/>
              </a:ext>
            </a:extLst>
          </p:cNvPr>
          <p:cNvSpPr txBox="1"/>
          <p:nvPr/>
        </p:nvSpPr>
        <p:spPr>
          <a:xfrm>
            <a:off x="510284" y="833516"/>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15184746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D061B-57F7-A3C2-D8CD-E1629CE0CAAE}"/>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859984BE-610D-C903-3476-04999462216F}"/>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DEC54106-2F17-5FF2-429F-BCE45A7F2E2D}"/>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0FB06B9F-FFAD-2125-0B89-6530FE968DCD}"/>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graphicFrame>
        <p:nvGraphicFramePr>
          <p:cNvPr id="6" name="Table 13">
            <a:extLst>
              <a:ext uri="{FF2B5EF4-FFF2-40B4-BE49-F238E27FC236}">
                <a16:creationId xmlns:a16="http://schemas.microsoft.com/office/drawing/2014/main" id="{55DB4DA3-848A-635C-B9DA-5377D9ECA389}"/>
              </a:ext>
            </a:extLst>
          </p:cNvPr>
          <p:cNvGraphicFramePr>
            <a:graphicFrameLocks noGrp="1"/>
          </p:cNvGraphicFramePr>
          <p:nvPr/>
        </p:nvGraphicFramePr>
        <p:xfrm>
          <a:off x="365616" y="3536181"/>
          <a:ext cx="6917019" cy="1715151"/>
        </p:xfrm>
        <a:graphic>
          <a:graphicData uri="http://schemas.openxmlformats.org/drawingml/2006/table">
            <a:tbl>
              <a:tblPr firstRow="1" bandRow="1">
                <a:tableStyleId>{5C22544A-7EE6-4342-B048-85BDC9FD1C3A}</a:tableStyleId>
              </a:tblPr>
              <a:tblGrid>
                <a:gridCol w="691029">
                  <a:extLst>
                    <a:ext uri="{9D8B030D-6E8A-4147-A177-3AD203B41FA5}">
                      <a16:colId xmlns:a16="http://schemas.microsoft.com/office/drawing/2014/main" val="3998854459"/>
                    </a:ext>
                  </a:extLst>
                </a:gridCol>
                <a:gridCol w="3321424">
                  <a:extLst>
                    <a:ext uri="{9D8B030D-6E8A-4147-A177-3AD203B41FA5}">
                      <a16:colId xmlns:a16="http://schemas.microsoft.com/office/drawing/2014/main" val="3372512979"/>
                    </a:ext>
                  </a:extLst>
                </a:gridCol>
                <a:gridCol w="860612">
                  <a:extLst>
                    <a:ext uri="{9D8B030D-6E8A-4147-A177-3AD203B41FA5}">
                      <a16:colId xmlns:a16="http://schemas.microsoft.com/office/drawing/2014/main" val="1462865521"/>
                    </a:ext>
                  </a:extLst>
                </a:gridCol>
                <a:gridCol w="981635">
                  <a:extLst>
                    <a:ext uri="{9D8B030D-6E8A-4147-A177-3AD203B41FA5}">
                      <a16:colId xmlns:a16="http://schemas.microsoft.com/office/drawing/2014/main" val="156630398"/>
                    </a:ext>
                  </a:extLst>
                </a:gridCol>
                <a:gridCol w="1062319">
                  <a:extLst>
                    <a:ext uri="{9D8B030D-6E8A-4147-A177-3AD203B41FA5}">
                      <a16:colId xmlns:a16="http://schemas.microsoft.com/office/drawing/2014/main" val="3496083406"/>
                    </a:ext>
                  </a:extLst>
                </a:gridCol>
              </a:tblGrid>
              <a:tr h="761234">
                <a:tc>
                  <a:txBody>
                    <a:bodyPr/>
                    <a:lstStyle/>
                    <a:p>
                      <a:pPr algn="ctr"/>
                      <a:r>
                        <a:rPr lang="en-US"/>
                        <a:t>Kết quả</a:t>
                      </a:r>
                    </a:p>
                  </a:txBody>
                  <a:tcPr anchor="ctr"/>
                </a:tc>
                <a:tc>
                  <a:txBody>
                    <a:bodyPr/>
                    <a:lstStyle/>
                    <a:p>
                      <a:pPr algn="ctr"/>
                      <a:r>
                        <a:rPr lang="en-US"/>
                        <a:t>Tham số</a:t>
                      </a:r>
                    </a:p>
                  </a:txBody>
                  <a:tcPr anchor="ctr"/>
                </a:tc>
                <a:tc>
                  <a:txBody>
                    <a:bodyPr/>
                    <a:lstStyle/>
                    <a:p>
                      <a:pPr algn="ctr"/>
                      <a:r>
                        <a:rPr lang="en-US"/>
                        <a:t>GT lý thuyết (W)</a:t>
                      </a:r>
                    </a:p>
                  </a:txBody>
                  <a:tcPr anchor="ctr"/>
                </a:tc>
                <a:tc>
                  <a:txBody>
                    <a:bodyPr/>
                    <a:lstStyle/>
                    <a:p>
                      <a:pPr algn="ctr"/>
                      <a:r>
                        <a:rPr lang="en-US"/>
                        <a:t>GT mô phỏng </a:t>
                      </a:r>
                    </a:p>
                    <a:p>
                      <a:pPr algn="ctr"/>
                      <a:r>
                        <a:rPr lang="en-US"/>
                        <a:t>(W)</a:t>
                      </a:r>
                    </a:p>
                  </a:txBody>
                  <a:tcPr anchor="ctr"/>
                </a:tc>
                <a:tc>
                  <a:txBody>
                    <a:bodyPr/>
                    <a:lstStyle/>
                    <a:p>
                      <a:pPr algn="ctr"/>
                      <a:r>
                        <a:rPr lang="en-US"/>
                        <a:t>Sai số</a:t>
                      </a:r>
                    </a:p>
                  </a:txBody>
                  <a:tcPr anchor="ctr"/>
                </a:tc>
                <a:extLst>
                  <a:ext uri="{0D108BD9-81ED-4DB2-BD59-A6C34878D82A}">
                    <a16:rowId xmlns:a16="http://schemas.microsoft.com/office/drawing/2014/main" val="305514116"/>
                  </a:ext>
                </a:extLst>
              </a:tr>
              <a:tr h="434991">
                <a:tc>
                  <a:txBody>
                    <a:bodyPr/>
                    <a:lstStyle/>
                    <a:p>
                      <a:pPr algn="ctr"/>
                      <a:r>
                        <a:rPr lang="en-US"/>
                        <a:t>P1</a:t>
                      </a:r>
                    </a:p>
                  </a:txBody>
                  <a:tcPr anchor="ctr"/>
                </a:tc>
                <a:tc>
                  <a:txBody>
                    <a:bodyPr/>
                    <a:lstStyle/>
                    <a:p>
                      <a:pPr algn="ctr"/>
                      <a:r>
                        <a:rPr lang="en-US"/>
                        <a:t>Công suất bộ 1 ban đầu</a:t>
                      </a:r>
                    </a:p>
                  </a:txBody>
                  <a:tcPr anchor="ctr"/>
                </a:tc>
                <a:tc>
                  <a:txBody>
                    <a:bodyPr/>
                    <a:lstStyle/>
                    <a:p>
                      <a:pPr algn="ctr"/>
                      <a:r>
                        <a:rPr lang="en-US"/>
                        <a:t>1000</a:t>
                      </a:r>
                    </a:p>
                  </a:txBody>
                  <a:tcPr anchor="ctr"/>
                </a:tc>
                <a:tc>
                  <a:txBody>
                    <a:bodyPr/>
                    <a:lstStyle/>
                    <a:p>
                      <a:pPr algn="ctr"/>
                      <a:r>
                        <a:rPr lang="en-US"/>
                        <a:t>1000</a:t>
                      </a:r>
                    </a:p>
                  </a:txBody>
                  <a:tcPr anchor="ctr"/>
                </a:tc>
                <a:tc>
                  <a:txBody>
                    <a:bodyPr/>
                    <a:lstStyle/>
                    <a:p>
                      <a:pPr algn="ctr"/>
                      <a:r>
                        <a:rPr lang="en-US"/>
                        <a:t>0%</a:t>
                      </a:r>
                    </a:p>
                  </a:txBody>
                  <a:tcPr anchor="ctr"/>
                </a:tc>
                <a:extLst>
                  <a:ext uri="{0D108BD9-81ED-4DB2-BD59-A6C34878D82A}">
                    <a16:rowId xmlns:a16="http://schemas.microsoft.com/office/drawing/2014/main" val="2136588521"/>
                  </a:ext>
                </a:extLst>
              </a:tr>
              <a:tr h="217496">
                <a:tc>
                  <a:txBody>
                    <a:bodyPr/>
                    <a:lstStyle/>
                    <a:p>
                      <a:pPr algn="ctr"/>
                      <a:r>
                        <a:rPr lang="en-US"/>
                        <a:t>P2</a:t>
                      </a:r>
                    </a:p>
                  </a:txBody>
                  <a:tcPr anchor="ctr"/>
                </a:tc>
                <a:tc>
                  <a:txBody>
                    <a:bodyPr/>
                    <a:lstStyle/>
                    <a:p>
                      <a:pPr algn="ctr"/>
                      <a:r>
                        <a:rPr lang="en-US"/>
                        <a:t>Công suất bộ 2 ban đầu</a:t>
                      </a:r>
                    </a:p>
                  </a:txBody>
                  <a:tcPr anchor="ctr"/>
                </a:tc>
                <a:tc>
                  <a:txBody>
                    <a:bodyPr/>
                    <a:lstStyle/>
                    <a:p>
                      <a:pPr algn="ctr"/>
                      <a:r>
                        <a:rPr lang="en-US"/>
                        <a:t>1000</a:t>
                      </a:r>
                    </a:p>
                  </a:txBody>
                  <a:tcPr anchor="ctr"/>
                </a:tc>
                <a:tc>
                  <a:txBody>
                    <a:bodyPr/>
                    <a:lstStyle/>
                    <a:p>
                      <a:pPr algn="ctr"/>
                      <a:r>
                        <a:rPr lang="en-US"/>
                        <a:t>1000</a:t>
                      </a:r>
                    </a:p>
                  </a:txBody>
                  <a:tcPr anchor="ctr"/>
                </a:tc>
                <a:tc>
                  <a:txBody>
                    <a:bodyPr/>
                    <a:lstStyle/>
                    <a:p>
                      <a:pPr algn="ctr"/>
                      <a:r>
                        <a:rPr lang="en-US"/>
                        <a:t>0%</a:t>
                      </a:r>
                    </a:p>
                  </a:txBody>
                  <a:tcPr anchor="ctr"/>
                </a:tc>
                <a:extLst>
                  <a:ext uri="{0D108BD9-81ED-4DB2-BD59-A6C34878D82A}">
                    <a16:rowId xmlns:a16="http://schemas.microsoft.com/office/drawing/2014/main" val="2469670652"/>
                  </a:ext>
                </a:extLst>
              </a:tr>
            </a:tbl>
          </a:graphicData>
        </a:graphic>
      </p:graphicFrame>
      <p:graphicFrame>
        <p:nvGraphicFramePr>
          <p:cNvPr id="7" name="Table 10">
            <a:extLst>
              <a:ext uri="{FF2B5EF4-FFF2-40B4-BE49-F238E27FC236}">
                <a16:creationId xmlns:a16="http://schemas.microsoft.com/office/drawing/2014/main" id="{94B986DC-ACA5-9345-81D0-762276403D0B}"/>
              </a:ext>
            </a:extLst>
          </p:cNvPr>
          <p:cNvGraphicFramePr>
            <a:graphicFrameLocks noGrp="1"/>
          </p:cNvGraphicFramePr>
          <p:nvPr/>
        </p:nvGraphicFramePr>
        <p:xfrm>
          <a:off x="365616" y="1759835"/>
          <a:ext cx="8025348" cy="1561985"/>
        </p:xfrm>
        <a:graphic>
          <a:graphicData uri="http://schemas.openxmlformats.org/drawingml/2006/table">
            <a:tbl>
              <a:tblPr firstRow="1" bandRow="1">
                <a:tableStyleId>{5C22544A-7EE6-4342-B048-85BDC9FD1C3A}</a:tableStyleId>
              </a:tblPr>
              <a:tblGrid>
                <a:gridCol w="801754">
                  <a:extLst>
                    <a:ext uri="{9D8B030D-6E8A-4147-A177-3AD203B41FA5}">
                      <a16:colId xmlns:a16="http://schemas.microsoft.com/office/drawing/2014/main" val="3998854459"/>
                    </a:ext>
                  </a:extLst>
                </a:gridCol>
                <a:gridCol w="2991666">
                  <a:extLst>
                    <a:ext uri="{9D8B030D-6E8A-4147-A177-3AD203B41FA5}">
                      <a16:colId xmlns:a16="http://schemas.microsoft.com/office/drawing/2014/main" val="3372512979"/>
                    </a:ext>
                  </a:extLst>
                </a:gridCol>
                <a:gridCol w="1695429">
                  <a:extLst>
                    <a:ext uri="{9D8B030D-6E8A-4147-A177-3AD203B41FA5}">
                      <a16:colId xmlns:a16="http://schemas.microsoft.com/office/drawing/2014/main" val="1462865521"/>
                    </a:ext>
                  </a:extLst>
                </a:gridCol>
                <a:gridCol w="1689335">
                  <a:extLst>
                    <a:ext uri="{9D8B030D-6E8A-4147-A177-3AD203B41FA5}">
                      <a16:colId xmlns:a16="http://schemas.microsoft.com/office/drawing/2014/main" val="156630398"/>
                    </a:ext>
                  </a:extLst>
                </a:gridCol>
                <a:gridCol w="847164">
                  <a:extLst>
                    <a:ext uri="{9D8B030D-6E8A-4147-A177-3AD203B41FA5}">
                      <a16:colId xmlns:a16="http://schemas.microsoft.com/office/drawing/2014/main" val="3496083406"/>
                    </a:ext>
                  </a:extLst>
                </a:gridCol>
              </a:tblGrid>
              <a:tr h="761234">
                <a:tc>
                  <a:txBody>
                    <a:bodyPr/>
                    <a:lstStyle/>
                    <a:p>
                      <a:pPr algn="ctr"/>
                      <a:r>
                        <a:rPr lang="en-US"/>
                        <a:t>Kết quả</a:t>
                      </a:r>
                    </a:p>
                  </a:txBody>
                  <a:tcPr anchor="ctr"/>
                </a:tc>
                <a:tc>
                  <a:txBody>
                    <a:bodyPr/>
                    <a:lstStyle/>
                    <a:p>
                      <a:pPr algn="ctr"/>
                      <a:r>
                        <a:rPr lang="en-US"/>
                        <a:t>Tham </a:t>
                      </a:r>
                      <a:r>
                        <a:rPr lang="en-US" err="1"/>
                        <a:t>số</a:t>
                      </a:r>
                      <a:endParaRPr lang="en-US"/>
                    </a:p>
                  </a:txBody>
                  <a:tcPr anchor="ctr"/>
                </a:tc>
                <a:tc>
                  <a:txBody>
                    <a:bodyPr/>
                    <a:lstStyle/>
                    <a:p>
                      <a:pPr algn="ctr"/>
                      <a:r>
                        <a:rPr lang="en-US"/>
                        <a:t>GT lý thuyết</a:t>
                      </a:r>
                    </a:p>
                  </a:txBody>
                  <a:tcPr anchor="ctr"/>
                </a:tc>
                <a:tc>
                  <a:txBody>
                    <a:bodyPr/>
                    <a:lstStyle/>
                    <a:p>
                      <a:pPr algn="ctr"/>
                      <a:r>
                        <a:rPr lang="en-US"/>
                        <a:t>GT mô phỏng </a:t>
                      </a:r>
                    </a:p>
                  </a:txBody>
                  <a:tcPr anchor="ctr"/>
                </a:tc>
                <a:tc>
                  <a:txBody>
                    <a:bodyPr/>
                    <a:lstStyle/>
                    <a:p>
                      <a:pPr algn="ctr"/>
                      <a:r>
                        <a:rPr lang="en-US"/>
                        <a:t>Sai số</a:t>
                      </a:r>
                    </a:p>
                  </a:txBody>
                  <a:tcPr anchor="ctr"/>
                </a:tc>
                <a:extLst>
                  <a:ext uri="{0D108BD9-81ED-4DB2-BD59-A6C34878D82A}">
                    <a16:rowId xmlns:a16="http://schemas.microsoft.com/office/drawing/2014/main" val="305514116"/>
                  </a:ext>
                </a:extLst>
              </a:tr>
              <a:tr h="434991">
                <a:tc>
                  <a:txBody>
                    <a:bodyPr/>
                    <a:lstStyle/>
                    <a:p>
                      <a:pPr algn="ctr"/>
                      <a:r>
                        <a:rPr lang="en-US" i="1" err="1">
                          <a:latin typeface="Times New Roman" panose="02020603050405020304" pitchFamily="18" charset="0"/>
                          <a:cs typeface="Times New Roman" panose="02020603050405020304" pitchFamily="18" charset="0"/>
                        </a:rPr>
                        <a:t>V</a:t>
                      </a:r>
                      <a:r>
                        <a:rPr lang="en-US" i="1" baseline="-25000" err="1">
                          <a:latin typeface="Times New Roman" panose="02020603050405020304" pitchFamily="18" charset="0"/>
                          <a:cs typeface="Times New Roman" panose="02020603050405020304" pitchFamily="18" charset="0"/>
                        </a:rPr>
                        <a:t>oc</a:t>
                      </a:r>
                      <a:endParaRPr lang="en-US" i="1">
                        <a:latin typeface="Times New Roman" panose="02020603050405020304" pitchFamily="18" charset="0"/>
                        <a:cs typeface="Times New Roman" panose="02020603050405020304" pitchFamily="18" charset="0"/>
                      </a:endParaRPr>
                    </a:p>
                  </a:txBody>
                  <a:tcPr anchor="ctr"/>
                </a:tc>
                <a:tc>
                  <a:txBody>
                    <a:bodyPr/>
                    <a:lstStyle/>
                    <a:p>
                      <a:pPr algn="ctr"/>
                      <a:r>
                        <a:rPr lang="en-US" err="1"/>
                        <a:t>Điện</a:t>
                      </a:r>
                      <a:r>
                        <a:rPr lang="en-US"/>
                        <a:t> </a:t>
                      </a:r>
                      <a:r>
                        <a:rPr lang="en-US" err="1"/>
                        <a:t>áp</a:t>
                      </a:r>
                      <a:r>
                        <a:rPr lang="en-US"/>
                        <a:t> </a:t>
                      </a:r>
                      <a:r>
                        <a:rPr lang="en-US" err="1"/>
                        <a:t>hở</a:t>
                      </a:r>
                      <a:r>
                        <a:rPr lang="en-US"/>
                        <a:t> </a:t>
                      </a:r>
                      <a:r>
                        <a:rPr lang="en-US" err="1"/>
                        <a:t>mạch</a:t>
                      </a:r>
                      <a:endParaRPr lang="en-US"/>
                    </a:p>
                  </a:txBody>
                  <a:tcPr anchor="ctr"/>
                </a:tc>
                <a:tc>
                  <a:txBody>
                    <a:bodyPr/>
                    <a:lstStyle/>
                    <a:p>
                      <a:pPr algn="ctr"/>
                      <a:r>
                        <a:rPr lang="en-US"/>
                        <a:t>220 V</a:t>
                      </a:r>
                    </a:p>
                  </a:txBody>
                  <a:tcPr anchor="ctr"/>
                </a:tc>
                <a:tc>
                  <a:txBody>
                    <a:bodyPr/>
                    <a:lstStyle/>
                    <a:p>
                      <a:pPr algn="ctr"/>
                      <a:r>
                        <a:rPr lang="en-US"/>
                        <a:t>220 V</a:t>
                      </a:r>
                    </a:p>
                  </a:txBody>
                  <a:tcPr anchor="ctr"/>
                </a:tc>
                <a:tc>
                  <a:txBody>
                    <a:bodyPr/>
                    <a:lstStyle/>
                    <a:p>
                      <a:pPr algn="ctr"/>
                      <a:r>
                        <a:rPr lang="en-US"/>
                        <a:t>0%</a:t>
                      </a:r>
                    </a:p>
                  </a:txBody>
                  <a:tcPr anchor="ctr"/>
                </a:tc>
                <a:extLst>
                  <a:ext uri="{0D108BD9-81ED-4DB2-BD59-A6C34878D82A}">
                    <a16:rowId xmlns:a16="http://schemas.microsoft.com/office/drawing/2014/main" val="2136588521"/>
                  </a:ext>
                </a:extLst>
              </a:tr>
              <a:tr h="217496">
                <a:tc>
                  <a:txBody>
                    <a:bodyPr/>
                    <a:lstStyle/>
                    <a:p>
                      <a:pPr algn="ctr"/>
                      <a:r>
                        <a:rPr lang="en-US" i="1">
                          <a:latin typeface="Times New Roman" panose="02020603050405020304" pitchFamily="18" charset="0"/>
                          <a:cs typeface="Times New Roman" panose="02020603050405020304" pitchFamily="18" charset="0"/>
                        </a:rPr>
                        <a:t>t</a:t>
                      </a:r>
                      <a:r>
                        <a:rPr lang="en-US" i="1" baseline="-25000">
                          <a:latin typeface="Times New Roman" panose="02020603050405020304" pitchFamily="18" charset="0"/>
                          <a:cs typeface="Times New Roman" panose="02020603050405020304" pitchFamily="18" charset="0"/>
                        </a:rPr>
                        <a:t>rise</a:t>
                      </a:r>
                      <a:endParaRPr lang="en-US" i="1">
                        <a:latin typeface="Times New Roman" panose="02020603050405020304" pitchFamily="18" charset="0"/>
                        <a:cs typeface="Times New Roman" panose="02020603050405020304" pitchFamily="18" charset="0"/>
                      </a:endParaRPr>
                    </a:p>
                  </a:txBody>
                  <a:tcPr anchor="ctr"/>
                </a:tc>
                <a:tc>
                  <a:txBody>
                    <a:bodyPr/>
                    <a:lstStyle/>
                    <a:p>
                      <a:pPr algn="ctr"/>
                      <a:r>
                        <a:rPr lang="en-US" err="1"/>
                        <a:t>Thời</a:t>
                      </a:r>
                      <a:r>
                        <a:rPr lang="en-US"/>
                        <a:t> </a:t>
                      </a:r>
                      <a:r>
                        <a:rPr lang="en-US" err="1"/>
                        <a:t>gian</a:t>
                      </a:r>
                      <a:r>
                        <a:rPr lang="en-US"/>
                        <a:t> </a:t>
                      </a:r>
                      <a:r>
                        <a:rPr lang="en-US" err="1"/>
                        <a:t>tăng</a:t>
                      </a:r>
                      <a:r>
                        <a:rPr lang="en-US"/>
                        <a:t> </a:t>
                      </a:r>
                      <a:r>
                        <a:rPr lang="en-US" err="1"/>
                        <a:t>điện</a:t>
                      </a:r>
                      <a:r>
                        <a:rPr lang="en-US"/>
                        <a:t> </a:t>
                      </a:r>
                      <a:r>
                        <a:rPr lang="en-US" err="1"/>
                        <a:t>áp</a:t>
                      </a: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err="1">
                          <a:latin typeface="Times New Roman" panose="02020603050405020304" pitchFamily="18" charset="0"/>
                          <a:cs typeface="Times New Roman" panose="02020603050405020304" pitchFamily="18" charset="0"/>
                        </a:rPr>
                        <a:t>t</a:t>
                      </a:r>
                      <a:r>
                        <a:rPr lang="en-US" i="1" baseline="-25000" err="1">
                          <a:latin typeface="Times New Roman" panose="02020603050405020304" pitchFamily="18" charset="0"/>
                          <a:cs typeface="Times New Roman" panose="02020603050405020304" pitchFamily="18" charset="0"/>
                        </a:rPr>
                        <a:t>rise</a:t>
                      </a:r>
                      <a:r>
                        <a:rPr lang="en-US" i="1" baseline="-25000">
                          <a:latin typeface="Times New Roman" panose="02020603050405020304" pitchFamily="18" charset="0"/>
                          <a:cs typeface="Times New Roman" panose="02020603050405020304" pitchFamily="18" charset="0"/>
                        </a:rPr>
                        <a:t>  </a:t>
                      </a:r>
                      <a:r>
                        <a:rPr lang="en-US"/>
                        <a:t>&lt; 0.05s</a:t>
                      </a:r>
                    </a:p>
                  </a:txBody>
                  <a:tcPr anchor="ctr"/>
                </a:tc>
                <a:tc>
                  <a:txBody>
                    <a:bodyPr/>
                    <a:lstStyle/>
                    <a:p>
                      <a:pPr algn="ctr"/>
                      <a:r>
                        <a:rPr lang="en-US"/>
                        <a:t>0,05s</a:t>
                      </a:r>
                    </a:p>
                  </a:txBody>
                  <a:tcPr anchor="ctr"/>
                </a:tc>
                <a:tc>
                  <a:txBody>
                    <a:bodyPr/>
                    <a:lstStyle/>
                    <a:p>
                      <a:pPr algn="ctr"/>
                      <a:r>
                        <a:rPr lang="en-US"/>
                        <a:t>0</a:t>
                      </a:r>
                    </a:p>
                  </a:txBody>
                  <a:tcPr anchor="ctr"/>
                </a:tc>
                <a:extLst>
                  <a:ext uri="{0D108BD9-81ED-4DB2-BD59-A6C34878D82A}">
                    <a16:rowId xmlns:a16="http://schemas.microsoft.com/office/drawing/2014/main" val="2469670652"/>
                  </a:ext>
                </a:extLst>
              </a:tr>
            </a:tbl>
          </a:graphicData>
        </a:graphic>
      </p:graphicFrame>
      <p:sp>
        <p:nvSpPr>
          <p:cNvPr id="8" name="TextBox 3">
            <a:extLst>
              <a:ext uri="{FF2B5EF4-FFF2-40B4-BE49-F238E27FC236}">
                <a16:creationId xmlns:a16="http://schemas.microsoft.com/office/drawing/2014/main" id="{EFEB6090-76F3-C073-F64D-FB3B66BCE0B4}"/>
              </a:ext>
            </a:extLst>
          </p:cNvPr>
          <p:cNvSpPr txBox="1"/>
          <p:nvPr/>
        </p:nvSpPr>
        <p:spPr>
          <a:xfrm>
            <a:off x="7466141" y="3536181"/>
            <a:ext cx="4360243" cy="1938992"/>
          </a:xfrm>
          <a:prstGeom prst="rect">
            <a:avLst/>
          </a:prstGeom>
          <a:noFill/>
        </p:spPr>
        <p:txBody>
          <a:bodyPr wrap="square" rtlCol="0">
            <a:spAutoFit/>
          </a:bodyPr>
          <a:lstStyle/>
          <a:p>
            <a:r>
              <a:rPr lang="en-US" sz="2000" b="1" err="1">
                <a:latin typeface="Times New Roman" panose="02020603050405020304" pitchFamily="18" charset="0"/>
                <a:cs typeface="Times New Roman" panose="02020603050405020304" pitchFamily="18" charset="0"/>
              </a:rPr>
              <a:t>Nhận</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xét</a:t>
            </a:r>
            <a:r>
              <a:rPr lang="en-US" sz="2000" b="1">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Ta </a:t>
            </a:r>
            <a:r>
              <a:rPr lang="en-US" sz="2000" err="1">
                <a:latin typeface="Times New Roman" panose="02020603050405020304" pitchFamily="18" charset="0"/>
                <a:cs typeface="Times New Roman" panose="02020603050405020304" pitchFamily="18" charset="0"/>
              </a:rPr>
              <a:t>thấy</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tổng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công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suất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đầu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ra</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của</a:t>
            </a:r>
            <a:r>
              <a:rPr lang="en-US" sz="2000">
                <a:latin typeface="Times New Roman" panose="02020603050405020304" pitchFamily="18" charset="0"/>
                <a:cs typeface="Times New Roman" panose="02020603050405020304" pitchFamily="18" charset="0"/>
              </a:rPr>
              <a:t> 2 </a:t>
            </a:r>
            <a:r>
              <a:rPr lang="en-US" sz="2000" err="1">
                <a:latin typeface="Times New Roman" panose="02020603050405020304" pitchFamily="18" charset="0"/>
                <a:cs typeface="Times New Roman" panose="02020603050405020304" pitchFamily="18" charset="0"/>
              </a:rPr>
              <a:t>bộ</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nghịch</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lưu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bám</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sát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giá</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trị</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đặt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sai</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số</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nhỏ</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đảm</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bảo</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tỷ</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lệ</a:t>
            </a:r>
            <a:r>
              <a:rPr lang="en-US" sz="2000">
                <a:latin typeface="Times New Roman" panose="02020603050405020304" pitchFamily="18" charset="0"/>
                <a:cs typeface="Times New Roman" panose="02020603050405020304" pitchFamily="18" charset="0"/>
              </a:rPr>
              <a:t> chia </a:t>
            </a:r>
            <a:r>
              <a:rPr lang="en-US" sz="2000" err="1">
                <a:latin typeface="Times New Roman" panose="02020603050405020304" pitchFamily="18" charset="0"/>
                <a:cs typeface="Times New Roman" panose="02020603050405020304" pitchFamily="18" charset="0"/>
              </a:rPr>
              <a:t>sẻ</a:t>
            </a:r>
            <a:r>
              <a:rPr lang="en-US" sz="2000">
                <a:latin typeface="Times New Roman" panose="02020603050405020304" pitchFamily="18" charset="0"/>
                <a:cs typeface="Times New Roman" panose="02020603050405020304" pitchFamily="18" charset="0"/>
              </a:rPr>
              <a:t> 1:1</a:t>
            </a:r>
          </a:p>
          <a:p>
            <a:pPr marL="342900" indent="-342900">
              <a:buFont typeface="Arial" panose="020B0604020202020204" pitchFamily="34" charset="0"/>
              <a:buChar char="•"/>
            </a:pPr>
            <a:r>
              <a:rPr lang="en-US" sz="2000" err="1">
                <a:latin typeface="Times New Roman" panose="02020603050405020304" pitchFamily="18" charset="0"/>
                <a:cs typeface="Times New Roman" panose="02020603050405020304" pitchFamily="18" charset="0"/>
              </a:rPr>
              <a:t>Điện</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áp</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đầu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ra</a:t>
            </a:r>
            <a:r>
              <a:rPr lang="en-US" sz="2000">
                <a:latin typeface="Times New Roman" panose="02020603050405020304" pitchFamily="18" charset="0"/>
                <a:cs typeface="Times New Roman" panose="02020603050405020304" pitchFamily="18" charset="0"/>
              </a:rPr>
              <a:t> 2 </a:t>
            </a:r>
            <a:r>
              <a:rPr lang="en-US" sz="2000" err="1">
                <a:latin typeface="Times New Roman" panose="02020603050405020304" pitchFamily="18" charset="0"/>
                <a:cs typeface="Times New Roman" panose="02020603050405020304" pitchFamily="18" charset="0"/>
              </a:rPr>
              <a:t>bộ</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không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thay</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đổi</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trong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suốt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quá</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trình</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mô</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phỏng</a:t>
            </a:r>
            <a:endParaRPr lang="en-US" sz="2000">
              <a:latin typeface="Times New Roman" panose="02020603050405020304" pitchFamily="18" charset="0"/>
              <a:cs typeface="Times New Roman" panose="02020603050405020304" pitchFamily="18" charset="0"/>
            </a:endParaRPr>
          </a:p>
        </p:txBody>
      </p:sp>
      <p:sp>
        <p:nvSpPr>
          <p:cNvPr id="5" name="Hộp Văn bản 4">
            <a:extLst>
              <a:ext uri="{FF2B5EF4-FFF2-40B4-BE49-F238E27FC236}">
                <a16:creationId xmlns:a16="http://schemas.microsoft.com/office/drawing/2014/main" id="{CDBE87FF-7459-87D2-B56A-5F9AE9553627}"/>
              </a:ext>
            </a:extLst>
          </p:cNvPr>
          <p:cNvSpPr txBox="1"/>
          <p:nvPr/>
        </p:nvSpPr>
        <p:spPr>
          <a:xfrm>
            <a:off x="510284" y="833516"/>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37334576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5173A-C2AD-5515-AD72-D61E0FCEAC3C}"/>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81F5E2F6-87ED-D7D6-D9D4-AD9070AF83D7}"/>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5F1759CB-3E6F-4A25-83C8-727E2E31C419}"/>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EFE4515A-878D-E815-BE0F-A3FFFAC69406}"/>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5" name="TextBox 4">
            <a:extLst>
              <a:ext uri="{FF2B5EF4-FFF2-40B4-BE49-F238E27FC236}">
                <a16:creationId xmlns:a16="http://schemas.microsoft.com/office/drawing/2014/main" id="{D1E37374-F271-6A8C-30A7-0CFEE0F3A4D8}"/>
              </a:ext>
            </a:extLst>
          </p:cNvPr>
          <p:cNvSpPr txBox="1"/>
          <p:nvPr/>
        </p:nvSpPr>
        <p:spPr>
          <a:xfrm>
            <a:off x="504825" y="1126989"/>
            <a:ext cx="11182350" cy="646331"/>
          </a:xfrm>
          <a:prstGeom prst="rect">
            <a:avLst/>
          </a:prstGeom>
          <a:noFill/>
        </p:spPr>
        <p:txBody>
          <a:bodyPr wrap="square" rtlCol="0">
            <a:spAutoFit/>
          </a:bodyPr>
          <a:lstStyle/>
          <a:p>
            <a:r>
              <a:rPr lang="vi-VN"/>
              <a:t>Kịch bản 2: Mô phỏng 2 inverter làm việc song song với tải RL công suất 4000 W + 2000 VA. Tỉ lệ chia sẻ công suất 1:1</a:t>
            </a:r>
            <a:endParaRPr lang="en-ID"/>
          </a:p>
        </p:txBody>
      </p:sp>
      <p:sp>
        <p:nvSpPr>
          <p:cNvPr id="7" name="Hộp Văn bản 6">
            <a:extLst>
              <a:ext uri="{FF2B5EF4-FFF2-40B4-BE49-F238E27FC236}">
                <a16:creationId xmlns:a16="http://schemas.microsoft.com/office/drawing/2014/main" id="{4BFD7D77-A9DA-92D3-F17C-3F83A2C911FB}"/>
              </a:ext>
            </a:extLst>
          </p:cNvPr>
          <p:cNvSpPr txBox="1"/>
          <p:nvPr/>
        </p:nvSpPr>
        <p:spPr>
          <a:xfrm>
            <a:off x="510284" y="833516"/>
            <a:ext cx="6055886" cy="369332"/>
          </a:xfrm>
          <a:prstGeom prst="rect">
            <a:avLst/>
          </a:prstGeom>
          <a:noFill/>
        </p:spPr>
        <p:txBody>
          <a:bodyPr wrap="square">
            <a:spAutoFit/>
          </a:bodyPr>
          <a:lstStyle/>
          <a:p>
            <a:r>
              <a:rPr lang="vi-VN" b="1"/>
              <a:t>3.1. Mô phỏng trên miền liên tục</a:t>
            </a:r>
            <a:endParaRPr lang="en-ID" b="1"/>
          </a:p>
        </p:txBody>
      </p:sp>
      <p:pic>
        <p:nvPicPr>
          <p:cNvPr id="9" name="Hình ảnh 8">
            <a:extLst>
              <a:ext uri="{FF2B5EF4-FFF2-40B4-BE49-F238E27FC236}">
                <a16:creationId xmlns:a16="http://schemas.microsoft.com/office/drawing/2014/main" id="{4D3FAA31-5B92-5CB9-CF18-4B5B37AC4E99}"/>
              </a:ext>
            </a:extLst>
          </p:cNvPr>
          <p:cNvPicPr>
            <a:picLocks noChangeAspect="1"/>
          </p:cNvPicPr>
          <p:nvPr/>
        </p:nvPicPr>
        <p:blipFill>
          <a:blip r:embed="rId2"/>
          <a:stretch>
            <a:fillRect/>
          </a:stretch>
        </p:blipFill>
        <p:spPr>
          <a:xfrm>
            <a:off x="2225460" y="1773320"/>
            <a:ext cx="7741079" cy="4878645"/>
          </a:xfrm>
          <a:prstGeom prst="rect">
            <a:avLst/>
          </a:prstGeom>
        </p:spPr>
      </p:pic>
    </p:spTree>
    <p:extLst>
      <p:ext uri="{BB962C8B-B14F-4D97-AF65-F5344CB8AC3E}">
        <p14:creationId xmlns:p14="http://schemas.microsoft.com/office/powerpoint/2010/main" val="33474219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963BD-14C8-DE1F-45A6-092E887EA0F8}"/>
            </a:ext>
          </a:extLst>
        </p:cNvPr>
        <p:cNvGrpSpPr/>
        <p:nvPr/>
      </p:nvGrpSpPr>
      <p:grpSpPr>
        <a:xfrm>
          <a:off x="0" y="0"/>
          <a:ext cx="0" cy="0"/>
          <a:chOff x="0" y="0"/>
          <a:chExt cx="0" cy="0"/>
        </a:xfrm>
      </p:grpSpPr>
      <p:pic>
        <p:nvPicPr>
          <p:cNvPr id="14" name="Hình ảnh 13">
            <a:extLst>
              <a:ext uri="{FF2B5EF4-FFF2-40B4-BE49-F238E27FC236}">
                <a16:creationId xmlns:a16="http://schemas.microsoft.com/office/drawing/2014/main" id="{CA8E6162-6857-C8DC-E694-59D525AE33F7}"/>
              </a:ext>
            </a:extLst>
          </p:cNvPr>
          <p:cNvPicPr>
            <a:picLocks noChangeAspect="1"/>
          </p:cNvPicPr>
          <p:nvPr/>
        </p:nvPicPr>
        <p:blipFill>
          <a:blip r:embed="rId2"/>
          <a:stretch>
            <a:fillRect/>
          </a:stretch>
        </p:blipFill>
        <p:spPr>
          <a:xfrm>
            <a:off x="405153" y="1237565"/>
            <a:ext cx="5268778" cy="2466996"/>
          </a:xfrm>
          <a:prstGeom prst="rect">
            <a:avLst/>
          </a:prstGeom>
        </p:spPr>
      </p:pic>
      <p:pic>
        <p:nvPicPr>
          <p:cNvPr id="6" name="Hình ảnh 5">
            <a:extLst>
              <a:ext uri="{FF2B5EF4-FFF2-40B4-BE49-F238E27FC236}">
                <a16:creationId xmlns:a16="http://schemas.microsoft.com/office/drawing/2014/main" id="{5B6E4CE9-73BF-DA92-4F58-D049E6FDF9A8}"/>
              </a:ext>
            </a:extLst>
          </p:cNvPr>
          <p:cNvPicPr>
            <a:picLocks noChangeAspect="1"/>
          </p:cNvPicPr>
          <p:nvPr/>
        </p:nvPicPr>
        <p:blipFill>
          <a:blip r:embed="rId3"/>
          <a:stretch>
            <a:fillRect/>
          </a:stretch>
        </p:blipFill>
        <p:spPr>
          <a:xfrm>
            <a:off x="6290262" y="744819"/>
            <a:ext cx="5973310" cy="2815545"/>
          </a:xfrm>
          <a:prstGeom prst="rect">
            <a:avLst/>
          </a:prstGeom>
        </p:spPr>
      </p:pic>
      <p:grpSp>
        <p:nvGrpSpPr>
          <p:cNvPr id="2" name="Group 17">
            <a:extLst>
              <a:ext uri="{FF2B5EF4-FFF2-40B4-BE49-F238E27FC236}">
                <a16:creationId xmlns:a16="http://schemas.microsoft.com/office/drawing/2014/main" id="{3B90F67A-4988-F0BD-FBD1-427415650D4E}"/>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511BAEDF-FEE8-A62C-5F85-74383A92F39D}"/>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42C623BE-FA2B-FBBB-F1B0-017949A5B1E1}"/>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cxnSp>
        <p:nvCxnSpPr>
          <p:cNvPr id="7" name="Đường nối Thẳng 6">
            <a:extLst>
              <a:ext uri="{FF2B5EF4-FFF2-40B4-BE49-F238E27FC236}">
                <a16:creationId xmlns:a16="http://schemas.microsoft.com/office/drawing/2014/main" id="{C248112C-BED9-46BF-D64C-59B32ED5F0E6}"/>
              </a:ext>
            </a:extLst>
          </p:cNvPr>
          <p:cNvCxnSpPr/>
          <p:nvPr/>
        </p:nvCxnSpPr>
        <p:spPr>
          <a:xfrm>
            <a:off x="6186792" y="941029"/>
            <a:ext cx="0" cy="5625911"/>
          </a:xfrm>
          <a:prstGeom prst="line">
            <a:avLst/>
          </a:prstGeom>
        </p:spPr>
        <p:style>
          <a:lnRef idx="1">
            <a:schemeClr val="accent1"/>
          </a:lnRef>
          <a:fillRef idx="0">
            <a:schemeClr val="accent1"/>
          </a:fillRef>
          <a:effectRef idx="0">
            <a:schemeClr val="accent1"/>
          </a:effectRef>
          <a:fontRef idx="minor">
            <a:schemeClr val="tx1"/>
          </a:fontRef>
        </p:style>
      </p:cxnSp>
      <p:sp>
        <p:nvSpPr>
          <p:cNvPr id="9" name="Hình chữ nhật 8">
            <a:extLst>
              <a:ext uri="{FF2B5EF4-FFF2-40B4-BE49-F238E27FC236}">
                <a16:creationId xmlns:a16="http://schemas.microsoft.com/office/drawing/2014/main" id="{B26F274D-2196-97B0-7503-14B5578A7B1B}"/>
              </a:ext>
            </a:extLst>
          </p:cNvPr>
          <p:cNvSpPr/>
          <p:nvPr/>
        </p:nvSpPr>
        <p:spPr>
          <a:xfrm>
            <a:off x="754765" y="2169268"/>
            <a:ext cx="577606" cy="447472"/>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vi-VN"/>
          </a:p>
        </p:txBody>
      </p:sp>
      <p:cxnSp>
        <p:nvCxnSpPr>
          <p:cNvPr id="11" name="Đường kết nối Mũi tên Thẳng 10">
            <a:extLst>
              <a:ext uri="{FF2B5EF4-FFF2-40B4-BE49-F238E27FC236}">
                <a16:creationId xmlns:a16="http://schemas.microsoft.com/office/drawing/2014/main" id="{AAC4AD8D-9DA2-BA55-B869-3DC7AA466D44}"/>
              </a:ext>
            </a:extLst>
          </p:cNvPr>
          <p:cNvCxnSpPr>
            <a:cxnSpLocks/>
            <a:stCxn id="9" idx="1"/>
          </p:cNvCxnSpPr>
          <p:nvPr/>
        </p:nvCxnSpPr>
        <p:spPr>
          <a:xfrm flipH="1">
            <a:off x="405153" y="2393004"/>
            <a:ext cx="349612" cy="1746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Đường kết nối Mũi tên Thẳng 11">
            <a:extLst>
              <a:ext uri="{FF2B5EF4-FFF2-40B4-BE49-F238E27FC236}">
                <a16:creationId xmlns:a16="http://schemas.microsoft.com/office/drawing/2014/main" id="{20268161-06C4-B2DE-7740-908CB6E9B48F}"/>
              </a:ext>
            </a:extLst>
          </p:cNvPr>
          <p:cNvCxnSpPr>
            <a:cxnSpLocks/>
            <a:stCxn id="9" idx="3"/>
          </p:cNvCxnSpPr>
          <p:nvPr/>
        </p:nvCxnSpPr>
        <p:spPr>
          <a:xfrm>
            <a:off x="1332371" y="2393004"/>
            <a:ext cx="4300847" cy="1746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Hộp Văn bản 16">
            <a:extLst>
              <a:ext uri="{FF2B5EF4-FFF2-40B4-BE49-F238E27FC236}">
                <a16:creationId xmlns:a16="http://schemas.microsoft.com/office/drawing/2014/main" id="{F2EBCE65-6317-5137-94B8-0272D511A01E}"/>
              </a:ext>
            </a:extLst>
          </p:cNvPr>
          <p:cNvSpPr txBox="1"/>
          <p:nvPr/>
        </p:nvSpPr>
        <p:spPr>
          <a:xfrm>
            <a:off x="1735061" y="3673019"/>
            <a:ext cx="2783296" cy="369332"/>
          </a:xfrm>
          <a:prstGeom prst="rect">
            <a:avLst/>
          </a:prstGeom>
          <a:noFill/>
        </p:spPr>
        <p:txBody>
          <a:bodyPr wrap="square">
            <a:spAutoFit/>
          </a:bodyPr>
          <a:lstStyle/>
          <a:p>
            <a:pPr algn="ctr"/>
            <a:r>
              <a:rPr lang="vi-VN"/>
              <a:t>Đáp ứng điện áp đầu ra</a:t>
            </a:r>
            <a:endParaRPr lang="en-ID"/>
          </a:p>
        </p:txBody>
      </p:sp>
      <p:sp>
        <p:nvSpPr>
          <p:cNvPr id="19" name="Hình chữ nhật 18">
            <a:extLst>
              <a:ext uri="{FF2B5EF4-FFF2-40B4-BE49-F238E27FC236}">
                <a16:creationId xmlns:a16="http://schemas.microsoft.com/office/drawing/2014/main" id="{89554B35-11DD-C7C4-1144-8D0AD338E672}"/>
              </a:ext>
            </a:extLst>
          </p:cNvPr>
          <p:cNvSpPr/>
          <p:nvPr/>
        </p:nvSpPr>
        <p:spPr>
          <a:xfrm>
            <a:off x="7551054" y="1108396"/>
            <a:ext cx="353963" cy="29183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vi-VN"/>
          </a:p>
        </p:txBody>
      </p:sp>
      <p:cxnSp>
        <p:nvCxnSpPr>
          <p:cNvPr id="20" name="Đường kết nối Mũi tên Thẳng 19">
            <a:extLst>
              <a:ext uri="{FF2B5EF4-FFF2-40B4-BE49-F238E27FC236}">
                <a16:creationId xmlns:a16="http://schemas.microsoft.com/office/drawing/2014/main" id="{F1E46386-55DE-0C92-58E8-FF9DA6D14926}"/>
              </a:ext>
            </a:extLst>
          </p:cNvPr>
          <p:cNvCxnSpPr>
            <a:cxnSpLocks/>
            <a:stCxn id="19" idx="1"/>
          </p:cNvCxnSpPr>
          <p:nvPr/>
        </p:nvCxnSpPr>
        <p:spPr>
          <a:xfrm flipH="1">
            <a:off x="6648306" y="1254311"/>
            <a:ext cx="902748" cy="27929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Đường kết nối Mũi tên Thẳng 20">
            <a:extLst>
              <a:ext uri="{FF2B5EF4-FFF2-40B4-BE49-F238E27FC236}">
                <a16:creationId xmlns:a16="http://schemas.microsoft.com/office/drawing/2014/main" id="{47879323-4567-2231-2DAF-B707626B5AAA}"/>
              </a:ext>
            </a:extLst>
          </p:cNvPr>
          <p:cNvCxnSpPr>
            <a:cxnSpLocks/>
            <a:stCxn id="19" idx="3"/>
          </p:cNvCxnSpPr>
          <p:nvPr/>
        </p:nvCxnSpPr>
        <p:spPr>
          <a:xfrm>
            <a:off x="7905017" y="1254311"/>
            <a:ext cx="3950827" cy="2734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Hộp Văn bản 28">
            <a:extLst>
              <a:ext uri="{FF2B5EF4-FFF2-40B4-BE49-F238E27FC236}">
                <a16:creationId xmlns:a16="http://schemas.microsoft.com/office/drawing/2014/main" id="{927F6CCC-6570-EF5B-04D3-27501128D58E}"/>
              </a:ext>
            </a:extLst>
          </p:cNvPr>
          <p:cNvSpPr txBox="1"/>
          <p:nvPr/>
        </p:nvSpPr>
        <p:spPr>
          <a:xfrm>
            <a:off x="7175684" y="3519895"/>
            <a:ext cx="3931919" cy="369332"/>
          </a:xfrm>
          <a:prstGeom prst="rect">
            <a:avLst/>
          </a:prstGeom>
          <a:noFill/>
        </p:spPr>
        <p:txBody>
          <a:bodyPr wrap="square">
            <a:spAutoFit/>
          </a:bodyPr>
          <a:lstStyle/>
          <a:p>
            <a:pPr algn="ctr"/>
            <a:r>
              <a:rPr lang="vi-VN"/>
              <a:t>Đáp ứng dòng điện trên cuộn cảm</a:t>
            </a:r>
            <a:endParaRPr lang="en-ID"/>
          </a:p>
        </p:txBody>
      </p:sp>
      <p:pic>
        <p:nvPicPr>
          <p:cNvPr id="13" name="Hình ảnh 12">
            <a:extLst>
              <a:ext uri="{FF2B5EF4-FFF2-40B4-BE49-F238E27FC236}">
                <a16:creationId xmlns:a16="http://schemas.microsoft.com/office/drawing/2014/main" id="{507B7957-FC29-1FA6-957D-637DBEF2F03E}"/>
              </a:ext>
            </a:extLst>
          </p:cNvPr>
          <p:cNvPicPr>
            <a:picLocks noChangeAspect="1"/>
          </p:cNvPicPr>
          <p:nvPr/>
        </p:nvPicPr>
        <p:blipFill>
          <a:blip r:embed="rId4"/>
          <a:stretch>
            <a:fillRect/>
          </a:stretch>
        </p:blipFill>
        <p:spPr>
          <a:xfrm>
            <a:off x="6540683" y="4139979"/>
            <a:ext cx="5315161" cy="2497018"/>
          </a:xfrm>
          <a:prstGeom prst="rect">
            <a:avLst/>
          </a:prstGeom>
        </p:spPr>
      </p:pic>
      <p:pic>
        <p:nvPicPr>
          <p:cNvPr id="23" name="Hình ảnh 22">
            <a:extLst>
              <a:ext uri="{FF2B5EF4-FFF2-40B4-BE49-F238E27FC236}">
                <a16:creationId xmlns:a16="http://schemas.microsoft.com/office/drawing/2014/main" id="{A0E0D7A9-2173-7A82-DDB5-8590F22304C4}"/>
              </a:ext>
            </a:extLst>
          </p:cNvPr>
          <p:cNvPicPr>
            <a:picLocks noChangeAspect="1"/>
          </p:cNvPicPr>
          <p:nvPr/>
        </p:nvPicPr>
        <p:blipFill>
          <a:blip r:embed="rId5"/>
          <a:stretch>
            <a:fillRect/>
          </a:stretch>
        </p:blipFill>
        <p:spPr>
          <a:xfrm>
            <a:off x="405153" y="4229811"/>
            <a:ext cx="5213837" cy="2466996"/>
          </a:xfrm>
          <a:prstGeom prst="rect">
            <a:avLst/>
          </a:prstGeom>
        </p:spPr>
      </p:pic>
      <p:sp>
        <p:nvSpPr>
          <p:cNvPr id="5" name="Hộp Văn bản 4">
            <a:extLst>
              <a:ext uri="{FF2B5EF4-FFF2-40B4-BE49-F238E27FC236}">
                <a16:creationId xmlns:a16="http://schemas.microsoft.com/office/drawing/2014/main" id="{2DEAAAAE-A8F2-51C3-5B72-03819C2686B7}"/>
              </a:ext>
            </a:extLst>
          </p:cNvPr>
          <p:cNvSpPr txBox="1"/>
          <p:nvPr/>
        </p:nvSpPr>
        <p:spPr>
          <a:xfrm>
            <a:off x="510284" y="833516"/>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7275694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E7AC5-A248-3D0B-4EC1-F53B136D3957}"/>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E3280195-54E6-AD58-9973-BB7D0D8D215F}"/>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C7588CD5-F4E1-3FCD-5783-E35DE0D2987D}"/>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6F38EBE1-9DAE-A2B2-20BF-E1B0810BE120}"/>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6" name="Hộp Văn bản 5">
            <a:extLst>
              <a:ext uri="{FF2B5EF4-FFF2-40B4-BE49-F238E27FC236}">
                <a16:creationId xmlns:a16="http://schemas.microsoft.com/office/drawing/2014/main" id="{89D59BD5-E506-DD42-FEC4-BAF2FD494503}"/>
              </a:ext>
            </a:extLst>
          </p:cNvPr>
          <p:cNvSpPr txBox="1"/>
          <p:nvPr/>
        </p:nvSpPr>
        <p:spPr>
          <a:xfrm>
            <a:off x="296924" y="5748912"/>
            <a:ext cx="4968240" cy="646331"/>
          </a:xfrm>
          <a:prstGeom prst="rect">
            <a:avLst/>
          </a:prstGeom>
          <a:noFill/>
        </p:spPr>
        <p:txBody>
          <a:bodyPr wrap="square">
            <a:spAutoFit/>
          </a:bodyPr>
          <a:lstStyle/>
          <a:p>
            <a:pPr algn="ctr"/>
            <a:r>
              <a:rPr lang="vi-VN"/>
              <a:t>Công suất tác dụng và công suất phản kháng trên 2 bộ nghịch lưu</a:t>
            </a:r>
            <a:endParaRPr lang="en-ID"/>
          </a:p>
        </p:txBody>
      </p:sp>
      <p:pic>
        <p:nvPicPr>
          <p:cNvPr id="7" name="Hình ảnh 6">
            <a:extLst>
              <a:ext uri="{FF2B5EF4-FFF2-40B4-BE49-F238E27FC236}">
                <a16:creationId xmlns:a16="http://schemas.microsoft.com/office/drawing/2014/main" id="{FF0856E7-612E-D1FB-B3C7-D50441264D60}"/>
              </a:ext>
            </a:extLst>
          </p:cNvPr>
          <p:cNvPicPr>
            <a:picLocks noChangeAspect="1"/>
          </p:cNvPicPr>
          <p:nvPr/>
        </p:nvPicPr>
        <p:blipFill>
          <a:blip r:embed="rId2"/>
          <a:stretch>
            <a:fillRect/>
          </a:stretch>
        </p:blipFill>
        <p:spPr>
          <a:xfrm>
            <a:off x="168992" y="1257498"/>
            <a:ext cx="6574140" cy="3105596"/>
          </a:xfrm>
          <a:prstGeom prst="rect">
            <a:avLst/>
          </a:prstGeom>
        </p:spPr>
      </p:pic>
      <p:pic>
        <p:nvPicPr>
          <p:cNvPr id="8" name="Hình ảnh 7">
            <a:extLst>
              <a:ext uri="{FF2B5EF4-FFF2-40B4-BE49-F238E27FC236}">
                <a16:creationId xmlns:a16="http://schemas.microsoft.com/office/drawing/2014/main" id="{924208A3-7182-4514-4E36-2CEB3319A383}"/>
              </a:ext>
            </a:extLst>
          </p:cNvPr>
          <p:cNvPicPr>
            <a:picLocks noChangeAspect="1"/>
          </p:cNvPicPr>
          <p:nvPr/>
        </p:nvPicPr>
        <p:blipFill>
          <a:blip r:embed="rId3"/>
          <a:stretch>
            <a:fillRect/>
          </a:stretch>
        </p:blipFill>
        <p:spPr>
          <a:xfrm>
            <a:off x="5617860" y="3636280"/>
            <a:ext cx="6574140" cy="3112444"/>
          </a:xfrm>
          <a:prstGeom prst="rect">
            <a:avLst/>
          </a:prstGeom>
        </p:spPr>
      </p:pic>
      <p:sp>
        <p:nvSpPr>
          <p:cNvPr id="5" name="Hộp Văn bản 4">
            <a:extLst>
              <a:ext uri="{FF2B5EF4-FFF2-40B4-BE49-F238E27FC236}">
                <a16:creationId xmlns:a16="http://schemas.microsoft.com/office/drawing/2014/main" id="{1C8C5822-F4B6-2F7C-DAD3-ECDD68153AB9}"/>
              </a:ext>
            </a:extLst>
          </p:cNvPr>
          <p:cNvSpPr txBox="1"/>
          <p:nvPr/>
        </p:nvSpPr>
        <p:spPr>
          <a:xfrm>
            <a:off x="510284" y="833516"/>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9783948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741BE-0AC4-D5CA-3CEE-EE03F4F64B1F}"/>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F35F4DC1-0283-750D-B6F1-B65AD66B73C2}"/>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D1AA5BC1-8762-70C3-AA67-FA29B683C4BC}"/>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DEEDDB2B-3B02-05B2-41D7-8FE09401B03D}"/>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graphicFrame>
        <p:nvGraphicFramePr>
          <p:cNvPr id="6" name="Table 13">
            <a:extLst>
              <a:ext uri="{FF2B5EF4-FFF2-40B4-BE49-F238E27FC236}">
                <a16:creationId xmlns:a16="http://schemas.microsoft.com/office/drawing/2014/main" id="{06D40865-1608-8F28-FC3E-281A1E82BFDD}"/>
              </a:ext>
            </a:extLst>
          </p:cNvPr>
          <p:cNvGraphicFramePr>
            <a:graphicFrameLocks noGrp="1"/>
          </p:cNvGraphicFramePr>
          <p:nvPr/>
        </p:nvGraphicFramePr>
        <p:xfrm>
          <a:off x="365616" y="3536181"/>
          <a:ext cx="6917019" cy="2446671"/>
        </p:xfrm>
        <a:graphic>
          <a:graphicData uri="http://schemas.openxmlformats.org/drawingml/2006/table">
            <a:tbl>
              <a:tblPr firstRow="1" bandRow="1">
                <a:tableStyleId>{5C22544A-7EE6-4342-B048-85BDC9FD1C3A}</a:tableStyleId>
              </a:tblPr>
              <a:tblGrid>
                <a:gridCol w="589424">
                  <a:extLst>
                    <a:ext uri="{9D8B030D-6E8A-4147-A177-3AD203B41FA5}">
                      <a16:colId xmlns:a16="http://schemas.microsoft.com/office/drawing/2014/main" val="3998854459"/>
                    </a:ext>
                  </a:extLst>
                </a:gridCol>
                <a:gridCol w="3657600">
                  <a:extLst>
                    <a:ext uri="{9D8B030D-6E8A-4147-A177-3AD203B41FA5}">
                      <a16:colId xmlns:a16="http://schemas.microsoft.com/office/drawing/2014/main" val="3372512979"/>
                    </a:ext>
                  </a:extLst>
                </a:gridCol>
                <a:gridCol w="883920">
                  <a:extLst>
                    <a:ext uri="{9D8B030D-6E8A-4147-A177-3AD203B41FA5}">
                      <a16:colId xmlns:a16="http://schemas.microsoft.com/office/drawing/2014/main" val="1462865521"/>
                    </a:ext>
                  </a:extLst>
                </a:gridCol>
                <a:gridCol w="955040">
                  <a:extLst>
                    <a:ext uri="{9D8B030D-6E8A-4147-A177-3AD203B41FA5}">
                      <a16:colId xmlns:a16="http://schemas.microsoft.com/office/drawing/2014/main" val="156630398"/>
                    </a:ext>
                  </a:extLst>
                </a:gridCol>
                <a:gridCol w="831035">
                  <a:extLst>
                    <a:ext uri="{9D8B030D-6E8A-4147-A177-3AD203B41FA5}">
                      <a16:colId xmlns:a16="http://schemas.microsoft.com/office/drawing/2014/main" val="3496083406"/>
                    </a:ext>
                  </a:extLst>
                </a:gridCol>
              </a:tblGrid>
              <a:tr h="761234">
                <a:tc>
                  <a:txBody>
                    <a:bodyPr/>
                    <a:lstStyle/>
                    <a:p>
                      <a:pPr algn="ctr"/>
                      <a:r>
                        <a:rPr lang="en-US" sz="1800">
                          <a:latin typeface="Times New Roman" panose="02020603050405020304" pitchFamily="18" charset="0"/>
                          <a:cs typeface="Times New Roman" panose="02020603050405020304" pitchFamily="18" charset="0"/>
                        </a:rPr>
                        <a:t>Kết quả</a:t>
                      </a:r>
                    </a:p>
                  </a:txBody>
                  <a:tcPr anchor="ctr"/>
                </a:tc>
                <a:tc>
                  <a:txBody>
                    <a:bodyPr/>
                    <a:lstStyle/>
                    <a:p>
                      <a:pPr algn="ctr"/>
                      <a:r>
                        <a:rPr lang="en-US" sz="1800">
                          <a:latin typeface="Times New Roman" panose="02020603050405020304" pitchFamily="18" charset="0"/>
                          <a:cs typeface="Times New Roman" panose="02020603050405020304" pitchFamily="18" charset="0"/>
                        </a:rPr>
                        <a:t>Tham </a:t>
                      </a:r>
                      <a:r>
                        <a:rPr lang="en-US" sz="1800" err="1">
                          <a:latin typeface="Times New Roman" panose="02020603050405020304" pitchFamily="18" charset="0"/>
                          <a:cs typeface="Times New Roman" panose="02020603050405020304" pitchFamily="18" charset="0"/>
                        </a:rPr>
                        <a:t>số</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GT lý thuyết (W)</a:t>
                      </a:r>
                    </a:p>
                  </a:txBody>
                  <a:tcPr anchor="ctr"/>
                </a:tc>
                <a:tc>
                  <a:txBody>
                    <a:bodyPr/>
                    <a:lstStyle/>
                    <a:p>
                      <a:pPr algn="ctr"/>
                      <a:r>
                        <a:rPr lang="en-US" sz="1800">
                          <a:latin typeface="Times New Roman" panose="02020603050405020304" pitchFamily="18" charset="0"/>
                          <a:cs typeface="Times New Roman" panose="02020603050405020304" pitchFamily="18" charset="0"/>
                        </a:rPr>
                        <a:t>GT </a:t>
                      </a:r>
                      <a:r>
                        <a:rPr lang="en-US" sz="1800" err="1">
                          <a:latin typeface="Times New Roman" panose="02020603050405020304" pitchFamily="18" charset="0"/>
                          <a:cs typeface="Times New Roman" panose="02020603050405020304" pitchFamily="18" charset="0"/>
                        </a:rPr>
                        <a:t>mô</a:t>
                      </a:r>
                      <a:r>
                        <a:rPr lang="en-US" sz="1800">
                          <a:latin typeface="Times New Roman" panose="02020603050405020304" pitchFamily="18" charset="0"/>
                          <a:cs typeface="Times New Roman" panose="02020603050405020304" pitchFamily="18" charset="0"/>
                        </a:rPr>
                        <a:t> </a:t>
                      </a:r>
                      <a:r>
                        <a:rPr lang="en-US" sz="1800" err="1">
                          <a:latin typeface="Times New Roman" panose="02020603050405020304" pitchFamily="18" charset="0"/>
                          <a:cs typeface="Times New Roman" panose="02020603050405020304" pitchFamily="18" charset="0"/>
                        </a:rPr>
                        <a:t>phỏng</a:t>
                      </a:r>
                      <a:r>
                        <a:rPr lang="en-US" sz="1800">
                          <a:latin typeface="Times New Roman" panose="02020603050405020304" pitchFamily="18" charset="0"/>
                          <a:cs typeface="Times New Roman" panose="02020603050405020304" pitchFamily="18" charset="0"/>
                        </a:rPr>
                        <a:t> </a:t>
                      </a:r>
                    </a:p>
                    <a:p>
                      <a:pPr algn="ctr"/>
                      <a:r>
                        <a:rPr lang="en-US" sz="1800">
                          <a:latin typeface="Times New Roman" panose="02020603050405020304" pitchFamily="18" charset="0"/>
                          <a:cs typeface="Times New Roman" panose="02020603050405020304" pitchFamily="18" charset="0"/>
                        </a:rPr>
                        <a:t>(W)</a:t>
                      </a:r>
                    </a:p>
                  </a:txBody>
                  <a:tcPr anchor="ctr"/>
                </a:tc>
                <a:tc>
                  <a:txBody>
                    <a:bodyPr/>
                    <a:lstStyle/>
                    <a:p>
                      <a:pPr algn="ctr"/>
                      <a:r>
                        <a:rPr lang="en-US" sz="1800">
                          <a:latin typeface="Times New Roman" panose="02020603050405020304" pitchFamily="18" charset="0"/>
                          <a:cs typeface="Times New Roman" panose="02020603050405020304" pitchFamily="18" charset="0"/>
                        </a:rPr>
                        <a:t>Sai số</a:t>
                      </a:r>
                    </a:p>
                  </a:txBody>
                  <a:tcPr anchor="ctr"/>
                </a:tc>
                <a:extLst>
                  <a:ext uri="{0D108BD9-81ED-4DB2-BD59-A6C34878D82A}">
                    <a16:rowId xmlns:a16="http://schemas.microsoft.com/office/drawing/2014/main" val="305514116"/>
                  </a:ext>
                </a:extLst>
              </a:tr>
              <a:tr h="434991">
                <a:tc>
                  <a:txBody>
                    <a:bodyPr/>
                    <a:lstStyle/>
                    <a:p>
                      <a:pPr algn="ctr"/>
                      <a:r>
                        <a:rPr lang="en-US" sz="1800">
                          <a:latin typeface="Times New Roman" panose="02020603050405020304" pitchFamily="18" charset="0"/>
                          <a:cs typeface="Times New Roman" panose="02020603050405020304" pitchFamily="18" charset="0"/>
                        </a:rPr>
                        <a:t>P1</a:t>
                      </a:r>
                    </a:p>
                  </a:txBody>
                  <a:tcPr anchor="ctr"/>
                </a:tc>
                <a:tc>
                  <a:txBody>
                    <a:bodyPr/>
                    <a:lstStyle/>
                    <a:p>
                      <a:pPr algn="ctr"/>
                      <a:r>
                        <a:rPr lang="en-US" sz="1800" err="1">
                          <a:latin typeface="Times New Roman" panose="02020603050405020304" pitchFamily="18" charset="0"/>
                          <a:cs typeface="Times New Roman" panose="02020603050405020304" pitchFamily="18" charset="0"/>
                        </a:rPr>
                        <a:t>Công</a:t>
                      </a:r>
                      <a:r>
                        <a:rPr lang="en-US" sz="1800">
                          <a:latin typeface="Times New Roman" panose="02020603050405020304" pitchFamily="18" charset="0"/>
                          <a:cs typeface="Times New Roman" panose="02020603050405020304" pitchFamily="18" charset="0"/>
                        </a:rPr>
                        <a:t> </a:t>
                      </a:r>
                      <a:r>
                        <a:rPr lang="en-US" sz="1800" err="1">
                          <a:latin typeface="Times New Roman" panose="02020603050405020304" pitchFamily="18" charset="0"/>
                          <a:cs typeface="Times New Roman" panose="02020603050405020304" pitchFamily="18" charset="0"/>
                        </a:rPr>
                        <a:t>suất</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tác dụng </a:t>
                      </a:r>
                      <a:r>
                        <a:rPr lang="en-US" sz="1800" err="1">
                          <a:latin typeface="Times New Roman" panose="02020603050405020304" pitchFamily="18" charset="0"/>
                          <a:cs typeface="Times New Roman" panose="02020603050405020304" pitchFamily="18" charset="0"/>
                        </a:rPr>
                        <a:t>bộ</a:t>
                      </a:r>
                      <a:r>
                        <a:rPr lang="en-US" sz="1800">
                          <a:latin typeface="Times New Roman" panose="02020603050405020304" pitchFamily="18" charset="0"/>
                          <a:cs typeface="Times New Roman" panose="02020603050405020304" pitchFamily="18" charset="0"/>
                        </a:rPr>
                        <a:t> 1 ban </a:t>
                      </a:r>
                      <a:r>
                        <a:rPr lang="en-US" sz="1800" err="1">
                          <a:latin typeface="Times New Roman" panose="02020603050405020304" pitchFamily="18" charset="0"/>
                          <a:cs typeface="Times New Roman" panose="02020603050405020304" pitchFamily="18" charset="0"/>
                        </a:rPr>
                        <a:t>đầu</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2000</a:t>
                      </a:r>
                    </a:p>
                  </a:txBody>
                  <a:tcPr anchor="ctr"/>
                </a:tc>
                <a:tc>
                  <a:txBody>
                    <a:bodyPr/>
                    <a:lstStyle/>
                    <a:p>
                      <a:pPr algn="ctr"/>
                      <a:r>
                        <a:rPr lang="en-US" sz="1800">
                          <a:latin typeface="Times New Roman" panose="02020603050405020304" pitchFamily="18" charset="0"/>
                          <a:cs typeface="Times New Roman" panose="02020603050405020304" pitchFamily="18" charset="0"/>
                        </a:rPr>
                        <a:t>2004</a:t>
                      </a:r>
                    </a:p>
                  </a:txBody>
                  <a:tcPr anchor="ctr"/>
                </a:tc>
                <a:tc>
                  <a:txBody>
                    <a:bodyPr/>
                    <a:lstStyle/>
                    <a:p>
                      <a:pPr algn="ctr"/>
                      <a:r>
                        <a:rPr lang="en-US" sz="1800">
                          <a:latin typeface="Times New Roman" panose="02020603050405020304" pitchFamily="18" charset="0"/>
                          <a:cs typeface="Times New Roman" panose="02020603050405020304" pitchFamily="18" charset="0"/>
                        </a:rPr>
                        <a:t>0,2%</a:t>
                      </a:r>
                    </a:p>
                  </a:txBody>
                  <a:tcPr anchor="ctr"/>
                </a:tc>
                <a:extLst>
                  <a:ext uri="{0D108BD9-81ED-4DB2-BD59-A6C34878D82A}">
                    <a16:rowId xmlns:a16="http://schemas.microsoft.com/office/drawing/2014/main" val="2136588521"/>
                  </a:ext>
                </a:extLst>
              </a:tr>
              <a:tr h="217496">
                <a:tc>
                  <a:txBody>
                    <a:bodyPr/>
                    <a:lstStyle/>
                    <a:p>
                      <a:pPr algn="ctr"/>
                      <a:r>
                        <a:rPr lang="en-US" sz="1800">
                          <a:latin typeface="Times New Roman" panose="02020603050405020304" pitchFamily="18" charset="0"/>
                          <a:cs typeface="Times New Roman" panose="02020603050405020304" pitchFamily="18" charset="0"/>
                        </a:rPr>
                        <a:t>P2</a:t>
                      </a:r>
                    </a:p>
                  </a:txBody>
                  <a:tcPr anchor="ctr"/>
                </a:tc>
                <a:tc>
                  <a:txBody>
                    <a:bodyPr/>
                    <a:lstStyle/>
                    <a:p>
                      <a:pPr algn="ctr"/>
                      <a:r>
                        <a:rPr lang="en-US" sz="1800" err="1">
                          <a:latin typeface="Times New Roman" panose="02020603050405020304" pitchFamily="18" charset="0"/>
                          <a:cs typeface="Times New Roman" panose="02020603050405020304" pitchFamily="18" charset="0"/>
                        </a:rPr>
                        <a:t>Công</a:t>
                      </a:r>
                      <a:r>
                        <a:rPr lang="en-US" sz="1800">
                          <a:latin typeface="Times New Roman" panose="02020603050405020304" pitchFamily="18" charset="0"/>
                          <a:cs typeface="Times New Roman" panose="02020603050405020304" pitchFamily="18" charset="0"/>
                        </a:rPr>
                        <a:t> </a:t>
                      </a:r>
                      <a:r>
                        <a:rPr lang="en-US" sz="1800" err="1">
                          <a:latin typeface="Times New Roman" panose="02020603050405020304" pitchFamily="18" charset="0"/>
                          <a:cs typeface="Times New Roman" panose="02020603050405020304" pitchFamily="18" charset="0"/>
                        </a:rPr>
                        <a:t>suất</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tác dụng </a:t>
                      </a:r>
                      <a:r>
                        <a:rPr lang="en-US" sz="1800" err="1">
                          <a:latin typeface="Times New Roman" panose="02020603050405020304" pitchFamily="18" charset="0"/>
                          <a:cs typeface="Times New Roman" panose="02020603050405020304" pitchFamily="18" charset="0"/>
                        </a:rPr>
                        <a:t>bộ</a:t>
                      </a:r>
                      <a:r>
                        <a:rPr lang="en-US" sz="1800">
                          <a:latin typeface="Times New Roman" panose="02020603050405020304" pitchFamily="18" charset="0"/>
                          <a:cs typeface="Times New Roman" panose="02020603050405020304" pitchFamily="18" charset="0"/>
                        </a:rPr>
                        <a:t> 2 ban </a:t>
                      </a:r>
                      <a:r>
                        <a:rPr lang="en-US" sz="1800" err="1">
                          <a:latin typeface="Times New Roman" panose="02020603050405020304" pitchFamily="18" charset="0"/>
                          <a:cs typeface="Times New Roman" panose="02020603050405020304" pitchFamily="18" charset="0"/>
                        </a:rPr>
                        <a:t>đầu</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2000</a:t>
                      </a:r>
                    </a:p>
                  </a:txBody>
                  <a:tcPr anchor="ctr"/>
                </a:tc>
                <a:tc>
                  <a:txBody>
                    <a:bodyPr/>
                    <a:lstStyle/>
                    <a:p>
                      <a:pPr algn="ctr"/>
                      <a:r>
                        <a:rPr lang="en-US" sz="1800">
                          <a:latin typeface="Times New Roman" panose="02020603050405020304" pitchFamily="18" charset="0"/>
                          <a:cs typeface="Times New Roman" panose="02020603050405020304" pitchFamily="18" charset="0"/>
                        </a:rPr>
                        <a:t>2004</a:t>
                      </a:r>
                    </a:p>
                  </a:txBody>
                  <a:tcPr anchor="ctr"/>
                </a:tc>
                <a:tc>
                  <a:txBody>
                    <a:bodyPr/>
                    <a:lstStyle/>
                    <a:p>
                      <a:pPr algn="ctr"/>
                      <a:r>
                        <a:rPr lang="en-US" sz="1800">
                          <a:latin typeface="Times New Roman" panose="02020603050405020304" pitchFamily="18" charset="0"/>
                          <a:cs typeface="Times New Roman" panose="02020603050405020304" pitchFamily="18" charset="0"/>
                        </a:rPr>
                        <a:t>0,2%</a:t>
                      </a:r>
                    </a:p>
                  </a:txBody>
                  <a:tcPr anchor="ctr"/>
                </a:tc>
                <a:extLst>
                  <a:ext uri="{0D108BD9-81ED-4DB2-BD59-A6C34878D82A}">
                    <a16:rowId xmlns:a16="http://schemas.microsoft.com/office/drawing/2014/main" val="2469670652"/>
                  </a:ext>
                </a:extLst>
              </a:tr>
              <a:tr h="217496">
                <a:tc>
                  <a:txBody>
                    <a:bodyPr/>
                    <a:lstStyle/>
                    <a:p>
                      <a:pPr algn="ctr"/>
                      <a:r>
                        <a:rPr lang="vi-VN" sz="1800">
                          <a:latin typeface="Times New Roman" panose="02020603050405020304" pitchFamily="18" charset="0"/>
                          <a:cs typeface="Times New Roman" panose="02020603050405020304" pitchFamily="18" charset="0"/>
                        </a:rPr>
                        <a:t>Q1</a:t>
                      </a:r>
                      <a:endParaRPr lang="en-US" sz="180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err="1">
                          <a:latin typeface="Times New Roman" panose="02020603050405020304" pitchFamily="18" charset="0"/>
                          <a:cs typeface="Times New Roman" panose="02020603050405020304" pitchFamily="18" charset="0"/>
                        </a:rPr>
                        <a:t>Công</a:t>
                      </a:r>
                      <a:r>
                        <a:rPr lang="en-US" sz="1800">
                          <a:latin typeface="Times New Roman" panose="02020603050405020304" pitchFamily="18" charset="0"/>
                          <a:cs typeface="Times New Roman" panose="02020603050405020304" pitchFamily="18" charset="0"/>
                        </a:rPr>
                        <a:t> </a:t>
                      </a:r>
                      <a:r>
                        <a:rPr lang="en-US" sz="1800" err="1">
                          <a:latin typeface="Times New Roman" panose="02020603050405020304" pitchFamily="18" charset="0"/>
                          <a:cs typeface="Times New Roman" panose="02020603050405020304" pitchFamily="18" charset="0"/>
                        </a:rPr>
                        <a:t>suất</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phản kháng </a:t>
                      </a:r>
                      <a:r>
                        <a:rPr lang="en-US" sz="1800" err="1">
                          <a:latin typeface="Times New Roman" panose="02020603050405020304" pitchFamily="18" charset="0"/>
                          <a:cs typeface="Times New Roman" panose="02020603050405020304" pitchFamily="18" charset="0"/>
                        </a:rPr>
                        <a:t>bộ</a:t>
                      </a:r>
                      <a:r>
                        <a:rPr lang="en-US" sz="1800">
                          <a:latin typeface="Times New Roman" panose="02020603050405020304" pitchFamily="18" charset="0"/>
                          <a:cs typeface="Times New Roman" panose="02020603050405020304" pitchFamily="18" charset="0"/>
                        </a:rPr>
                        <a:t> 1 ban </a:t>
                      </a:r>
                      <a:r>
                        <a:rPr lang="en-US" sz="1800" err="1">
                          <a:latin typeface="Times New Roman" panose="02020603050405020304" pitchFamily="18" charset="0"/>
                          <a:cs typeface="Times New Roman" panose="02020603050405020304" pitchFamily="18" charset="0"/>
                        </a:rPr>
                        <a:t>đầu</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1000</a:t>
                      </a:r>
                    </a:p>
                  </a:txBody>
                  <a:tcPr anchor="ctr"/>
                </a:tc>
                <a:tc>
                  <a:txBody>
                    <a:bodyPr/>
                    <a:lstStyle/>
                    <a:p>
                      <a:pPr algn="ctr"/>
                      <a:r>
                        <a:rPr lang="vi-VN" sz="1800">
                          <a:latin typeface="Times New Roman" panose="02020603050405020304" pitchFamily="18" charset="0"/>
                          <a:cs typeface="Times New Roman" panose="02020603050405020304" pitchFamily="18" charset="0"/>
                        </a:rPr>
                        <a:t>1002</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vi-VN" sz="1800">
                          <a:latin typeface="Times New Roman" panose="02020603050405020304" pitchFamily="18" charset="0"/>
                          <a:cs typeface="Times New Roman" panose="02020603050405020304" pitchFamily="18" charset="0"/>
                        </a:rPr>
                        <a:t>0,2%</a:t>
                      </a:r>
                      <a:endParaRPr lang="en-US" sz="1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11427999"/>
                  </a:ext>
                </a:extLst>
              </a:tr>
              <a:tr h="217496">
                <a:tc>
                  <a:txBody>
                    <a:bodyPr/>
                    <a:lstStyle/>
                    <a:p>
                      <a:pPr algn="ctr"/>
                      <a:r>
                        <a:rPr lang="en-US" sz="1800">
                          <a:latin typeface="Times New Roman" panose="02020603050405020304" pitchFamily="18" charset="0"/>
                          <a:cs typeface="Times New Roman" panose="02020603050405020304" pitchFamily="18" charset="0"/>
                        </a:rPr>
                        <a:t>Q2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err="1">
                          <a:latin typeface="Times New Roman" panose="02020603050405020304" pitchFamily="18" charset="0"/>
                          <a:cs typeface="Times New Roman" panose="02020603050405020304" pitchFamily="18" charset="0"/>
                        </a:rPr>
                        <a:t>Công</a:t>
                      </a:r>
                      <a:r>
                        <a:rPr lang="en-US" sz="1800">
                          <a:latin typeface="Times New Roman" panose="02020603050405020304" pitchFamily="18" charset="0"/>
                          <a:cs typeface="Times New Roman" panose="02020603050405020304" pitchFamily="18" charset="0"/>
                        </a:rPr>
                        <a:t> </a:t>
                      </a:r>
                      <a:r>
                        <a:rPr lang="en-US" sz="1800" err="1">
                          <a:latin typeface="Times New Roman" panose="02020603050405020304" pitchFamily="18" charset="0"/>
                          <a:cs typeface="Times New Roman" panose="02020603050405020304" pitchFamily="18" charset="0"/>
                        </a:rPr>
                        <a:t>suất</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phản kháng </a:t>
                      </a:r>
                      <a:r>
                        <a:rPr lang="en-US" sz="1800" err="1">
                          <a:latin typeface="Times New Roman" panose="02020603050405020304" pitchFamily="18" charset="0"/>
                          <a:cs typeface="Times New Roman" panose="02020603050405020304" pitchFamily="18" charset="0"/>
                        </a:rPr>
                        <a:t>bộ</a:t>
                      </a:r>
                      <a:r>
                        <a:rPr lang="en-US" sz="1800">
                          <a:latin typeface="Times New Roman" panose="02020603050405020304" pitchFamily="18" charset="0"/>
                          <a:cs typeface="Times New Roman" panose="02020603050405020304" pitchFamily="18" charset="0"/>
                        </a:rPr>
                        <a:t> 2 ban </a:t>
                      </a:r>
                      <a:r>
                        <a:rPr lang="en-US" sz="1800" err="1">
                          <a:latin typeface="Times New Roman" panose="02020603050405020304" pitchFamily="18" charset="0"/>
                          <a:cs typeface="Times New Roman" panose="02020603050405020304" pitchFamily="18" charset="0"/>
                        </a:rPr>
                        <a:t>đầu</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1000</a:t>
                      </a:r>
                    </a:p>
                  </a:txBody>
                  <a:tcPr anchor="ctr"/>
                </a:tc>
                <a:tc>
                  <a:txBody>
                    <a:bodyPr/>
                    <a:lstStyle/>
                    <a:p>
                      <a:pPr algn="ctr"/>
                      <a:r>
                        <a:rPr lang="vi-VN" sz="1800">
                          <a:latin typeface="Times New Roman" panose="02020603050405020304" pitchFamily="18" charset="0"/>
                          <a:cs typeface="Times New Roman" panose="02020603050405020304" pitchFamily="18" charset="0"/>
                        </a:rPr>
                        <a:t>1002</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vi-VN" sz="1800">
                          <a:latin typeface="Times New Roman" panose="02020603050405020304" pitchFamily="18" charset="0"/>
                          <a:cs typeface="Times New Roman" panose="02020603050405020304" pitchFamily="18" charset="0"/>
                        </a:rPr>
                        <a:t>0,2%</a:t>
                      </a:r>
                      <a:endParaRPr lang="en-US" sz="1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9492399"/>
                  </a:ext>
                </a:extLst>
              </a:tr>
            </a:tbl>
          </a:graphicData>
        </a:graphic>
      </p:graphicFrame>
      <p:graphicFrame>
        <p:nvGraphicFramePr>
          <p:cNvPr id="7" name="Table 10">
            <a:extLst>
              <a:ext uri="{FF2B5EF4-FFF2-40B4-BE49-F238E27FC236}">
                <a16:creationId xmlns:a16="http://schemas.microsoft.com/office/drawing/2014/main" id="{796B0825-296F-6AE2-9E06-BD161B90C1E8}"/>
              </a:ext>
            </a:extLst>
          </p:cNvPr>
          <p:cNvGraphicFramePr>
            <a:graphicFrameLocks noGrp="1"/>
          </p:cNvGraphicFramePr>
          <p:nvPr>
            <p:extLst>
              <p:ext uri="{D42A27DB-BD31-4B8C-83A1-F6EECF244321}">
                <p14:modId xmlns:p14="http://schemas.microsoft.com/office/powerpoint/2010/main" val="3849192933"/>
              </p:ext>
            </p:extLst>
          </p:nvPr>
        </p:nvGraphicFramePr>
        <p:xfrm>
          <a:off x="365616" y="1759835"/>
          <a:ext cx="8025348" cy="1561985"/>
        </p:xfrm>
        <a:graphic>
          <a:graphicData uri="http://schemas.openxmlformats.org/drawingml/2006/table">
            <a:tbl>
              <a:tblPr firstRow="1" bandRow="1">
                <a:tableStyleId>{5C22544A-7EE6-4342-B048-85BDC9FD1C3A}</a:tableStyleId>
              </a:tblPr>
              <a:tblGrid>
                <a:gridCol w="801754">
                  <a:extLst>
                    <a:ext uri="{9D8B030D-6E8A-4147-A177-3AD203B41FA5}">
                      <a16:colId xmlns:a16="http://schemas.microsoft.com/office/drawing/2014/main" val="3998854459"/>
                    </a:ext>
                  </a:extLst>
                </a:gridCol>
                <a:gridCol w="2991666">
                  <a:extLst>
                    <a:ext uri="{9D8B030D-6E8A-4147-A177-3AD203B41FA5}">
                      <a16:colId xmlns:a16="http://schemas.microsoft.com/office/drawing/2014/main" val="3372512979"/>
                    </a:ext>
                  </a:extLst>
                </a:gridCol>
                <a:gridCol w="1695429">
                  <a:extLst>
                    <a:ext uri="{9D8B030D-6E8A-4147-A177-3AD203B41FA5}">
                      <a16:colId xmlns:a16="http://schemas.microsoft.com/office/drawing/2014/main" val="1462865521"/>
                    </a:ext>
                  </a:extLst>
                </a:gridCol>
                <a:gridCol w="1689335">
                  <a:extLst>
                    <a:ext uri="{9D8B030D-6E8A-4147-A177-3AD203B41FA5}">
                      <a16:colId xmlns:a16="http://schemas.microsoft.com/office/drawing/2014/main" val="156630398"/>
                    </a:ext>
                  </a:extLst>
                </a:gridCol>
                <a:gridCol w="847164">
                  <a:extLst>
                    <a:ext uri="{9D8B030D-6E8A-4147-A177-3AD203B41FA5}">
                      <a16:colId xmlns:a16="http://schemas.microsoft.com/office/drawing/2014/main" val="3496083406"/>
                    </a:ext>
                  </a:extLst>
                </a:gridCol>
              </a:tblGrid>
              <a:tr h="761234">
                <a:tc>
                  <a:txBody>
                    <a:bodyPr/>
                    <a:lstStyle/>
                    <a:p>
                      <a:pPr algn="ctr"/>
                      <a:r>
                        <a:rPr lang="en-US"/>
                        <a:t>Kết quả</a:t>
                      </a:r>
                    </a:p>
                  </a:txBody>
                  <a:tcPr anchor="ctr"/>
                </a:tc>
                <a:tc>
                  <a:txBody>
                    <a:bodyPr/>
                    <a:lstStyle/>
                    <a:p>
                      <a:pPr algn="ctr"/>
                      <a:r>
                        <a:rPr lang="en-US"/>
                        <a:t>Tham số</a:t>
                      </a:r>
                    </a:p>
                  </a:txBody>
                  <a:tcPr anchor="ctr"/>
                </a:tc>
                <a:tc>
                  <a:txBody>
                    <a:bodyPr/>
                    <a:lstStyle/>
                    <a:p>
                      <a:pPr algn="ctr"/>
                      <a:r>
                        <a:rPr lang="en-US"/>
                        <a:t>GT lý thuyết</a:t>
                      </a:r>
                    </a:p>
                  </a:txBody>
                  <a:tcPr anchor="ctr"/>
                </a:tc>
                <a:tc>
                  <a:txBody>
                    <a:bodyPr/>
                    <a:lstStyle/>
                    <a:p>
                      <a:pPr algn="ctr"/>
                      <a:r>
                        <a:rPr lang="en-US"/>
                        <a:t>GT mô phỏng </a:t>
                      </a:r>
                    </a:p>
                  </a:txBody>
                  <a:tcPr anchor="ctr"/>
                </a:tc>
                <a:tc>
                  <a:txBody>
                    <a:bodyPr/>
                    <a:lstStyle/>
                    <a:p>
                      <a:pPr algn="ctr"/>
                      <a:r>
                        <a:rPr lang="en-US"/>
                        <a:t>Sai số</a:t>
                      </a:r>
                    </a:p>
                  </a:txBody>
                  <a:tcPr anchor="ctr"/>
                </a:tc>
                <a:extLst>
                  <a:ext uri="{0D108BD9-81ED-4DB2-BD59-A6C34878D82A}">
                    <a16:rowId xmlns:a16="http://schemas.microsoft.com/office/drawing/2014/main" val="305514116"/>
                  </a:ext>
                </a:extLst>
              </a:tr>
              <a:tr h="434991">
                <a:tc>
                  <a:txBody>
                    <a:bodyPr/>
                    <a:lstStyle/>
                    <a:p>
                      <a:pPr algn="ctr"/>
                      <a:r>
                        <a:rPr lang="en-US" i="1" err="1">
                          <a:latin typeface="Times New Roman" panose="02020603050405020304" pitchFamily="18" charset="0"/>
                          <a:cs typeface="Times New Roman" panose="02020603050405020304" pitchFamily="18" charset="0"/>
                        </a:rPr>
                        <a:t>V</a:t>
                      </a:r>
                      <a:r>
                        <a:rPr lang="en-US" i="1" baseline="-25000" err="1">
                          <a:latin typeface="Times New Roman" panose="02020603050405020304" pitchFamily="18" charset="0"/>
                          <a:cs typeface="Times New Roman" panose="02020603050405020304" pitchFamily="18" charset="0"/>
                        </a:rPr>
                        <a:t>oc</a:t>
                      </a:r>
                      <a:endParaRPr lang="en-US" i="1">
                        <a:latin typeface="Times New Roman" panose="02020603050405020304" pitchFamily="18" charset="0"/>
                        <a:cs typeface="Times New Roman" panose="02020603050405020304" pitchFamily="18" charset="0"/>
                      </a:endParaRPr>
                    </a:p>
                  </a:txBody>
                  <a:tcPr anchor="ctr"/>
                </a:tc>
                <a:tc>
                  <a:txBody>
                    <a:bodyPr/>
                    <a:lstStyle/>
                    <a:p>
                      <a:pPr algn="ctr"/>
                      <a:r>
                        <a:rPr lang="en-US" err="1"/>
                        <a:t>Điện</a:t>
                      </a:r>
                      <a:r>
                        <a:rPr lang="en-US"/>
                        <a:t> </a:t>
                      </a:r>
                      <a:r>
                        <a:rPr lang="en-US" err="1"/>
                        <a:t>áp</a:t>
                      </a:r>
                      <a:r>
                        <a:rPr lang="en-US"/>
                        <a:t> </a:t>
                      </a:r>
                      <a:r>
                        <a:rPr lang="en-US" err="1"/>
                        <a:t>hở</a:t>
                      </a:r>
                      <a:r>
                        <a:rPr lang="en-US"/>
                        <a:t> </a:t>
                      </a:r>
                      <a:r>
                        <a:rPr lang="en-US" err="1"/>
                        <a:t>mạch</a:t>
                      </a:r>
                      <a:endParaRPr lang="en-US"/>
                    </a:p>
                  </a:txBody>
                  <a:tcPr anchor="ctr"/>
                </a:tc>
                <a:tc>
                  <a:txBody>
                    <a:bodyPr/>
                    <a:lstStyle/>
                    <a:p>
                      <a:pPr algn="ctr"/>
                      <a:r>
                        <a:rPr lang="en-US"/>
                        <a:t>220 V</a:t>
                      </a:r>
                    </a:p>
                  </a:txBody>
                  <a:tcPr anchor="ctr"/>
                </a:tc>
                <a:tc>
                  <a:txBody>
                    <a:bodyPr/>
                    <a:lstStyle/>
                    <a:p>
                      <a:pPr algn="ctr"/>
                      <a:r>
                        <a:rPr lang="vi-VN"/>
                        <a:t>220,2</a:t>
                      </a:r>
                      <a:r>
                        <a:rPr lang="en-US"/>
                        <a:t> V</a:t>
                      </a:r>
                    </a:p>
                  </a:txBody>
                  <a:tcPr anchor="ctr"/>
                </a:tc>
                <a:tc>
                  <a:txBody>
                    <a:bodyPr/>
                    <a:lstStyle/>
                    <a:p>
                      <a:pPr algn="ctr"/>
                      <a:r>
                        <a:rPr lang="en-US"/>
                        <a:t>0,09%</a:t>
                      </a:r>
                    </a:p>
                  </a:txBody>
                  <a:tcPr anchor="ctr"/>
                </a:tc>
                <a:extLst>
                  <a:ext uri="{0D108BD9-81ED-4DB2-BD59-A6C34878D82A}">
                    <a16:rowId xmlns:a16="http://schemas.microsoft.com/office/drawing/2014/main" val="2136588521"/>
                  </a:ext>
                </a:extLst>
              </a:tr>
              <a:tr h="217496">
                <a:tc>
                  <a:txBody>
                    <a:bodyPr/>
                    <a:lstStyle/>
                    <a:p>
                      <a:pPr algn="ctr"/>
                      <a:r>
                        <a:rPr lang="en-US" i="1">
                          <a:latin typeface="Times New Roman" panose="02020603050405020304" pitchFamily="18" charset="0"/>
                          <a:cs typeface="Times New Roman" panose="02020603050405020304" pitchFamily="18" charset="0"/>
                        </a:rPr>
                        <a:t>t</a:t>
                      </a:r>
                      <a:r>
                        <a:rPr lang="en-US" i="1" baseline="-25000">
                          <a:latin typeface="Times New Roman" panose="02020603050405020304" pitchFamily="18" charset="0"/>
                          <a:cs typeface="Times New Roman" panose="02020603050405020304" pitchFamily="18" charset="0"/>
                        </a:rPr>
                        <a:t>rise</a:t>
                      </a:r>
                      <a:endParaRPr lang="en-US" i="1">
                        <a:latin typeface="Times New Roman" panose="02020603050405020304" pitchFamily="18" charset="0"/>
                        <a:cs typeface="Times New Roman" panose="02020603050405020304" pitchFamily="18" charset="0"/>
                      </a:endParaRPr>
                    </a:p>
                  </a:txBody>
                  <a:tcPr anchor="ctr"/>
                </a:tc>
                <a:tc>
                  <a:txBody>
                    <a:bodyPr/>
                    <a:lstStyle/>
                    <a:p>
                      <a:pPr algn="ctr"/>
                      <a:r>
                        <a:rPr lang="en-US" err="1"/>
                        <a:t>Thời</a:t>
                      </a:r>
                      <a:r>
                        <a:rPr lang="en-US"/>
                        <a:t> </a:t>
                      </a:r>
                      <a:r>
                        <a:rPr lang="en-US" err="1"/>
                        <a:t>gian</a:t>
                      </a:r>
                      <a:r>
                        <a:rPr lang="en-US"/>
                        <a:t> </a:t>
                      </a:r>
                      <a:r>
                        <a:rPr lang="en-US" err="1"/>
                        <a:t>tăng</a:t>
                      </a:r>
                      <a:r>
                        <a:rPr lang="en-US"/>
                        <a:t> </a:t>
                      </a:r>
                      <a:r>
                        <a:rPr lang="en-US" err="1"/>
                        <a:t>điện</a:t>
                      </a:r>
                      <a:r>
                        <a:rPr lang="en-US"/>
                        <a:t> </a:t>
                      </a:r>
                      <a:r>
                        <a:rPr lang="en-US" err="1"/>
                        <a:t>áp</a:t>
                      </a: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err="1">
                          <a:latin typeface="Times New Roman" panose="02020603050405020304" pitchFamily="18" charset="0"/>
                          <a:cs typeface="Times New Roman" panose="02020603050405020304" pitchFamily="18" charset="0"/>
                        </a:rPr>
                        <a:t>t</a:t>
                      </a:r>
                      <a:r>
                        <a:rPr lang="en-US" i="1" baseline="-25000" err="1">
                          <a:latin typeface="Times New Roman" panose="02020603050405020304" pitchFamily="18" charset="0"/>
                          <a:cs typeface="Times New Roman" panose="02020603050405020304" pitchFamily="18" charset="0"/>
                        </a:rPr>
                        <a:t>rise</a:t>
                      </a:r>
                      <a:r>
                        <a:rPr lang="en-US" i="1" baseline="-25000">
                          <a:latin typeface="Times New Roman" panose="02020603050405020304" pitchFamily="18" charset="0"/>
                          <a:cs typeface="Times New Roman" panose="02020603050405020304" pitchFamily="18" charset="0"/>
                        </a:rPr>
                        <a:t>  </a:t>
                      </a:r>
                      <a:r>
                        <a:rPr lang="en-US"/>
                        <a:t>&lt; 0.1s</a:t>
                      </a:r>
                    </a:p>
                  </a:txBody>
                  <a:tcPr anchor="ctr"/>
                </a:tc>
                <a:tc>
                  <a:txBody>
                    <a:bodyPr/>
                    <a:lstStyle/>
                    <a:p>
                      <a:pPr algn="ctr"/>
                      <a:r>
                        <a:rPr lang="en-US"/>
                        <a:t>0,07s</a:t>
                      </a:r>
                    </a:p>
                  </a:txBody>
                  <a:tcPr anchor="ctr"/>
                </a:tc>
                <a:tc>
                  <a:txBody>
                    <a:bodyPr/>
                    <a:lstStyle/>
                    <a:p>
                      <a:pPr algn="ctr"/>
                      <a:r>
                        <a:rPr lang="en-US"/>
                        <a:t>0</a:t>
                      </a:r>
                    </a:p>
                  </a:txBody>
                  <a:tcPr anchor="ctr"/>
                </a:tc>
                <a:extLst>
                  <a:ext uri="{0D108BD9-81ED-4DB2-BD59-A6C34878D82A}">
                    <a16:rowId xmlns:a16="http://schemas.microsoft.com/office/drawing/2014/main" val="2469670652"/>
                  </a:ext>
                </a:extLst>
              </a:tr>
            </a:tbl>
          </a:graphicData>
        </a:graphic>
      </p:graphicFrame>
      <p:sp>
        <p:nvSpPr>
          <p:cNvPr id="8" name="TextBox 3">
            <a:extLst>
              <a:ext uri="{FF2B5EF4-FFF2-40B4-BE49-F238E27FC236}">
                <a16:creationId xmlns:a16="http://schemas.microsoft.com/office/drawing/2014/main" id="{49505360-3CE6-3460-A285-0F371FAC8901}"/>
              </a:ext>
            </a:extLst>
          </p:cNvPr>
          <p:cNvSpPr txBox="1"/>
          <p:nvPr/>
        </p:nvSpPr>
        <p:spPr>
          <a:xfrm>
            <a:off x="7466141" y="3536181"/>
            <a:ext cx="4360243" cy="1938992"/>
          </a:xfrm>
          <a:prstGeom prst="rect">
            <a:avLst/>
          </a:prstGeom>
          <a:noFill/>
        </p:spPr>
        <p:txBody>
          <a:bodyPr wrap="square" rtlCol="0">
            <a:spAutoFit/>
          </a:bodyPr>
          <a:lstStyle/>
          <a:p>
            <a:r>
              <a:rPr lang="en-US" sz="2000" b="1" err="1">
                <a:latin typeface="Times New Roman" panose="02020603050405020304" pitchFamily="18" charset="0"/>
                <a:cs typeface="Times New Roman" panose="02020603050405020304" pitchFamily="18" charset="0"/>
              </a:rPr>
              <a:t>Nhận</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xét</a:t>
            </a:r>
            <a:r>
              <a:rPr lang="en-US" sz="2000" b="1">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Ta </a:t>
            </a:r>
            <a:r>
              <a:rPr lang="en-US" sz="2000" err="1">
                <a:latin typeface="Times New Roman" panose="02020603050405020304" pitchFamily="18" charset="0"/>
                <a:cs typeface="Times New Roman" panose="02020603050405020304" pitchFamily="18" charset="0"/>
              </a:rPr>
              <a:t>thấy</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tổng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công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suất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đầu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ra</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của</a:t>
            </a:r>
            <a:r>
              <a:rPr lang="en-US" sz="2000">
                <a:latin typeface="Times New Roman" panose="02020603050405020304" pitchFamily="18" charset="0"/>
                <a:cs typeface="Times New Roman" panose="02020603050405020304" pitchFamily="18" charset="0"/>
              </a:rPr>
              <a:t> 2 </a:t>
            </a:r>
            <a:r>
              <a:rPr lang="en-US" sz="2000" err="1">
                <a:latin typeface="Times New Roman" panose="02020603050405020304" pitchFamily="18" charset="0"/>
                <a:cs typeface="Times New Roman" panose="02020603050405020304" pitchFamily="18" charset="0"/>
              </a:rPr>
              <a:t>bộ</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nghịch</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lưu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bám</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sát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giá</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trị</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đặt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sai</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số</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nhỏ</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đảm</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bảo</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tỷ</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lệ</a:t>
            </a:r>
            <a:r>
              <a:rPr lang="en-US" sz="2000">
                <a:latin typeface="Times New Roman" panose="02020603050405020304" pitchFamily="18" charset="0"/>
                <a:cs typeface="Times New Roman" panose="02020603050405020304" pitchFamily="18" charset="0"/>
              </a:rPr>
              <a:t> chia </a:t>
            </a:r>
            <a:r>
              <a:rPr lang="en-US" sz="2000" err="1">
                <a:latin typeface="Times New Roman" panose="02020603050405020304" pitchFamily="18" charset="0"/>
                <a:cs typeface="Times New Roman" panose="02020603050405020304" pitchFamily="18" charset="0"/>
              </a:rPr>
              <a:t>sẻ</a:t>
            </a:r>
            <a:r>
              <a:rPr lang="en-US" sz="2000">
                <a:latin typeface="Times New Roman" panose="02020603050405020304" pitchFamily="18" charset="0"/>
                <a:cs typeface="Times New Roman" panose="02020603050405020304" pitchFamily="18" charset="0"/>
              </a:rPr>
              <a:t> 1:1</a:t>
            </a:r>
          </a:p>
          <a:p>
            <a:pPr marL="342900" indent="-342900">
              <a:buFont typeface="Arial" panose="020B0604020202020204" pitchFamily="34" charset="0"/>
              <a:buChar char="•"/>
            </a:pPr>
            <a:r>
              <a:rPr lang="en-US" sz="2000" err="1">
                <a:latin typeface="Times New Roman" panose="02020603050405020304" pitchFamily="18" charset="0"/>
                <a:cs typeface="Times New Roman" panose="02020603050405020304" pitchFamily="18" charset="0"/>
              </a:rPr>
              <a:t>Điện</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áp</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đầu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ra</a:t>
            </a:r>
            <a:r>
              <a:rPr lang="en-US" sz="2000">
                <a:latin typeface="Times New Roman" panose="02020603050405020304" pitchFamily="18" charset="0"/>
                <a:cs typeface="Times New Roman" panose="02020603050405020304" pitchFamily="18" charset="0"/>
              </a:rPr>
              <a:t> 2 </a:t>
            </a:r>
            <a:r>
              <a:rPr lang="en-US" sz="2000" err="1">
                <a:latin typeface="Times New Roman" panose="02020603050405020304" pitchFamily="18" charset="0"/>
                <a:cs typeface="Times New Roman" panose="02020603050405020304" pitchFamily="18" charset="0"/>
              </a:rPr>
              <a:t>bộ</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không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thay</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đổi</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trong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suốt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quá</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trình</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mô</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phỏng</a:t>
            </a:r>
            <a:endParaRPr lang="en-US" sz="2000">
              <a:latin typeface="Times New Roman" panose="02020603050405020304" pitchFamily="18" charset="0"/>
              <a:cs typeface="Times New Roman" panose="02020603050405020304" pitchFamily="18" charset="0"/>
            </a:endParaRPr>
          </a:p>
        </p:txBody>
      </p:sp>
      <p:sp>
        <p:nvSpPr>
          <p:cNvPr id="5" name="Hộp Văn bản 4">
            <a:extLst>
              <a:ext uri="{FF2B5EF4-FFF2-40B4-BE49-F238E27FC236}">
                <a16:creationId xmlns:a16="http://schemas.microsoft.com/office/drawing/2014/main" id="{35454152-A9D5-40F9-D886-1CD08E980506}"/>
              </a:ext>
            </a:extLst>
          </p:cNvPr>
          <p:cNvSpPr txBox="1"/>
          <p:nvPr/>
        </p:nvSpPr>
        <p:spPr>
          <a:xfrm>
            <a:off x="510284" y="833516"/>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25100186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CBC65-32D5-AC1C-5593-BDFF46E35C0B}"/>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6DC4AB82-89F9-8BAF-FD22-FEF3B68AA16C}"/>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AA78B8F8-0B91-4552-A592-B5925B7E0D1A}"/>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0A84DE27-182C-E18D-567E-3FD0855C8B66}"/>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5" name="TextBox 4">
            <a:extLst>
              <a:ext uri="{FF2B5EF4-FFF2-40B4-BE49-F238E27FC236}">
                <a16:creationId xmlns:a16="http://schemas.microsoft.com/office/drawing/2014/main" id="{94EF1B67-9A60-4CBA-0A90-024D45C91650}"/>
              </a:ext>
            </a:extLst>
          </p:cNvPr>
          <p:cNvSpPr txBox="1"/>
          <p:nvPr/>
        </p:nvSpPr>
        <p:spPr>
          <a:xfrm>
            <a:off x="504825" y="1146446"/>
            <a:ext cx="11421286" cy="646331"/>
          </a:xfrm>
          <a:prstGeom prst="rect">
            <a:avLst/>
          </a:prstGeom>
          <a:noFill/>
        </p:spPr>
        <p:txBody>
          <a:bodyPr wrap="square" rtlCol="0">
            <a:spAutoFit/>
          </a:bodyPr>
          <a:lstStyle/>
          <a:p>
            <a:r>
              <a:rPr lang="vi-VN"/>
              <a:t>Kịch bản 3: Mô phỏng 2 inverter làm việc song song với tải RL công suất 4000 W + 2000 VA. Tỉ lệ chia sẻ công suất 1:1. Tại 0.3s đóng thêm tải RL có công suất tương tự.</a:t>
            </a:r>
            <a:endParaRPr lang="en-ID"/>
          </a:p>
        </p:txBody>
      </p:sp>
      <p:pic>
        <p:nvPicPr>
          <p:cNvPr id="7" name="Hình ảnh 6">
            <a:extLst>
              <a:ext uri="{FF2B5EF4-FFF2-40B4-BE49-F238E27FC236}">
                <a16:creationId xmlns:a16="http://schemas.microsoft.com/office/drawing/2014/main" id="{5AFE39D4-248F-3295-7F4D-D3728B988C00}"/>
              </a:ext>
            </a:extLst>
          </p:cNvPr>
          <p:cNvPicPr>
            <a:picLocks noChangeAspect="1"/>
          </p:cNvPicPr>
          <p:nvPr/>
        </p:nvPicPr>
        <p:blipFill>
          <a:blip r:embed="rId2"/>
          <a:stretch>
            <a:fillRect/>
          </a:stretch>
        </p:blipFill>
        <p:spPr>
          <a:xfrm>
            <a:off x="1438844" y="1863662"/>
            <a:ext cx="8806962" cy="4706105"/>
          </a:xfrm>
          <a:prstGeom prst="rect">
            <a:avLst/>
          </a:prstGeom>
        </p:spPr>
      </p:pic>
      <p:sp>
        <p:nvSpPr>
          <p:cNvPr id="6" name="Hộp Văn bản 5">
            <a:extLst>
              <a:ext uri="{FF2B5EF4-FFF2-40B4-BE49-F238E27FC236}">
                <a16:creationId xmlns:a16="http://schemas.microsoft.com/office/drawing/2014/main" id="{E4CB3F36-E7C1-1ADA-C65D-D19676EF7330}"/>
              </a:ext>
            </a:extLst>
          </p:cNvPr>
          <p:cNvSpPr txBox="1"/>
          <p:nvPr/>
        </p:nvSpPr>
        <p:spPr>
          <a:xfrm>
            <a:off x="510284" y="833516"/>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30828247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BDA37-D2EB-924A-843F-0C82C7BD1E16}"/>
            </a:ext>
          </a:extLst>
        </p:cNvPr>
        <p:cNvGrpSpPr/>
        <p:nvPr/>
      </p:nvGrpSpPr>
      <p:grpSpPr>
        <a:xfrm>
          <a:off x="0" y="0"/>
          <a:ext cx="0" cy="0"/>
          <a:chOff x="0" y="0"/>
          <a:chExt cx="0" cy="0"/>
        </a:xfrm>
      </p:grpSpPr>
      <p:pic>
        <p:nvPicPr>
          <p:cNvPr id="8" name="Hình ảnh 7">
            <a:extLst>
              <a:ext uri="{FF2B5EF4-FFF2-40B4-BE49-F238E27FC236}">
                <a16:creationId xmlns:a16="http://schemas.microsoft.com/office/drawing/2014/main" id="{BB0C11BF-B83B-7486-BD48-258D64AE0472}"/>
              </a:ext>
            </a:extLst>
          </p:cNvPr>
          <p:cNvPicPr>
            <a:picLocks noChangeAspect="1"/>
          </p:cNvPicPr>
          <p:nvPr/>
        </p:nvPicPr>
        <p:blipFill>
          <a:blip r:embed="rId2"/>
          <a:stretch>
            <a:fillRect/>
          </a:stretch>
        </p:blipFill>
        <p:spPr>
          <a:xfrm>
            <a:off x="350198" y="1160896"/>
            <a:ext cx="5583674" cy="2631888"/>
          </a:xfrm>
          <a:prstGeom prst="rect">
            <a:avLst/>
          </a:prstGeom>
        </p:spPr>
      </p:pic>
      <p:pic>
        <p:nvPicPr>
          <p:cNvPr id="5" name="Hình ảnh 4">
            <a:extLst>
              <a:ext uri="{FF2B5EF4-FFF2-40B4-BE49-F238E27FC236}">
                <a16:creationId xmlns:a16="http://schemas.microsoft.com/office/drawing/2014/main" id="{AA01975B-E5C9-1E30-F25B-0395CC656211}"/>
              </a:ext>
            </a:extLst>
          </p:cNvPr>
          <p:cNvPicPr>
            <a:picLocks noChangeAspect="1"/>
          </p:cNvPicPr>
          <p:nvPr/>
        </p:nvPicPr>
        <p:blipFill>
          <a:blip r:embed="rId3"/>
          <a:stretch>
            <a:fillRect/>
          </a:stretch>
        </p:blipFill>
        <p:spPr>
          <a:xfrm>
            <a:off x="6283632" y="1085815"/>
            <a:ext cx="5736624" cy="2706969"/>
          </a:xfrm>
          <a:prstGeom prst="rect">
            <a:avLst/>
          </a:prstGeom>
        </p:spPr>
      </p:pic>
      <p:grpSp>
        <p:nvGrpSpPr>
          <p:cNvPr id="2" name="Group 17">
            <a:extLst>
              <a:ext uri="{FF2B5EF4-FFF2-40B4-BE49-F238E27FC236}">
                <a16:creationId xmlns:a16="http://schemas.microsoft.com/office/drawing/2014/main" id="{1D703AB4-F25B-348C-74BE-1BF20FFE4E5D}"/>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831A1B9E-EC62-E218-3271-4768F15FCFF4}"/>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202C0820-1354-4C44-4BE0-BEDBAB395C5F}"/>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cxnSp>
        <p:nvCxnSpPr>
          <p:cNvPr id="7" name="Đường nối Thẳng 6">
            <a:extLst>
              <a:ext uri="{FF2B5EF4-FFF2-40B4-BE49-F238E27FC236}">
                <a16:creationId xmlns:a16="http://schemas.microsoft.com/office/drawing/2014/main" id="{9E98B609-9C6F-9C41-0169-0B176943C88C}"/>
              </a:ext>
            </a:extLst>
          </p:cNvPr>
          <p:cNvCxnSpPr/>
          <p:nvPr/>
        </p:nvCxnSpPr>
        <p:spPr>
          <a:xfrm>
            <a:off x="6186792" y="941029"/>
            <a:ext cx="0" cy="5625911"/>
          </a:xfrm>
          <a:prstGeom prst="line">
            <a:avLst/>
          </a:prstGeom>
        </p:spPr>
        <p:style>
          <a:lnRef idx="1">
            <a:schemeClr val="accent1"/>
          </a:lnRef>
          <a:fillRef idx="0">
            <a:schemeClr val="accent1"/>
          </a:fillRef>
          <a:effectRef idx="0">
            <a:schemeClr val="accent1"/>
          </a:effectRef>
          <a:fontRef idx="minor">
            <a:schemeClr val="tx1"/>
          </a:fontRef>
        </p:style>
      </p:cxnSp>
      <p:sp>
        <p:nvSpPr>
          <p:cNvPr id="9" name="Hình chữ nhật 8">
            <a:extLst>
              <a:ext uri="{FF2B5EF4-FFF2-40B4-BE49-F238E27FC236}">
                <a16:creationId xmlns:a16="http://schemas.microsoft.com/office/drawing/2014/main" id="{989BD14F-E094-55F8-000A-3046B0B99134}"/>
              </a:ext>
            </a:extLst>
          </p:cNvPr>
          <p:cNvSpPr/>
          <p:nvPr/>
        </p:nvSpPr>
        <p:spPr>
          <a:xfrm>
            <a:off x="2855764" y="1241290"/>
            <a:ext cx="618125" cy="58366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vi-VN"/>
          </a:p>
        </p:txBody>
      </p:sp>
      <p:cxnSp>
        <p:nvCxnSpPr>
          <p:cNvPr id="11" name="Đường kết nối Mũi tên Thẳng 10">
            <a:extLst>
              <a:ext uri="{FF2B5EF4-FFF2-40B4-BE49-F238E27FC236}">
                <a16:creationId xmlns:a16="http://schemas.microsoft.com/office/drawing/2014/main" id="{542F3E2C-2584-E731-06C2-8E348D174790}"/>
              </a:ext>
            </a:extLst>
          </p:cNvPr>
          <p:cNvCxnSpPr>
            <a:cxnSpLocks/>
            <a:stCxn id="9" idx="1"/>
          </p:cNvCxnSpPr>
          <p:nvPr/>
        </p:nvCxnSpPr>
        <p:spPr>
          <a:xfrm flipH="1">
            <a:off x="440082" y="1533120"/>
            <a:ext cx="2415682" cy="2920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Đường kết nối Mũi tên Thẳng 11">
            <a:extLst>
              <a:ext uri="{FF2B5EF4-FFF2-40B4-BE49-F238E27FC236}">
                <a16:creationId xmlns:a16="http://schemas.microsoft.com/office/drawing/2014/main" id="{7EB87B90-C596-AB4A-16F1-731244093A2E}"/>
              </a:ext>
            </a:extLst>
          </p:cNvPr>
          <p:cNvCxnSpPr>
            <a:cxnSpLocks/>
            <a:stCxn id="9" idx="3"/>
          </p:cNvCxnSpPr>
          <p:nvPr/>
        </p:nvCxnSpPr>
        <p:spPr>
          <a:xfrm>
            <a:off x="3473889" y="1533120"/>
            <a:ext cx="2214914" cy="3006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Hộp Văn bản 16">
            <a:extLst>
              <a:ext uri="{FF2B5EF4-FFF2-40B4-BE49-F238E27FC236}">
                <a16:creationId xmlns:a16="http://schemas.microsoft.com/office/drawing/2014/main" id="{30C146CF-E164-FD25-F4AD-3F71A8A21D49}"/>
              </a:ext>
            </a:extLst>
          </p:cNvPr>
          <p:cNvSpPr txBox="1"/>
          <p:nvPr/>
        </p:nvSpPr>
        <p:spPr>
          <a:xfrm>
            <a:off x="1559579" y="3801215"/>
            <a:ext cx="2978545" cy="369332"/>
          </a:xfrm>
          <a:prstGeom prst="rect">
            <a:avLst/>
          </a:prstGeom>
          <a:noFill/>
        </p:spPr>
        <p:txBody>
          <a:bodyPr wrap="square">
            <a:spAutoFit/>
          </a:bodyPr>
          <a:lstStyle/>
          <a:p>
            <a:pPr algn="ctr"/>
            <a:r>
              <a:rPr lang="vi-VN"/>
              <a:t>Đáp ứng điện áp đầu ra</a:t>
            </a:r>
            <a:endParaRPr lang="en-ID"/>
          </a:p>
        </p:txBody>
      </p:sp>
      <p:sp>
        <p:nvSpPr>
          <p:cNvPr id="29" name="Hộp Văn bản 28">
            <a:extLst>
              <a:ext uri="{FF2B5EF4-FFF2-40B4-BE49-F238E27FC236}">
                <a16:creationId xmlns:a16="http://schemas.microsoft.com/office/drawing/2014/main" id="{98FD7FC9-9FFA-94E2-DDDA-054A9C2DEF8F}"/>
              </a:ext>
            </a:extLst>
          </p:cNvPr>
          <p:cNvSpPr txBox="1"/>
          <p:nvPr/>
        </p:nvSpPr>
        <p:spPr>
          <a:xfrm>
            <a:off x="7185985" y="3801215"/>
            <a:ext cx="3931919" cy="369332"/>
          </a:xfrm>
          <a:prstGeom prst="rect">
            <a:avLst/>
          </a:prstGeom>
          <a:noFill/>
        </p:spPr>
        <p:txBody>
          <a:bodyPr wrap="square">
            <a:spAutoFit/>
          </a:bodyPr>
          <a:lstStyle/>
          <a:p>
            <a:pPr algn="ctr"/>
            <a:r>
              <a:rPr lang="vi-VN"/>
              <a:t>Đáp ứng dòng điện trên cuộn cảm</a:t>
            </a:r>
            <a:endParaRPr lang="en-ID"/>
          </a:p>
        </p:txBody>
      </p:sp>
      <p:pic>
        <p:nvPicPr>
          <p:cNvPr id="16" name="Hình ảnh 15">
            <a:extLst>
              <a:ext uri="{FF2B5EF4-FFF2-40B4-BE49-F238E27FC236}">
                <a16:creationId xmlns:a16="http://schemas.microsoft.com/office/drawing/2014/main" id="{2AFFB64F-B1C4-610F-70F9-41C343BCA3BE}"/>
              </a:ext>
            </a:extLst>
          </p:cNvPr>
          <p:cNvPicPr>
            <a:picLocks noChangeAspect="1"/>
          </p:cNvPicPr>
          <p:nvPr/>
        </p:nvPicPr>
        <p:blipFill>
          <a:blip r:embed="rId4"/>
          <a:stretch>
            <a:fillRect/>
          </a:stretch>
        </p:blipFill>
        <p:spPr>
          <a:xfrm>
            <a:off x="617499" y="4248153"/>
            <a:ext cx="4953722" cy="2327217"/>
          </a:xfrm>
          <a:prstGeom prst="rect">
            <a:avLst/>
          </a:prstGeom>
        </p:spPr>
      </p:pic>
      <p:sp>
        <p:nvSpPr>
          <p:cNvPr id="6" name="Hộp Văn bản 5">
            <a:extLst>
              <a:ext uri="{FF2B5EF4-FFF2-40B4-BE49-F238E27FC236}">
                <a16:creationId xmlns:a16="http://schemas.microsoft.com/office/drawing/2014/main" id="{2E59AF70-D9D6-3824-B81B-A3FBB483AAF7}"/>
              </a:ext>
            </a:extLst>
          </p:cNvPr>
          <p:cNvSpPr txBox="1"/>
          <p:nvPr/>
        </p:nvSpPr>
        <p:spPr>
          <a:xfrm>
            <a:off x="510284" y="833516"/>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26470548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1AC9-1770-D091-0DEF-DDBAC446FC1E}"/>
            </a:ext>
          </a:extLst>
        </p:cNvPr>
        <p:cNvGrpSpPr/>
        <p:nvPr/>
      </p:nvGrpSpPr>
      <p:grpSpPr>
        <a:xfrm>
          <a:off x="0" y="0"/>
          <a:ext cx="0" cy="0"/>
          <a:chOff x="0" y="0"/>
          <a:chExt cx="0" cy="0"/>
        </a:xfrm>
      </p:grpSpPr>
      <p:pic>
        <p:nvPicPr>
          <p:cNvPr id="10" name="Hình ảnh 9">
            <a:extLst>
              <a:ext uri="{FF2B5EF4-FFF2-40B4-BE49-F238E27FC236}">
                <a16:creationId xmlns:a16="http://schemas.microsoft.com/office/drawing/2014/main" id="{3EDB3357-4137-B881-B7B2-449BB0E4AC78}"/>
              </a:ext>
            </a:extLst>
          </p:cNvPr>
          <p:cNvPicPr>
            <a:picLocks noChangeAspect="1"/>
          </p:cNvPicPr>
          <p:nvPr/>
        </p:nvPicPr>
        <p:blipFill>
          <a:blip r:embed="rId2"/>
          <a:stretch>
            <a:fillRect/>
          </a:stretch>
        </p:blipFill>
        <p:spPr>
          <a:xfrm>
            <a:off x="296924" y="1610531"/>
            <a:ext cx="6457999" cy="3060823"/>
          </a:xfrm>
          <a:prstGeom prst="rect">
            <a:avLst/>
          </a:prstGeom>
        </p:spPr>
      </p:pic>
      <p:grpSp>
        <p:nvGrpSpPr>
          <p:cNvPr id="2" name="Group 17">
            <a:extLst>
              <a:ext uri="{FF2B5EF4-FFF2-40B4-BE49-F238E27FC236}">
                <a16:creationId xmlns:a16="http://schemas.microsoft.com/office/drawing/2014/main" id="{DDBE3CB6-707F-E5B8-6C8D-C669AE0707D7}"/>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B5564828-A982-CF80-4D53-3F55CF8ED2A6}"/>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FF4080C8-4753-B270-E1AE-CEBE62446BA2}"/>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6" name="Hộp Văn bản 5">
            <a:extLst>
              <a:ext uri="{FF2B5EF4-FFF2-40B4-BE49-F238E27FC236}">
                <a16:creationId xmlns:a16="http://schemas.microsoft.com/office/drawing/2014/main" id="{02E19B74-0E1B-4122-0DC8-1BDF23EA922A}"/>
              </a:ext>
            </a:extLst>
          </p:cNvPr>
          <p:cNvSpPr txBox="1"/>
          <p:nvPr/>
        </p:nvSpPr>
        <p:spPr>
          <a:xfrm>
            <a:off x="296924" y="5748912"/>
            <a:ext cx="4968240" cy="646331"/>
          </a:xfrm>
          <a:prstGeom prst="rect">
            <a:avLst/>
          </a:prstGeom>
          <a:noFill/>
        </p:spPr>
        <p:txBody>
          <a:bodyPr wrap="square">
            <a:spAutoFit/>
          </a:bodyPr>
          <a:lstStyle/>
          <a:p>
            <a:pPr algn="ctr"/>
            <a:r>
              <a:rPr lang="vi-VN"/>
              <a:t>Công suất tác dụng và công suất phản kháng trên 2 bộ nghịch lưu</a:t>
            </a:r>
            <a:endParaRPr lang="en-ID"/>
          </a:p>
        </p:txBody>
      </p:sp>
      <p:pic>
        <p:nvPicPr>
          <p:cNvPr id="9" name="Hình ảnh 8">
            <a:extLst>
              <a:ext uri="{FF2B5EF4-FFF2-40B4-BE49-F238E27FC236}">
                <a16:creationId xmlns:a16="http://schemas.microsoft.com/office/drawing/2014/main" id="{878B2DAD-4ACA-5AC2-84C7-38DDAE7638DB}"/>
              </a:ext>
            </a:extLst>
          </p:cNvPr>
          <p:cNvPicPr>
            <a:picLocks noChangeAspect="1"/>
          </p:cNvPicPr>
          <p:nvPr/>
        </p:nvPicPr>
        <p:blipFill>
          <a:blip r:embed="rId3"/>
          <a:stretch>
            <a:fillRect/>
          </a:stretch>
        </p:blipFill>
        <p:spPr>
          <a:xfrm>
            <a:off x="5846322" y="3795917"/>
            <a:ext cx="6186413" cy="2903103"/>
          </a:xfrm>
          <a:prstGeom prst="rect">
            <a:avLst/>
          </a:prstGeom>
        </p:spPr>
      </p:pic>
      <p:sp>
        <p:nvSpPr>
          <p:cNvPr id="5" name="Hộp Văn bản 4">
            <a:extLst>
              <a:ext uri="{FF2B5EF4-FFF2-40B4-BE49-F238E27FC236}">
                <a16:creationId xmlns:a16="http://schemas.microsoft.com/office/drawing/2014/main" id="{2DBF45FD-553D-8614-8C39-854A84FE76CA}"/>
              </a:ext>
            </a:extLst>
          </p:cNvPr>
          <p:cNvSpPr txBox="1"/>
          <p:nvPr/>
        </p:nvSpPr>
        <p:spPr>
          <a:xfrm>
            <a:off x="510284" y="833516"/>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29744392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F9174-0BDD-E686-2947-9DE790A868E2}"/>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40B97039-42F2-0BCF-E20D-378113C59B97}"/>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41D15D0-B59F-66D4-DD81-D2D4B287EACB}"/>
              </a:ext>
            </a:extLst>
          </p:cNvPr>
          <p:cNvSpPr>
            <a:spLocks noGrp="1"/>
          </p:cNvSpPr>
          <p:nvPr>
            <p:ph type="sldNum" sz="quarter" idx="12"/>
          </p:nvPr>
        </p:nvSpPr>
        <p:spPr/>
        <p:txBody>
          <a:bodyPr/>
          <a:lstStyle/>
          <a:p>
            <a:fld id="{931DD963-FD40-4A6D-88A9-402A489E81DE}" type="slidenum">
              <a:rPr lang="en-US" smtClean="0"/>
              <a:t>61</a:t>
            </a:fld>
            <a:endParaRPr lang="en-US"/>
          </a:p>
        </p:txBody>
      </p:sp>
      <p:graphicFrame>
        <p:nvGraphicFramePr>
          <p:cNvPr id="7" name="Object 6">
            <a:extLst>
              <a:ext uri="{FF2B5EF4-FFF2-40B4-BE49-F238E27FC236}">
                <a16:creationId xmlns:a16="http://schemas.microsoft.com/office/drawing/2014/main" id="{A3AD18B8-67A2-2B58-83EC-55BE80F49037}"/>
              </a:ext>
            </a:extLst>
          </p:cNvPr>
          <p:cNvGraphicFramePr>
            <a:graphicFrameLocks noChangeAspect="1"/>
          </p:cNvGraphicFramePr>
          <p:nvPr/>
        </p:nvGraphicFramePr>
        <p:xfrm>
          <a:off x="4394200" y="2387600"/>
          <a:ext cx="914400" cy="198438"/>
        </p:xfrm>
        <a:graphic>
          <a:graphicData uri="http://schemas.openxmlformats.org/presentationml/2006/ole">
            <mc:AlternateContent xmlns:mc="http://schemas.openxmlformats.org/markup-compatibility/2006">
              <mc:Choice xmlns:v="urn:schemas-microsoft-com:vml" Requires="v">
                <p:oleObj name="Equation" r:id="rId2" imgW="914400" imgH="198720" progId="Equation.DSMT4">
                  <p:embed/>
                </p:oleObj>
              </mc:Choice>
              <mc:Fallback>
                <p:oleObj name="Equation" r:id="rId2" imgW="914400" imgH="198720" progId="Equation.DSMT4">
                  <p:embed/>
                  <p:pic>
                    <p:nvPicPr>
                      <p:cNvPr id="7" name="Object 6">
                        <a:extLst>
                          <a:ext uri="{FF2B5EF4-FFF2-40B4-BE49-F238E27FC236}">
                            <a16:creationId xmlns:a16="http://schemas.microsoft.com/office/drawing/2014/main" id="{A3AD18B8-67A2-2B58-83EC-55BE80F49037}"/>
                          </a:ext>
                        </a:extLst>
                      </p:cNvPr>
                      <p:cNvPicPr/>
                      <p:nvPr/>
                    </p:nvPicPr>
                    <p:blipFill>
                      <a:blip r:embed="rId3"/>
                      <a:stretch>
                        <a:fillRect/>
                      </a:stretch>
                    </p:blipFill>
                    <p:spPr>
                      <a:xfrm>
                        <a:off x="4394200" y="2387600"/>
                        <a:ext cx="914400" cy="198438"/>
                      </a:xfrm>
                      <a:prstGeom prst="rect">
                        <a:avLst/>
                      </a:prstGeom>
                    </p:spPr>
                  </p:pic>
                </p:oleObj>
              </mc:Fallback>
            </mc:AlternateContent>
          </a:graphicData>
        </a:graphic>
      </p:graphicFrame>
      <p:graphicFrame>
        <p:nvGraphicFramePr>
          <p:cNvPr id="14" name="Table 13">
            <a:extLst>
              <a:ext uri="{FF2B5EF4-FFF2-40B4-BE49-F238E27FC236}">
                <a16:creationId xmlns:a16="http://schemas.microsoft.com/office/drawing/2014/main" id="{355C1F16-F124-DE12-B5DD-A529E0BFF6DB}"/>
              </a:ext>
            </a:extLst>
          </p:cNvPr>
          <p:cNvGraphicFramePr>
            <a:graphicFrameLocks noGrp="1"/>
          </p:cNvGraphicFramePr>
          <p:nvPr/>
        </p:nvGraphicFramePr>
        <p:xfrm>
          <a:off x="365616" y="3536181"/>
          <a:ext cx="6917019" cy="2446671"/>
        </p:xfrm>
        <a:graphic>
          <a:graphicData uri="http://schemas.openxmlformats.org/drawingml/2006/table">
            <a:tbl>
              <a:tblPr firstRow="1" bandRow="1">
                <a:tableStyleId>{5C22544A-7EE6-4342-B048-85BDC9FD1C3A}</a:tableStyleId>
              </a:tblPr>
              <a:tblGrid>
                <a:gridCol w="691029">
                  <a:extLst>
                    <a:ext uri="{9D8B030D-6E8A-4147-A177-3AD203B41FA5}">
                      <a16:colId xmlns:a16="http://schemas.microsoft.com/office/drawing/2014/main" val="3998854459"/>
                    </a:ext>
                  </a:extLst>
                </a:gridCol>
                <a:gridCol w="3321424">
                  <a:extLst>
                    <a:ext uri="{9D8B030D-6E8A-4147-A177-3AD203B41FA5}">
                      <a16:colId xmlns:a16="http://schemas.microsoft.com/office/drawing/2014/main" val="3372512979"/>
                    </a:ext>
                  </a:extLst>
                </a:gridCol>
                <a:gridCol w="860612">
                  <a:extLst>
                    <a:ext uri="{9D8B030D-6E8A-4147-A177-3AD203B41FA5}">
                      <a16:colId xmlns:a16="http://schemas.microsoft.com/office/drawing/2014/main" val="1462865521"/>
                    </a:ext>
                  </a:extLst>
                </a:gridCol>
                <a:gridCol w="981635">
                  <a:extLst>
                    <a:ext uri="{9D8B030D-6E8A-4147-A177-3AD203B41FA5}">
                      <a16:colId xmlns:a16="http://schemas.microsoft.com/office/drawing/2014/main" val="156630398"/>
                    </a:ext>
                  </a:extLst>
                </a:gridCol>
                <a:gridCol w="1062319">
                  <a:extLst>
                    <a:ext uri="{9D8B030D-6E8A-4147-A177-3AD203B41FA5}">
                      <a16:colId xmlns:a16="http://schemas.microsoft.com/office/drawing/2014/main" val="3496083406"/>
                    </a:ext>
                  </a:extLst>
                </a:gridCol>
              </a:tblGrid>
              <a:tr h="761234">
                <a:tc>
                  <a:txBody>
                    <a:bodyPr/>
                    <a:lstStyle/>
                    <a:p>
                      <a:pPr algn="ctr"/>
                      <a:r>
                        <a:rPr lang="en-US"/>
                        <a:t>Kết quả</a:t>
                      </a:r>
                    </a:p>
                  </a:txBody>
                  <a:tcPr anchor="ctr"/>
                </a:tc>
                <a:tc>
                  <a:txBody>
                    <a:bodyPr/>
                    <a:lstStyle/>
                    <a:p>
                      <a:pPr algn="ctr"/>
                      <a:r>
                        <a:rPr lang="en-US" err="1"/>
                        <a:t>Tham</a:t>
                      </a:r>
                      <a:r>
                        <a:rPr lang="en-US"/>
                        <a:t> </a:t>
                      </a:r>
                      <a:r>
                        <a:rPr lang="en-US" err="1"/>
                        <a:t>số</a:t>
                      </a:r>
                      <a:endParaRPr lang="en-US"/>
                    </a:p>
                  </a:txBody>
                  <a:tcPr anchor="ctr"/>
                </a:tc>
                <a:tc>
                  <a:txBody>
                    <a:bodyPr/>
                    <a:lstStyle/>
                    <a:p>
                      <a:pPr algn="ctr"/>
                      <a:r>
                        <a:rPr lang="en-US"/>
                        <a:t>GT lý thuyết (W)</a:t>
                      </a:r>
                    </a:p>
                  </a:txBody>
                  <a:tcPr anchor="ctr"/>
                </a:tc>
                <a:tc>
                  <a:txBody>
                    <a:bodyPr/>
                    <a:lstStyle/>
                    <a:p>
                      <a:pPr algn="ctr"/>
                      <a:r>
                        <a:rPr lang="en-US"/>
                        <a:t>GT </a:t>
                      </a:r>
                      <a:r>
                        <a:rPr lang="en-US" err="1"/>
                        <a:t>mô</a:t>
                      </a:r>
                      <a:r>
                        <a:rPr lang="en-US"/>
                        <a:t> </a:t>
                      </a:r>
                      <a:r>
                        <a:rPr lang="en-US" err="1"/>
                        <a:t>phỏng</a:t>
                      </a:r>
                      <a:r>
                        <a:rPr lang="en-US"/>
                        <a:t> </a:t>
                      </a:r>
                    </a:p>
                    <a:p>
                      <a:pPr algn="ctr"/>
                      <a:r>
                        <a:rPr lang="en-US"/>
                        <a:t>(W)</a:t>
                      </a:r>
                    </a:p>
                  </a:txBody>
                  <a:tcPr anchor="ctr"/>
                </a:tc>
                <a:tc>
                  <a:txBody>
                    <a:bodyPr/>
                    <a:lstStyle/>
                    <a:p>
                      <a:pPr algn="ctr"/>
                      <a:r>
                        <a:rPr lang="en-US"/>
                        <a:t>Sai số</a:t>
                      </a:r>
                    </a:p>
                  </a:txBody>
                  <a:tcPr anchor="ctr"/>
                </a:tc>
                <a:extLst>
                  <a:ext uri="{0D108BD9-81ED-4DB2-BD59-A6C34878D82A}">
                    <a16:rowId xmlns:a16="http://schemas.microsoft.com/office/drawing/2014/main" val="305514116"/>
                  </a:ext>
                </a:extLst>
              </a:tr>
              <a:tr h="434991">
                <a:tc>
                  <a:txBody>
                    <a:bodyPr/>
                    <a:lstStyle/>
                    <a:p>
                      <a:pPr algn="ctr"/>
                      <a:r>
                        <a:rPr lang="en-US"/>
                        <a:t>P1</a:t>
                      </a:r>
                    </a:p>
                  </a:txBody>
                  <a:tcPr anchor="ctr"/>
                </a:tc>
                <a:tc>
                  <a:txBody>
                    <a:bodyPr/>
                    <a:lstStyle/>
                    <a:p>
                      <a:pPr algn="ctr"/>
                      <a:r>
                        <a:rPr lang="en-US"/>
                        <a:t>Công suất bộ 1 ban đầu</a:t>
                      </a:r>
                    </a:p>
                  </a:txBody>
                  <a:tcPr anchor="ctr"/>
                </a:tc>
                <a:tc>
                  <a:txBody>
                    <a:bodyPr/>
                    <a:lstStyle/>
                    <a:p>
                      <a:pPr algn="ctr"/>
                      <a:r>
                        <a:rPr lang="en-US"/>
                        <a:t>2000</a:t>
                      </a:r>
                    </a:p>
                  </a:txBody>
                  <a:tcPr anchor="ctr"/>
                </a:tc>
                <a:tc>
                  <a:txBody>
                    <a:bodyPr/>
                    <a:lstStyle/>
                    <a:p>
                      <a:pPr algn="ctr"/>
                      <a:r>
                        <a:rPr lang="en-US"/>
                        <a:t>1998</a:t>
                      </a:r>
                    </a:p>
                  </a:txBody>
                  <a:tcPr anchor="ctr"/>
                </a:tc>
                <a:tc>
                  <a:txBody>
                    <a:bodyPr/>
                    <a:lstStyle/>
                    <a:p>
                      <a:pPr algn="ctr"/>
                      <a:r>
                        <a:rPr lang="en-US"/>
                        <a:t>0,1%</a:t>
                      </a:r>
                    </a:p>
                  </a:txBody>
                  <a:tcPr anchor="ctr"/>
                </a:tc>
                <a:extLst>
                  <a:ext uri="{0D108BD9-81ED-4DB2-BD59-A6C34878D82A}">
                    <a16:rowId xmlns:a16="http://schemas.microsoft.com/office/drawing/2014/main" val="2136588521"/>
                  </a:ext>
                </a:extLst>
              </a:tr>
              <a:tr h="217496">
                <a:tc>
                  <a:txBody>
                    <a:bodyPr/>
                    <a:lstStyle/>
                    <a:p>
                      <a:pPr algn="ctr"/>
                      <a:r>
                        <a:rPr lang="en-US"/>
                        <a:t>P2</a:t>
                      </a:r>
                    </a:p>
                  </a:txBody>
                  <a:tcPr anchor="ctr"/>
                </a:tc>
                <a:tc>
                  <a:txBody>
                    <a:bodyPr/>
                    <a:lstStyle/>
                    <a:p>
                      <a:pPr algn="ctr"/>
                      <a:r>
                        <a:rPr lang="en-US"/>
                        <a:t>Công suất bộ 2 ban đầu</a:t>
                      </a:r>
                    </a:p>
                  </a:txBody>
                  <a:tcPr anchor="ctr"/>
                </a:tc>
                <a:tc>
                  <a:txBody>
                    <a:bodyPr/>
                    <a:lstStyle/>
                    <a:p>
                      <a:pPr algn="ctr"/>
                      <a:r>
                        <a:rPr lang="en-US"/>
                        <a:t>2000</a:t>
                      </a:r>
                    </a:p>
                  </a:txBody>
                  <a:tcPr anchor="ctr"/>
                </a:tc>
                <a:tc>
                  <a:txBody>
                    <a:bodyPr/>
                    <a:lstStyle/>
                    <a:p>
                      <a:pPr algn="ctr"/>
                      <a:r>
                        <a:rPr lang="en-US"/>
                        <a:t>1998</a:t>
                      </a:r>
                    </a:p>
                  </a:txBody>
                  <a:tcPr anchor="ctr"/>
                </a:tc>
                <a:tc>
                  <a:txBody>
                    <a:bodyPr/>
                    <a:lstStyle/>
                    <a:p>
                      <a:pPr algn="ctr"/>
                      <a:r>
                        <a:rPr lang="en-US"/>
                        <a:t>0,1%</a:t>
                      </a:r>
                    </a:p>
                  </a:txBody>
                  <a:tcPr anchor="ctr"/>
                </a:tc>
                <a:extLst>
                  <a:ext uri="{0D108BD9-81ED-4DB2-BD59-A6C34878D82A}">
                    <a16:rowId xmlns:a16="http://schemas.microsoft.com/office/drawing/2014/main" val="2469670652"/>
                  </a:ext>
                </a:extLst>
              </a:tr>
              <a:tr h="182880">
                <a:tc>
                  <a:txBody>
                    <a:bodyPr/>
                    <a:lstStyle/>
                    <a:p>
                      <a:pPr algn="ctr"/>
                      <a:r>
                        <a:rPr lang="en-US"/>
                        <a:t>P1</a:t>
                      </a:r>
                    </a:p>
                  </a:txBody>
                  <a:tcPr anchor="ctr"/>
                </a:tc>
                <a:tc>
                  <a:txBody>
                    <a:bodyPr/>
                    <a:lstStyle/>
                    <a:p>
                      <a:pPr algn="ctr"/>
                      <a:r>
                        <a:rPr lang="en-US" err="1"/>
                        <a:t>Công</a:t>
                      </a:r>
                      <a:r>
                        <a:rPr lang="en-US"/>
                        <a:t> </a:t>
                      </a:r>
                      <a:r>
                        <a:rPr lang="en-US" err="1"/>
                        <a:t>suất</a:t>
                      </a:r>
                      <a:r>
                        <a:rPr lang="en-US"/>
                        <a:t> </a:t>
                      </a:r>
                      <a:r>
                        <a:rPr lang="en-US" err="1"/>
                        <a:t>bộ</a:t>
                      </a:r>
                      <a:r>
                        <a:rPr lang="en-US"/>
                        <a:t> 1 </a:t>
                      </a:r>
                      <a:r>
                        <a:rPr lang="en-US" err="1"/>
                        <a:t>sau</a:t>
                      </a:r>
                      <a:r>
                        <a:rPr lang="en-US"/>
                        <a:t> </a:t>
                      </a:r>
                      <a:r>
                        <a:rPr lang="en-US" err="1"/>
                        <a:t>khi</a:t>
                      </a:r>
                      <a:r>
                        <a:rPr lang="en-US"/>
                        <a:t> </a:t>
                      </a:r>
                      <a:r>
                        <a:rPr lang="en-US" err="1"/>
                        <a:t>thêm</a:t>
                      </a:r>
                      <a:r>
                        <a:rPr lang="en-US"/>
                        <a:t> </a:t>
                      </a:r>
                      <a:r>
                        <a:rPr lang="en-US" err="1"/>
                        <a:t>tải</a:t>
                      </a:r>
                      <a:endParaRPr lang="en-US"/>
                    </a:p>
                  </a:txBody>
                  <a:tcPr anchor="ctr"/>
                </a:tc>
                <a:tc>
                  <a:txBody>
                    <a:bodyPr/>
                    <a:lstStyle/>
                    <a:p>
                      <a:pPr algn="ctr"/>
                      <a:r>
                        <a:rPr lang="en-US"/>
                        <a:t>4000</a:t>
                      </a:r>
                    </a:p>
                  </a:txBody>
                  <a:tcPr anchor="ctr"/>
                </a:tc>
                <a:tc>
                  <a:txBody>
                    <a:bodyPr/>
                    <a:lstStyle/>
                    <a:p>
                      <a:pPr algn="ctr"/>
                      <a:r>
                        <a:rPr lang="en-US"/>
                        <a:t>3992</a:t>
                      </a:r>
                    </a:p>
                  </a:txBody>
                  <a:tcPr anchor="ctr"/>
                </a:tc>
                <a:tc>
                  <a:txBody>
                    <a:bodyPr/>
                    <a:lstStyle/>
                    <a:p>
                      <a:pPr algn="ctr"/>
                      <a:r>
                        <a:rPr lang="en-US"/>
                        <a:t>0,2%</a:t>
                      </a:r>
                    </a:p>
                  </a:txBody>
                  <a:tcPr anchor="ctr"/>
                </a:tc>
                <a:extLst>
                  <a:ext uri="{0D108BD9-81ED-4DB2-BD59-A6C34878D82A}">
                    <a16:rowId xmlns:a16="http://schemas.microsoft.com/office/drawing/2014/main" val="845437813"/>
                  </a:ext>
                </a:extLst>
              </a:tr>
              <a:tr h="182880">
                <a:tc>
                  <a:txBody>
                    <a:bodyPr/>
                    <a:lstStyle/>
                    <a:p>
                      <a:pPr algn="ctr"/>
                      <a:r>
                        <a:rPr lang="en-US"/>
                        <a:t>P2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err="1"/>
                        <a:t>Công</a:t>
                      </a:r>
                      <a:r>
                        <a:rPr lang="en-US"/>
                        <a:t> </a:t>
                      </a:r>
                      <a:r>
                        <a:rPr lang="en-US" err="1"/>
                        <a:t>suất</a:t>
                      </a:r>
                      <a:r>
                        <a:rPr lang="en-US"/>
                        <a:t> </a:t>
                      </a:r>
                      <a:r>
                        <a:rPr lang="en-US" err="1"/>
                        <a:t>bộ</a:t>
                      </a:r>
                      <a:r>
                        <a:rPr lang="en-US"/>
                        <a:t> 2 </a:t>
                      </a:r>
                      <a:r>
                        <a:rPr lang="en-US" err="1"/>
                        <a:t>sau</a:t>
                      </a:r>
                      <a:r>
                        <a:rPr lang="en-US"/>
                        <a:t> </a:t>
                      </a:r>
                      <a:r>
                        <a:rPr lang="en-US" err="1"/>
                        <a:t>khi</a:t>
                      </a:r>
                      <a:r>
                        <a:rPr lang="en-US"/>
                        <a:t> </a:t>
                      </a:r>
                      <a:r>
                        <a:rPr lang="en-US" err="1"/>
                        <a:t>thêm</a:t>
                      </a:r>
                      <a:r>
                        <a:rPr lang="en-US"/>
                        <a:t> </a:t>
                      </a:r>
                      <a:r>
                        <a:rPr lang="en-US" err="1"/>
                        <a:t>tải</a:t>
                      </a: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4000</a:t>
                      </a:r>
                    </a:p>
                  </a:txBody>
                  <a:tcPr anchor="ctr"/>
                </a:tc>
                <a:tc>
                  <a:txBody>
                    <a:bodyPr/>
                    <a:lstStyle/>
                    <a:p>
                      <a:pPr algn="ctr"/>
                      <a:r>
                        <a:rPr lang="en-US"/>
                        <a:t>3992</a:t>
                      </a:r>
                    </a:p>
                  </a:txBody>
                  <a:tcPr anchor="ctr"/>
                </a:tc>
                <a:tc>
                  <a:txBody>
                    <a:bodyPr/>
                    <a:lstStyle/>
                    <a:p>
                      <a:pPr algn="ctr"/>
                      <a:r>
                        <a:rPr lang="en-US"/>
                        <a:t>0,2%</a:t>
                      </a:r>
                    </a:p>
                  </a:txBody>
                  <a:tcPr anchor="ctr"/>
                </a:tc>
                <a:extLst>
                  <a:ext uri="{0D108BD9-81ED-4DB2-BD59-A6C34878D82A}">
                    <a16:rowId xmlns:a16="http://schemas.microsoft.com/office/drawing/2014/main" val="908382002"/>
                  </a:ext>
                </a:extLst>
              </a:tr>
            </a:tbl>
          </a:graphicData>
        </a:graphic>
      </p:graphicFrame>
      <p:graphicFrame>
        <p:nvGraphicFramePr>
          <p:cNvPr id="11" name="Table 10">
            <a:extLst>
              <a:ext uri="{FF2B5EF4-FFF2-40B4-BE49-F238E27FC236}">
                <a16:creationId xmlns:a16="http://schemas.microsoft.com/office/drawing/2014/main" id="{DFE5A081-386B-2FD9-44C8-D44BDEA23B1E}"/>
              </a:ext>
            </a:extLst>
          </p:cNvPr>
          <p:cNvGraphicFramePr>
            <a:graphicFrameLocks noGrp="1"/>
          </p:cNvGraphicFramePr>
          <p:nvPr/>
        </p:nvGraphicFramePr>
        <p:xfrm>
          <a:off x="365616" y="1759835"/>
          <a:ext cx="8025348" cy="1561985"/>
        </p:xfrm>
        <a:graphic>
          <a:graphicData uri="http://schemas.openxmlformats.org/drawingml/2006/table">
            <a:tbl>
              <a:tblPr firstRow="1" bandRow="1">
                <a:tableStyleId>{5C22544A-7EE6-4342-B048-85BDC9FD1C3A}</a:tableStyleId>
              </a:tblPr>
              <a:tblGrid>
                <a:gridCol w="801754">
                  <a:extLst>
                    <a:ext uri="{9D8B030D-6E8A-4147-A177-3AD203B41FA5}">
                      <a16:colId xmlns:a16="http://schemas.microsoft.com/office/drawing/2014/main" val="3998854459"/>
                    </a:ext>
                  </a:extLst>
                </a:gridCol>
                <a:gridCol w="2991666">
                  <a:extLst>
                    <a:ext uri="{9D8B030D-6E8A-4147-A177-3AD203B41FA5}">
                      <a16:colId xmlns:a16="http://schemas.microsoft.com/office/drawing/2014/main" val="3372512979"/>
                    </a:ext>
                  </a:extLst>
                </a:gridCol>
                <a:gridCol w="1695429">
                  <a:extLst>
                    <a:ext uri="{9D8B030D-6E8A-4147-A177-3AD203B41FA5}">
                      <a16:colId xmlns:a16="http://schemas.microsoft.com/office/drawing/2014/main" val="1462865521"/>
                    </a:ext>
                  </a:extLst>
                </a:gridCol>
                <a:gridCol w="1689335">
                  <a:extLst>
                    <a:ext uri="{9D8B030D-6E8A-4147-A177-3AD203B41FA5}">
                      <a16:colId xmlns:a16="http://schemas.microsoft.com/office/drawing/2014/main" val="156630398"/>
                    </a:ext>
                  </a:extLst>
                </a:gridCol>
                <a:gridCol w="847164">
                  <a:extLst>
                    <a:ext uri="{9D8B030D-6E8A-4147-A177-3AD203B41FA5}">
                      <a16:colId xmlns:a16="http://schemas.microsoft.com/office/drawing/2014/main" val="3496083406"/>
                    </a:ext>
                  </a:extLst>
                </a:gridCol>
              </a:tblGrid>
              <a:tr h="761234">
                <a:tc>
                  <a:txBody>
                    <a:bodyPr/>
                    <a:lstStyle/>
                    <a:p>
                      <a:pPr algn="ctr"/>
                      <a:r>
                        <a:rPr lang="en-US"/>
                        <a:t>Kết quả</a:t>
                      </a:r>
                    </a:p>
                  </a:txBody>
                  <a:tcPr anchor="ctr"/>
                </a:tc>
                <a:tc>
                  <a:txBody>
                    <a:bodyPr/>
                    <a:lstStyle/>
                    <a:p>
                      <a:pPr algn="ctr"/>
                      <a:r>
                        <a:rPr lang="en-US"/>
                        <a:t>Tham số</a:t>
                      </a:r>
                    </a:p>
                  </a:txBody>
                  <a:tcPr anchor="ctr"/>
                </a:tc>
                <a:tc>
                  <a:txBody>
                    <a:bodyPr/>
                    <a:lstStyle/>
                    <a:p>
                      <a:pPr algn="ctr"/>
                      <a:r>
                        <a:rPr lang="en-US"/>
                        <a:t>GT lý thuyết</a:t>
                      </a:r>
                    </a:p>
                  </a:txBody>
                  <a:tcPr anchor="ctr"/>
                </a:tc>
                <a:tc>
                  <a:txBody>
                    <a:bodyPr/>
                    <a:lstStyle/>
                    <a:p>
                      <a:pPr algn="ctr"/>
                      <a:r>
                        <a:rPr lang="en-US"/>
                        <a:t>GT mô phỏng </a:t>
                      </a:r>
                    </a:p>
                  </a:txBody>
                  <a:tcPr anchor="ctr"/>
                </a:tc>
                <a:tc>
                  <a:txBody>
                    <a:bodyPr/>
                    <a:lstStyle/>
                    <a:p>
                      <a:pPr algn="ctr"/>
                      <a:r>
                        <a:rPr lang="en-US"/>
                        <a:t>Sai số</a:t>
                      </a:r>
                    </a:p>
                  </a:txBody>
                  <a:tcPr anchor="ctr"/>
                </a:tc>
                <a:extLst>
                  <a:ext uri="{0D108BD9-81ED-4DB2-BD59-A6C34878D82A}">
                    <a16:rowId xmlns:a16="http://schemas.microsoft.com/office/drawing/2014/main" val="305514116"/>
                  </a:ext>
                </a:extLst>
              </a:tr>
              <a:tr h="434991">
                <a:tc>
                  <a:txBody>
                    <a:bodyPr/>
                    <a:lstStyle/>
                    <a:p>
                      <a:pPr algn="ctr"/>
                      <a:r>
                        <a:rPr lang="en-US" i="1">
                          <a:latin typeface="Times New Roman" panose="02020603050405020304" pitchFamily="18" charset="0"/>
                          <a:cs typeface="Times New Roman" panose="02020603050405020304" pitchFamily="18" charset="0"/>
                        </a:rPr>
                        <a:t>V</a:t>
                      </a:r>
                      <a:r>
                        <a:rPr lang="en-US" i="1" baseline="-25000">
                          <a:latin typeface="Times New Roman" panose="02020603050405020304" pitchFamily="18" charset="0"/>
                          <a:cs typeface="Times New Roman" panose="02020603050405020304" pitchFamily="18" charset="0"/>
                        </a:rPr>
                        <a:t>oc</a:t>
                      </a:r>
                      <a:endParaRPr lang="en-US" i="1">
                        <a:latin typeface="Times New Roman" panose="02020603050405020304" pitchFamily="18" charset="0"/>
                        <a:cs typeface="Times New Roman" panose="02020603050405020304" pitchFamily="18" charset="0"/>
                      </a:endParaRPr>
                    </a:p>
                  </a:txBody>
                  <a:tcPr anchor="ctr"/>
                </a:tc>
                <a:tc>
                  <a:txBody>
                    <a:bodyPr/>
                    <a:lstStyle/>
                    <a:p>
                      <a:pPr algn="ctr"/>
                      <a:r>
                        <a:rPr lang="en-US" err="1"/>
                        <a:t>Điện</a:t>
                      </a:r>
                      <a:r>
                        <a:rPr lang="en-US"/>
                        <a:t> </a:t>
                      </a:r>
                      <a:r>
                        <a:rPr lang="en-US" err="1"/>
                        <a:t>áp</a:t>
                      </a:r>
                      <a:r>
                        <a:rPr lang="en-US"/>
                        <a:t> </a:t>
                      </a:r>
                      <a:r>
                        <a:rPr lang="en-US" err="1"/>
                        <a:t>hở</a:t>
                      </a:r>
                      <a:r>
                        <a:rPr lang="en-US"/>
                        <a:t> </a:t>
                      </a:r>
                      <a:r>
                        <a:rPr lang="en-US" err="1"/>
                        <a:t>mạch</a:t>
                      </a:r>
                      <a:endParaRPr lang="en-US"/>
                    </a:p>
                  </a:txBody>
                  <a:tcPr anchor="ctr"/>
                </a:tc>
                <a:tc>
                  <a:txBody>
                    <a:bodyPr/>
                    <a:lstStyle/>
                    <a:p>
                      <a:pPr algn="ctr"/>
                      <a:r>
                        <a:rPr lang="en-US"/>
                        <a:t>220 V</a:t>
                      </a:r>
                    </a:p>
                  </a:txBody>
                  <a:tcPr anchor="ctr"/>
                </a:tc>
                <a:tc>
                  <a:txBody>
                    <a:bodyPr/>
                    <a:lstStyle/>
                    <a:p>
                      <a:pPr algn="ctr"/>
                      <a:r>
                        <a:rPr lang="en-US"/>
                        <a:t>220.2 V</a:t>
                      </a:r>
                    </a:p>
                  </a:txBody>
                  <a:tcPr anchor="ctr"/>
                </a:tc>
                <a:tc>
                  <a:txBody>
                    <a:bodyPr/>
                    <a:lstStyle/>
                    <a:p>
                      <a:pPr algn="ctr"/>
                      <a:r>
                        <a:rPr lang="en-US"/>
                        <a:t>0.09%</a:t>
                      </a:r>
                    </a:p>
                  </a:txBody>
                  <a:tcPr anchor="ctr"/>
                </a:tc>
                <a:extLst>
                  <a:ext uri="{0D108BD9-81ED-4DB2-BD59-A6C34878D82A}">
                    <a16:rowId xmlns:a16="http://schemas.microsoft.com/office/drawing/2014/main" val="2136588521"/>
                  </a:ext>
                </a:extLst>
              </a:tr>
              <a:tr h="217496">
                <a:tc>
                  <a:txBody>
                    <a:bodyPr/>
                    <a:lstStyle/>
                    <a:p>
                      <a:pPr algn="ctr"/>
                      <a:r>
                        <a:rPr lang="en-US" i="1">
                          <a:latin typeface="Times New Roman" panose="02020603050405020304" pitchFamily="18" charset="0"/>
                          <a:cs typeface="Times New Roman" panose="02020603050405020304" pitchFamily="18" charset="0"/>
                        </a:rPr>
                        <a:t>t</a:t>
                      </a:r>
                      <a:r>
                        <a:rPr lang="en-US" i="1" baseline="-25000">
                          <a:latin typeface="Times New Roman" panose="02020603050405020304" pitchFamily="18" charset="0"/>
                          <a:cs typeface="Times New Roman" panose="02020603050405020304" pitchFamily="18" charset="0"/>
                        </a:rPr>
                        <a:t>rise</a:t>
                      </a:r>
                      <a:endParaRPr lang="en-US" i="1">
                        <a:latin typeface="Times New Roman" panose="02020603050405020304" pitchFamily="18" charset="0"/>
                        <a:cs typeface="Times New Roman" panose="02020603050405020304" pitchFamily="18" charset="0"/>
                      </a:endParaRPr>
                    </a:p>
                  </a:txBody>
                  <a:tcPr anchor="ctr"/>
                </a:tc>
                <a:tc>
                  <a:txBody>
                    <a:bodyPr/>
                    <a:lstStyle/>
                    <a:p>
                      <a:pPr algn="ctr"/>
                      <a:r>
                        <a:rPr lang="en-US" err="1"/>
                        <a:t>Thời</a:t>
                      </a:r>
                      <a:r>
                        <a:rPr lang="en-US"/>
                        <a:t> </a:t>
                      </a:r>
                      <a:r>
                        <a:rPr lang="en-US" err="1"/>
                        <a:t>gian</a:t>
                      </a:r>
                      <a:r>
                        <a:rPr lang="en-US"/>
                        <a:t> </a:t>
                      </a:r>
                      <a:r>
                        <a:rPr lang="en-US" err="1"/>
                        <a:t>tăng</a:t>
                      </a:r>
                      <a:r>
                        <a:rPr lang="en-US"/>
                        <a:t> </a:t>
                      </a:r>
                      <a:r>
                        <a:rPr lang="en-US" err="1"/>
                        <a:t>điện</a:t>
                      </a:r>
                      <a:r>
                        <a:rPr lang="en-US"/>
                        <a:t> </a:t>
                      </a:r>
                      <a:r>
                        <a:rPr lang="en-US" err="1"/>
                        <a:t>áp</a:t>
                      </a: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err="1">
                          <a:latin typeface="Times New Roman" panose="02020603050405020304" pitchFamily="18" charset="0"/>
                          <a:cs typeface="Times New Roman" panose="02020603050405020304" pitchFamily="18" charset="0"/>
                        </a:rPr>
                        <a:t>t</a:t>
                      </a:r>
                      <a:r>
                        <a:rPr lang="en-US" i="1" baseline="-25000" err="1">
                          <a:latin typeface="Times New Roman" panose="02020603050405020304" pitchFamily="18" charset="0"/>
                          <a:cs typeface="Times New Roman" panose="02020603050405020304" pitchFamily="18" charset="0"/>
                        </a:rPr>
                        <a:t>rise</a:t>
                      </a:r>
                      <a:r>
                        <a:rPr lang="en-US" i="1" baseline="-25000">
                          <a:latin typeface="Times New Roman" panose="02020603050405020304" pitchFamily="18" charset="0"/>
                          <a:cs typeface="Times New Roman" panose="02020603050405020304" pitchFamily="18" charset="0"/>
                        </a:rPr>
                        <a:t>  </a:t>
                      </a:r>
                      <a:r>
                        <a:rPr lang="en-US"/>
                        <a:t>&lt; 0.01s</a:t>
                      </a:r>
                    </a:p>
                  </a:txBody>
                  <a:tcPr anchor="ctr"/>
                </a:tc>
                <a:tc>
                  <a:txBody>
                    <a:bodyPr/>
                    <a:lstStyle/>
                    <a:p>
                      <a:pPr algn="ctr"/>
                      <a:r>
                        <a:rPr lang="en-US"/>
                        <a:t>0,015s</a:t>
                      </a:r>
                    </a:p>
                  </a:txBody>
                  <a:tcPr anchor="ctr"/>
                </a:tc>
                <a:tc>
                  <a:txBody>
                    <a:bodyPr/>
                    <a:lstStyle/>
                    <a:p>
                      <a:pPr algn="ctr"/>
                      <a:r>
                        <a:rPr lang="en-US"/>
                        <a:t>0</a:t>
                      </a:r>
                    </a:p>
                  </a:txBody>
                  <a:tcPr anchor="ctr"/>
                </a:tc>
                <a:extLst>
                  <a:ext uri="{0D108BD9-81ED-4DB2-BD59-A6C34878D82A}">
                    <a16:rowId xmlns:a16="http://schemas.microsoft.com/office/drawing/2014/main" val="2469670652"/>
                  </a:ext>
                </a:extLst>
              </a:tr>
            </a:tbl>
          </a:graphicData>
        </a:graphic>
      </p:graphicFrame>
      <p:grpSp>
        <p:nvGrpSpPr>
          <p:cNvPr id="10" name="Group 9">
            <a:extLst>
              <a:ext uri="{FF2B5EF4-FFF2-40B4-BE49-F238E27FC236}">
                <a16:creationId xmlns:a16="http://schemas.microsoft.com/office/drawing/2014/main" id="{72ABD03B-FF14-1717-3ADA-C78CA4EABEBB}"/>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2511DC2E-78E1-DD79-7CBD-BFD0E1D88C66}"/>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3: </a:t>
              </a:r>
              <a:r>
                <a:rPr lang="en-US" sz="2133" b="1">
                  <a:solidFill>
                    <a:srgbClr val="000000"/>
                  </a:solidFill>
                  <a:latin typeface="Arial (Body)"/>
                  <a:ea typeface="Aptos" panose="020B0004020202020204" pitchFamily="34" charset="0"/>
                </a:rPr>
                <a:t>MÔ PHỎNG</a:t>
              </a:r>
              <a:endParaRPr lang="en-US" sz="2133" b="1">
                <a:latin typeface="Arial (Body)"/>
              </a:endParaRPr>
            </a:p>
          </p:txBody>
        </p:sp>
        <p:sp>
          <p:nvSpPr>
            <p:cNvPr id="13" name="Rectangle 12">
              <a:extLst>
                <a:ext uri="{FF2B5EF4-FFF2-40B4-BE49-F238E27FC236}">
                  <a16:creationId xmlns:a16="http://schemas.microsoft.com/office/drawing/2014/main" id="{B248D72F-93B4-CE4F-47AC-E7EF66DA033F}"/>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5" name="Hộp Văn bản 4">
            <a:extLst>
              <a:ext uri="{FF2B5EF4-FFF2-40B4-BE49-F238E27FC236}">
                <a16:creationId xmlns:a16="http://schemas.microsoft.com/office/drawing/2014/main" id="{4D312EB4-3C18-6276-F811-FF7968E4E368}"/>
              </a:ext>
            </a:extLst>
          </p:cNvPr>
          <p:cNvSpPr txBox="1"/>
          <p:nvPr/>
        </p:nvSpPr>
        <p:spPr>
          <a:xfrm>
            <a:off x="406422" y="1024053"/>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11943529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88053-005E-07E9-BE56-D3E230BC1579}"/>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0BA391AE-98F1-69D9-C788-C45D19A1BCF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1BEFA855-2AD9-19C3-FD3D-BB4E52337DB0}"/>
              </a:ext>
            </a:extLst>
          </p:cNvPr>
          <p:cNvSpPr>
            <a:spLocks noGrp="1"/>
          </p:cNvSpPr>
          <p:nvPr>
            <p:ph type="sldNum" sz="quarter" idx="12"/>
          </p:nvPr>
        </p:nvSpPr>
        <p:spPr/>
        <p:txBody>
          <a:bodyPr/>
          <a:lstStyle/>
          <a:p>
            <a:fld id="{931DD963-FD40-4A6D-88A9-402A489E81DE}" type="slidenum">
              <a:rPr lang="en-US" smtClean="0"/>
              <a:t>62</a:t>
            </a:fld>
            <a:endParaRPr lang="en-US"/>
          </a:p>
        </p:txBody>
      </p:sp>
      <p:graphicFrame>
        <p:nvGraphicFramePr>
          <p:cNvPr id="14" name="Table 13">
            <a:extLst>
              <a:ext uri="{FF2B5EF4-FFF2-40B4-BE49-F238E27FC236}">
                <a16:creationId xmlns:a16="http://schemas.microsoft.com/office/drawing/2014/main" id="{DAC787F1-84AE-AE7C-EDFF-32A60BB1AEC0}"/>
              </a:ext>
            </a:extLst>
          </p:cNvPr>
          <p:cNvGraphicFramePr>
            <a:graphicFrameLocks noGrp="1"/>
          </p:cNvGraphicFramePr>
          <p:nvPr/>
        </p:nvGraphicFramePr>
        <p:xfrm>
          <a:off x="429894" y="1460366"/>
          <a:ext cx="6917019" cy="2446671"/>
        </p:xfrm>
        <a:graphic>
          <a:graphicData uri="http://schemas.openxmlformats.org/drawingml/2006/table">
            <a:tbl>
              <a:tblPr firstRow="1" bandRow="1">
                <a:tableStyleId>{5C22544A-7EE6-4342-B048-85BDC9FD1C3A}</a:tableStyleId>
              </a:tblPr>
              <a:tblGrid>
                <a:gridCol w="691029">
                  <a:extLst>
                    <a:ext uri="{9D8B030D-6E8A-4147-A177-3AD203B41FA5}">
                      <a16:colId xmlns:a16="http://schemas.microsoft.com/office/drawing/2014/main" val="3998854459"/>
                    </a:ext>
                  </a:extLst>
                </a:gridCol>
                <a:gridCol w="3321424">
                  <a:extLst>
                    <a:ext uri="{9D8B030D-6E8A-4147-A177-3AD203B41FA5}">
                      <a16:colId xmlns:a16="http://schemas.microsoft.com/office/drawing/2014/main" val="3372512979"/>
                    </a:ext>
                  </a:extLst>
                </a:gridCol>
                <a:gridCol w="860612">
                  <a:extLst>
                    <a:ext uri="{9D8B030D-6E8A-4147-A177-3AD203B41FA5}">
                      <a16:colId xmlns:a16="http://schemas.microsoft.com/office/drawing/2014/main" val="1462865521"/>
                    </a:ext>
                  </a:extLst>
                </a:gridCol>
                <a:gridCol w="981635">
                  <a:extLst>
                    <a:ext uri="{9D8B030D-6E8A-4147-A177-3AD203B41FA5}">
                      <a16:colId xmlns:a16="http://schemas.microsoft.com/office/drawing/2014/main" val="156630398"/>
                    </a:ext>
                  </a:extLst>
                </a:gridCol>
                <a:gridCol w="1062319">
                  <a:extLst>
                    <a:ext uri="{9D8B030D-6E8A-4147-A177-3AD203B41FA5}">
                      <a16:colId xmlns:a16="http://schemas.microsoft.com/office/drawing/2014/main" val="3496083406"/>
                    </a:ext>
                  </a:extLst>
                </a:gridCol>
              </a:tblGrid>
              <a:tr h="761234">
                <a:tc>
                  <a:txBody>
                    <a:bodyPr/>
                    <a:lstStyle/>
                    <a:p>
                      <a:pPr algn="ctr"/>
                      <a:r>
                        <a:rPr lang="en-US"/>
                        <a:t>Kết quả</a:t>
                      </a:r>
                    </a:p>
                  </a:txBody>
                  <a:tcPr anchor="ctr"/>
                </a:tc>
                <a:tc>
                  <a:txBody>
                    <a:bodyPr/>
                    <a:lstStyle/>
                    <a:p>
                      <a:pPr algn="ctr"/>
                      <a:r>
                        <a:rPr lang="en-US" err="1"/>
                        <a:t>Tham</a:t>
                      </a:r>
                      <a:r>
                        <a:rPr lang="en-US"/>
                        <a:t> </a:t>
                      </a:r>
                      <a:r>
                        <a:rPr lang="en-US" err="1"/>
                        <a:t>số</a:t>
                      </a:r>
                      <a:endParaRPr lang="en-US"/>
                    </a:p>
                  </a:txBody>
                  <a:tcPr anchor="ctr"/>
                </a:tc>
                <a:tc>
                  <a:txBody>
                    <a:bodyPr/>
                    <a:lstStyle/>
                    <a:p>
                      <a:pPr algn="ctr"/>
                      <a:r>
                        <a:rPr lang="en-US"/>
                        <a:t>GT lý thuyết (W)</a:t>
                      </a:r>
                    </a:p>
                  </a:txBody>
                  <a:tcPr anchor="ctr"/>
                </a:tc>
                <a:tc>
                  <a:txBody>
                    <a:bodyPr/>
                    <a:lstStyle/>
                    <a:p>
                      <a:pPr algn="ctr"/>
                      <a:r>
                        <a:rPr lang="en-US"/>
                        <a:t>GT mô phỏng </a:t>
                      </a:r>
                    </a:p>
                    <a:p>
                      <a:pPr algn="ctr"/>
                      <a:r>
                        <a:rPr lang="en-US"/>
                        <a:t>(W)</a:t>
                      </a:r>
                    </a:p>
                  </a:txBody>
                  <a:tcPr anchor="ctr"/>
                </a:tc>
                <a:tc>
                  <a:txBody>
                    <a:bodyPr/>
                    <a:lstStyle/>
                    <a:p>
                      <a:pPr algn="ctr"/>
                      <a:r>
                        <a:rPr lang="en-US"/>
                        <a:t>Sai số</a:t>
                      </a:r>
                    </a:p>
                  </a:txBody>
                  <a:tcPr anchor="ctr"/>
                </a:tc>
                <a:extLst>
                  <a:ext uri="{0D108BD9-81ED-4DB2-BD59-A6C34878D82A}">
                    <a16:rowId xmlns:a16="http://schemas.microsoft.com/office/drawing/2014/main" val="305514116"/>
                  </a:ext>
                </a:extLst>
              </a:tr>
              <a:tr h="434991">
                <a:tc>
                  <a:txBody>
                    <a:bodyPr/>
                    <a:lstStyle/>
                    <a:p>
                      <a:pPr algn="ctr"/>
                      <a:r>
                        <a:rPr lang="en-US"/>
                        <a:t>Q1</a:t>
                      </a:r>
                    </a:p>
                  </a:txBody>
                  <a:tcPr anchor="ctr"/>
                </a:tc>
                <a:tc>
                  <a:txBody>
                    <a:bodyPr/>
                    <a:lstStyle/>
                    <a:p>
                      <a:pPr algn="ctr"/>
                      <a:r>
                        <a:rPr lang="en-US" err="1"/>
                        <a:t>Công</a:t>
                      </a:r>
                      <a:r>
                        <a:rPr lang="en-US"/>
                        <a:t> </a:t>
                      </a:r>
                      <a:r>
                        <a:rPr lang="en-US" err="1"/>
                        <a:t>suất</a:t>
                      </a:r>
                      <a:r>
                        <a:rPr lang="en-US"/>
                        <a:t> </a:t>
                      </a:r>
                      <a:r>
                        <a:rPr lang="en-US" err="1"/>
                        <a:t>bộ</a:t>
                      </a:r>
                      <a:r>
                        <a:rPr lang="en-US"/>
                        <a:t> 1 ban </a:t>
                      </a:r>
                      <a:r>
                        <a:rPr lang="en-US" err="1"/>
                        <a:t>đầu</a:t>
                      </a:r>
                      <a:endParaRPr lang="en-US"/>
                    </a:p>
                  </a:txBody>
                  <a:tcPr anchor="ctr"/>
                </a:tc>
                <a:tc>
                  <a:txBody>
                    <a:bodyPr/>
                    <a:lstStyle/>
                    <a:p>
                      <a:pPr algn="ctr"/>
                      <a:r>
                        <a:rPr lang="en-US"/>
                        <a:t>1000</a:t>
                      </a:r>
                    </a:p>
                  </a:txBody>
                  <a:tcPr anchor="ctr"/>
                </a:tc>
                <a:tc>
                  <a:txBody>
                    <a:bodyPr/>
                    <a:lstStyle/>
                    <a:p>
                      <a:pPr algn="ctr"/>
                      <a:r>
                        <a:rPr lang="en-US"/>
                        <a:t>1002</a:t>
                      </a:r>
                    </a:p>
                  </a:txBody>
                  <a:tcPr anchor="ctr"/>
                </a:tc>
                <a:tc>
                  <a:txBody>
                    <a:bodyPr/>
                    <a:lstStyle/>
                    <a:p>
                      <a:pPr algn="ctr"/>
                      <a:r>
                        <a:rPr lang="en-US"/>
                        <a:t>0.2%</a:t>
                      </a:r>
                    </a:p>
                  </a:txBody>
                  <a:tcPr anchor="ctr"/>
                </a:tc>
                <a:extLst>
                  <a:ext uri="{0D108BD9-81ED-4DB2-BD59-A6C34878D82A}">
                    <a16:rowId xmlns:a16="http://schemas.microsoft.com/office/drawing/2014/main" val="2136588521"/>
                  </a:ext>
                </a:extLst>
              </a:tr>
              <a:tr h="217496">
                <a:tc>
                  <a:txBody>
                    <a:bodyPr/>
                    <a:lstStyle/>
                    <a:p>
                      <a:pPr algn="ctr"/>
                      <a:r>
                        <a:rPr lang="en-US"/>
                        <a:t>Q2</a:t>
                      </a:r>
                    </a:p>
                  </a:txBody>
                  <a:tcPr anchor="ctr"/>
                </a:tc>
                <a:tc>
                  <a:txBody>
                    <a:bodyPr/>
                    <a:lstStyle/>
                    <a:p>
                      <a:pPr algn="ctr"/>
                      <a:r>
                        <a:rPr lang="en-US" err="1"/>
                        <a:t>Công</a:t>
                      </a:r>
                      <a:r>
                        <a:rPr lang="en-US"/>
                        <a:t> </a:t>
                      </a:r>
                      <a:r>
                        <a:rPr lang="en-US" err="1"/>
                        <a:t>suất</a:t>
                      </a:r>
                      <a:r>
                        <a:rPr lang="en-US"/>
                        <a:t> </a:t>
                      </a:r>
                      <a:r>
                        <a:rPr lang="en-US" err="1"/>
                        <a:t>bộ</a:t>
                      </a:r>
                      <a:r>
                        <a:rPr lang="en-US"/>
                        <a:t> 2 ban </a:t>
                      </a:r>
                      <a:r>
                        <a:rPr lang="en-US" err="1"/>
                        <a:t>đầu</a:t>
                      </a:r>
                      <a:endParaRPr lang="en-US"/>
                    </a:p>
                  </a:txBody>
                  <a:tcPr anchor="ctr"/>
                </a:tc>
                <a:tc>
                  <a:txBody>
                    <a:bodyPr/>
                    <a:lstStyle/>
                    <a:p>
                      <a:pPr algn="ctr"/>
                      <a:r>
                        <a:rPr lang="en-US"/>
                        <a:t>1000</a:t>
                      </a:r>
                    </a:p>
                  </a:txBody>
                  <a:tcPr anchor="ctr"/>
                </a:tc>
                <a:tc>
                  <a:txBody>
                    <a:bodyPr/>
                    <a:lstStyle/>
                    <a:p>
                      <a:pPr algn="ctr"/>
                      <a:r>
                        <a:rPr lang="en-US"/>
                        <a:t>1002</a:t>
                      </a:r>
                    </a:p>
                  </a:txBody>
                  <a:tcPr anchor="ctr"/>
                </a:tc>
                <a:tc>
                  <a:txBody>
                    <a:bodyPr/>
                    <a:lstStyle/>
                    <a:p>
                      <a:pPr algn="ctr"/>
                      <a:r>
                        <a:rPr lang="en-US"/>
                        <a:t>0.2%</a:t>
                      </a:r>
                    </a:p>
                  </a:txBody>
                  <a:tcPr anchor="ctr"/>
                </a:tc>
                <a:extLst>
                  <a:ext uri="{0D108BD9-81ED-4DB2-BD59-A6C34878D82A}">
                    <a16:rowId xmlns:a16="http://schemas.microsoft.com/office/drawing/2014/main" val="2469670652"/>
                  </a:ext>
                </a:extLst>
              </a:tr>
              <a:tr h="182880">
                <a:tc>
                  <a:txBody>
                    <a:bodyPr/>
                    <a:lstStyle/>
                    <a:p>
                      <a:pPr algn="ctr"/>
                      <a:r>
                        <a:rPr lang="en-US"/>
                        <a:t>Q1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err="1">
                          <a:latin typeface="Calibri (Thân)"/>
                        </a:rPr>
                        <a:t>Công</a:t>
                      </a:r>
                      <a:r>
                        <a:rPr lang="en-US">
                          <a:latin typeface="Calibri (Thân)"/>
                        </a:rPr>
                        <a:t> </a:t>
                      </a:r>
                      <a:r>
                        <a:rPr lang="en-US" err="1">
                          <a:latin typeface="Calibri (Thân)"/>
                        </a:rPr>
                        <a:t>suất</a:t>
                      </a:r>
                      <a:r>
                        <a:rPr lang="en-US">
                          <a:latin typeface="Calibri (Thân)"/>
                        </a:rPr>
                        <a:t> </a:t>
                      </a:r>
                      <a:r>
                        <a:rPr lang="en-US" err="1">
                          <a:latin typeface="Calibri (Thân)"/>
                        </a:rPr>
                        <a:t>bộ</a:t>
                      </a:r>
                      <a:r>
                        <a:rPr lang="en-US">
                          <a:latin typeface="Calibri (Thân)"/>
                        </a:rPr>
                        <a:t> 1 </a:t>
                      </a:r>
                      <a:r>
                        <a:rPr lang="en-US" err="1">
                          <a:latin typeface="Calibri (Thân)"/>
                        </a:rPr>
                        <a:t>sau</a:t>
                      </a:r>
                      <a:r>
                        <a:rPr lang="en-US">
                          <a:latin typeface="Calibri (Thân)"/>
                        </a:rPr>
                        <a:t> </a:t>
                      </a:r>
                      <a:r>
                        <a:rPr lang="en-US" err="1">
                          <a:latin typeface="Calibri (Thân)"/>
                        </a:rPr>
                        <a:t>khi</a:t>
                      </a:r>
                      <a:r>
                        <a:rPr lang="en-US">
                          <a:latin typeface="Calibri (Thân)"/>
                        </a:rPr>
                        <a:t> </a:t>
                      </a:r>
                      <a:r>
                        <a:rPr lang="vi-VN">
                          <a:latin typeface="Calibri (Thân)"/>
                        </a:rPr>
                        <a:t>thêm tải</a:t>
                      </a:r>
                      <a:endParaRPr lang="en-US">
                        <a:latin typeface="Calibri (Thân)"/>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2000</a:t>
                      </a:r>
                    </a:p>
                  </a:txBody>
                  <a:tcPr anchor="ctr"/>
                </a:tc>
                <a:tc>
                  <a:txBody>
                    <a:bodyPr/>
                    <a:lstStyle/>
                    <a:p>
                      <a:pPr algn="ctr"/>
                      <a:r>
                        <a:rPr lang="en-US"/>
                        <a:t>2003</a:t>
                      </a:r>
                    </a:p>
                  </a:txBody>
                  <a:tcPr anchor="ctr"/>
                </a:tc>
                <a:tc>
                  <a:txBody>
                    <a:bodyPr/>
                    <a:lstStyle/>
                    <a:p>
                      <a:pPr algn="ctr"/>
                      <a:r>
                        <a:rPr lang="en-US"/>
                        <a:t>0,15%</a:t>
                      </a:r>
                    </a:p>
                  </a:txBody>
                  <a:tcPr anchor="ctr"/>
                </a:tc>
                <a:extLst>
                  <a:ext uri="{0D108BD9-81ED-4DB2-BD59-A6C34878D82A}">
                    <a16:rowId xmlns:a16="http://schemas.microsoft.com/office/drawing/2014/main" val="908382002"/>
                  </a:ext>
                </a:extLst>
              </a:tr>
              <a:tr h="182880">
                <a:tc>
                  <a:txBody>
                    <a:bodyPr/>
                    <a:lstStyle/>
                    <a:p>
                      <a:pPr algn="ctr"/>
                      <a:r>
                        <a:rPr lang="en-US"/>
                        <a:t>Q2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err="1">
                          <a:latin typeface="Calibri (Thân)"/>
                        </a:rPr>
                        <a:t>Công</a:t>
                      </a:r>
                      <a:r>
                        <a:rPr lang="en-US">
                          <a:latin typeface="Calibri (Thân)"/>
                        </a:rPr>
                        <a:t> </a:t>
                      </a:r>
                      <a:r>
                        <a:rPr lang="en-US" err="1">
                          <a:latin typeface="Calibri (Thân)"/>
                        </a:rPr>
                        <a:t>suất</a:t>
                      </a:r>
                      <a:r>
                        <a:rPr lang="en-US">
                          <a:latin typeface="Calibri (Thân)"/>
                        </a:rPr>
                        <a:t> </a:t>
                      </a:r>
                      <a:r>
                        <a:rPr lang="en-US" err="1">
                          <a:latin typeface="Calibri (Thân)"/>
                        </a:rPr>
                        <a:t>bộ</a:t>
                      </a:r>
                      <a:r>
                        <a:rPr lang="en-US">
                          <a:latin typeface="Calibri (Thân)"/>
                        </a:rPr>
                        <a:t> 2 </a:t>
                      </a:r>
                      <a:r>
                        <a:rPr lang="en-US" err="1">
                          <a:latin typeface="Calibri (Thân)"/>
                        </a:rPr>
                        <a:t>sau</a:t>
                      </a:r>
                      <a:r>
                        <a:rPr lang="en-US">
                          <a:latin typeface="Calibri (Thân)"/>
                        </a:rPr>
                        <a:t> </a:t>
                      </a:r>
                      <a:r>
                        <a:rPr lang="en-US" err="1">
                          <a:latin typeface="Calibri (Thân)"/>
                        </a:rPr>
                        <a:t>khi</a:t>
                      </a:r>
                      <a:r>
                        <a:rPr lang="en-US">
                          <a:latin typeface="Calibri (Thân)"/>
                        </a:rPr>
                        <a:t> </a:t>
                      </a:r>
                      <a:r>
                        <a:rPr lang="vi-VN">
                          <a:latin typeface="Calibri (Thân)"/>
                        </a:rPr>
                        <a:t>thêm tải</a:t>
                      </a:r>
                      <a:endParaRPr lang="en-US">
                        <a:latin typeface="Calibri (Thân)"/>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2000</a:t>
                      </a:r>
                    </a:p>
                  </a:txBody>
                  <a:tcPr anchor="ctr"/>
                </a:tc>
                <a:tc>
                  <a:txBody>
                    <a:bodyPr/>
                    <a:lstStyle/>
                    <a:p>
                      <a:pPr algn="ctr"/>
                      <a:r>
                        <a:rPr lang="en-US"/>
                        <a:t>2003</a:t>
                      </a:r>
                    </a:p>
                  </a:txBody>
                  <a:tcPr anchor="ctr"/>
                </a:tc>
                <a:tc>
                  <a:txBody>
                    <a:bodyPr/>
                    <a:lstStyle/>
                    <a:p>
                      <a:pPr algn="ctr"/>
                      <a:r>
                        <a:rPr lang="en-US"/>
                        <a:t>0,15%</a:t>
                      </a:r>
                    </a:p>
                  </a:txBody>
                  <a:tcPr anchor="ctr"/>
                </a:tc>
                <a:extLst>
                  <a:ext uri="{0D108BD9-81ED-4DB2-BD59-A6C34878D82A}">
                    <a16:rowId xmlns:a16="http://schemas.microsoft.com/office/drawing/2014/main" val="2212586791"/>
                  </a:ext>
                </a:extLst>
              </a:tr>
            </a:tbl>
          </a:graphicData>
        </a:graphic>
      </p:graphicFrame>
      <p:sp>
        <p:nvSpPr>
          <p:cNvPr id="4" name="TextBox 3">
            <a:extLst>
              <a:ext uri="{FF2B5EF4-FFF2-40B4-BE49-F238E27FC236}">
                <a16:creationId xmlns:a16="http://schemas.microsoft.com/office/drawing/2014/main" id="{7FAD77B0-E4F3-E7D2-28F2-1A3DD4A62BCC}"/>
              </a:ext>
            </a:extLst>
          </p:cNvPr>
          <p:cNvSpPr txBox="1"/>
          <p:nvPr/>
        </p:nvSpPr>
        <p:spPr>
          <a:xfrm>
            <a:off x="365616" y="4746317"/>
            <a:ext cx="11640027" cy="1631216"/>
          </a:xfrm>
          <a:prstGeom prst="rect">
            <a:avLst/>
          </a:prstGeom>
          <a:noFill/>
        </p:spPr>
        <p:txBody>
          <a:bodyPr wrap="square" rtlCol="0">
            <a:spAutoFit/>
          </a:bodyPr>
          <a:lstStyle/>
          <a:p>
            <a:r>
              <a:rPr lang="en-US" sz="2000" b="1" err="1">
                <a:latin typeface="Times New Roman" panose="02020603050405020304" pitchFamily="18" charset="0"/>
                <a:cs typeface="Times New Roman" panose="02020603050405020304" pitchFamily="18" charset="0"/>
              </a:rPr>
              <a:t>Nhận</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xét</a:t>
            </a:r>
            <a:r>
              <a:rPr lang="en-US" sz="2000" b="1">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Ta </a:t>
            </a:r>
            <a:r>
              <a:rPr lang="en-US" sz="2000" err="1">
                <a:latin typeface="Times New Roman" panose="02020603050405020304" pitchFamily="18" charset="0"/>
                <a:cs typeface="Times New Roman" panose="02020603050405020304" pitchFamily="18" charset="0"/>
              </a:rPr>
              <a:t>thấy</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tổng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công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suất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đầu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ra</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của</a:t>
            </a:r>
            <a:r>
              <a:rPr lang="en-US" sz="2000">
                <a:latin typeface="Times New Roman" panose="02020603050405020304" pitchFamily="18" charset="0"/>
                <a:cs typeface="Times New Roman" panose="02020603050405020304" pitchFamily="18" charset="0"/>
              </a:rPr>
              <a:t> 2 </a:t>
            </a:r>
            <a:r>
              <a:rPr lang="en-US" sz="2000" err="1">
                <a:latin typeface="Times New Roman" panose="02020603050405020304" pitchFamily="18" charset="0"/>
                <a:cs typeface="Times New Roman" panose="02020603050405020304" pitchFamily="18" charset="0"/>
              </a:rPr>
              <a:t>bộ</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nghịch</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lưu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bám</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sát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giá</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trị</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đặt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sai</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số</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nhỏ</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đảm</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bảo</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tỷ</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lệ</a:t>
            </a:r>
            <a:r>
              <a:rPr lang="en-US" sz="2000">
                <a:latin typeface="Times New Roman" panose="02020603050405020304" pitchFamily="18" charset="0"/>
                <a:cs typeface="Times New Roman" panose="02020603050405020304" pitchFamily="18" charset="0"/>
              </a:rPr>
              <a:t> chia </a:t>
            </a:r>
            <a:r>
              <a:rPr lang="en-US" sz="2000" err="1">
                <a:latin typeface="Times New Roman" panose="02020603050405020304" pitchFamily="18" charset="0"/>
                <a:cs typeface="Times New Roman" panose="02020603050405020304" pitchFamily="18" charset="0"/>
              </a:rPr>
              <a:t>sẻ</a:t>
            </a:r>
            <a:r>
              <a:rPr lang="en-US" sz="2000">
                <a:latin typeface="Times New Roman" panose="02020603050405020304" pitchFamily="18" charset="0"/>
                <a:cs typeface="Times New Roman" panose="02020603050405020304" pitchFamily="18" charset="0"/>
              </a:rPr>
              <a:t> 1:1</a:t>
            </a:r>
          </a:p>
          <a:p>
            <a:pPr marL="342900" indent="-342900">
              <a:buFont typeface="Arial" panose="020B0604020202020204" pitchFamily="34" charset="0"/>
              <a:buChar char="•"/>
            </a:pPr>
            <a:r>
              <a:rPr lang="en-US" sz="2000" err="1">
                <a:latin typeface="Times New Roman" panose="02020603050405020304" pitchFamily="18" charset="0"/>
                <a:cs typeface="Times New Roman" panose="02020603050405020304" pitchFamily="18" charset="0"/>
              </a:rPr>
              <a:t>Điện</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áp</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đầu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ra</a:t>
            </a:r>
            <a:r>
              <a:rPr lang="en-US" sz="2000">
                <a:latin typeface="Times New Roman" panose="02020603050405020304" pitchFamily="18" charset="0"/>
                <a:cs typeface="Times New Roman" panose="02020603050405020304" pitchFamily="18" charset="0"/>
              </a:rPr>
              <a:t> 2 </a:t>
            </a:r>
            <a:r>
              <a:rPr lang="en-US" sz="2000" err="1">
                <a:latin typeface="Times New Roman" panose="02020603050405020304" pitchFamily="18" charset="0"/>
                <a:cs typeface="Times New Roman" panose="02020603050405020304" pitchFamily="18" charset="0"/>
              </a:rPr>
              <a:t>bộ</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không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thay</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đổi</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trong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suốt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quá</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trình</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mô</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phỏng</a:t>
            </a:r>
            <a:endParaRPr lang="en-US"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2000">
                <a:latin typeface="Times New Roman" panose="02020603050405020304" pitchFamily="18" charset="0"/>
                <a:cs typeface="Times New Roman" panose="02020603050405020304" pitchFamily="18" charset="0"/>
              </a:rPr>
              <a:t>Tại thời điểm thêm tải, dòng điện và công suất phản kháng có sự tăng vọt mạnh, công suất tác dụng có thời gian quá độ khá dài.</a:t>
            </a:r>
            <a:endParaRPr lang="en-US" sz="2000">
              <a:latin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id="{E1B51628-B36E-2DBB-29DE-7212B3BC5C8D}"/>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80CB3B28-F173-1877-C1BA-5924E984567F}"/>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3: </a:t>
              </a:r>
              <a:r>
                <a:rPr lang="en-US" sz="2133" b="1">
                  <a:solidFill>
                    <a:srgbClr val="000000"/>
                  </a:solidFill>
                  <a:latin typeface="Arial (Body)"/>
                  <a:ea typeface="Aptos" panose="020B0004020202020204" pitchFamily="34" charset="0"/>
                </a:rPr>
                <a:t>MÔ PHỎNG</a:t>
              </a:r>
              <a:endParaRPr lang="en-US" sz="2133" b="1">
                <a:latin typeface="Arial (Body)"/>
              </a:endParaRPr>
            </a:p>
          </p:txBody>
        </p:sp>
        <p:sp>
          <p:nvSpPr>
            <p:cNvPr id="13" name="Rectangle 12">
              <a:extLst>
                <a:ext uri="{FF2B5EF4-FFF2-40B4-BE49-F238E27FC236}">
                  <a16:creationId xmlns:a16="http://schemas.microsoft.com/office/drawing/2014/main" id="{F2315027-4484-1088-AC92-F0A40078855E}"/>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5" name="Hộp Văn bản 4">
            <a:extLst>
              <a:ext uri="{FF2B5EF4-FFF2-40B4-BE49-F238E27FC236}">
                <a16:creationId xmlns:a16="http://schemas.microsoft.com/office/drawing/2014/main" id="{705142BC-82C4-9CC0-2741-3648D9A2F585}"/>
              </a:ext>
            </a:extLst>
          </p:cNvPr>
          <p:cNvSpPr txBox="1"/>
          <p:nvPr/>
        </p:nvSpPr>
        <p:spPr>
          <a:xfrm>
            <a:off x="429894" y="936184"/>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30905248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3ED83-45F7-82BC-CE79-9B1F11A6A79A}"/>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0C1A10BB-C070-5359-E1D0-C9CC9C3B0174}"/>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C45A05F4-D01D-4499-1918-002F4F86DD81}"/>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158E9FDF-E411-2DB2-E651-79398718C073}"/>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5" name="TextBox 4">
            <a:extLst>
              <a:ext uri="{FF2B5EF4-FFF2-40B4-BE49-F238E27FC236}">
                <a16:creationId xmlns:a16="http://schemas.microsoft.com/office/drawing/2014/main" id="{B521B27D-46AD-A5BB-B664-614FB8EB6972}"/>
              </a:ext>
            </a:extLst>
          </p:cNvPr>
          <p:cNvSpPr txBox="1"/>
          <p:nvPr/>
        </p:nvSpPr>
        <p:spPr>
          <a:xfrm>
            <a:off x="510284" y="1249402"/>
            <a:ext cx="11182350" cy="646331"/>
          </a:xfrm>
          <a:prstGeom prst="rect">
            <a:avLst/>
          </a:prstGeom>
          <a:noFill/>
        </p:spPr>
        <p:txBody>
          <a:bodyPr wrap="square" rtlCol="0">
            <a:spAutoFit/>
          </a:bodyPr>
          <a:lstStyle/>
          <a:p>
            <a:r>
              <a:rPr lang="vi-VN"/>
              <a:t>Kịch bản 4: Mô phỏng 2 inverter làm việc song song với tải RL công suất 8000 W + 4000 VA. Tỉ lệ chia sẻ công suất 1:1. Tại 0.3s ngắt tải RL có công suất 4000W+2000VA  .</a:t>
            </a:r>
            <a:endParaRPr lang="en-ID"/>
          </a:p>
        </p:txBody>
      </p:sp>
      <p:pic>
        <p:nvPicPr>
          <p:cNvPr id="7" name="Hình ảnh 6">
            <a:extLst>
              <a:ext uri="{FF2B5EF4-FFF2-40B4-BE49-F238E27FC236}">
                <a16:creationId xmlns:a16="http://schemas.microsoft.com/office/drawing/2014/main" id="{8CB677A3-A59C-683A-968D-21E32E4EEB8A}"/>
              </a:ext>
            </a:extLst>
          </p:cNvPr>
          <p:cNvPicPr>
            <a:picLocks noChangeAspect="1"/>
          </p:cNvPicPr>
          <p:nvPr/>
        </p:nvPicPr>
        <p:blipFill>
          <a:blip r:embed="rId2"/>
          <a:stretch>
            <a:fillRect/>
          </a:stretch>
        </p:blipFill>
        <p:spPr>
          <a:xfrm>
            <a:off x="1438844" y="2022193"/>
            <a:ext cx="8806962" cy="4706105"/>
          </a:xfrm>
          <a:prstGeom prst="rect">
            <a:avLst/>
          </a:prstGeom>
        </p:spPr>
      </p:pic>
      <p:sp>
        <p:nvSpPr>
          <p:cNvPr id="6" name="Hộp Văn bản 5">
            <a:extLst>
              <a:ext uri="{FF2B5EF4-FFF2-40B4-BE49-F238E27FC236}">
                <a16:creationId xmlns:a16="http://schemas.microsoft.com/office/drawing/2014/main" id="{602C26B6-EBB5-08B6-CECB-1669D0F84C22}"/>
              </a:ext>
            </a:extLst>
          </p:cNvPr>
          <p:cNvSpPr txBox="1"/>
          <p:nvPr/>
        </p:nvSpPr>
        <p:spPr>
          <a:xfrm>
            <a:off x="510284" y="833516"/>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8029655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A6384-84E9-A70F-6BCF-53149763018E}"/>
            </a:ext>
          </a:extLst>
        </p:cNvPr>
        <p:cNvGrpSpPr/>
        <p:nvPr/>
      </p:nvGrpSpPr>
      <p:grpSpPr>
        <a:xfrm>
          <a:off x="0" y="0"/>
          <a:ext cx="0" cy="0"/>
          <a:chOff x="0" y="0"/>
          <a:chExt cx="0" cy="0"/>
        </a:xfrm>
      </p:grpSpPr>
      <p:pic>
        <p:nvPicPr>
          <p:cNvPr id="6" name="Hình ảnh 5">
            <a:extLst>
              <a:ext uri="{FF2B5EF4-FFF2-40B4-BE49-F238E27FC236}">
                <a16:creationId xmlns:a16="http://schemas.microsoft.com/office/drawing/2014/main" id="{E5DD186F-64AA-41AC-FDFA-8C21CDD8A712}"/>
              </a:ext>
            </a:extLst>
          </p:cNvPr>
          <p:cNvPicPr>
            <a:picLocks noChangeAspect="1"/>
          </p:cNvPicPr>
          <p:nvPr/>
        </p:nvPicPr>
        <p:blipFill>
          <a:blip r:embed="rId2"/>
          <a:stretch>
            <a:fillRect/>
          </a:stretch>
        </p:blipFill>
        <p:spPr>
          <a:xfrm>
            <a:off x="446824" y="1291545"/>
            <a:ext cx="5445152" cy="2570770"/>
          </a:xfrm>
          <a:prstGeom prst="rect">
            <a:avLst/>
          </a:prstGeom>
        </p:spPr>
      </p:pic>
      <p:grpSp>
        <p:nvGrpSpPr>
          <p:cNvPr id="2" name="Group 17">
            <a:extLst>
              <a:ext uri="{FF2B5EF4-FFF2-40B4-BE49-F238E27FC236}">
                <a16:creationId xmlns:a16="http://schemas.microsoft.com/office/drawing/2014/main" id="{177DF629-809A-1437-873A-07D9E01439FC}"/>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ABC31FBF-A3BE-AA7E-6D24-78615DF78C61}"/>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249754DC-A4B8-B3A9-12D9-AEAF9F941770}"/>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cxnSp>
        <p:nvCxnSpPr>
          <p:cNvPr id="7" name="Đường nối Thẳng 6">
            <a:extLst>
              <a:ext uri="{FF2B5EF4-FFF2-40B4-BE49-F238E27FC236}">
                <a16:creationId xmlns:a16="http://schemas.microsoft.com/office/drawing/2014/main" id="{FB317CCD-53BE-D827-03F5-5A1AAF4750D2}"/>
              </a:ext>
            </a:extLst>
          </p:cNvPr>
          <p:cNvCxnSpPr/>
          <p:nvPr/>
        </p:nvCxnSpPr>
        <p:spPr>
          <a:xfrm>
            <a:off x="6186792" y="941029"/>
            <a:ext cx="0" cy="5625911"/>
          </a:xfrm>
          <a:prstGeom prst="line">
            <a:avLst/>
          </a:prstGeom>
        </p:spPr>
        <p:style>
          <a:lnRef idx="1">
            <a:schemeClr val="accent1"/>
          </a:lnRef>
          <a:fillRef idx="0">
            <a:schemeClr val="accent1"/>
          </a:fillRef>
          <a:effectRef idx="0">
            <a:schemeClr val="accent1"/>
          </a:effectRef>
          <a:fontRef idx="minor">
            <a:schemeClr val="tx1"/>
          </a:fontRef>
        </p:style>
      </p:cxnSp>
      <p:sp>
        <p:nvSpPr>
          <p:cNvPr id="9" name="Hình chữ nhật 8">
            <a:extLst>
              <a:ext uri="{FF2B5EF4-FFF2-40B4-BE49-F238E27FC236}">
                <a16:creationId xmlns:a16="http://schemas.microsoft.com/office/drawing/2014/main" id="{1310FDC6-0688-4E2E-F62D-8C3E6118574F}"/>
              </a:ext>
            </a:extLst>
          </p:cNvPr>
          <p:cNvSpPr/>
          <p:nvPr/>
        </p:nvSpPr>
        <p:spPr>
          <a:xfrm>
            <a:off x="3114256" y="1416642"/>
            <a:ext cx="618125" cy="58366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vi-VN"/>
          </a:p>
        </p:txBody>
      </p:sp>
      <p:cxnSp>
        <p:nvCxnSpPr>
          <p:cNvPr id="11" name="Đường kết nối Mũi tên Thẳng 10">
            <a:extLst>
              <a:ext uri="{FF2B5EF4-FFF2-40B4-BE49-F238E27FC236}">
                <a16:creationId xmlns:a16="http://schemas.microsoft.com/office/drawing/2014/main" id="{06672A5F-97B6-A542-B878-D044331F5A3B}"/>
              </a:ext>
            </a:extLst>
          </p:cNvPr>
          <p:cNvCxnSpPr>
            <a:cxnSpLocks/>
            <a:stCxn id="9" idx="1"/>
          </p:cNvCxnSpPr>
          <p:nvPr/>
        </p:nvCxnSpPr>
        <p:spPr>
          <a:xfrm flipH="1">
            <a:off x="510284" y="1708472"/>
            <a:ext cx="2603972" cy="25125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Đường kết nối Mũi tên Thẳng 11">
            <a:extLst>
              <a:ext uri="{FF2B5EF4-FFF2-40B4-BE49-F238E27FC236}">
                <a16:creationId xmlns:a16="http://schemas.microsoft.com/office/drawing/2014/main" id="{F32D66E7-CA3B-F851-5CB9-0EF42649D991}"/>
              </a:ext>
            </a:extLst>
          </p:cNvPr>
          <p:cNvCxnSpPr>
            <a:cxnSpLocks/>
            <a:stCxn id="9" idx="3"/>
          </p:cNvCxnSpPr>
          <p:nvPr/>
        </p:nvCxnSpPr>
        <p:spPr>
          <a:xfrm>
            <a:off x="3732381" y="1708472"/>
            <a:ext cx="2048338" cy="25125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Hộp Văn bản 16">
            <a:extLst>
              <a:ext uri="{FF2B5EF4-FFF2-40B4-BE49-F238E27FC236}">
                <a16:creationId xmlns:a16="http://schemas.microsoft.com/office/drawing/2014/main" id="{B28A9238-9F37-EDAB-BF1E-4F213EB4701A}"/>
              </a:ext>
            </a:extLst>
          </p:cNvPr>
          <p:cNvSpPr txBox="1"/>
          <p:nvPr/>
        </p:nvSpPr>
        <p:spPr>
          <a:xfrm>
            <a:off x="1763437" y="3949105"/>
            <a:ext cx="2978545" cy="369332"/>
          </a:xfrm>
          <a:prstGeom prst="rect">
            <a:avLst/>
          </a:prstGeom>
          <a:noFill/>
        </p:spPr>
        <p:txBody>
          <a:bodyPr wrap="square">
            <a:spAutoFit/>
          </a:bodyPr>
          <a:lstStyle/>
          <a:p>
            <a:pPr algn="ctr"/>
            <a:r>
              <a:rPr lang="vi-VN"/>
              <a:t>Đáp ứng điện áp đầu ra</a:t>
            </a:r>
            <a:endParaRPr lang="en-ID"/>
          </a:p>
        </p:txBody>
      </p:sp>
      <p:sp>
        <p:nvSpPr>
          <p:cNvPr id="29" name="Hộp Văn bản 28">
            <a:extLst>
              <a:ext uri="{FF2B5EF4-FFF2-40B4-BE49-F238E27FC236}">
                <a16:creationId xmlns:a16="http://schemas.microsoft.com/office/drawing/2014/main" id="{368D52BB-E191-DCB1-6C0E-A9C8E95F5C27}"/>
              </a:ext>
            </a:extLst>
          </p:cNvPr>
          <p:cNvSpPr txBox="1"/>
          <p:nvPr/>
        </p:nvSpPr>
        <p:spPr>
          <a:xfrm>
            <a:off x="7251672" y="3889828"/>
            <a:ext cx="3931919" cy="369332"/>
          </a:xfrm>
          <a:prstGeom prst="rect">
            <a:avLst/>
          </a:prstGeom>
          <a:noFill/>
        </p:spPr>
        <p:txBody>
          <a:bodyPr wrap="square">
            <a:spAutoFit/>
          </a:bodyPr>
          <a:lstStyle/>
          <a:p>
            <a:pPr algn="ctr"/>
            <a:r>
              <a:rPr lang="vi-VN"/>
              <a:t>Đáp ứng dòng điện trên cuộn cảm</a:t>
            </a:r>
            <a:endParaRPr lang="en-ID"/>
          </a:p>
        </p:txBody>
      </p:sp>
      <p:pic>
        <p:nvPicPr>
          <p:cNvPr id="10" name="Hình ảnh 9">
            <a:extLst>
              <a:ext uri="{FF2B5EF4-FFF2-40B4-BE49-F238E27FC236}">
                <a16:creationId xmlns:a16="http://schemas.microsoft.com/office/drawing/2014/main" id="{21EAE808-6E65-71D9-7576-4AB6A691C9DD}"/>
              </a:ext>
            </a:extLst>
          </p:cNvPr>
          <p:cNvPicPr>
            <a:picLocks noChangeAspect="1"/>
          </p:cNvPicPr>
          <p:nvPr/>
        </p:nvPicPr>
        <p:blipFill>
          <a:blip r:embed="rId3"/>
          <a:stretch>
            <a:fillRect/>
          </a:stretch>
        </p:blipFill>
        <p:spPr>
          <a:xfrm>
            <a:off x="510284" y="4307817"/>
            <a:ext cx="5339510" cy="2519581"/>
          </a:xfrm>
          <a:prstGeom prst="rect">
            <a:avLst/>
          </a:prstGeom>
        </p:spPr>
      </p:pic>
      <p:pic>
        <p:nvPicPr>
          <p:cNvPr id="14" name="Hình ảnh 13">
            <a:extLst>
              <a:ext uri="{FF2B5EF4-FFF2-40B4-BE49-F238E27FC236}">
                <a16:creationId xmlns:a16="http://schemas.microsoft.com/office/drawing/2014/main" id="{8115299A-1DC7-7899-A043-428ECC461CC2}"/>
              </a:ext>
            </a:extLst>
          </p:cNvPr>
          <p:cNvPicPr>
            <a:picLocks noChangeAspect="1"/>
          </p:cNvPicPr>
          <p:nvPr/>
        </p:nvPicPr>
        <p:blipFill>
          <a:blip r:embed="rId4"/>
          <a:stretch>
            <a:fillRect/>
          </a:stretch>
        </p:blipFill>
        <p:spPr>
          <a:xfrm>
            <a:off x="6307674" y="1041632"/>
            <a:ext cx="5724080" cy="2712352"/>
          </a:xfrm>
          <a:prstGeom prst="rect">
            <a:avLst/>
          </a:prstGeom>
        </p:spPr>
      </p:pic>
      <p:sp>
        <p:nvSpPr>
          <p:cNvPr id="13" name="Hộp Văn bản 12">
            <a:extLst>
              <a:ext uri="{FF2B5EF4-FFF2-40B4-BE49-F238E27FC236}">
                <a16:creationId xmlns:a16="http://schemas.microsoft.com/office/drawing/2014/main" id="{85BD9783-800A-7EAF-F69C-DB1DB9480E3A}"/>
              </a:ext>
            </a:extLst>
          </p:cNvPr>
          <p:cNvSpPr txBox="1"/>
          <p:nvPr/>
        </p:nvSpPr>
        <p:spPr>
          <a:xfrm>
            <a:off x="510284" y="833516"/>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19708188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F91C6-A81C-ABE2-696F-E6A6B236E8E2}"/>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A3B3E48B-973A-DE4E-5AEA-969413CDAEC2}"/>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07D83850-D692-620B-7E87-EEFD0A1DC6D7}"/>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02C52CFD-0284-3CA6-BFCC-7550AD79647B}"/>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6" name="Hộp Văn bản 5">
            <a:extLst>
              <a:ext uri="{FF2B5EF4-FFF2-40B4-BE49-F238E27FC236}">
                <a16:creationId xmlns:a16="http://schemas.microsoft.com/office/drawing/2014/main" id="{499F7D1F-EE37-860B-2317-3250047FFFBF}"/>
              </a:ext>
            </a:extLst>
          </p:cNvPr>
          <p:cNvSpPr txBox="1"/>
          <p:nvPr/>
        </p:nvSpPr>
        <p:spPr>
          <a:xfrm>
            <a:off x="296924" y="5748912"/>
            <a:ext cx="4968240" cy="646331"/>
          </a:xfrm>
          <a:prstGeom prst="rect">
            <a:avLst/>
          </a:prstGeom>
          <a:noFill/>
        </p:spPr>
        <p:txBody>
          <a:bodyPr wrap="square">
            <a:spAutoFit/>
          </a:bodyPr>
          <a:lstStyle/>
          <a:p>
            <a:pPr algn="ctr"/>
            <a:r>
              <a:rPr lang="vi-VN"/>
              <a:t>Công suất tác dụng và công suất phản kháng trên 2 bộ nghịch lưu</a:t>
            </a:r>
            <a:endParaRPr lang="en-ID"/>
          </a:p>
        </p:txBody>
      </p:sp>
      <p:pic>
        <p:nvPicPr>
          <p:cNvPr id="5" name="Hình ảnh 4">
            <a:extLst>
              <a:ext uri="{FF2B5EF4-FFF2-40B4-BE49-F238E27FC236}">
                <a16:creationId xmlns:a16="http://schemas.microsoft.com/office/drawing/2014/main" id="{21AD7B39-1F90-994C-CCB5-5DF228B15CEC}"/>
              </a:ext>
            </a:extLst>
          </p:cNvPr>
          <p:cNvPicPr>
            <a:picLocks noChangeAspect="1"/>
          </p:cNvPicPr>
          <p:nvPr/>
        </p:nvPicPr>
        <p:blipFill>
          <a:blip r:embed="rId2"/>
          <a:stretch>
            <a:fillRect/>
          </a:stretch>
        </p:blipFill>
        <p:spPr>
          <a:xfrm>
            <a:off x="136930" y="1270211"/>
            <a:ext cx="6486499" cy="3054060"/>
          </a:xfrm>
          <a:prstGeom prst="rect">
            <a:avLst/>
          </a:prstGeom>
        </p:spPr>
      </p:pic>
      <p:pic>
        <p:nvPicPr>
          <p:cNvPr id="7" name="Hình ảnh 6">
            <a:extLst>
              <a:ext uri="{FF2B5EF4-FFF2-40B4-BE49-F238E27FC236}">
                <a16:creationId xmlns:a16="http://schemas.microsoft.com/office/drawing/2014/main" id="{D039BCB9-DB34-B998-F896-B9138EA2094E}"/>
              </a:ext>
            </a:extLst>
          </p:cNvPr>
          <p:cNvPicPr>
            <a:picLocks noChangeAspect="1"/>
          </p:cNvPicPr>
          <p:nvPr/>
        </p:nvPicPr>
        <p:blipFill>
          <a:blip r:embed="rId3"/>
          <a:stretch>
            <a:fillRect/>
          </a:stretch>
        </p:blipFill>
        <p:spPr>
          <a:xfrm>
            <a:off x="5554188" y="3594102"/>
            <a:ext cx="6500882" cy="3054060"/>
          </a:xfrm>
          <a:prstGeom prst="rect">
            <a:avLst/>
          </a:prstGeom>
        </p:spPr>
      </p:pic>
      <p:sp>
        <p:nvSpPr>
          <p:cNvPr id="8" name="Hộp Văn bản 7">
            <a:extLst>
              <a:ext uri="{FF2B5EF4-FFF2-40B4-BE49-F238E27FC236}">
                <a16:creationId xmlns:a16="http://schemas.microsoft.com/office/drawing/2014/main" id="{38636FC0-81E7-B85D-F95D-E6D47D6F4814}"/>
              </a:ext>
            </a:extLst>
          </p:cNvPr>
          <p:cNvSpPr txBox="1"/>
          <p:nvPr/>
        </p:nvSpPr>
        <p:spPr>
          <a:xfrm>
            <a:off x="510284" y="833516"/>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41441172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6D444-34FA-64EC-5914-A2657BBFC600}"/>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D51084E-801B-8199-146E-D87E9F4CF89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A5627AD9-56A0-8022-7E97-71F943E3E5AD}"/>
              </a:ext>
            </a:extLst>
          </p:cNvPr>
          <p:cNvSpPr>
            <a:spLocks noGrp="1"/>
          </p:cNvSpPr>
          <p:nvPr>
            <p:ph type="sldNum" sz="quarter" idx="12"/>
          </p:nvPr>
        </p:nvSpPr>
        <p:spPr/>
        <p:txBody>
          <a:bodyPr/>
          <a:lstStyle/>
          <a:p>
            <a:fld id="{931DD963-FD40-4A6D-88A9-402A489E81DE}" type="slidenum">
              <a:rPr lang="en-US" smtClean="0"/>
              <a:t>66</a:t>
            </a:fld>
            <a:endParaRPr lang="en-US"/>
          </a:p>
        </p:txBody>
      </p:sp>
      <p:graphicFrame>
        <p:nvGraphicFramePr>
          <p:cNvPr id="7" name="Object 6">
            <a:extLst>
              <a:ext uri="{FF2B5EF4-FFF2-40B4-BE49-F238E27FC236}">
                <a16:creationId xmlns:a16="http://schemas.microsoft.com/office/drawing/2014/main" id="{CD5AE55A-1884-665B-6555-C3EC36647B85}"/>
              </a:ext>
            </a:extLst>
          </p:cNvPr>
          <p:cNvGraphicFramePr>
            <a:graphicFrameLocks noChangeAspect="1"/>
          </p:cNvGraphicFramePr>
          <p:nvPr/>
        </p:nvGraphicFramePr>
        <p:xfrm>
          <a:off x="4394200" y="2387600"/>
          <a:ext cx="914400" cy="198438"/>
        </p:xfrm>
        <a:graphic>
          <a:graphicData uri="http://schemas.openxmlformats.org/presentationml/2006/ole">
            <mc:AlternateContent xmlns:mc="http://schemas.openxmlformats.org/markup-compatibility/2006">
              <mc:Choice xmlns:v="urn:schemas-microsoft-com:vml" Requires="v">
                <p:oleObj name="Equation" r:id="rId2" imgW="914400" imgH="198720" progId="Equation.DSMT4">
                  <p:embed/>
                </p:oleObj>
              </mc:Choice>
              <mc:Fallback>
                <p:oleObj name="Equation" r:id="rId2" imgW="914400" imgH="198720" progId="Equation.DSMT4">
                  <p:embed/>
                  <p:pic>
                    <p:nvPicPr>
                      <p:cNvPr id="7" name="Object 6">
                        <a:extLst>
                          <a:ext uri="{FF2B5EF4-FFF2-40B4-BE49-F238E27FC236}">
                            <a16:creationId xmlns:a16="http://schemas.microsoft.com/office/drawing/2014/main" id="{CD5AE55A-1884-665B-6555-C3EC36647B85}"/>
                          </a:ext>
                        </a:extLst>
                      </p:cNvPr>
                      <p:cNvPicPr/>
                      <p:nvPr/>
                    </p:nvPicPr>
                    <p:blipFill>
                      <a:blip r:embed="rId3"/>
                      <a:stretch>
                        <a:fillRect/>
                      </a:stretch>
                    </p:blipFill>
                    <p:spPr>
                      <a:xfrm>
                        <a:off x="4394200" y="2387600"/>
                        <a:ext cx="914400" cy="198438"/>
                      </a:xfrm>
                      <a:prstGeom prst="rect">
                        <a:avLst/>
                      </a:prstGeom>
                    </p:spPr>
                  </p:pic>
                </p:oleObj>
              </mc:Fallback>
            </mc:AlternateContent>
          </a:graphicData>
        </a:graphic>
      </p:graphicFrame>
      <p:graphicFrame>
        <p:nvGraphicFramePr>
          <p:cNvPr id="14" name="Table 13">
            <a:extLst>
              <a:ext uri="{FF2B5EF4-FFF2-40B4-BE49-F238E27FC236}">
                <a16:creationId xmlns:a16="http://schemas.microsoft.com/office/drawing/2014/main" id="{E942F168-ADF2-0E2F-CFC1-F9FD4EA5B409}"/>
              </a:ext>
            </a:extLst>
          </p:cNvPr>
          <p:cNvGraphicFramePr>
            <a:graphicFrameLocks noGrp="1"/>
          </p:cNvGraphicFramePr>
          <p:nvPr/>
        </p:nvGraphicFramePr>
        <p:xfrm>
          <a:off x="365616" y="3536181"/>
          <a:ext cx="6917019" cy="2446671"/>
        </p:xfrm>
        <a:graphic>
          <a:graphicData uri="http://schemas.openxmlformats.org/drawingml/2006/table">
            <a:tbl>
              <a:tblPr firstRow="1" bandRow="1">
                <a:tableStyleId>{5C22544A-7EE6-4342-B048-85BDC9FD1C3A}</a:tableStyleId>
              </a:tblPr>
              <a:tblGrid>
                <a:gridCol w="691029">
                  <a:extLst>
                    <a:ext uri="{9D8B030D-6E8A-4147-A177-3AD203B41FA5}">
                      <a16:colId xmlns:a16="http://schemas.microsoft.com/office/drawing/2014/main" val="3998854459"/>
                    </a:ext>
                  </a:extLst>
                </a:gridCol>
                <a:gridCol w="3321424">
                  <a:extLst>
                    <a:ext uri="{9D8B030D-6E8A-4147-A177-3AD203B41FA5}">
                      <a16:colId xmlns:a16="http://schemas.microsoft.com/office/drawing/2014/main" val="3372512979"/>
                    </a:ext>
                  </a:extLst>
                </a:gridCol>
                <a:gridCol w="860612">
                  <a:extLst>
                    <a:ext uri="{9D8B030D-6E8A-4147-A177-3AD203B41FA5}">
                      <a16:colId xmlns:a16="http://schemas.microsoft.com/office/drawing/2014/main" val="1462865521"/>
                    </a:ext>
                  </a:extLst>
                </a:gridCol>
                <a:gridCol w="981635">
                  <a:extLst>
                    <a:ext uri="{9D8B030D-6E8A-4147-A177-3AD203B41FA5}">
                      <a16:colId xmlns:a16="http://schemas.microsoft.com/office/drawing/2014/main" val="156630398"/>
                    </a:ext>
                  </a:extLst>
                </a:gridCol>
                <a:gridCol w="1062319">
                  <a:extLst>
                    <a:ext uri="{9D8B030D-6E8A-4147-A177-3AD203B41FA5}">
                      <a16:colId xmlns:a16="http://schemas.microsoft.com/office/drawing/2014/main" val="3496083406"/>
                    </a:ext>
                  </a:extLst>
                </a:gridCol>
              </a:tblGrid>
              <a:tr h="761234">
                <a:tc>
                  <a:txBody>
                    <a:bodyPr/>
                    <a:lstStyle/>
                    <a:p>
                      <a:pPr algn="ctr"/>
                      <a:r>
                        <a:rPr lang="en-US"/>
                        <a:t>Kết quả</a:t>
                      </a:r>
                    </a:p>
                  </a:txBody>
                  <a:tcPr anchor="ctr"/>
                </a:tc>
                <a:tc>
                  <a:txBody>
                    <a:bodyPr/>
                    <a:lstStyle/>
                    <a:p>
                      <a:pPr algn="ctr"/>
                      <a:r>
                        <a:rPr lang="en-US" err="1"/>
                        <a:t>Tham</a:t>
                      </a:r>
                      <a:r>
                        <a:rPr lang="en-US"/>
                        <a:t> </a:t>
                      </a:r>
                      <a:r>
                        <a:rPr lang="en-US" err="1"/>
                        <a:t>số</a:t>
                      </a:r>
                      <a:endParaRPr lang="en-US"/>
                    </a:p>
                  </a:txBody>
                  <a:tcPr anchor="ctr"/>
                </a:tc>
                <a:tc>
                  <a:txBody>
                    <a:bodyPr/>
                    <a:lstStyle/>
                    <a:p>
                      <a:pPr algn="ctr"/>
                      <a:r>
                        <a:rPr lang="en-US"/>
                        <a:t>GT lý thuyết (W)</a:t>
                      </a:r>
                    </a:p>
                  </a:txBody>
                  <a:tcPr anchor="ctr"/>
                </a:tc>
                <a:tc>
                  <a:txBody>
                    <a:bodyPr/>
                    <a:lstStyle/>
                    <a:p>
                      <a:pPr algn="ctr"/>
                      <a:r>
                        <a:rPr lang="en-US"/>
                        <a:t>GT </a:t>
                      </a:r>
                      <a:r>
                        <a:rPr lang="en-US" err="1"/>
                        <a:t>mô</a:t>
                      </a:r>
                      <a:r>
                        <a:rPr lang="en-US"/>
                        <a:t> </a:t>
                      </a:r>
                      <a:r>
                        <a:rPr lang="en-US" err="1"/>
                        <a:t>phỏng</a:t>
                      </a:r>
                      <a:r>
                        <a:rPr lang="en-US"/>
                        <a:t> </a:t>
                      </a:r>
                    </a:p>
                    <a:p>
                      <a:pPr algn="ctr"/>
                      <a:r>
                        <a:rPr lang="en-US"/>
                        <a:t>(W)</a:t>
                      </a:r>
                    </a:p>
                  </a:txBody>
                  <a:tcPr anchor="ctr"/>
                </a:tc>
                <a:tc>
                  <a:txBody>
                    <a:bodyPr/>
                    <a:lstStyle/>
                    <a:p>
                      <a:pPr algn="ctr"/>
                      <a:r>
                        <a:rPr lang="en-US"/>
                        <a:t>Sai số</a:t>
                      </a:r>
                    </a:p>
                  </a:txBody>
                  <a:tcPr anchor="ctr"/>
                </a:tc>
                <a:extLst>
                  <a:ext uri="{0D108BD9-81ED-4DB2-BD59-A6C34878D82A}">
                    <a16:rowId xmlns:a16="http://schemas.microsoft.com/office/drawing/2014/main" val="305514116"/>
                  </a:ext>
                </a:extLst>
              </a:tr>
              <a:tr h="434991">
                <a:tc>
                  <a:txBody>
                    <a:bodyPr/>
                    <a:lstStyle/>
                    <a:p>
                      <a:pPr algn="ctr"/>
                      <a:r>
                        <a:rPr lang="en-US"/>
                        <a:t>P1</a:t>
                      </a:r>
                    </a:p>
                  </a:txBody>
                  <a:tcPr anchor="ctr"/>
                </a:tc>
                <a:tc>
                  <a:txBody>
                    <a:bodyPr/>
                    <a:lstStyle/>
                    <a:p>
                      <a:pPr algn="ctr"/>
                      <a:r>
                        <a:rPr lang="en-US"/>
                        <a:t>Công suất bộ 1 ban đầu</a:t>
                      </a:r>
                    </a:p>
                  </a:txBody>
                  <a:tcPr anchor="ctr"/>
                </a:tc>
                <a:tc>
                  <a:txBody>
                    <a:bodyPr/>
                    <a:lstStyle/>
                    <a:p>
                      <a:pPr algn="ctr"/>
                      <a:r>
                        <a:rPr lang="en-US"/>
                        <a:t>4000</a:t>
                      </a:r>
                    </a:p>
                  </a:txBody>
                  <a:tcPr anchor="ctr"/>
                </a:tc>
                <a:tc>
                  <a:txBody>
                    <a:bodyPr/>
                    <a:lstStyle/>
                    <a:p>
                      <a:pPr algn="ctr"/>
                      <a:r>
                        <a:rPr lang="en-US"/>
                        <a:t>4011</a:t>
                      </a:r>
                    </a:p>
                  </a:txBody>
                  <a:tcPr anchor="ctr"/>
                </a:tc>
                <a:tc>
                  <a:txBody>
                    <a:bodyPr/>
                    <a:lstStyle/>
                    <a:p>
                      <a:pPr algn="ctr"/>
                      <a:r>
                        <a:rPr lang="en-US"/>
                        <a:t>0,28%</a:t>
                      </a:r>
                    </a:p>
                  </a:txBody>
                  <a:tcPr anchor="ctr"/>
                </a:tc>
                <a:extLst>
                  <a:ext uri="{0D108BD9-81ED-4DB2-BD59-A6C34878D82A}">
                    <a16:rowId xmlns:a16="http://schemas.microsoft.com/office/drawing/2014/main" val="2136588521"/>
                  </a:ext>
                </a:extLst>
              </a:tr>
              <a:tr h="217496">
                <a:tc>
                  <a:txBody>
                    <a:bodyPr/>
                    <a:lstStyle/>
                    <a:p>
                      <a:pPr algn="ctr"/>
                      <a:r>
                        <a:rPr lang="en-US"/>
                        <a:t>P2</a:t>
                      </a:r>
                    </a:p>
                  </a:txBody>
                  <a:tcPr anchor="ctr"/>
                </a:tc>
                <a:tc>
                  <a:txBody>
                    <a:bodyPr/>
                    <a:lstStyle/>
                    <a:p>
                      <a:pPr algn="ctr"/>
                      <a:r>
                        <a:rPr lang="en-US"/>
                        <a:t>Công suất bộ 2 ban đầu</a:t>
                      </a:r>
                    </a:p>
                  </a:txBody>
                  <a:tcPr anchor="ctr"/>
                </a:tc>
                <a:tc>
                  <a:txBody>
                    <a:bodyPr/>
                    <a:lstStyle/>
                    <a:p>
                      <a:pPr algn="ctr"/>
                      <a:r>
                        <a:rPr lang="en-US"/>
                        <a:t>4000</a:t>
                      </a:r>
                    </a:p>
                  </a:txBody>
                  <a:tcPr anchor="ctr"/>
                </a:tc>
                <a:tc>
                  <a:txBody>
                    <a:bodyPr/>
                    <a:lstStyle/>
                    <a:p>
                      <a:pPr algn="ctr"/>
                      <a:r>
                        <a:rPr lang="en-US"/>
                        <a:t>4011</a:t>
                      </a:r>
                    </a:p>
                  </a:txBody>
                  <a:tcPr anchor="ctr"/>
                </a:tc>
                <a:tc>
                  <a:txBody>
                    <a:bodyPr/>
                    <a:lstStyle/>
                    <a:p>
                      <a:pPr algn="ctr"/>
                      <a:r>
                        <a:rPr lang="en-US"/>
                        <a:t>0,28%</a:t>
                      </a:r>
                    </a:p>
                  </a:txBody>
                  <a:tcPr anchor="ctr"/>
                </a:tc>
                <a:extLst>
                  <a:ext uri="{0D108BD9-81ED-4DB2-BD59-A6C34878D82A}">
                    <a16:rowId xmlns:a16="http://schemas.microsoft.com/office/drawing/2014/main" val="2469670652"/>
                  </a:ext>
                </a:extLst>
              </a:tr>
              <a:tr h="182880">
                <a:tc>
                  <a:txBody>
                    <a:bodyPr/>
                    <a:lstStyle/>
                    <a:p>
                      <a:pPr algn="ctr"/>
                      <a:r>
                        <a:rPr lang="en-US"/>
                        <a:t>P1</a:t>
                      </a:r>
                    </a:p>
                  </a:txBody>
                  <a:tcPr anchor="ctr"/>
                </a:tc>
                <a:tc>
                  <a:txBody>
                    <a:bodyPr/>
                    <a:lstStyle/>
                    <a:p>
                      <a:pPr algn="ctr"/>
                      <a:r>
                        <a:rPr lang="en-US" err="1"/>
                        <a:t>Công</a:t>
                      </a:r>
                      <a:r>
                        <a:rPr lang="en-US"/>
                        <a:t> </a:t>
                      </a:r>
                      <a:r>
                        <a:rPr lang="en-US" err="1"/>
                        <a:t>suất</a:t>
                      </a:r>
                      <a:r>
                        <a:rPr lang="en-US"/>
                        <a:t> </a:t>
                      </a:r>
                      <a:r>
                        <a:rPr lang="en-US" err="1"/>
                        <a:t>bộ</a:t>
                      </a:r>
                      <a:r>
                        <a:rPr lang="en-US"/>
                        <a:t> 1 </a:t>
                      </a:r>
                      <a:r>
                        <a:rPr lang="en-US" err="1"/>
                        <a:t>sau</a:t>
                      </a:r>
                      <a:r>
                        <a:rPr lang="en-US"/>
                        <a:t> </a:t>
                      </a:r>
                      <a:r>
                        <a:rPr lang="en-US" err="1"/>
                        <a:t>khi</a:t>
                      </a:r>
                      <a:r>
                        <a:rPr lang="en-US"/>
                        <a:t> </a:t>
                      </a:r>
                      <a:r>
                        <a:rPr lang="vi-VN"/>
                        <a:t>ngắt </a:t>
                      </a:r>
                      <a:r>
                        <a:rPr lang="en-US" err="1"/>
                        <a:t>tải</a:t>
                      </a:r>
                      <a:endParaRPr lang="en-US"/>
                    </a:p>
                  </a:txBody>
                  <a:tcPr anchor="ctr"/>
                </a:tc>
                <a:tc>
                  <a:txBody>
                    <a:bodyPr/>
                    <a:lstStyle/>
                    <a:p>
                      <a:pPr algn="ctr"/>
                      <a:r>
                        <a:rPr lang="en-US"/>
                        <a:t>2000</a:t>
                      </a:r>
                    </a:p>
                  </a:txBody>
                  <a:tcPr anchor="ctr"/>
                </a:tc>
                <a:tc>
                  <a:txBody>
                    <a:bodyPr/>
                    <a:lstStyle/>
                    <a:p>
                      <a:pPr algn="ctr"/>
                      <a:r>
                        <a:rPr lang="en-US"/>
                        <a:t>2007</a:t>
                      </a:r>
                    </a:p>
                  </a:txBody>
                  <a:tcPr anchor="ctr"/>
                </a:tc>
                <a:tc>
                  <a:txBody>
                    <a:bodyPr/>
                    <a:lstStyle/>
                    <a:p>
                      <a:pPr algn="ctr"/>
                      <a:r>
                        <a:rPr lang="en-US"/>
                        <a:t>0,35%</a:t>
                      </a:r>
                    </a:p>
                  </a:txBody>
                  <a:tcPr anchor="ctr"/>
                </a:tc>
                <a:extLst>
                  <a:ext uri="{0D108BD9-81ED-4DB2-BD59-A6C34878D82A}">
                    <a16:rowId xmlns:a16="http://schemas.microsoft.com/office/drawing/2014/main" val="845437813"/>
                  </a:ext>
                </a:extLst>
              </a:tr>
              <a:tr h="182880">
                <a:tc>
                  <a:txBody>
                    <a:bodyPr/>
                    <a:lstStyle/>
                    <a:p>
                      <a:pPr algn="ctr"/>
                      <a:r>
                        <a:rPr lang="en-US"/>
                        <a:t>P2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err="1"/>
                        <a:t>Công</a:t>
                      </a:r>
                      <a:r>
                        <a:rPr lang="en-US"/>
                        <a:t> </a:t>
                      </a:r>
                      <a:r>
                        <a:rPr lang="en-US" err="1"/>
                        <a:t>suất</a:t>
                      </a:r>
                      <a:r>
                        <a:rPr lang="en-US"/>
                        <a:t> </a:t>
                      </a:r>
                      <a:r>
                        <a:rPr lang="en-US" err="1"/>
                        <a:t>bộ</a:t>
                      </a:r>
                      <a:r>
                        <a:rPr lang="en-US"/>
                        <a:t> 2 </a:t>
                      </a:r>
                      <a:r>
                        <a:rPr lang="en-US" err="1"/>
                        <a:t>sau</a:t>
                      </a:r>
                      <a:r>
                        <a:rPr lang="en-US"/>
                        <a:t> </a:t>
                      </a:r>
                      <a:r>
                        <a:rPr lang="en-US" err="1"/>
                        <a:t>khi</a:t>
                      </a:r>
                      <a:r>
                        <a:rPr lang="en-US"/>
                        <a:t> </a:t>
                      </a:r>
                      <a:r>
                        <a:rPr lang="vi-VN"/>
                        <a:t>ngắt</a:t>
                      </a:r>
                      <a:r>
                        <a:rPr lang="en-US"/>
                        <a:t> </a:t>
                      </a:r>
                      <a:r>
                        <a:rPr lang="en-US" err="1"/>
                        <a:t>tải</a:t>
                      </a: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2000</a:t>
                      </a:r>
                    </a:p>
                  </a:txBody>
                  <a:tcPr anchor="ctr"/>
                </a:tc>
                <a:tc>
                  <a:txBody>
                    <a:bodyPr/>
                    <a:lstStyle/>
                    <a:p>
                      <a:pPr algn="ctr"/>
                      <a:r>
                        <a:rPr lang="en-US"/>
                        <a:t>2007</a:t>
                      </a:r>
                    </a:p>
                  </a:txBody>
                  <a:tcPr anchor="ctr"/>
                </a:tc>
                <a:tc>
                  <a:txBody>
                    <a:bodyPr/>
                    <a:lstStyle/>
                    <a:p>
                      <a:pPr algn="ctr"/>
                      <a:r>
                        <a:rPr lang="en-US"/>
                        <a:t>0,35%</a:t>
                      </a:r>
                    </a:p>
                  </a:txBody>
                  <a:tcPr anchor="ctr"/>
                </a:tc>
                <a:extLst>
                  <a:ext uri="{0D108BD9-81ED-4DB2-BD59-A6C34878D82A}">
                    <a16:rowId xmlns:a16="http://schemas.microsoft.com/office/drawing/2014/main" val="908382002"/>
                  </a:ext>
                </a:extLst>
              </a:tr>
            </a:tbl>
          </a:graphicData>
        </a:graphic>
      </p:graphicFrame>
      <p:graphicFrame>
        <p:nvGraphicFramePr>
          <p:cNvPr id="11" name="Table 10">
            <a:extLst>
              <a:ext uri="{FF2B5EF4-FFF2-40B4-BE49-F238E27FC236}">
                <a16:creationId xmlns:a16="http://schemas.microsoft.com/office/drawing/2014/main" id="{02BD6824-1AA0-FE6C-50CE-56D4855DC4F8}"/>
              </a:ext>
            </a:extLst>
          </p:cNvPr>
          <p:cNvGraphicFramePr>
            <a:graphicFrameLocks noGrp="1"/>
          </p:cNvGraphicFramePr>
          <p:nvPr/>
        </p:nvGraphicFramePr>
        <p:xfrm>
          <a:off x="365616" y="1759835"/>
          <a:ext cx="8025348" cy="1561985"/>
        </p:xfrm>
        <a:graphic>
          <a:graphicData uri="http://schemas.openxmlformats.org/drawingml/2006/table">
            <a:tbl>
              <a:tblPr firstRow="1" bandRow="1">
                <a:tableStyleId>{5C22544A-7EE6-4342-B048-85BDC9FD1C3A}</a:tableStyleId>
              </a:tblPr>
              <a:tblGrid>
                <a:gridCol w="801754">
                  <a:extLst>
                    <a:ext uri="{9D8B030D-6E8A-4147-A177-3AD203B41FA5}">
                      <a16:colId xmlns:a16="http://schemas.microsoft.com/office/drawing/2014/main" val="3998854459"/>
                    </a:ext>
                  </a:extLst>
                </a:gridCol>
                <a:gridCol w="2991666">
                  <a:extLst>
                    <a:ext uri="{9D8B030D-6E8A-4147-A177-3AD203B41FA5}">
                      <a16:colId xmlns:a16="http://schemas.microsoft.com/office/drawing/2014/main" val="3372512979"/>
                    </a:ext>
                  </a:extLst>
                </a:gridCol>
                <a:gridCol w="1695429">
                  <a:extLst>
                    <a:ext uri="{9D8B030D-6E8A-4147-A177-3AD203B41FA5}">
                      <a16:colId xmlns:a16="http://schemas.microsoft.com/office/drawing/2014/main" val="1462865521"/>
                    </a:ext>
                  </a:extLst>
                </a:gridCol>
                <a:gridCol w="1689335">
                  <a:extLst>
                    <a:ext uri="{9D8B030D-6E8A-4147-A177-3AD203B41FA5}">
                      <a16:colId xmlns:a16="http://schemas.microsoft.com/office/drawing/2014/main" val="156630398"/>
                    </a:ext>
                  </a:extLst>
                </a:gridCol>
                <a:gridCol w="847164">
                  <a:extLst>
                    <a:ext uri="{9D8B030D-6E8A-4147-A177-3AD203B41FA5}">
                      <a16:colId xmlns:a16="http://schemas.microsoft.com/office/drawing/2014/main" val="3496083406"/>
                    </a:ext>
                  </a:extLst>
                </a:gridCol>
              </a:tblGrid>
              <a:tr h="761234">
                <a:tc>
                  <a:txBody>
                    <a:bodyPr/>
                    <a:lstStyle/>
                    <a:p>
                      <a:pPr algn="ctr"/>
                      <a:r>
                        <a:rPr lang="en-US"/>
                        <a:t>Kết quả</a:t>
                      </a:r>
                    </a:p>
                  </a:txBody>
                  <a:tcPr anchor="ctr"/>
                </a:tc>
                <a:tc>
                  <a:txBody>
                    <a:bodyPr/>
                    <a:lstStyle/>
                    <a:p>
                      <a:pPr algn="ctr"/>
                      <a:r>
                        <a:rPr lang="en-US"/>
                        <a:t>Tham số</a:t>
                      </a:r>
                    </a:p>
                  </a:txBody>
                  <a:tcPr anchor="ctr"/>
                </a:tc>
                <a:tc>
                  <a:txBody>
                    <a:bodyPr/>
                    <a:lstStyle/>
                    <a:p>
                      <a:pPr algn="ctr"/>
                      <a:r>
                        <a:rPr lang="en-US"/>
                        <a:t>GT lý thuyết</a:t>
                      </a:r>
                    </a:p>
                  </a:txBody>
                  <a:tcPr anchor="ctr"/>
                </a:tc>
                <a:tc>
                  <a:txBody>
                    <a:bodyPr/>
                    <a:lstStyle/>
                    <a:p>
                      <a:pPr algn="ctr"/>
                      <a:r>
                        <a:rPr lang="en-US"/>
                        <a:t>GT mô phỏng </a:t>
                      </a:r>
                    </a:p>
                  </a:txBody>
                  <a:tcPr anchor="ctr"/>
                </a:tc>
                <a:tc>
                  <a:txBody>
                    <a:bodyPr/>
                    <a:lstStyle/>
                    <a:p>
                      <a:pPr algn="ctr"/>
                      <a:r>
                        <a:rPr lang="en-US"/>
                        <a:t>Sai số</a:t>
                      </a:r>
                    </a:p>
                  </a:txBody>
                  <a:tcPr anchor="ctr"/>
                </a:tc>
                <a:extLst>
                  <a:ext uri="{0D108BD9-81ED-4DB2-BD59-A6C34878D82A}">
                    <a16:rowId xmlns:a16="http://schemas.microsoft.com/office/drawing/2014/main" val="305514116"/>
                  </a:ext>
                </a:extLst>
              </a:tr>
              <a:tr h="434991">
                <a:tc>
                  <a:txBody>
                    <a:bodyPr/>
                    <a:lstStyle/>
                    <a:p>
                      <a:pPr algn="ctr"/>
                      <a:r>
                        <a:rPr lang="en-US" i="1">
                          <a:latin typeface="Times New Roman" panose="02020603050405020304" pitchFamily="18" charset="0"/>
                          <a:cs typeface="Times New Roman" panose="02020603050405020304" pitchFamily="18" charset="0"/>
                        </a:rPr>
                        <a:t>V</a:t>
                      </a:r>
                      <a:r>
                        <a:rPr lang="en-US" i="1" baseline="-25000">
                          <a:latin typeface="Times New Roman" panose="02020603050405020304" pitchFamily="18" charset="0"/>
                          <a:cs typeface="Times New Roman" panose="02020603050405020304" pitchFamily="18" charset="0"/>
                        </a:rPr>
                        <a:t>oc</a:t>
                      </a:r>
                      <a:endParaRPr lang="en-US" i="1">
                        <a:latin typeface="Times New Roman" panose="02020603050405020304" pitchFamily="18" charset="0"/>
                        <a:cs typeface="Times New Roman" panose="02020603050405020304" pitchFamily="18" charset="0"/>
                      </a:endParaRPr>
                    </a:p>
                  </a:txBody>
                  <a:tcPr anchor="ctr"/>
                </a:tc>
                <a:tc>
                  <a:txBody>
                    <a:bodyPr/>
                    <a:lstStyle/>
                    <a:p>
                      <a:pPr algn="ctr"/>
                      <a:r>
                        <a:rPr lang="en-US" err="1"/>
                        <a:t>Điện</a:t>
                      </a:r>
                      <a:r>
                        <a:rPr lang="en-US"/>
                        <a:t> </a:t>
                      </a:r>
                      <a:r>
                        <a:rPr lang="en-US" err="1"/>
                        <a:t>áp</a:t>
                      </a:r>
                      <a:r>
                        <a:rPr lang="en-US"/>
                        <a:t> </a:t>
                      </a:r>
                      <a:r>
                        <a:rPr lang="en-US" err="1"/>
                        <a:t>hở</a:t>
                      </a:r>
                      <a:r>
                        <a:rPr lang="en-US"/>
                        <a:t> </a:t>
                      </a:r>
                      <a:r>
                        <a:rPr lang="en-US" err="1"/>
                        <a:t>mạch</a:t>
                      </a:r>
                      <a:endParaRPr lang="en-US"/>
                    </a:p>
                  </a:txBody>
                  <a:tcPr anchor="ctr"/>
                </a:tc>
                <a:tc>
                  <a:txBody>
                    <a:bodyPr/>
                    <a:lstStyle/>
                    <a:p>
                      <a:pPr algn="ctr"/>
                      <a:r>
                        <a:rPr lang="en-US"/>
                        <a:t>220 V</a:t>
                      </a:r>
                    </a:p>
                  </a:txBody>
                  <a:tcPr anchor="ctr"/>
                </a:tc>
                <a:tc>
                  <a:txBody>
                    <a:bodyPr/>
                    <a:lstStyle/>
                    <a:p>
                      <a:pPr algn="ctr"/>
                      <a:r>
                        <a:rPr lang="en-US"/>
                        <a:t>220.3 V</a:t>
                      </a:r>
                    </a:p>
                  </a:txBody>
                  <a:tcPr anchor="ctr"/>
                </a:tc>
                <a:tc>
                  <a:txBody>
                    <a:bodyPr/>
                    <a:lstStyle/>
                    <a:p>
                      <a:pPr algn="ctr"/>
                      <a:r>
                        <a:rPr lang="en-US"/>
                        <a:t>0.14%</a:t>
                      </a:r>
                    </a:p>
                  </a:txBody>
                  <a:tcPr anchor="ctr"/>
                </a:tc>
                <a:extLst>
                  <a:ext uri="{0D108BD9-81ED-4DB2-BD59-A6C34878D82A}">
                    <a16:rowId xmlns:a16="http://schemas.microsoft.com/office/drawing/2014/main" val="2136588521"/>
                  </a:ext>
                </a:extLst>
              </a:tr>
              <a:tr h="217496">
                <a:tc>
                  <a:txBody>
                    <a:bodyPr/>
                    <a:lstStyle/>
                    <a:p>
                      <a:pPr algn="ctr"/>
                      <a:r>
                        <a:rPr lang="en-US" i="1">
                          <a:latin typeface="Times New Roman" panose="02020603050405020304" pitchFamily="18" charset="0"/>
                          <a:cs typeface="Times New Roman" panose="02020603050405020304" pitchFamily="18" charset="0"/>
                        </a:rPr>
                        <a:t>t</a:t>
                      </a:r>
                      <a:r>
                        <a:rPr lang="en-US" i="1" baseline="-25000">
                          <a:latin typeface="Times New Roman" panose="02020603050405020304" pitchFamily="18" charset="0"/>
                          <a:cs typeface="Times New Roman" panose="02020603050405020304" pitchFamily="18" charset="0"/>
                        </a:rPr>
                        <a:t>rise</a:t>
                      </a:r>
                      <a:endParaRPr lang="en-US" i="1">
                        <a:latin typeface="Times New Roman" panose="02020603050405020304" pitchFamily="18" charset="0"/>
                        <a:cs typeface="Times New Roman" panose="02020603050405020304" pitchFamily="18" charset="0"/>
                      </a:endParaRPr>
                    </a:p>
                  </a:txBody>
                  <a:tcPr anchor="ctr"/>
                </a:tc>
                <a:tc>
                  <a:txBody>
                    <a:bodyPr/>
                    <a:lstStyle/>
                    <a:p>
                      <a:pPr algn="ctr"/>
                      <a:r>
                        <a:rPr lang="en-US" err="1"/>
                        <a:t>Thời</a:t>
                      </a:r>
                      <a:r>
                        <a:rPr lang="en-US"/>
                        <a:t> </a:t>
                      </a:r>
                      <a:r>
                        <a:rPr lang="en-US" err="1"/>
                        <a:t>gian</a:t>
                      </a:r>
                      <a:r>
                        <a:rPr lang="en-US"/>
                        <a:t> </a:t>
                      </a:r>
                      <a:r>
                        <a:rPr lang="en-US" err="1"/>
                        <a:t>tăng</a:t>
                      </a:r>
                      <a:r>
                        <a:rPr lang="en-US"/>
                        <a:t> </a:t>
                      </a:r>
                      <a:r>
                        <a:rPr lang="en-US" err="1"/>
                        <a:t>điện</a:t>
                      </a:r>
                      <a:r>
                        <a:rPr lang="en-US"/>
                        <a:t> </a:t>
                      </a:r>
                      <a:r>
                        <a:rPr lang="en-US" err="1"/>
                        <a:t>áp</a:t>
                      </a: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err="1">
                          <a:latin typeface="Times New Roman" panose="02020603050405020304" pitchFamily="18" charset="0"/>
                          <a:cs typeface="Times New Roman" panose="02020603050405020304" pitchFamily="18" charset="0"/>
                        </a:rPr>
                        <a:t>t</a:t>
                      </a:r>
                      <a:r>
                        <a:rPr lang="en-US" i="1" baseline="-25000" err="1">
                          <a:latin typeface="Times New Roman" panose="02020603050405020304" pitchFamily="18" charset="0"/>
                          <a:cs typeface="Times New Roman" panose="02020603050405020304" pitchFamily="18" charset="0"/>
                        </a:rPr>
                        <a:t>rise</a:t>
                      </a:r>
                      <a:r>
                        <a:rPr lang="en-US" i="1" baseline="-25000">
                          <a:latin typeface="Times New Roman" panose="02020603050405020304" pitchFamily="18" charset="0"/>
                          <a:cs typeface="Times New Roman" panose="02020603050405020304" pitchFamily="18" charset="0"/>
                        </a:rPr>
                        <a:t>  </a:t>
                      </a:r>
                      <a:r>
                        <a:rPr lang="en-US"/>
                        <a:t>&lt; 0.01s</a:t>
                      </a:r>
                    </a:p>
                  </a:txBody>
                  <a:tcPr anchor="ctr"/>
                </a:tc>
                <a:tc>
                  <a:txBody>
                    <a:bodyPr/>
                    <a:lstStyle/>
                    <a:p>
                      <a:pPr algn="ctr"/>
                      <a:r>
                        <a:rPr lang="en-US"/>
                        <a:t>0,015s</a:t>
                      </a:r>
                    </a:p>
                  </a:txBody>
                  <a:tcPr anchor="ctr"/>
                </a:tc>
                <a:tc>
                  <a:txBody>
                    <a:bodyPr/>
                    <a:lstStyle/>
                    <a:p>
                      <a:pPr algn="ctr"/>
                      <a:r>
                        <a:rPr lang="en-US"/>
                        <a:t>0</a:t>
                      </a:r>
                    </a:p>
                  </a:txBody>
                  <a:tcPr anchor="ctr"/>
                </a:tc>
                <a:extLst>
                  <a:ext uri="{0D108BD9-81ED-4DB2-BD59-A6C34878D82A}">
                    <a16:rowId xmlns:a16="http://schemas.microsoft.com/office/drawing/2014/main" val="2469670652"/>
                  </a:ext>
                </a:extLst>
              </a:tr>
            </a:tbl>
          </a:graphicData>
        </a:graphic>
      </p:graphicFrame>
      <p:grpSp>
        <p:nvGrpSpPr>
          <p:cNvPr id="10" name="Group 9">
            <a:extLst>
              <a:ext uri="{FF2B5EF4-FFF2-40B4-BE49-F238E27FC236}">
                <a16:creationId xmlns:a16="http://schemas.microsoft.com/office/drawing/2014/main" id="{C6D3C1DE-46DD-A9DF-AD19-5E2181C6AFE2}"/>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62B50B13-5EF8-B3B7-D8C5-7100CAD1B12B}"/>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3: </a:t>
              </a:r>
              <a:r>
                <a:rPr lang="en-US" sz="2133" b="1">
                  <a:solidFill>
                    <a:srgbClr val="000000"/>
                  </a:solidFill>
                  <a:latin typeface="Arial (Body)"/>
                  <a:ea typeface="Aptos" panose="020B0004020202020204" pitchFamily="34" charset="0"/>
                </a:rPr>
                <a:t>MÔ PHỎNG</a:t>
              </a:r>
              <a:endParaRPr lang="en-US" sz="2133" b="1">
                <a:latin typeface="Arial (Body)"/>
              </a:endParaRPr>
            </a:p>
          </p:txBody>
        </p:sp>
        <p:sp>
          <p:nvSpPr>
            <p:cNvPr id="13" name="Rectangle 12">
              <a:extLst>
                <a:ext uri="{FF2B5EF4-FFF2-40B4-BE49-F238E27FC236}">
                  <a16:creationId xmlns:a16="http://schemas.microsoft.com/office/drawing/2014/main" id="{380B3C07-03FD-E014-22EB-015298F26D28}"/>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5" name="Hộp Văn bản 4">
            <a:extLst>
              <a:ext uri="{FF2B5EF4-FFF2-40B4-BE49-F238E27FC236}">
                <a16:creationId xmlns:a16="http://schemas.microsoft.com/office/drawing/2014/main" id="{B9A8C0A0-B4AE-3BF7-447E-22FBF7A54E6C}"/>
              </a:ext>
            </a:extLst>
          </p:cNvPr>
          <p:cNvSpPr txBox="1"/>
          <p:nvPr/>
        </p:nvSpPr>
        <p:spPr>
          <a:xfrm>
            <a:off x="413529" y="1024053"/>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23484955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C383B-BD38-5920-4436-7285898F553B}"/>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38D8D38-FBC0-3D00-7C13-9DB530971820}"/>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01E02202-57AD-F796-D783-FA9DB4C062CF}"/>
              </a:ext>
            </a:extLst>
          </p:cNvPr>
          <p:cNvSpPr>
            <a:spLocks noGrp="1"/>
          </p:cNvSpPr>
          <p:nvPr>
            <p:ph type="sldNum" sz="quarter" idx="12"/>
          </p:nvPr>
        </p:nvSpPr>
        <p:spPr/>
        <p:txBody>
          <a:bodyPr/>
          <a:lstStyle/>
          <a:p>
            <a:fld id="{931DD963-FD40-4A6D-88A9-402A489E81DE}" type="slidenum">
              <a:rPr lang="en-US" smtClean="0"/>
              <a:t>67</a:t>
            </a:fld>
            <a:endParaRPr lang="en-US"/>
          </a:p>
        </p:txBody>
      </p:sp>
      <p:graphicFrame>
        <p:nvGraphicFramePr>
          <p:cNvPr id="14" name="Table 13">
            <a:extLst>
              <a:ext uri="{FF2B5EF4-FFF2-40B4-BE49-F238E27FC236}">
                <a16:creationId xmlns:a16="http://schemas.microsoft.com/office/drawing/2014/main" id="{CD90D97C-6CF6-59B0-FC4D-18396CF1D26C}"/>
              </a:ext>
            </a:extLst>
          </p:cNvPr>
          <p:cNvGraphicFramePr>
            <a:graphicFrameLocks noGrp="1"/>
          </p:cNvGraphicFramePr>
          <p:nvPr/>
        </p:nvGraphicFramePr>
        <p:xfrm>
          <a:off x="429894" y="1460366"/>
          <a:ext cx="6917019" cy="2446671"/>
        </p:xfrm>
        <a:graphic>
          <a:graphicData uri="http://schemas.openxmlformats.org/drawingml/2006/table">
            <a:tbl>
              <a:tblPr firstRow="1" bandRow="1">
                <a:tableStyleId>{5C22544A-7EE6-4342-B048-85BDC9FD1C3A}</a:tableStyleId>
              </a:tblPr>
              <a:tblGrid>
                <a:gridCol w="691029">
                  <a:extLst>
                    <a:ext uri="{9D8B030D-6E8A-4147-A177-3AD203B41FA5}">
                      <a16:colId xmlns:a16="http://schemas.microsoft.com/office/drawing/2014/main" val="3998854459"/>
                    </a:ext>
                  </a:extLst>
                </a:gridCol>
                <a:gridCol w="3321424">
                  <a:extLst>
                    <a:ext uri="{9D8B030D-6E8A-4147-A177-3AD203B41FA5}">
                      <a16:colId xmlns:a16="http://schemas.microsoft.com/office/drawing/2014/main" val="3372512979"/>
                    </a:ext>
                  </a:extLst>
                </a:gridCol>
                <a:gridCol w="860612">
                  <a:extLst>
                    <a:ext uri="{9D8B030D-6E8A-4147-A177-3AD203B41FA5}">
                      <a16:colId xmlns:a16="http://schemas.microsoft.com/office/drawing/2014/main" val="1462865521"/>
                    </a:ext>
                  </a:extLst>
                </a:gridCol>
                <a:gridCol w="981635">
                  <a:extLst>
                    <a:ext uri="{9D8B030D-6E8A-4147-A177-3AD203B41FA5}">
                      <a16:colId xmlns:a16="http://schemas.microsoft.com/office/drawing/2014/main" val="156630398"/>
                    </a:ext>
                  </a:extLst>
                </a:gridCol>
                <a:gridCol w="1062319">
                  <a:extLst>
                    <a:ext uri="{9D8B030D-6E8A-4147-A177-3AD203B41FA5}">
                      <a16:colId xmlns:a16="http://schemas.microsoft.com/office/drawing/2014/main" val="3496083406"/>
                    </a:ext>
                  </a:extLst>
                </a:gridCol>
              </a:tblGrid>
              <a:tr h="761234">
                <a:tc>
                  <a:txBody>
                    <a:bodyPr/>
                    <a:lstStyle/>
                    <a:p>
                      <a:pPr algn="ctr"/>
                      <a:r>
                        <a:rPr lang="en-US"/>
                        <a:t>Kết quả</a:t>
                      </a:r>
                    </a:p>
                  </a:txBody>
                  <a:tcPr anchor="ctr"/>
                </a:tc>
                <a:tc>
                  <a:txBody>
                    <a:bodyPr/>
                    <a:lstStyle/>
                    <a:p>
                      <a:pPr algn="ctr"/>
                      <a:r>
                        <a:rPr lang="en-US" err="1"/>
                        <a:t>Tham</a:t>
                      </a:r>
                      <a:r>
                        <a:rPr lang="en-US"/>
                        <a:t> </a:t>
                      </a:r>
                      <a:r>
                        <a:rPr lang="en-US" err="1"/>
                        <a:t>số</a:t>
                      </a:r>
                      <a:endParaRPr lang="en-US"/>
                    </a:p>
                  </a:txBody>
                  <a:tcPr anchor="ctr"/>
                </a:tc>
                <a:tc>
                  <a:txBody>
                    <a:bodyPr/>
                    <a:lstStyle/>
                    <a:p>
                      <a:pPr algn="ctr"/>
                      <a:r>
                        <a:rPr lang="en-US"/>
                        <a:t>GT lý thuyết (W)</a:t>
                      </a:r>
                    </a:p>
                  </a:txBody>
                  <a:tcPr anchor="ctr"/>
                </a:tc>
                <a:tc>
                  <a:txBody>
                    <a:bodyPr/>
                    <a:lstStyle/>
                    <a:p>
                      <a:pPr algn="ctr"/>
                      <a:r>
                        <a:rPr lang="en-US"/>
                        <a:t>GT mô phỏng </a:t>
                      </a:r>
                    </a:p>
                    <a:p>
                      <a:pPr algn="ctr"/>
                      <a:r>
                        <a:rPr lang="en-US"/>
                        <a:t>(W)</a:t>
                      </a:r>
                    </a:p>
                  </a:txBody>
                  <a:tcPr anchor="ctr"/>
                </a:tc>
                <a:tc>
                  <a:txBody>
                    <a:bodyPr/>
                    <a:lstStyle/>
                    <a:p>
                      <a:pPr algn="ctr"/>
                      <a:r>
                        <a:rPr lang="en-US"/>
                        <a:t>Sai số</a:t>
                      </a:r>
                    </a:p>
                  </a:txBody>
                  <a:tcPr anchor="ctr"/>
                </a:tc>
                <a:extLst>
                  <a:ext uri="{0D108BD9-81ED-4DB2-BD59-A6C34878D82A}">
                    <a16:rowId xmlns:a16="http://schemas.microsoft.com/office/drawing/2014/main" val="305514116"/>
                  </a:ext>
                </a:extLst>
              </a:tr>
              <a:tr h="434991">
                <a:tc>
                  <a:txBody>
                    <a:bodyPr/>
                    <a:lstStyle/>
                    <a:p>
                      <a:pPr algn="ctr"/>
                      <a:r>
                        <a:rPr lang="en-US"/>
                        <a:t>Q1</a:t>
                      </a:r>
                    </a:p>
                  </a:txBody>
                  <a:tcPr anchor="ctr"/>
                </a:tc>
                <a:tc>
                  <a:txBody>
                    <a:bodyPr/>
                    <a:lstStyle/>
                    <a:p>
                      <a:pPr algn="ctr"/>
                      <a:r>
                        <a:rPr lang="en-US" err="1"/>
                        <a:t>Công</a:t>
                      </a:r>
                      <a:r>
                        <a:rPr lang="en-US"/>
                        <a:t> </a:t>
                      </a:r>
                      <a:r>
                        <a:rPr lang="en-US" err="1"/>
                        <a:t>suất</a:t>
                      </a:r>
                      <a:r>
                        <a:rPr lang="en-US"/>
                        <a:t> </a:t>
                      </a:r>
                      <a:r>
                        <a:rPr lang="en-US" err="1"/>
                        <a:t>bộ</a:t>
                      </a:r>
                      <a:r>
                        <a:rPr lang="en-US"/>
                        <a:t> 1 ban </a:t>
                      </a:r>
                      <a:r>
                        <a:rPr lang="en-US" err="1"/>
                        <a:t>đầu</a:t>
                      </a:r>
                      <a:endParaRPr lang="en-US"/>
                    </a:p>
                  </a:txBody>
                  <a:tcPr anchor="ctr"/>
                </a:tc>
                <a:tc>
                  <a:txBody>
                    <a:bodyPr/>
                    <a:lstStyle/>
                    <a:p>
                      <a:pPr algn="ctr"/>
                      <a:r>
                        <a:rPr lang="en-US"/>
                        <a:t>2000</a:t>
                      </a:r>
                    </a:p>
                  </a:txBody>
                  <a:tcPr anchor="ctr"/>
                </a:tc>
                <a:tc>
                  <a:txBody>
                    <a:bodyPr/>
                    <a:lstStyle/>
                    <a:p>
                      <a:pPr algn="ctr"/>
                      <a:r>
                        <a:rPr lang="vi-VN"/>
                        <a:t>2</a:t>
                      </a:r>
                      <a:r>
                        <a:rPr lang="en-US"/>
                        <a:t>005</a:t>
                      </a:r>
                    </a:p>
                  </a:txBody>
                  <a:tcPr anchor="ctr"/>
                </a:tc>
                <a:tc>
                  <a:txBody>
                    <a:bodyPr/>
                    <a:lstStyle/>
                    <a:p>
                      <a:pPr algn="ctr"/>
                      <a:r>
                        <a:rPr lang="en-US"/>
                        <a:t>0.25%</a:t>
                      </a:r>
                    </a:p>
                  </a:txBody>
                  <a:tcPr anchor="ctr"/>
                </a:tc>
                <a:extLst>
                  <a:ext uri="{0D108BD9-81ED-4DB2-BD59-A6C34878D82A}">
                    <a16:rowId xmlns:a16="http://schemas.microsoft.com/office/drawing/2014/main" val="2136588521"/>
                  </a:ext>
                </a:extLst>
              </a:tr>
              <a:tr h="217496">
                <a:tc>
                  <a:txBody>
                    <a:bodyPr/>
                    <a:lstStyle/>
                    <a:p>
                      <a:pPr algn="ctr"/>
                      <a:r>
                        <a:rPr lang="en-US"/>
                        <a:t>Q2</a:t>
                      </a:r>
                    </a:p>
                  </a:txBody>
                  <a:tcPr anchor="ctr"/>
                </a:tc>
                <a:tc>
                  <a:txBody>
                    <a:bodyPr/>
                    <a:lstStyle/>
                    <a:p>
                      <a:pPr algn="ctr"/>
                      <a:r>
                        <a:rPr lang="en-US" err="1"/>
                        <a:t>Công</a:t>
                      </a:r>
                      <a:r>
                        <a:rPr lang="en-US"/>
                        <a:t> </a:t>
                      </a:r>
                      <a:r>
                        <a:rPr lang="en-US" err="1"/>
                        <a:t>suất</a:t>
                      </a:r>
                      <a:r>
                        <a:rPr lang="en-US"/>
                        <a:t> </a:t>
                      </a:r>
                      <a:r>
                        <a:rPr lang="en-US" err="1"/>
                        <a:t>bộ</a:t>
                      </a:r>
                      <a:r>
                        <a:rPr lang="en-US"/>
                        <a:t> 2 ban </a:t>
                      </a:r>
                      <a:r>
                        <a:rPr lang="en-US" err="1"/>
                        <a:t>đầu</a:t>
                      </a:r>
                      <a:endParaRPr lang="en-US"/>
                    </a:p>
                  </a:txBody>
                  <a:tcPr anchor="ctr"/>
                </a:tc>
                <a:tc>
                  <a:txBody>
                    <a:bodyPr/>
                    <a:lstStyle/>
                    <a:p>
                      <a:pPr algn="ctr"/>
                      <a:r>
                        <a:rPr lang="en-US"/>
                        <a:t>2000</a:t>
                      </a:r>
                    </a:p>
                  </a:txBody>
                  <a:tcPr anchor="ctr"/>
                </a:tc>
                <a:tc>
                  <a:txBody>
                    <a:bodyPr/>
                    <a:lstStyle/>
                    <a:p>
                      <a:pPr algn="ctr"/>
                      <a:r>
                        <a:rPr lang="en-US"/>
                        <a:t>2005</a:t>
                      </a:r>
                    </a:p>
                  </a:txBody>
                  <a:tcPr anchor="ctr"/>
                </a:tc>
                <a:tc>
                  <a:txBody>
                    <a:bodyPr/>
                    <a:lstStyle/>
                    <a:p>
                      <a:pPr algn="ctr"/>
                      <a:r>
                        <a:rPr lang="en-US"/>
                        <a:t>0.25%</a:t>
                      </a:r>
                    </a:p>
                  </a:txBody>
                  <a:tcPr anchor="ctr"/>
                </a:tc>
                <a:extLst>
                  <a:ext uri="{0D108BD9-81ED-4DB2-BD59-A6C34878D82A}">
                    <a16:rowId xmlns:a16="http://schemas.microsoft.com/office/drawing/2014/main" val="2469670652"/>
                  </a:ext>
                </a:extLst>
              </a:tr>
              <a:tr h="182880">
                <a:tc>
                  <a:txBody>
                    <a:bodyPr/>
                    <a:lstStyle/>
                    <a:p>
                      <a:pPr algn="ctr"/>
                      <a:r>
                        <a:rPr lang="en-US"/>
                        <a:t>Q1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err="1">
                          <a:latin typeface="Calibri (Thân)"/>
                        </a:rPr>
                        <a:t>Công</a:t>
                      </a:r>
                      <a:r>
                        <a:rPr lang="en-US">
                          <a:latin typeface="Calibri (Thân)"/>
                        </a:rPr>
                        <a:t> </a:t>
                      </a:r>
                      <a:r>
                        <a:rPr lang="en-US" err="1">
                          <a:latin typeface="Calibri (Thân)"/>
                        </a:rPr>
                        <a:t>suất</a:t>
                      </a:r>
                      <a:r>
                        <a:rPr lang="en-US">
                          <a:latin typeface="Calibri (Thân)"/>
                        </a:rPr>
                        <a:t> </a:t>
                      </a:r>
                      <a:r>
                        <a:rPr lang="en-US" err="1">
                          <a:latin typeface="Calibri (Thân)"/>
                        </a:rPr>
                        <a:t>bộ</a:t>
                      </a:r>
                      <a:r>
                        <a:rPr lang="en-US">
                          <a:latin typeface="Calibri (Thân)"/>
                        </a:rPr>
                        <a:t> 1 </a:t>
                      </a:r>
                      <a:r>
                        <a:rPr lang="en-US" err="1">
                          <a:latin typeface="Calibri (Thân)"/>
                        </a:rPr>
                        <a:t>sau</a:t>
                      </a:r>
                      <a:r>
                        <a:rPr lang="en-US">
                          <a:latin typeface="Calibri (Thân)"/>
                        </a:rPr>
                        <a:t> </a:t>
                      </a:r>
                      <a:r>
                        <a:rPr lang="en-US" err="1">
                          <a:latin typeface="Calibri (Thân)"/>
                        </a:rPr>
                        <a:t>khi</a:t>
                      </a:r>
                      <a:r>
                        <a:rPr lang="en-US">
                          <a:latin typeface="Calibri (Thân)"/>
                        </a:rPr>
                        <a:t> </a:t>
                      </a:r>
                      <a:r>
                        <a:rPr lang="vi-VN">
                          <a:latin typeface="Calibri (Thân)"/>
                        </a:rPr>
                        <a:t>ngắt tải</a:t>
                      </a:r>
                      <a:endParaRPr lang="en-US">
                        <a:latin typeface="Calibri (Thân)"/>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1000</a:t>
                      </a:r>
                    </a:p>
                  </a:txBody>
                  <a:tcPr anchor="ctr"/>
                </a:tc>
                <a:tc>
                  <a:txBody>
                    <a:bodyPr/>
                    <a:lstStyle/>
                    <a:p>
                      <a:pPr algn="ctr"/>
                      <a:r>
                        <a:rPr lang="en-US"/>
                        <a:t>1004</a:t>
                      </a:r>
                    </a:p>
                  </a:txBody>
                  <a:tcPr anchor="ctr"/>
                </a:tc>
                <a:tc>
                  <a:txBody>
                    <a:bodyPr/>
                    <a:lstStyle/>
                    <a:p>
                      <a:pPr algn="ctr"/>
                      <a:r>
                        <a:rPr lang="en-US"/>
                        <a:t>0,4%</a:t>
                      </a:r>
                    </a:p>
                  </a:txBody>
                  <a:tcPr anchor="ctr"/>
                </a:tc>
                <a:extLst>
                  <a:ext uri="{0D108BD9-81ED-4DB2-BD59-A6C34878D82A}">
                    <a16:rowId xmlns:a16="http://schemas.microsoft.com/office/drawing/2014/main" val="908382002"/>
                  </a:ext>
                </a:extLst>
              </a:tr>
              <a:tr h="182880">
                <a:tc>
                  <a:txBody>
                    <a:bodyPr/>
                    <a:lstStyle/>
                    <a:p>
                      <a:pPr algn="ctr"/>
                      <a:r>
                        <a:rPr lang="en-US"/>
                        <a:t>Q2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err="1">
                          <a:latin typeface="Calibri (Thân)"/>
                        </a:rPr>
                        <a:t>Công</a:t>
                      </a:r>
                      <a:r>
                        <a:rPr lang="en-US">
                          <a:latin typeface="Calibri (Thân)"/>
                        </a:rPr>
                        <a:t> </a:t>
                      </a:r>
                      <a:r>
                        <a:rPr lang="en-US" err="1">
                          <a:latin typeface="Calibri (Thân)"/>
                        </a:rPr>
                        <a:t>suất</a:t>
                      </a:r>
                      <a:r>
                        <a:rPr lang="en-US">
                          <a:latin typeface="Calibri (Thân)"/>
                        </a:rPr>
                        <a:t> </a:t>
                      </a:r>
                      <a:r>
                        <a:rPr lang="en-US" err="1">
                          <a:latin typeface="Calibri (Thân)"/>
                        </a:rPr>
                        <a:t>bộ</a:t>
                      </a:r>
                      <a:r>
                        <a:rPr lang="en-US">
                          <a:latin typeface="Calibri (Thân)"/>
                        </a:rPr>
                        <a:t> 2 </a:t>
                      </a:r>
                      <a:r>
                        <a:rPr lang="en-US" err="1">
                          <a:latin typeface="Calibri (Thân)"/>
                        </a:rPr>
                        <a:t>sau</a:t>
                      </a:r>
                      <a:r>
                        <a:rPr lang="en-US">
                          <a:latin typeface="Calibri (Thân)"/>
                        </a:rPr>
                        <a:t> </a:t>
                      </a:r>
                      <a:r>
                        <a:rPr lang="en-US" err="1">
                          <a:latin typeface="Calibri (Thân)"/>
                        </a:rPr>
                        <a:t>khi</a:t>
                      </a:r>
                      <a:r>
                        <a:rPr lang="en-US">
                          <a:latin typeface="Calibri (Thân)"/>
                        </a:rPr>
                        <a:t> </a:t>
                      </a:r>
                      <a:r>
                        <a:rPr lang="vi-VN">
                          <a:latin typeface="Calibri (Thân)"/>
                        </a:rPr>
                        <a:t>ngắt tải</a:t>
                      </a:r>
                      <a:endParaRPr lang="en-US">
                        <a:latin typeface="Calibri (Thân)"/>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1000</a:t>
                      </a:r>
                    </a:p>
                  </a:txBody>
                  <a:tcPr anchor="ctr"/>
                </a:tc>
                <a:tc>
                  <a:txBody>
                    <a:bodyPr/>
                    <a:lstStyle/>
                    <a:p>
                      <a:pPr algn="ctr"/>
                      <a:r>
                        <a:rPr lang="en-US"/>
                        <a:t>1004</a:t>
                      </a:r>
                    </a:p>
                  </a:txBody>
                  <a:tcPr anchor="ctr"/>
                </a:tc>
                <a:tc>
                  <a:txBody>
                    <a:bodyPr/>
                    <a:lstStyle/>
                    <a:p>
                      <a:pPr algn="ctr"/>
                      <a:r>
                        <a:rPr lang="en-US"/>
                        <a:t>0,4%</a:t>
                      </a:r>
                    </a:p>
                  </a:txBody>
                  <a:tcPr anchor="ctr"/>
                </a:tc>
                <a:extLst>
                  <a:ext uri="{0D108BD9-81ED-4DB2-BD59-A6C34878D82A}">
                    <a16:rowId xmlns:a16="http://schemas.microsoft.com/office/drawing/2014/main" val="2212586791"/>
                  </a:ext>
                </a:extLst>
              </a:tr>
            </a:tbl>
          </a:graphicData>
        </a:graphic>
      </p:graphicFrame>
      <p:sp>
        <p:nvSpPr>
          <p:cNvPr id="4" name="TextBox 3">
            <a:extLst>
              <a:ext uri="{FF2B5EF4-FFF2-40B4-BE49-F238E27FC236}">
                <a16:creationId xmlns:a16="http://schemas.microsoft.com/office/drawing/2014/main" id="{2590203B-2C26-D699-65FC-034C2C4A1AB5}"/>
              </a:ext>
            </a:extLst>
          </p:cNvPr>
          <p:cNvSpPr txBox="1"/>
          <p:nvPr/>
        </p:nvSpPr>
        <p:spPr>
          <a:xfrm>
            <a:off x="365616" y="4746317"/>
            <a:ext cx="11640027" cy="1631216"/>
          </a:xfrm>
          <a:prstGeom prst="rect">
            <a:avLst/>
          </a:prstGeom>
          <a:noFill/>
        </p:spPr>
        <p:txBody>
          <a:bodyPr wrap="square" rtlCol="0">
            <a:spAutoFit/>
          </a:bodyPr>
          <a:lstStyle/>
          <a:p>
            <a:r>
              <a:rPr lang="en-US" sz="2000" b="1" err="1">
                <a:latin typeface="Times New Roman" panose="02020603050405020304" pitchFamily="18" charset="0"/>
                <a:cs typeface="Times New Roman" panose="02020603050405020304" pitchFamily="18" charset="0"/>
              </a:rPr>
              <a:t>Nhận</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xét</a:t>
            </a:r>
            <a:r>
              <a:rPr lang="en-US" sz="2000" b="1">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Ta </a:t>
            </a:r>
            <a:r>
              <a:rPr lang="en-US" sz="2000" err="1">
                <a:latin typeface="Times New Roman" panose="02020603050405020304" pitchFamily="18" charset="0"/>
                <a:cs typeface="Times New Roman" panose="02020603050405020304" pitchFamily="18" charset="0"/>
              </a:rPr>
              <a:t>thấy</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tổng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công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suất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đầu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ra</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của</a:t>
            </a:r>
            <a:r>
              <a:rPr lang="en-US" sz="2000">
                <a:latin typeface="Times New Roman" panose="02020603050405020304" pitchFamily="18" charset="0"/>
                <a:cs typeface="Times New Roman" panose="02020603050405020304" pitchFamily="18" charset="0"/>
              </a:rPr>
              <a:t> 2 </a:t>
            </a:r>
            <a:r>
              <a:rPr lang="en-US" sz="2000" err="1">
                <a:latin typeface="Times New Roman" panose="02020603050405020304" pitchFamily="18" charset="0"/>
                <a:cs typeface="Times New Roman" panose="02020603050405020304" pitchFamily="18" charset="0"/>
              </a:rPr>
              <a:t>bộ</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nghịch</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lưu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bám</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sát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giá</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trị</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đặt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sai</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số</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nhỏ</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đảm</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bảo</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tỷ</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lệ</a:t>
            </a:r>
            <a:r>
              <a:rPr lang="en-US" sz="2000">
                <a:latin typeface="Times New Roman" panose="02020603050405020304" pitchFamily="18" charset="0"/>
                <a:cs typeface="Times New Roman" panose="02020603050405020304" pitchFamily="18" charset="0"/>
              </a:rPr>
              <a:t> chia </a:t>
            </a:r>
            <a:r>
              <a:rPr lang="en-US" sz="2000" err="1">
                <a:latin typeface="Times New Roman" panose="02020603050405020304" pitchFamily="18" charset="0"/>
                <a:cs typeface="Times New Roman" panose="02020603050405020304" pitchFamily="18" charset="0"/>
              </a:rPr>
              <a:t>sẻ</a:t>
            </a:r>
            <a:r>
              <a:rPr lang="en-US" sz="2000">
                <a:latin typeface="Times New Roman" panose="02020603050405020304" pitchFamily="18" charset="0"/>
                <a:cs typeface="Times New Roman" panose="02020603050405020304" pitchFamily="18" charset="0"/>
              </a:rPr>
              <a:t> 1:1:1</a:t>
            </a:r>
          </a:p>
          <a:p>
            <a:pPr marL="342900" indent="-342900">
              <a:buFont typeface="Arial" panose="020B0604020202020204" pitchFamily="34" charset="0"/>
              <a:buChar char="•"/>
            </a:pPr>
            <a:r>
              <a:rPr lang="en-US" sz="2000" err="1">
                <a:latin typeface="Times New Roman" panose="02020603050405020304" pitchFamily="18" charset="0"/>
                <a:cs typeface="Times New Roman" panose="02020603050405020304" pitchFamily="18" charset="0"/>
              </a:rPr>
              <a:t>Điện</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áp</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đầu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ra</a:t>
            </a:r>
            <a:r>
              <a:rPr lang="en-US" sz="2000">
                <a:latin typeface="Times New Roman" panose="02020603050405020304" pitchFamily="18" charset="0"/>
                <a:cs typeface="Times New Roman" panose="02020603050405020304" pitchFamily="18" charset="0"/>
              </a:rPr>
              <a:t> 2 </a:t>
            </a:r>
            <a:r>
              <a:rPr lang="en-US" sz="2000" err="1">
                <a:latin typeface="Times New Roman" panose="02020603050405020304" pitchFamily="18" charset="0"/>
                <a:cs typeface="Times New Roman" panose="02020603050405020304" pitchFamily="18" charset="0"/>
              </a:rPr>
              <a:t>bộ</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không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thay</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đổi</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trong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suốt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quá</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trình</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mô</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phỏng</a:t>
            </a:r>
            <a:endParaRPr lang="en-US"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2000">
                <a:latin typeface="Times New Roman" panose="02020603050405020304" pitchFamily="18" charset="0"/>
                <a:cs typeface="Times New Roman" panose="02020603050405020304" pitchFamily="18" charset="0"/>
              </a:rPr>
              <a:t>Tại thời điểm ngắt tải, dòng điện và công suất phản kháng có sự sụt giảm, công suất tác dụng có thời gian quá độ khá dài.</a:t>
            </a:r>
            <a:endParaRPr lang="en-US" sz="2000">
              <a:latin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id="{2AC1523D-AC59-5E1D-AECB-1451BF6401BF}"/>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849B20E2-DE10-28E8-B0DC-DDBABFB7F2E5}"/>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3: </a:t>
              </a:r>
              <a:r>
                <a:rPr lang="en-US" sz="2133" b="1">
                  <a:solidFill>
                    <a:srgbClr val="000000"/>
                  </a:solidFill>
                  <a:latin typeface="Arial (Body)"/>
                  <a:ea typeface="Aptos" panose="020B0004020202020204" pitchFamily="34" charset="0"/>
                </a:rPr>
                <a:t>MÔ PHỎNG</a:t>
              </a:r>
              <a:endParaRPr lang="en-US" sz="2133" b="1">
                <a:latin typeface="Arial (Body)"/>
              </a:endParaRPr>
            </a:p>
          </p:txBody>
        </p:sp>
        <p:sp>
          <p:nvSpPr>
            <p:cNvPr id="13" name="Rectangle 12">
              <a:extLst>
                <a:ext uri="{FF2B5EF4-FFF2-40B4-BE49-F238E27FC236}">
                  <a16:creationId xmlns:a16="http://schemas.microsoft.com/office/drawing/2014/main" id="{F9048C3F-976E-3936-4E4B-2CC8770B4AFA}"/>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5" name="Hộp Văn bản 4">
            <a:extLst>
              <a:ext uri="{FF2B5EF4-FFF2-40B4-BE49-F238E27FC236}">
                <a16:creationId xmlns:a16="http://schemas.microsoft.com/office/drawing/2014/main" id="{F942C833-0966-C0C8-7390-3773F8843712}"/>
              </a:ext>
            </a:extLst>
          </p:cNvPr>
          <p:cNvSpPr txBox="1"/>
          <p:nvPr/>
        </p:nvSpPr>
        <p:spPr>
          <a:xfrm>
            <a:off x="429894" y="970179"/>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28636535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C5EAF-F33C-0870-BA07-37717678B03B}"/>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70D5429F-30A8-42F5-BDB0-2A83332B74AB}"/>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93276FF6-9162-AC24-FC7C-D3E65C78749C}"/>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56CDA7E2-599B-812A-F27C-1A91830DCE97}"/>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6" name="Hộp Văn bản 5">
            <a:extLst>
              <a:ext uri="{FF2B5EF4-FFF2-40B4-BE49-F238E27FC236}">
                <a16:creationId xmlns:a16="http://schemas.microsoft.com/office/drawing/2014/main" id="{A0109A70-83AC-23BB-8C25-E49814B2D67B}"/>
              </a:ext>
            </a:extLst>
          </p:cNvPr>
          <p:cNvSpPr txBox="1"/>
          <p:nvPr/>
        </p:nvSpPr>
        <p:spPr>
          <a:xfrm>
            <a:off x="510284" y="833516"/>
            <a:ext cx="6055886" cy="369332"/>
          </a:xfrm>
          <a:prstGeom prst="rect">
            <a:avLst/>
          </a:prstGeom>
          <a:noFill/>
        </p:spPr>
        <p:txBody>
          <a:bodyPr wrap="square">
            <a:spAutoFit/>
          </a:bodyPr>
          <a:lstStyle/>
          <a:p>
            <a:r>
              <a:rPr lang="vi-VN" b="1"/>
              <a:t>3.2. Mô phỏng trên miền rời rạc</a:t>
            </a:r>
            <a:endParaRPr lang="en-ID" b="1"/>
          </a:p>
        </p:txBody>
      </p:sp>
      <p:sp>
        <p:nvSpPr>
          <p:cNvPr id="8" name="TextBox 4">
            <a:extLst>
              <a:ext uri="{FF2B5EF4-FFF2-40B4-BE49-F238E27FC236}">
                <a16:creationId xmlns:a16="http://schemas.microsoft.com/office/drawing/2014/main" id="{EC6D6F34-6956-8043-EC65-9863B8783C04}"/>
              </a:ext>
            </a:extLst>
          </p:cNvPr>
          <p:cNvSpPr txBox="1"/>
          <p:nvPr/>
        </p:nvSpPr>
        <p:spPr>
          <a:xfrm>
            <a:off x="762000" y="1253449"/>
            <a:ext cx="11182350" cy="369332"/>
          </a:xfrm>
          <a:prstGeom prst="rect">
            <a:avLst/>
          </a:prstGeom>
          <a:noFill/>
        </p:spPr>
        <p:txBody>
          <a:bodyPr wrap="square" rtlCol="0">
            <a:spAutoFit/>
          </a:bodyPr>
          <a:lstStyle/>
          <a:p>
            <a:r>
              <a:rPr lang="vi-VN"/>
              <a:t>Kịch bản 1: Mô phỏng 2 inverter làm việc song song với tải công suất 4000 W. Tỉ lệ chia sẻ công suất 1:1</a:t>
            </a:r>
            <a:endParaRPr lang="en-ID"/>
          </a:p>
        </p:txBody>
      </p:sp>
      <p:pic>
        <p:nvPicPr>
          <p:cNvPr id="9" name="Hình ảnh 8">
            <a:extLst>
              <a:ext uri="{FF2B5EF4-FFF2-40B4-BE49-F238E27FC236}">
                <a16:creationId xmlns:a16="http://schemas.microsoft.com/office/drawing/2014/main" id="{5C3F85A5-D477-A386-774F-B0840026F39B}"/>
              </a:ext>
            </a:extLst>
          </p:cNvPr>
          <p:cNvPicPr>
            <a:picLocks noChangeAspect="1"/>
          </p:cNvPicPr>
          <p:nvPr/>
        </p:nvPicPr>
        <p:blipFill>
          <a:blip r:embed="rId2"/>
          <a:stretch>
            <a:fillRect/>
          </a:stretch>
        </p:blipFill>
        <p:spPr>
          <a:xfrm>
            <a:off x="1495745" y="1711478"/>
            <a:ext cx="9200509" cy="4958454"/>
          </a:xfrm>
          <a:prstGeom prst="rect">
            <a:avLst/>
          </a:prstGeom>
        </p:spPr>
      </p:pic>
    </p:spTree>
    <p:extLst>
      <p:ext uri="{BB962C8B-B14F-4D97-AF65-F5344CB8AC3E}">
        <p14:creationId xmlns:p14="http://schemas.microsoft.com/office/powerpoint/2010/main" val="22953537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8A53C-2EF1-5A48-BB8C-05D5BB77BC8F}"/>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F68F56DD-FB15-3513-772B-1FE09A8B9672}"/>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90A96515-4A02-56D2-028E-A1C96F6C825B}"/>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75F150F7-92C6-D911-58DB-77DAC400317C}"/>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6" name="Hộp Văn bản 5">
            <a:extLst>
              <a:ext uri="{FF2B5EF4-FFF2-40B4-BE49-F238E27FC236}">
                <a16:creationId xmlns:a16="http://schemas.microsoft.com/office/drawing/2014/main" id="{0DBDF237-5281-A881-2DD0-E873BD8E7981}"/>
              </a:ext>
            </a:extLst>
          </p:cNvPr>
          <p:cNvSpPr txBox="1"/>
          <p:nvPr/>
        </p:nvSpPr>
        <p:spPr>
          <a:xfrm>
            <a:off x="510284" y="833516"/>
            <a:ext cx="6055886" cy="369332"/>
          </a:xfrm>
          <a:prstGeom prst="rect">
            <a:avLst/>
          </a:prstGeom>
          <a:noFill/>
        </p:spPr>
        <p:txBody>
          <a:bodyPr wrap="square">
            <a:spAutoFit/>
          </a:bodyPr>
          <a:lstStyle/>
          <a:p>
            <a:r>
              <a:rPr lang="vi-VN" b="1"/>
              <a:t>3.2. Mô phỏng trên miền rời rạc</a:t>
            </a:r>
            <a:endParaRPr lang="en-ID" b="1"/>
          </a:p>
        </p:txBody>
      </p:sp>
      <p:pic>
        <p:nvPicPr>
          <p:cNvPr id="7" name="Hình ảnh 6">
            <a:extLst>
              <a:ext uri="{FF2B5EF4-FFF2-40B4-BE49-F238E27FC236}">
                <a16:creationId xmlns:a16="http://schemas.microsoft.com/office/drawing/2014/main" id="{5DCB4E5C-EC7E-9026-E8F7-31EA44D3608E}"/>
              </a:ext>
            </a:extLst>
          </p:cNvPr>
          <p:cNvPicPr>
            <a:picLocks noChangeAspect="1"/>
          </p:cNvPicPr>
          <p:nvPr/>
        </p:nvPicPr>
        <p:blipFill>
          <a:blip r:embed="rId2"/>
          <a:stretch>
            <a:fillRect/>
          </a:stretch>
        </p:blipFill>
        <p:spPr>
          <a:xfrm>
            <a:off x="325736" y="1302268"/>
            <a:ext cx="5375439" cy="2501247"/>
          </a:xfrm>
          <a:prstGeom prst="rect">
            <a:avLst/>
          </a:prstGeom>
        </p:spPr>
      </p:pic>
      <p:cxnSp>
        <p:nvCxnSpPr>
          <p:cNvPr id="9" name="Đường nối Thẳng 8">
            <a:extLst>
              <a:ext uri="{FF2B5EF4-FFF2-40B4-BE49-F238E27FC236}">
                <a16:creationId xmlns:a16="http://schemas.microsoft.com/office/drawing/2014/main" id="{8D005ED4-2555-2454-2FC9-127A3DB028B8}"/>
              </a:ext>
            </a:extLst>
          </p:cNvPr>
          <p:cNvCxnSpPr/>
          <p:nvPr/>
        </p:nvCxnSpPr>
        <p:spPr>
          <a:xfrm>
            <a:off x="6096000" y="1300167"/>
            <a:ext cx="0" cy="5205536"/>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Hình ảnh 10">
            <a:extLst>
              <a:ext uri="{FF2B5EF4-FFF2-40B4-BE49-F238E27FC236}">
                <a16:creationId xmlns:a16="http://schemas.microsoft.com/office/drawing/2014/main" id="{4B12AF5C-8578-6FF0-00C9-891234859996}"/>
              </a:ext>
            </a:extLst>
          </p:cNvPr>
          <p:cNvPicPr>
            <a:picLocks noChangeAspect="1"/>
          </p:cNvPicPr>
          <p:nvPr/>
        </p:nvPicPr>
        <p:blipFill>
          <a:blip r:embed="rId3"/>
          <a:stretch>
            <a:fillRect/>
          </a:stretch>
        </p:blipFill>
        <p:spPr>
          <a:xfrm>
            <a:off x="660909" y="4250987"/>
            <a:ext cx="4469999" cy="2353363"/>
          </a:xfrm>
          <a:prstGeom prst="rect">
            <a:avLst/>
          </a:prstGeom>
        </p:spPr>
      </p:pic>
      <p:sp>
        <p:nvSpPr>
          <p:cNvPr id="12" name="Hộp Văn bản 11">
            <a:extLst>
              <a:ext uri="{FF2B5EF4-FFF2-40B4-BE49-F238E27FC236}">
                <a16:creationId xmlns:a16="http://schemas.microsoft.com/office/drawing/2014/main" id="{1628B243-2107-B29B-320F-6F93CEC50A46}"/>
              </a:ext>
            </a:extLst>
          </p:cNvPr>
          <p:cNvSpPr txBox="1"/>
          <p:nvPr/>
        </p:nvSpPr>
        <p:spPr>
          <a:xfrm>
            <a:off x="1734254" y="3902935"/>
            <a:ext cx="2978545" cy="369332"/>
          </a:xfrm>
          <a:prstGeom prst="rect">
            <a:avLst/>
          </a:prstGeom>
          <a:noFill/>
        </p:spPr>
        <p:txBody>
          <a:bodyPr wrap="square">
            <a:spAutoFit/>
          </a:bodyPr>
          <a:lstStyle/>
          <a:p>
            <a:pPr algn="ctr"/>
            <a:r>
              <a:rPr lang="vi-VN"/>
              <a:t>Đáp ứng điện áp đầu ra</a:t>
            </a:r>
            <a:endParaRPr lang="en-ID"/>
          </a:p>
        </p:txBody>
      </p:sp>
      <p:sp>
        <p:nvSpPr>
          <p:cNvPr id="13" name="Hình chữ nhật 12">
            <a:extLst>
              <a:ext uri="{FF2B5EF4-FFF2-40B4-BE49-F238E27FC236}">
                <a16:creationId xmlns:a16="http://schemas.microsoft.com/office/drawing/2014/main" id="{532D1F6F-EB73-591A-124C-255A8A537A97}"/>
              </a:ext>
            </a:extLst>
          </p:cNvPr>
          <p:cNvSpPr/>
          <p:nvPr/>
        </p:nvSpPr>
        <p:spPr>
          <a:xfrm>
            <a:off x="447667" y="1550900"/>
            <a:ext cx="618125" cy="494634"/>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vi-VN"/>
          </a:p>
        </p:txBody>
      </p:sp>
      <p:cxnSp>
        <p:nvCxnSpPr>
          <p:cNvPr id="14" name="Đường kết nối Mũi tên Thẳng 13">
            <a:extLst>
              <a:ext uri="{FF2B5EF4-FFF2-40B4-BE49-F238E27FC236}">
                <a16:creationId xmlns:a16="http://schemas.microsoft.com/office/drawing/2014/main" id="{6893C543-09E3-C558-B14A-A24D11A3CB21}"/>
              </a:ext>
            </a:extLst>
          </p:cNvPr>
          <p:cNvCxnSpPr>
            <a:cxnSpLocks/>
            <a:stCxn id="13" idx="1"/>
          </p:cNvCxnSpPr>
          <p:nvPr/>
        </p:nvCxnSpPr>
        <p:spPr>
          <a:xfrm>
            <a:off x="447667" y="1798217"/>
            <a:ext cx="309062" cy="2452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Đường kết nối Mũi tên Thẳng 14">
            <a:extLst>
              <a:ext uri="{FF2B5EF4-FFF2-40B4-BE49-F238E27FC236}">
                <a16:creationId xmlns:a16="http://schemas.microsoft.com/office/drawing/2014/main" id="{74BF7869-DE4F-9BB5-2C1B-477903A3BE62}"/>
              </a:ext>
            </a:extLst>
          </p:cNvPr>
          <p:cNvCxnSpPr>
            <a:cxnSpLocks/>
            <a:stCxn id="13" idx="3"/>
          </p:cNvCxnSpPr>
          <p:nvPr/>
        </p:nvCxnSpPr>
        <p:spPr>
          <a:xfrm>
            <a:off x="1065792" y="1798217"/>
            <a:ext cx="4065116" cy="24106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2" name="Hình ảnh 21">
            <a:extLst>
              <a:ext uri="{FF2B5EF4-FFF2-40B4-BE49-F238E27FC236}">
                <a16:creationId xmlns:a16="http://schemas.microsoft.com/office/drawing/2014/main" id="{D3B8C14C-C887-A2AD-D88E-653DE6F018AC}"/>
              </a:ext>
            </a:extLst>
          </p:cNvPr>
          <p:cNvPicPr>
            <a:picLocks noChangeAspect="1"/>
          </p:cNvPicPr>
          <p:nvPr/>
        </p:nvPicPr>
        <p:blipFill>
          <a:blip r:embed="rId4"/>
          <a:stretch>
            <a:fillRect/>
          </a:stretch>
        </p:blipFill>
        <p:spPr>
          <a:xfrm>
            <a:off x="6490825" y="1202848"/>
            <a:ext cx="5437757" cy="2573377"/>
          </a:xfrm>
          <a:prstGeom prst="rect">
            <a:avLst/>
          </a:prstGeom>
        </p:spPr>
      </p:pic>
      <p:sp>
        <p:nvSpPr>
          <p:cNvPr id="23" name="Hộp Văn bản 22">
            <a:extLst>
              <a:ext uri="{FF2B5EF4-FFF2-40B4-BE49-F238E27FC236}">
                <a16:creationId xmlns:a16="http://schemas.microsoft.com/office/drawing/2014/main" id="{11F9C890-2BC6-CAC3-D91D-9938F091515C}"/>
              </a:ext>
            </a:extLst>
          </p:cNvPr>
          <p:cNvSpPr txBox="1"/>
          <p:nvPr/>
        </p:nvSpPr>
        <p:spPr>
          <a:xfrm>
            <a:off x="7720430" y="3839581"/>
            <a:ext cx="2978545" cy="369332"/>
          </a:xfrm>
          <a:prstGeom prst="rect">
            <a:avLst/>
          </a:prstGeom>
          <a:noFill/>
        </p:spPr>
        <p:txBody>
          <a:bodyPr wrap="square">
            <a:spAutoFit/>
          </a:bodyPr>
          <a:lstStyle/>
          <a:p>
            <a:pPr algn="ctr"/>
            <a:r>
              <a:rPr lang="vi-VN"/>
              <a:t>Đáp ứng dòng điện đầu ra</a:t>
            </a:r>
            <a:endParaRPr lang="en-ID"/>
          </a:p>
        </p:txBody>
      </p:sp>
      <p:pic>
        <p:nvPicPr>
          <p:cNvPr id="24" name="Hình ảnh 23">
            <a:extLst>
              <a:ext uri="{FF2B5EF4-FFF2-40B4-BE49-F238E27FC236}">
                <a16:creationId xmlns:a16="http://schemas.microsoft.com/office/drawing/2014/main" id="{18F919A7-D05C-3DF3-3501-D2263C72E4C3}"/>
              </a:ext>
            </a:extLst>
          </p:cNvPr>
          <p:cNvPicPr>
            <a:picLocks noChangeAspect="1"/>
          </p:cNvPicPr>
          <p:nvPr/>
        </p:nvPicPr>
        <p:blipFill>
          <a:blip r:embed="rId5"/>
          <a:stretch>
            <a:fillRect/>
          </a:stretch>
        </p:blipFill>
        <p:spPr>
          <a:xfrm>
            <a:off x="7102042" y="4428713"/>
            <a:ext cx="4215319" cy="1997909"/>
          </a:xfrm>
          <a:prstGeom prst="rect">
            <a:avLst/>
          </a:prstGeom>
        </p:spPr>
      </p:pic>
      <p:sp>
        <p:nvSpPr>
          <p:cNvPr id="25" name="Hình chữ nhật 24">
            <a:extLst>
              <a:ext uri="{FF2B5EF4-FFF2-40B4-BE49-F238E27FC236}">
                <a16:creationId xmlns:a16="http://schemas.microsoft.com/office/drawing/2014/main" id="{C2533C8E-71B5-92CA-0D66-408FE966BAB3}"/>
              </a:ext>
            </a:extLst>
          </p:cNvPr>
          <p:cNvSpPr/>
          <p:nvPr/>
        </p:nvSpPr>
        <p:spPr>
          <a:xfrm>
            <a:off x="6497200" y="1543898"/>
            <a:ext cx="549133" cy="43751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vi-VN"/>
          </a:p>
        </p:txBody>
      </p:sp>
      <p:cxnSp>
        <p:nvCxnSpPr>
          <p:cNvPr id="26" name="Đường kết nối Mũi tên Thẳng 25">
            <a:extLst>
              <a:ext uri="{FF2B5EF4-FFF2-40B4-BE49-F238E27FC236}">
                <a16:creationId xmlns:a16="http://schemas.microsoft.com/office/drawing/2014/main" id="{9AE5BB00-BFAF-1402-E28C-EFD23CB0E36A}"/>
              </a:ext>
            </a:extLst>
          </p:cNvPr>
          <p:cNvCxnSpPr>
            <a:cxnSpLocks/>
            <a:stCxn id="25" idx="1"/>
          </p:cNvCxnSpPr>
          <p:nvPr/>
        </p:nvCxnSpPr>
        <p:spPr>
          <a:xfrm>
            <a:off x="6497200" y="1762656"/>
            <a:ext cx="549133" cy="26660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Đường kết nối Mũi tên Thẳng 26">
            <a:extLst>
              <a:ext uri="{FF2B5EF4-FFF2-40B4-BE49-F238E27FC236}">
                <a16:creationId xmlns:a16="http://schemas.microsoft.com/office/drawing/2014/main" id="{7768075E-DEA4-1F37-3730-3108459BC758}"/>
              </a:ext>
            </a:extLst>
          </p:cNvPr>
          <p:cNvCxnSpPr>
            <a:cxnSpLocks/>
            <a:stCxn id="25" idx="3"/>
          </p:cNvCxnSpPr>
          <p:nvPr/>
        </p:nvCxnSpPr>
        <p:spPr>
          <a:xfrm>
            <a:off x="7046333" y="1762656"/>
            <a:ext cx="4271028" cy="2509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07607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48DA2-FE07-7F67-63B8-0E61ACB676A7}"/>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4C2B3E08-BB86-23CB-19A0-897B6E11384F}"/>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726AEAE5-277B-12E7-3355-4881ADFFABA1}"/>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68A3095D-B29A-6697-F833-237F41FA28EF}"/>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6" name="Hộp Văn bản 5">
            <a:extLst>
              <a:ext uri="{FF2B5EF4-FFF2-40B4-BE49-F238E27FC236}">
                <a16:creationId xmlns:a16="http://schemas.microsoft.com/office/drawing/2014/main" id="{A343A030-96D1-8214-B868-78B50F6ADD10}"/>
              </a:ext>
            </a:extLst>
          </p:cNvPr>
          <p:cNvSpPr txBox="1"/>
          <p:nvPr/>
        </p:nvSpPr>
        <p:spPr>
          <a:xfrm>
            <a:off x="510284" y="833516"/>
            <a:ext cx="6055886" cy="369332"/>
          </a:xfrm>
          <a:prstGeom prst="rect">
            <a:avLst/>
          </a:prstGeom>
          <a:noFill/>
        </p:spPr>
        <p:txBody>
          <a:bodyPr wrap="square">
            <a:spAutoFit/>
          </a:bodyPr>
          <a:lstStyle/>
          <a:p>
            <a:r>
              <a:rPr lang="vi-VN" b="1"/>
              <a:t>3.2. Mô phỏng trên miền rời rạc</a:t>
            </a:r>
            <a:endParaRPr lang="en-ID" b="1"/>
          </a:p>
        </p:txBody>
      </p:sp>
      <p:pic>
        <p:nvPicPr>
          <p:cNvPr id="7" name="Hình ảnh 6">
            <a:extLst>
              <a:ext uri="{FF2B5EF4-FFF2-40B4-BE49-F238E27FC236}">
                <a16:creationId xmlns:a16="http://schemas.microsoft.com/office/drawing/2014/main" id="{1E794D71-908F-25B9-A407-1B4D891CACEB}"/>
              </a:ext>
            </a:extLst>
          </p:cNvPr>
          <p:cNvPicPr>
            <a:picLocks noChangeAspect="1"/>
          </p:cNvPicPr>
          <p:nvPr/>
        </p:nvPicPr>
        <p:blipFill>
          <a:blip r:embed="rId2"/>
          <a:stretch>
            <a:fillRect/>
          </a:stretch>
        </p:blipFill>
        <p:spPr>
          <a:xfrm>
            <a:off x="1675110" y="1291545"/>
            <a:ext cx="8336605" cy="4854158"/>
          </a:xfrm>
          <a:prstGeom prst="rect">
            <a:avLst/>
          </a:prstGeom>
        </p:spPr>
      </p:pic>
      <p:sp>
        <p:nvSpPr>
          <p:cNvPr id="8" name="Hộp Văn bản 7">
            <a:extLst>
              <a:ext uri="{FF2B5EF4-FFF2-40B4-BE49-F238E27FC236}">
                <a16:creationId xmlns:a16="http://schemas.microsoft.com/office/drawing/2014/main" id="{5800125A-BEC0-64B8-EB94-D65F3539AA1E}"/>
              </a:ext>
            </a:extLst>
          </p:cNvPr>
          <p:cNvSpPr txBox="1"/>
          <p:nvPr/>
        </p:nvSpPr>
        <p:spPr>
          <a:xfrm>
            <a:off x="3680042" y="6323097"/>
            <a:ext cx="4831916" cy="369332"/>
          </a:xfrm>
          <a:prstGeom prst="rect">
            <a:avLst/>
          </a:prstGeom>
          <a:noFill/>
        </p:spPr>
        <p:txBody>
          <a:bodyPr wrap="square">
            <a:spAutoFit/>
          </a:bodyPr>
          <a:lstStyle/>
          <a:p>
            <a:pPr algn="ctr"/>
            <a:r>
              <a:rPr lang="vi-VN"/>
              <a:t>Công suất tác dụng trên 2 bộ nghịch lưu</a:t>
            </a:r>
            <a:endParaRPr lang="en-ID"/>
          </a:p>
        </p:txBody>
      </p:sp>
    </p:spTree>
    <p:extLst>
      <p:ext uri="{BB962C8B-B14F-4D97-AF65-F5344CB8AC3E}">
        <p14:creationId xmlns:p14="http://schemas.microsoft.com/office/powerpoint/2010/main" val="16386398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12323-5BC3-2A53-1BB6-E50509EDAC6A}"/>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088AB6C1-5F70-93F9-71F6-C877FA1DFC98}"/>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95321818-0F59-8E2D-CD81-FD47B016BAAF}"/>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34A5FC60-C2B7-D69E-7CC3-2EC41DD205F3}"/>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6" name="Hộp Văn bản 5">
            <a:extLst>
              <a:ext uri="{FF2B5EF4-FFF2-40B4-BE49-F238E27FC236}">
                <a16:creationId xmlns:a16="http://schemas.microsoft.com/office/drawing/2014/main" id="{0AD2C9A8-56BD-824D-0DCE-F572C26C088E}"/>
              </a:ext>
            </a:extLst>
          </p:cNvPr>
          <p:cNvSpPr txBox="1"/>
          <p:nvPr/>
        </p:nvSpPr>
        <p:spPr>
          <a:xfrm>
            <a:off x="510284" y="833516"/>
            <a:ext cx="6055886" cy="369332"/>
          </a:xfrm>
          <a:prstGeom prst="rect">
            <a:avLst/>
          </a:prstGeom>
          <a:noFill/>
        </p:spPr>
        <p:txBody>
          <a:bodyPr wrap="square">
            <a:spAutoFit/>
          </a:bodyPr>
          <a:lstStyle/>
          <a:p>
            <a:r>
              <a:rPr lang="vi-VN" b="1"/>
              <a:t>3.2. Mô phỏng trên miền rời rạc</a:t>
            </a:r>
            <a:endParaRPr lang="en-ID" b="1"/>
          </a:p>
        </p:txBody>
      </p:sp>
      <p:graphicFrame>
        <p:nvGraphicFramePr>
          <p:cNvPr id="5" name="Table 13">
            <a:extLst>
              <a:ext uri="{FF2B5EF4-FFF2-40B4-BE49-F238E27FC236}">
                <a16:creationId xmlns:a16="http://schemas.microsoft.com/office/drawing/2014/main" id="{4137A9A1-F7A9-2025-6225-2CD537F4A8C7}"/>
              </a:ext>
            </a:extLst>
          </p:cNvPr>
          <p:cNvGraphicFramePr>
            <a:graphicFrameLocks noGrp="1"/>
          </p:cNvGraphicFramePr>
          <p:nvPr>
            <p:extLst>
              <p:ext uri="{D42A27DB-BD31-4B8C-83A1-F6EECF244321}">
                <p14:modId xmlns:p14="http://schemas.microsoft.com/office/powerpoint/2010/main" val="978612158"/>
              </p:ext>
            </p:extLst>
          </p:nvPr>
        </p:nvGraphicFramePr>
        <p:xfrm>
          <a:off x="365616" y="3536181"/>
          <a:ext cx="6917019" cy="1715151"/>
        </p:xfrm>
        <a:graphic>
          <a:graphicData uri="http://schemas.openxmlformats.org/drawingml/2006/table">
            <a:tbl>
              <a:tblPr firstRow="1" bandRow="1">
                <a:tableStyleId>{5C22544A-7EE6-4342-B048-85BDC9FD1C3A}</a:tableStyleId>
              </a:tblPr>
              <a:tblGrid>
                <a:gridCol w="691029">
                  <a:extLst>
                    <a:ext uri="{9D8B030D-6E8A-4147-A177-3AD203B41FA5}">
                      <a16:colId xmlns:a16="http://schemas.microsoft.com/office/drawing/2014/main" val="3998854459"/>
                    </a:ext>
                  </a:extLst>
                </a:gridCol>
                <a:gridCol w="3321424">
                  <a:extLst>
                    <a:ext uri="{9D8B030D-6E8A-4147-A177-3AD203B41FA5}">
                      <a16:colId xmlns:a16="http://schemas.microsoft.com/office/drawing/2014/main" val="3372512979"/>
                    </a:ext>
                  </a:extLst>
                </a:gridCol>
                <a:gridCol w="860612">
                  <a:extLst>
                    <a:ext uri="{9D8B030D-6E8A-4147-A177-3AD203B41FA5}">
                      <a16:colId xmlns:a16="http://schemas.microsoft.com/office/drawing/2014/main" val="1462865521"/>
                    </a:ext>
                  </a:extLst>
                </a:gridCol>
                <a:gridCol w="981635">
                  <a:extLst>
                    <a:ext uri="{9D8B030D-6E8A-4147-A177-3AD203B41FA5}">
                      <a16:colId xmlns:a16="http://schemas.microsoft.com/office/drawing/2014/main" val="156630398"/>
                    </a:ext>
                  </a:extLst>
                </a:gridCol>
                <a:gridCol w="1062319">
                  <a:extLst>
                    <a:ext uri="{9D8B030D-6E8A-4147-A177-3AD203B41FA5}">
                      <a16:colId xmlns:a16="http://schemas.microsoft.com/office/drawing/2014/main" val="3496083406"/>
                    </a:ext>
                  </a:extLst>
                </a:gridCol>
              </a:tblGrid>
              <a:tr h="761234">
                <a:tc>
                  <a:txBody>
                    <a:bodyPr/>
                    <a:lstStyle/>
                    <a:p>
                      <a:pPr algn="ctr"/>
                      <a:r>
                        <a:rPr lang="en-US"/>
                        <a:t>Kết quả</a:t>
                      </a:r>
                    </a:p>
                  </a:txBody>
                  <a:tcPr anchor="ctr"/>
                </a:tc>
                <a:tc>
                  <a:txBody>
                    <a:bodyPr/>
                    <a:lstStyle/>
                    <a:p>
                      <a:pPr algn="ctr"/>
                      <a:r>
                        <a:rPr lang="en-US"/>
                        <a:t>Tham số</a:t>
                      </a:r>
                    </a:p>
                  </a:txBody>
                  <a:tcPr anchor="ctr"/>
                </a:tc>
                <a:tc>
                  <a:txBody>
                    <a:bodyPr/>
                    <a:lstStyle/>
                    <a:p>
                      <a:pPr algn="ctr"/>
                      <a:r>
                        <a:rPr lang="en-US"/>
                        <a:t>GT lý thuyết (W)</a:t>
                      </a:r>
                    </a:p>
                  </a:txBody>
                  <a:tcPr anchor="ctr"/>
                </a:tc>
                <a:tc>
                  <a:txBody>
                    <a:bodyPr/>
                    <a:lstStyle/>
                    <a:p>
                      <a:pPr algn="ctr"/>
                      <a:r>
                        <a:rPr lang="en-US"/>
                        <a:t>GT mô phỏng </a:t>
                      </a:r>
                    </a:p>
                    <a:p>
                      <a:pPr algn="ctr"/>
                      <a:r>
                        <a:rPr lang="en-US"/>
                        <a:t>(W)</a:t>
                      </a:r>
                    </a:p>
                  </a:txBody>
                  <a:tcPr anchor="ctr"/>
                </a:tc>
                <a:tc>
                  <a:txBody>
                    <a:bodyPr/>
                    <a:lstStyle/>
                    <a:p>
                      <a:pPr algn="ctr"/>
                      <a:r>
                        <a:rPr lang="en-US"/>
                        <a:t>Sai số</a:t>
                      </a:r>
                    </a:p>
                  </a:txBody>
                  <a:tcPr anchor="ctr"/>
                </a:tc>
                <a:extLst>
                  <a:ext uri="{0D108BD9-81ED-4DB2-BD59-A6C34878D82A}">
                    <a16:rowId xmlns:a16="http://schemas.microsoft.com/office/drawing/2014/main" val="305514116"/>
                  </a:ext>
                </a:extLst>
              </a:tr>
              <a:tr h="434991">
                <a:tc>
                  <a:txBody>
                    <a:bodyPr/>
                    <a:lstStyle/>
                    <a:p>
                      <a:pPr algn="ctr"/>
                      <a:r>
                        <a:rPr lang="en-US"/>
                        <a:t>P1</a:t>
                      </a:r>
                    </a:p>
                  </a:txBody>
                  <a:tcPr anchor="ctr"/>
                </a:tc>
                <a:tc>
                  <a:txBody>
                    <a:bodyPr/>
                    <a:lstStyle/>
                    <a:p>
                      <a:pPr algn="ctr"/>
                      <a:r>
                        <a:rPr lang="en-US"/>
                        <a:t>Công suất bộ 1 ban đầu</a:t>
                      </a:r>
                    </a:p>
                  </a:txBody>
                  <a:tcPr anchor="ctr"/>
                </a:tc>
                <a:tc>
                  <a:txBody>
                    <a:bodyPr/>
                    <a:lstStyle/>
                    <a:p>
                      <a:pPr algn="ctr"/>
                      <a:r>
                        <a:rPr lang="en-US"/>
                        <a:t>2000</a:t>
                      </a:r>
                    </a:p>
                  </a:txBody>
                  <a:tcPr anchor="ctr"/>
                </a:tc>
                <a:tc>
                  <a:txBody>
                    <a:bodyPr/>
                    <a:lstStyle/>
                    <a:p>
                      <a:pPr algn="ctr"/>
                      <a:r>
                        <a:rPr lang="en-US"/>
                        <a:t>2000</a:t>
                      </a:r>
                    </a:p>
                  </a:txBody>
                  <a:tcPr anchor="ctr"/>
                </a:tc>
                <a:tc>
                  <a:txBody>
                    <a:bodyPr/>
                    <a:lstStyle/>
                    <a:p>
                      <a:pPr algn="ctr"/>
                      <a:r>
                        <a:rPr lang="en-US"/>
                        <a:t>0%</a:t>
                      </a:r>
                    </a:p>
                  </a:txBody>
                  <a:tcPr anchor="ctr"/>
                </a:tc>
                <a:extLst>
                  <a:ext uri="{0D108BD9-81ED-4DB2-BD59-A6C34878D82A}">
                    <a16:rowId xmlns:a16="http://schemas.microsoft.com/office/drawing/2014/main" val="2136588521"/>
                  </a:ext>
                </a:extLst>
              </a:tr>
              <a:tr h="217496">
                <a:tc>
                  <a:txBody>
                    <a:bodyPr/>
                    <a:lstStyle/>
                    <a:p>
                      <a:pPr algn="ctr"/>
                      <a:r>
                        <a:rPr lang="en-US"/>
                        <a:t>P2</a:t>
                      </a:r>
                    </a:p>
                  </a:txBody>
                  <a:tcPr anchor="ctr"/>
                </a:tc>
                <a:tc>
                  <a:txBody>
                    <a:bodyPr/>
                    <a:lstStyle/>
                    <a:p>
                      <a:pPr algn="ctr"/>
                      <a:r>
                        <a:rPr lang="en-US"/>
                        <a:t>Công suất bộ 2 ban đầu</a:t>
                      </a:r>
                    </a:p>
                  </a:txBody>
                  <a:tcPr anchor="ctr"/>
                </a:tc>
                <a:tc>
                  <a:txBody>
                    <a:bodyPr/>
                    <a:lstStyle/>
                    <a:p>
                      <a:pPr algn="ctr"/>
                      <a:r>
                        <a:rPr lang="en-US"/>
                        <a:t>2000</a:t>
                      </a:r>
                    </a:p>
                  </a:txBody>
                  <a:tcPr anchor="ctr"/>
                </a:tc>
                <a:tc>
                  <a:txBody>
                    <a:bodyPr/>
                    <a:lstStyle/>
                    <a:p>
                      <a:pPr algn="ctr"/>
                      <a:r>
                        <a:rPr lang="en-US"/>
                        <a:t>2000</a:t>
                      </a:r>
                    </a:p>
                  </a:txBody>
                  <a:tcPr anchor="ctr"/>
                </a:tc>
                <a:tc>
                  <a:txBody>
                    <a:bodyPr/>
                    <a:lstStyle/>
                    <a:p>
                      <a:pPr algn="ctr"/>
                      <a:r>
                        <a:rPr lang="en-US"/>
                        <a:t>0%</a:t>
                      </a:r>
                    </a:p>
                  </a:txBody>
                  <a:tcPr anchor="ctr"/>
                </a:tc>
                <a:extLst>
                  <a:ext uri="{0D108BD9-81ED-4DB2-BD59-A6C34878D82A}">
                    <a16:rowId xmlns:a16="http://schemas.microsoft.com/office/drawing/2014/main" val="2469670652"/>
                  </a:ext>
                </a:extLst>
              </a:tr>
            </a:tbl>
          </a:graphicData>
        </a:graphic>
      </p:graphicFrame>
      <p:graphicFrame>
        <p:nvGraphicFramePr>
          <p:cNvPr id="7" name="Table 10">
            <a:extLst>
              <a:ext uri="{FF2B5EF4-FFF2-40B4-BE49-F238E27FC236}">
                <a16:creationId xmlns:a16="http://schemas.microsoft.com/office/drawing/2014/main" id="{3452132E-8D4F-34A7-DD6D-B91DC5FE059F}"/>
              </a:ext>
            </a:extLst>
          </p:cNvPr>
          <p:cNvGraphicFramePr>
            <a:graphicFrameLocks noGrp="1"/>
          </p:cNvGraphicFramePr>
          <p:nvPr/>
        </p:nvGraphicFramePr>
        <p:xfrm>
          <a:off x="365616" y="1759835"/>
          <a:ext cx="8025348" cy="1561985"/>
        </p:xfrm>
        <a:graphic>
          <a:graphicData uri="http://schemas.openxmlformats.org/drawingml/2006/table">
            <a:tbl>
              <a:tblPr firstRow="1" bandRow="1">
                <a:tableStyleId>{5C22544A-7EE6-4342-B048-85BDC9FD1C3A}</a:tableStyleId>
              </a:tblPr>
              <a:tblGrid>
                <a:gridCol w="801754">
                  <a:extLst>
                    <a:ext uri="{9D8B030D-6E8A-4147-A177-3AD203B41FA5}">
                      <a16:colId xmlns:a16="http://schemas.microsoft.com/office/drawing/2014/main" val="3998854459"/>
                    </a:ext>
                  </a:extLst>
                </a:gridCol>
                <a:gridCol w="2991666">
                  <a:extLst>
                    <a:ext uri="{9D8B030D-6E8A-4147-A177-3AD203B41FA5}">
                      <a16:colId xmlns:a16="http://schemas.microsoft.com/office/drawing/2014/main" val="3372512979"/>
                    </a:ext>
                  </a:extLst>
                </a:gridCol>
                <a:gridCol w="1695429">
                  <a:extLst>
                    <a:ext uri="{9D8B030D-6E8A-4147-A177-3AD203B41FA5}">
                      <a16:colId xmlns:a16="http://schemas.microsoft.com/office/drawing/2014/main" val="1462865521"/>
                    </a:ext>
                  </a:extLst>
                </a:gridCol>
                <a:gridCol w="1689335">
                  <a:extLst>
                    <a:ext uri="{9D8B030D-6E8A-4147-A177-3AD203B41FA5}">
                      <a16:colId xmlns:a16="http://schemas.microsoft.com/office/drawing/2014/main" val="156630398"/>
                    </a:ext>
                  </a:extLst>
                </a:gridCol>
                <a:gridCol w="847164">
                  <a:extLst>
                    <a:ext uri="{9D8B030D-6E8A-4147-A177-3AD203B41FA5}">
                      <a16:colId xmlns:a16="http://schemas.microsoft.com/office/drawing/2014/main" val="3496083406"/>
                    </a:ext>
                  </a:extLst>
                </a:gridCol>
              </a:tblGrid>
              <a:tr h="761234">
                <a:tc>
                  <a:txBody>
                    <a:bodyPr/>
                    <a:lstStyle/>
                    <a:p>
                      <a:pPr algn="ctr"/>
                      <a:r>
                        <a:rPr lang="en-US"/>
                        <a:t>Kết quả</a:t>
                      </a:r>
                    </a:p>
                  </a:txBody>
                  <a:tcPr anchor="ctr"/>
                </a:tc>
                <a:tc>
                  <a:txBody>
                    <a:bodyPr/>
                    <a:lstStyle/>
                    <a:p>
                      <a:pPr algn="ctr"/>
                      <a:r>
                        <a:rPr lang="en-US"/>
                        <a:t>Tham </a:t>
                      </a:r>
                      <a:r>
                        <a:rPr lang="en-US" err="1"/>
                        <a:t>số</a:t>
                      </a:r>
                      <a:endParaRPr lang="en-US"/>
                    </a:p>
                  </a:txBody>
                  <a:tcPr anchor="ctr"/>
                </a:tc>
                <a:tc>
                  <a:txBody>
                    <a:bodyPr/>
                    <a:lstStyle/>
                    <a:p>
                      <a:pPr algn="ctr"/>
                      <a:r>
                        <a:rPr lang="en-US"/>
                        <a:t>GT lý thuyết</a:t>
                      </a:r>
                    </a:p>
                  </a:txBody>
                  <a:tcPr anchor="ctr"/>
                </a:tc>
                <a:tc>
                  <a:txBody>
                    <a:bodyPr/>
                    <a:lstStyle/>
                    <a:p>
                      <a:pPr algn="ctr"/>
                      <a:r>
                        <a:rPr lang="en-US"/>
                        <a:t>GT mô phỏng </a:t>
                      </a:r>
                    </a:p>
                  </a:txBody>
                  <a:tcPr anchor="ctr"/>
                </a:tc>
                <a:tc>
                  <a:txBody>
                    <a:bodyPr/>
                    <a:lstStyle/>
                    <a:p>
                      <a:pPr algn="ctr"/>
                      <a:r>
                        <a:rPr lang="en-US"/>
                        <a:t>Sai số</a:t>
                      </a:r>
                    </a:p>
                  </a:txBody>
                  <a:tcPr anchor="ctr"/>
                </a:tc>
                <a:extLst>
                  <a:ext uri="{0D108BD9-81ED-4DB2-BD59-A6C34878D82A}">
                    <a16:rowId xmlns:a16="http://schemas.microsoft.com/office/drawing/2014/main" val="305514116"/>
                  </a:ext>
                </a:extLst>
              </a:tr>
              <a:tr h="434991">
                <a:tc>
                  <a:txBody>
                    <a:bodyPr/>
                    <a:lstStyle/>
                    <a:p>
                      <a:pPr algn="ctr"/>
                      <a:r>
                        <a:rPr lang="en-US" i="1" err="1">
                          <a:latin typeface="Times New Roman" panose="02020603050405020304" pitchFamily="18" charset="0"/>
                          <a:cs typeface="Times New Roman" panose="02020603050405020304" pitchFamily="18" charset="0"/>
                        </a:rPr>
                        <a:t>V</a:t>
                      </a:r>
                      <a:r>
                        <a:rPr lang="en-US" i="1" baseline="-25000" err="1">
                          <a:latin typeface="Times New Roman" panose="02020603050405020304" pitchFamily="18" charset="0"/>
                          <a:cs typeface="Times New Roman" panose="02020603050405020304" pitchFamily="18" charset="0"/>
                        </a:rPr>
                        <a:t>oc</a:t>
                      </a:r>
                      <a:endParaRPr lang="en-US" i="1">
                        <a:latin typeface="Times New Roman" panose="02020603050405020304" pitchFamily="18" charset="0"/>
                        <a:cs typeface="Times New Roman" panose="02020603050405020304" pitchFamily="18" charset="0"/>
                      </a:endParaRPr>
                    </a:p>
                  </a:txBody>
                  <a:tcPr anchor="ctr"/>
                </a:tc>
                <a:tc>
                  <a:txBody>
                    <a:bodyPr/>
                    <a:lstStyle/>
                    <a:p>
                      <a:pPr algn="ctr"/>
                      <a:r>
                        <a:rPr lang="en-US" err="1"/>
                        <a:t>Điện</a:t>
                      </a:r>
                      <a:r>
                        <a:rPr lang="en-US"/>
                        <a:t> </a:t>
                      </a:r>
                      <a:r>
                        <a:rPr lang="en-US" err="1"/>
                        <a:t>áp</a:t>
                      </a:r>
                      <a:r>
                        <a:rPr lang="en-US"/>
                        <a:t> </a:t>
                      </a:r>
                      <a:r>
                        <a:rPr lang="en-US" err="1"/>
                        <a:t>hở</a:t>
                      </a:r>
                      <a:r>
                        <a:rPr lang="en-US"/>
                        <a:t> </a:t>
                      </a:r>
                      <a:r>
                        <a:rPr lang="en-US" err="1"/>
                        <a:t>mạch</a:t>
                      </a:r>
                      <a:endParaRPr lang="en-US"/>
                    </a:p>
                  </a:txBody>
                  <a:tcPr anchor="ctr"/>
                </a:tc>
                <a:tc>
                  <a:txBody>
                    <a:bodyPr/>
                    <a:lstStyle/>
                    <a:p>
                      <a:pPr algn="ctr"/>
                      <a:r>
                        <a:rPr lang="en-US"/>
                        <a:t>220 V</a:t>
                      </a:r>
                    </a:p>
                  </a:txBody>
                  <a:tcPr anchor="ctr"/>
                </a:tc>
                <a:tc>
                  <a:txBody>
                    <a:bodyPr/>
                    <a:lstStyle/>
                    <a:p>
                      <a:pPr algn="ctr"/>
                      <a:r>
                        <a:rPr lang="en-US"/>
                        <a:t>220 V</a:t>
                      </a:r>
                    </a:p>
                  </a:txBody>
                  <a:tcPr anchor="ctr"/>
                </a:tc>
                <a:tc>
                  <a:txBody>
                    <a:bodyPr/>
                    <a:lstStyle/>
                    <a:p>
                      <a:pPr algn="ctr"/>
                      <a:r>
                        <a:rPr lang="en-US"/>
                        <a:t>0%</a:t>
                      </a:r>
                    </a:p>
                  </a:txBody>
                  <a:tcPr anchor="ctr"/>
                </a:tc>
                <a:extLst>
                  <a:ext uri="{0D108BD9-81ED-4DB2-BD59-A6C34878D82A}">
                    <a16:rowId xmlns:a16="http://schemas.microsoft.com/office/drawing/2014/main" val="2136588521"/>
                  </a:ext>
                </a:extLst>
              </a:tr>
              <a:tr h="217496">
                <a:tc>
                  <a:txBody>
                    <a:bodyPr/>
                    <a:lstStyle/>
                    <a:p>
                      <a:pPr algn="ctr"/>
                      <a:r>
                        <a:rPr lang="en-US" i="1">
                          <a:latin typeface="Times New Roman" panose="02020603050405020304" pitchFamily="18" charset="0"/>
                          <a:cs typeface="Times New Roman" panose="02020603050405020304" pitchFamily="18" charset="0"/>
                        </a:rPr>
                        <a:t>t</a:t>
                      </a:r>
                      <a:r>
                        <a:rPr lang="en-US" i="1" baseline="-25000">
                          <a:latin typeface="Times New Roman" panose="02020603050405020304" pitchFamily="18" charset="0"/>
                          <a:cs typeface="Times New Roman" panose="02020603050405020304" pitchFamily="18" charset="0"/>
                        </a:rPr>
                        <a:t>rise</a:t>
                      </a:r>
                      <a:endParaRPr lang="en-US" i="1">
                        <a:latin typeface="Times New Roman" panose="02020603050405020304" pitchFamily="18" charset="0"/>
                        <a:cs typeface="Times New Roman" panose="02020603050405020304" pitchFamily="18" charset="0"/>
                      </a:endParaRPr>
                    </a:p>
                  </a:txBody>
                  <a:tcPr anchor="ctr"/>
                </a:tc>
                <a:tc>
                  <a:txBody>
                    <a:bodyPr/>
                    <a:lstStyle/>
                    <a:p>
                      <a:pPr algn="ctr"/>
                      <a:r>
                        <a:rPr lang="en-US" err="1"/>
                        <a:t>Thời</a:t>
                      </a:r>
                      <a:r>
                        <a:rPr lang="en-US"/>
                        <a:t> </a:t>
                      </a:r>
                      <a:r>
                        <a:rPr lang="en-US" err="1"/>
                        <a:t>gian</a:t>
                      </a:r>
                      <a:r>
                        <a:rPr lang="en-US"/>
                        <a:t> </a:t>
                      </a:r>
                      <a:r>
                        <a:rPr lang="en-US" err="1"/>
                        <a:t>tăng</a:t>
                      </a:r>
                      <a:r>
                        <a:rPr lang="en-US"/>
                        <a:t> </a:t>
                      </a:r>
                      <a:r>
                        <a:rPr lang="en-US" err="1"/>
                        <a:t>điện</a:t>
                      </a:r>
                      <a:r>
                        <a:rPr lang="en-US"/>
                        <a:t> </a:t>
                      </a:r>
                      <a:r>
                        <a:rPr lang="en-US" err="1"/>
                        <a:t>áp</a:t>
                      </a: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err="1">
                          <a:latin typeface="Times New Roman" panose="02020603050405020304" pitchFamily="18" charset="0"/>
                          <a:cs typeface="Times New Roman" panose="02020603050405020304" pitchFamily="18" charset="0"/>
                        </a:rPr>
                        <a:t>t</a:t>
                      </a:r>
                      <a:r>
                        <a:rPr lang="en-US" i="1" baseline="-25000" err="1">
                          <a:latin typeface="Times New Roman" panose="02020603050405020304" pitchFamily="18" charset="0"/>
                          <a:cs typeface="Times New Roman" panose="02020603050405020304" pitchFamily="18" charset="0"/>
                        </a:rPr>
                        <a:t>rise</a:t>
                      </a:r>
                      <a:r>
                        <a:rPr lang="en-US" i="1" baseline="-25000">
                          <a:latin typeface="Times New Roman" panose="02020603050405020304" pitchFamily="18" charset="0"/>
                          <a:cs typeface="Times New Roman" panose="02020603050405020304" pitchFamily="18" charset="0"/>
                        </a:rPr>
                        <a:t>  </a:t>
                      </a:r>
                      <a:r>
                        <a:rPr lang="en-US"/>
                        <a:t>&lt; 0.05s</a:t>
                      </a:r>
                    </a:p>
                  </a:txBody>
                  <a:tcPr anchor="ctr"/>
                </a:tc>
                <a:tc>
                  <a:txBody>
                    <a:bodyPr/>
                    <a:lstStyle/>
                    <a:p>
                      <a:pPr algn="ctr"/>
                      <a:r>
                        <a:rPr lang="en-US"/>
                        <a:t>0,05s</a:t>
                      </a:r>
                    </a:p>
                  </a:txBody>
                  <a:tcPr anchor="ctr"/>
                </a:tc>
                <a:tc>
                  <a:txBody>
                    <a:bodyPr/>
                    <a:lstStyle/>
                    <a:p>
                      <a:pPr algn="ctr"/>
                      <a:r>
                        <a:rPr lang="en-US"/>
                        <a:t>0</a:t>
                      </a:r>
                    </a:p>
                  </a:txBody>
                  <a:tcPr anchor="ctr"/>
                </a:tc>
                <a:extLst>
                  <a:ext uri="{0D108BD9-81ED-4DB2-BD59-A6C34878D82A}">
                    <a16:rowId xmlns:a16="http://schemas.microsoft.com/office/drawing/2014/main" val="2469670652"/>
                  </a:ext>
                </a:extLst>
              </a:tr>
            </a:tbl>
          </a:graphicData>
        </a:graphic>
      </p:graphicFrame>
      <p:sp>
        <p:nvSpPr>
          <p:cNvPr id="8" name="TextBox 3">
            <a:extLst>
              <a:ext uri="{FF2B5EF4-FFF2-40B4-BE49-F238E27FC236}">
                <a16:creationId xmlns:a16="http://schemas.microsoft.com/office/drawing/2014/main" id="{41F79FE8-CA20-7F9C-02F4-DDAD0D08A11E}"/>
              </a:ext>
            </a:extLst>
          </p:cNvPr>
          <p:cNvSpPr txBox="1"/>
          <p:nvPr/>
        </p:nvSpPr>
        <p:spPr>
          <a:xfrm>
            <a:off x="7466141" y="3536181"/>
            <a:ext cx="4360243" cy="1938992"/>
          </a:xfrm>
          <a:prstGeom prst="rect">
            <a:avLst/>
          </a:prstGeom>
          <a:noFill/>
        </p:spPr>
        <p:txBody>
          <a:bodyPr wrap="square" rtlCol="0">
            <a:spAutoFit/>
          </a:bodyPr>
          <a:lstStyle/>
          <a:p>
            <a:r>
              <a:rPr lang="en-US" sz="2000" b="1" err="1">
                <a:latin typeface="Times New Roman" panose="02020603050405020304" pitchFamily="18" charset="0"/>
                <a:cs typeface="Times New Roman" panose="02020603050405020304" pitchFamily="18" charset="0"/>
              </a:rPr>
              <a:t>Nhận</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xét</a:t>
            </a:r>
            <a:r>
              <a:rPr lang="en-US" sz="2000" b="1">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Ta </a:t>
            </a:r>
            <a:r>
              <a:rPr lang="en-US" sz="2000" err="1">
                <a:latin typeface="Times New Roman" panose="02020603050405020304" pitchFamily="18" charset="0"/>
                <a:cs typeface="Times New Roman" panose="02020603050405020304" pitchFamily="18" charset="0"/>
              </a:rPr>
              <a:t>thấy</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tổng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công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suất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đầu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ra</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của</a:t>
            </a:r>
            <a:r>
              <a:rPr lang="en-US" sz="2000">
                <a:latin typeface="Times New Roman" panose="02020603050405020304" pitchFamily="18" charset="0"/>
                <a:cs typeface="Times New Roman" panose="02020603050405020304" pitchFamily="18" charset="0"/>
              </a:rPr>
              <a:t> 2 </a:t>
            </a:r>
            <a:r>
              <a:rPr lang="en-US" sz="2000" err="1">
                <a:latin typeface="Times New Roman" panose="02020603050405020304" pitchFamily="18" charset="0"/>
                <a:cs typeface="Times New Roman" panose="02020603050405020304" pitchFamily="18" charset="0"/>
              </a:rPr>
              <a:t>bộ</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nghịch</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lưu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bám</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sát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giá</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trị</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đặt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sai</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số</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nhỏ</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đảm</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bảo</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tỷ</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lệ</a:t>
            </a:r>
            <a:r>
              <a:rPr lang="en-US" sz="2000">
                <a:latin typeface="Times New Roman" panose="02020603050405020304" pitchFamily="18" charset="0"/>
                <a:cs typeface="Times New Roman" panose="02020603050405020304" pitchFamily="18" charset="0"/>
              </a:rPr>
              <a:t> chia </a:t>
            </a:r>
            <a:r>
              <a:rPr lang="en-US" sz="2000" err="1">
                <a:latin typeface="Times New Roman" panose="02020603050405020304" pitchFamily="18" charset="0"/>
                <a:cs typeface="Times New Roman" panose="02020603050405020304" pitchFamily="18" charset="0"/>
              </a:rPr>
              <a:t>sẻ</a:t>
            </a:r>
            <a:r>
              <a:rPr lang="en-US" sz="2000">
                <a:latin typeface="Times New Roman" panose="02020603050405020304" pitchFamily="18" charset="0"/>
                <a:cs typeface="Times New Roman" panose="02020603050405020304" pitchFamily="18" charset="0"/>
              </a:rPr>
              <a:t> 1:1</a:t>
            </a:r>
          </a:p>
          <a:p>
            <a:pPr marL="342900" indent="-342900">
              <a:buFont typeface="Arial" panose="020B0604020202020204" pitchFamily="34" charset="0"/>
              <a:buChar char="•"/>
            </a:pPr>
            <a:r>
              <a:rPr lang="en-US" sz="2000" err="1">
                <a:latin typeface="Times New Roman" panose="02020603050405020304" pitchFamily="18" charset="0"/>
                <a:cs typeface="Times New Roman" panose="02020603050405020304" pitchFamily="18" charset="0"/>
              </a:rPr>
              <a:t>Điện</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áp</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đầu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ra</a:t>
            </a:r>
            <a:r>
              <a:rPr lang="en-US" sz="2000">
                <a:latin typeface="Times New Roman" panose="02020603050405020304" pitchFamily="18" charset="0"/>
                <a:cs typeface="Times New Roman" panose="02020603050405020304" pitchFamily="18" charset="0"/>
              </a:rPr>
              <a:t> 2 </a:t>
            </a:r>
            <a:r>
              <a:rPr lang="en-US" sz="2000" err="1">
                <a:latin typeface="Times New Roman" panose="02020603050405020304" pitchFamily="18" charset="0"/>
                <a:cs typeface="Times New Roman" panose="02020603050405020304" pitchFamily="18" charset="0"/>
              </a:rPr>
              <a:t>bộ</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không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thay</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đổi</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trong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suốt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quá</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trình</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mô</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phỏng</a:t>
            </a:r>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56349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E3E44-C5F7-1B11-3F9F-401C0A9C957B}"/>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125D1359-9902-1F72-224D-EE4B88718BF6}"/>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42A34E0B-44E3-2ACD-FC87-4A32FC0E65F7}"/>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AAEE1ECA-3138-6AAC-002C-8638A4CE5D1F}"/>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6" name="Hộp Văn bản 5">
            <a:extLst>
              <a:ext uri="{FF2B5EF4-FFF2-40B4-BE49-F238E27FC236}">
                <a16:creationId xmlns:a16="http://schemas.microsoft.com/office/drawing/2014/main" id="{365A4C09-2CD4-5EE7-A18A-679C7B68703F}"/>
              </a:ext>
            </a:extLst>
          </p:cNvPr>
          <p:cNvSpPr txBox="1"/>
          <p:nvPr/>
        </p:nvSpPr>
        <p:spPr>
          <a:xfrm>
            <a:off x="510284" y="833516"/>
            <a:ext cx="6055886" cy="369332"/>
          </a:xfrm>
          <a:prstGeom prst="rect">
            <a:avLst/>
          </a:prstGeom>
          <a:noFill/>
        </p:spPr>
        <p:txBody>
          <a:bodyPr wrap="square">
            <a:spAutoFit/>
          </a:bodyPr>
          <a:lstStyle/>
          <a:p>
            <a:r>
              <a:rPr lang="vi-VN" b="1"/>
              <a:t>3.2. Mô phỏng trên miền rời rạc</a:t>
            </a:r>
            <a:endParaRPr lang="en-ID" b="1"/>
          </a:p>
        </p:txBody>
      </p:sp>
      <p:sp>
        <p:nvSpPr>
          <p:cNvPr id="5" name="TextBox 4">
            <a:extLst>
              <a:ext uri="{FF2B5EF4-FFF2-40B4-BE49-F238E27FC236}">
                <a16:creationId xmlns:a16="http://schemas.microsoft.com/office/drawing/2014/main" id="{46CC9940-6C98-4321-6FC1-F3B485CDD60E}"/>
              </a:ext>
            </a:extLst>
          </p:cNvPr>
          <p:cNvSpPr txBox="1"/>
          <p:nvPr/>
        </p:nvSpPr>
        <p:spPr>
          <a:xfrm>
            <a:off x="762000" y="1253449"/>
            <a:ext cx="11182350" cy="646331"/>
          </a:xfrm>
          <a:prstGeom prst="rect">
            <a:avLst/>
          </a:prstGeom>
          <a:noFill/>
        </p:spPr>
        <p:txBody>
          <a:bodyPr wrap="square" rtlCol="0">
            <a:spAutoFit/>
          </a:bodyPr>
          <a:lstStyle/>
          <a:p>
            <a:r>
              <a:rPr lang="vi-VN"/>
              <a:t>Kịch bản 2: Mô phỏng 2 inverter làm việc song song với tải RL công suất 4000 W + 2000 </a:t>
            </a:r>
            <a:r>
              <a:rPr lang="vi-VN" err="1"/>
              <a:t>kVA</a:t>
            </a:r>
            <a:r>
              <a:rPr lang="vi-VN"/>
              <a:t>. Tỉ lệ chia sẻ công suất 1:1</a:t>
            </a:r>
            <a:endParaRPr lang="en-ID"/>
          </a:p>
        </p:txBody>
      </p:sp>
      <p:pic>
        <p:nvPicPr>
          <p:cNvPr id="7" name="Hình ảnh 6">
            <a:extLst>
              <a:ext uri="{FF2B5EF4-FFF2-40B4-BE49-F238E27FC236}">
                <a16:creationId xmlns:a16="http://schemas.microsoft.com/office/drawing/2014/main" id="{CCD03B25-9523-53D0-006E-F88D77D9B09D}"/>
              </a:ext>
            </a:extLst>
          </p:cNvPr>
          <p:cNvPicPr>
            <a:picLocks noChangeAspect="1"/>
          </p:cNvPicPr>
          <p:nvPr/>
        </p:nvPicPr>
        <p:blipFill>
          <a:blip r:embed="rId2"/>
          <a:stretch>
            <a:fillRect/>
          </a:stretch>
        </p:blipFill>
        <p:spPr>
          <a:xfrm>
            <a:off x="2225460" y="1773320"/>
            <a:ext cx="7741079" cy="4878645"/>
          </a:xfrm>
          <a:prstGeom prst="rect">
            <a:avLst/>
          </a:prstGeom>
        </p:spPr>
      </p:pic>
    </p:spTree>
    <p:extLst>
      <p:ext uri="{BB962C8B-B14F-4D97-AF65-F5344CB8AC3E}">
        <p14:creationId xmlns:p14="http://schemas.microsoft.com/office/powerpoint/2010/main" val="15719015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2CFB6-0642-4513-1B45-72B2447E7B90}"/>
            </a:ext>
          </a:extLst>
        </p:cNvPr>
        <p:cNvGrpSpPr/>
        <p:nvPr/>
      </p:nvGrpSpPr>
      <p:grpSpPr>
        <a:xfrm>
          <a:off x="0" y="0"/>
          <a:ext cx="0" cy="0"/>
          <a:chOff x="0" y="0"/>
          <a:chExt cx="0" cy="0"/>
        </a:xfrm>
      </p:grpSpPr>
      <p:pic>
        <p:nvPicPr>
          <p:cNvPr id="21" name="Hình ảnh 20">
            <a:extLst>
              <a:ext uri="{FF2B5EF4-FFF2-40B4-BE49-F238E27FC236}">
                <a16:creationId xmlns:a16="http://schemas.microsoft.com/office/drawing/2014/main" id="{B6E35715-FE9C-E0E6-FB9A-0112BA954216}"/>
              </a:ext>
            </a:extLst>
          </p:cNvPr>
          <p:cNvPicPr>
            <a:picLocks noChangeAspect="1"/>
          </p:cNvPicPr>
          <p:nvPr/>
        </p:nvPicPr>
        <p:blipFill>
          <a:blip r:embed="rId2"/>
          <a:stretch>
            <a:fillRect/>
          </a:stretch>
        </p:blipFill>
        <p:spPr>
          <a:xfrm>
            <a:off x="6380287" y="1032877"/>
            <a:ext cx="5603120" cy="2659949"/>
          </a:xfrm>
          <a:prstGeom prst="rect">
            <a:avLst/>
          </a:prstGeom>
        </p:spPr>
      </p:pic>
      <p:pic>
        <p:nvPicPr>
          <p:cNvPr id="8" name="Hình ảnh 7">
            <a:extLst>
              <a:ext uri="{FF2B5EF4-FFF2-40B4-BE49-F238E27FC236}">
                <a16:creationId xmlns:a16="http://schemas.microsoft.com/office/drawing/2014/main" id="{B90935B9-45F0-C6A8-EFFB-C72EBEE4A139}"/>
              </a:ext>
            </a:extLst>
          </p:cNvPr>
          <p:cNvPicPr>
            <a:picLocks noChangeAspect="1"/>
          </p:cNvPicPr>
          <p:nvPr/>
        </p:nvPicPr>
        <p:blipFill>
          <a:blip r:embed="rId3"/>
          <a:stretch>
            <a:fillRect/>
          </a:stretch>
        </p:blipFill>
        <p:spPr>
          <a:xfrm>
            <a:off x="350197" y="1202848"/>
            <a:ext cx="5451802" cy="2489978"/>
          </a:xfrm>
          <a:prstGeom prst="rect">
            <a:avLst/>
          </a:prstGeom>
        </p:spPr>
      </p:pic>
      <p:grpSp>
        <p:nvGrpSpPr>
          <p:cNvPr id="2" name="Group 17">
            <a:extLst>
              <a:ext uri="{FF2B5EF4-FFF2-40B4-BE49-F238E27FC236}">
                <a16:creationId xmlns:a16="http://schemas.microsoft.com/office/drawing/2014/main" id="{6D28DF90-632A-06CD-5433-E24334DED742}"/>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89A17B7D-8551-0340-5BC4-B5A0DB4E37AC}"/>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063AC6AA-E0A0-A31B-42D1-FF008C0E92EF}"/>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6" name="Hộp Văn bản 5">
            <a:extLst>
              <a:ext uri="{FF2B5EF4-FFF2-40B4-BE49-F238E27FC236}">
                <a16:creationId xmlns:a16="http://schemas.microsoft.com/office/drawing/2014/main" id="{B38AB792-4582-3B64-71B0-FAC79A0DA86C}"/>
              </a:ext>
            </a:extLst>
          </p:cNvPr>
          <p:cNvSpPr txBox="1"/>
          <p:nvPr/>
        </p:nvSpPr>
        <p:spPr>
          <a:xfrm>
            <a:off x="510284" y="833516"/>
            <a:ext cx="6055886" cy="369332"/>
          </a:xfrm>
          <a:prstGeom prst="rect">
            <a:avLst/>
          </a:prstGeom>
          <a:noFill/>
        </p:spPr>
        <p:txBody>
          <a:bodyPr wrap="square">
            <a:spAutoFit/>
          </a:bodyPr>
          <a:lstStyle/>
          <a:p>
            <a:r>
              <a:rPr lang="vi-VN" b="1"/>
              <a:t>3.2. Mô phỏng trên miền rời rạc</a:t>
            </a:r>
            <a:endParaRPr lang="en-ID" b="1"/>
          </a:p>
        </p:txBody>
      </p:sp>
      <p:cxnSp>
        <p:nvCxnSpPr>
          <p:cNvPr id="9" name="Đường nối Thẳng 8">
            <a:extLst>
              <a:ext uri="{FF2B5EF4-FFF2-40B4-BE49-F238E27FC236}">
                <a16:creationId xmlns:a16="http://schemas.microsoft.com/office/drawing/2014/main" id="{06E2CB61-67E0-EDD4-D7A8-EF021F6A7257}"/>
              </a:ext>
            </a:extLst>
          </p:cNvPr>
          <p:cNvCxnSpPr/>
          <p:nvPr/>
        </p:nvCxnSpPr>
        <p:spPr>
          <a:xfrm>
            <a:off x="6096000" y="1300167"/>
            <a:ext cx="0" cy="5205536"/>
          </a:xfrm>
          <a:prstGeom prst="line">
            <a:avLst/>
          </a:prstGeom>
        </p:spPr>
        <p:style>
          <a:lnRef idx="1">
            <a:schemeClr val="accent1"/>
          </a:lnRef>
          <a:fillRef idx="0">
            <a:schemeClr val="accent1"/>
          </a:fillRef>
          <a:effectRef idx="0">
            <a:schemeClr val="accent1"/>
          </a:effectRef>
          <a:fontRef idx="minor">
            <a:schemeClr val="tx1"/>
          </a:fontRef>
        </p:style>
      </p:cxnSp>
      <p:sp>
        <p:nvSpPr>
          <p:cNvPr id="12" name="Hộp Văn bản 11">
            <a:extLst>
              <a:ext uri="{FF2B5EF4-FFF2-40B4-BE49-F238E27FC236}">
                <a16:creationId xmlns:a16="http://schemas.microsoft.com/office/drawing/2014/main" id="{BE658502-0C80-FDA8-7753-5599E0838569}"/>
              </a:ext>
            </a:extLst>
          </p:cNvPr>
          <p:cNvSpPr txBox="1"/>
          <p:nvPr/>
        </p:nvSpPr>
        <p:spPr>
          <a:xfrm>
            <a:off x="1677740" y="3755477"/>
            <a:ext cx="2978545" cy="369332"/>
          </a:xfrm>
          <a:prstGeom prst="rect">
            <a:avLst/>
          </a:prstGeom>
          <a:noFill/>
        </p:spPr>
        <p:txBody>
          <a:bodyPr wrap="square">
            <a:spAutoFit/>
          </a:bodyPr>
          <a:lstStyle/>
          <a:p>
            <a:pPr algn="ctr"/>
            <a:r>
              <a:rPr lang="vi-VN"/>
              <a:t>Đáp ứng điện áp đầu ra</a:t>
            </a:r>
            <a:endParaRPr lang="en-ID"/>
          </a:p>
        </p:txBody>
      </p:sp>
      <p:sp>
        <p:nvSpPr>
          <p:cNvPr id="13" name="Hình chữ nhật 12">
            <a:extLst>
              <a:ext uri="{FF2B5EF4-FFF2-40B4-BE49-F238E27FC236}">
                <a16:creationId xmlns:a16="http://schemas.microsoft.com/office/drawing/2014/main" id="{C3B4C9DE-3C07-E208-589C-3E2AB30C7682}"/>
              </a:ext>
            </a:extLst>
          </p:cNvPr>
          <p:cNvSpPr/>
          <p:nvPr/>
        </p:nvSpPr>
        <p:spPr>
          <a:xfrm>
            <a:off x="679446" y="2200520"/>
            <a:ext cx="618125" cy="494634"/>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vi-VN"/>
          </a:p>
        </p:txBody>
      </p:sp>
      <p:cxnSp>
        <p:nvCxnSpPr>
          <p:cNvPr id="14" name="Đường kết nối Mũi tên Thẳng 13">
            <a:extLst>
              <a:ext uri="{FF2B5EF4-FFF2-40B4-BE49-F238E27FC236}">
                <a16:creationId xmlns:a16="http://schemas.microsoft.com/office/drawing/2014/main" id="{B0F03DFE-3175-BF2C-40C5-DF783EE87C6F}"/>
              </a:ext>
            </a:extLst>
          </p:cNvPr>
          <p:cNvCxnSpPr>
            <a:cxnSpLocks/>
            <a:stCxn id="13" idx="1"/>
          </p:cNvCxnSpPr>
          <p:nvPr/>
        </p:nvCxnSpPr>
        <p:spPr>
          <a:xfrm flipH="1">
            <a:off x="445284" y="2447837"/>
            <a:ext cx="234162" cy="1715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Đường kết nối Mũi tên Thẳng 14">
            <a:extLst>
              <a:ext uri="{FF2B5EF4-FFF2-40B4-BE49-F238E27FC236}">
                <a16:creationId xmlns:a16="http://schemas.microsoft.com/office/drawing/2014/main" id="{083BD801-F90E-3D35-097D-0C3BAD80921F}"/>
              </a:ext>
            </a:extLst>
          </p:cNvPr>
          <p:cNvCxnSpPr>
            <a:cxnSpLocks/>
            <a:stCxn id="13" idx="3"/>
          </p:cNvCxnSpPr>
          <p:nvPr/>
        </p:nvCxnSpPr>
        <p:spPr>
          <a:xfrm>
            <a:off x="1297571" y="2447837"/>
            <a:ext cx="4269109" cy="1715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Hộp Văn bản 22">
            <a:extLst>
              <a:ext uri="{FF2B5EF4-FFF2-40B4-BE49-F238E27FC236}">
                <a16:creationId xmlns:a16="http://schemas.microsoft.com/office/drawing/2014/main" id="{E73372D0-B1DF-0AE6-9F25-F41DEE7B449F}"/>
              </a:ext>
            </a:extLst>
          </p:cNvPr>
          <p:cNvSpPr txBox="1"/>
          <p:nvPr/>
        </p:nvSpPr>
        <p:spPr>
          <a:xfrm>
            <a:off x="7720430" y="3839581"/>
            <a:ext cx="2978545" cy="369332"/>
          </a:xfrm>
          <a:prstGeom prst="rect">
            <a:avLst/>
          </a:prstGeom>
          <a:noFill/>
        </p:spPr>
        <p:txBody>
          <a:bodyPr wrap="square">
            <a:spAutoFit/>
          </a:bodyPr>
          <a:lstStyle/>
          <a:p>
            <a:pPr algn="ctr"/>
            <a:r>
              <a:rPr lang="vi-VN"/>
              <a:t>Đáp ứng dòng điện đầu ra</a:t>
            </a:r>
            <a:endParaRPr lang="en-ID"/>
          </a:p>
        </p:txBody>
      </p:sp>
      <p:sp>
        <p:nvSpPr>
          <p:cNvPr id="25" name="Hình chữ nhật 24">
            <a:extLst>
              <a:ext uri="{FF2B5EF4-FFF2-40B4-BE49-F238E27FC236}">
                <a16:creationId xmlns:a16="http://schemas.microsoft.com/office/drawing/2014/main" id="{BF7B368A-BE93-1830-4572-29A668090F45}"/>
              </a:ext>
            </a:extLst>
          </p:cNvPr>
          <p:cNvSpPr/>
          <p:nvPr/>
        </p:nvSpPr>
        <p:spPr>
          <a:xfrm>
            <a:off x="6764883" y="2105038"/>
            <a:ext cx="549133" cy="43751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vi-VN"/>
          </a:p>
        </p:txBody>
      </p:sp>
      <p:cxnSp>
        <p:nvCxnSpPr>
          <p:cNvPr id="26" name="Đường kết nối Mũi tên Thẳng 25">
            <a:extLst>
              <a:ext uri="{FF2B5EF4-FFF2-40B4-BE49-F238E27FC236}">
                <a16:creationId xmlns:a16="http://schemas.microsoft.com/office/drawing/2014/main" id="{CAFB9E11-8148-BBB8-668D-49C7ECAD85DF}"/>
              </a:ext>
            </a:extLst>
          </p:cNvPr>
          <p:cNvCxnSpPr>
            <a:cxnSpLocks/>
            <a:stCxn id="25" idx="1"/>
          </p:cNvCxnSpPr>
          <p:nvPr/>
        </p:nvCxnSpPr>
        <p:spPr>
          <a:xfrm flipH="1">
            <a:off x="6409815" y="2323796"/>
            <a:ext cx="355068" cy="1801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Đường kết nối Mũi tên Thẳng 26">
            <a:extLst>
              <a:ext uri="{FF2B5EF4-FFF2-40B4-BE49-F238E27FC236}">
                <a16:creationId xmlns:a16="http://schemas.microsoft.com/office/drawing/2014/main" id="{2B255074-DF0B-4945-11AD-693ADCAE1D67}"/>
              </a:ext>
            </a:extLst>
          </p:cNvPr>
          <p:cNvCxnSpPr>
            <a:cxnSpLocks/>
            <a:stCxn id="25" idx="3"/>
          </p:cNvCxnSpPr>
          <p:nvPr/>
        </p:nvCxnSpPr>
        <p:spPr>
          <a:xfrm>
            <a:off x="7314016" y="2323796"/>
            <a:ext cx="4102854" cy="1801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Hình ảnh 15">
            <a:extLst>
              <a:ext uri="{FF2B5EF4-FFF2-40B4-BE49-F238E27FC236}">
                <a16:creationId xmlns:a16="http://schemas.microsoft.com/office/drawing/2014/main" id="{5F477AA7-B4BE-A989-F402-32545E24485E}"/>
              </a:ext>
            </a:extLst>
          </p:cNvPr>
          <p:cNvPicPr>
            <a:picLocks noChangeAspect="1"/>
          </p:cNvPicPr>
          <p:nvPr/>
        </p:nvPicPr>
        <p:blipFill>
          <a:blip r:embed="rId4"/>
          <a:stretch>
            <a:fillRect/>
          </a:stretch>
        </p:blipFill>
        <p:spPr>
          <a:xfrm>
            <a:off x="445284" y="4208913"/>
            <a:ext cx="5101583" cy="2457912"/>
          </a:xfrm>
          <a:prstGeom prst="rect">
            <a:avLst/>
          </a:prstGeom>
        </p:spPr>
      </p:pic>
      <p:pic>
        <p:nvPicPr>
          <p:cNvPr id="30" name="Hình ảnh 29">
            <a:extLst>
              <a:ext uri="{FF2B5EF4-FFF2-40B4-BE49-F238E27FC236}">
                <a16:creationId xmlns:a16="http://schemas.microsoft.com/office/drawing/2014/main" id="{09DFFCF6-0EB4-1AB0-F170-AAB023EAE057}"/>
              </a:ext>
            </a:extLst>
          </p:cNvPr>
          <p:cNvPicPr>
            <a:picLocks noChangeAspect="1"/>
          </p:cNvPicPr>
          <p:nvPr/>
        </p:nvPicPr>
        <p:blipFill>
          <a:blip r:embed="rId5"/>
          <a:stretch>
            <a:fillRect/>
          </a:stretch>
        </p:blipFill>
        <p:spPr>
          <a:xfrm>
            <a:off x="6390002" y="4208913"/>
            <a:ext cx="5132295" cy="2457912"/>
          </a:xfrm>
          <a:prstGeom prst="rect">
            <a:avLst/>
          </a:prstGeom>
        </p:spPr>
      </p:pic>
    </p:spTree>
    <p:extLst>
      <p:ext uri="{BB962C8B-B14F-4D97-AF65-F5344CB8AC3E}">
        <p14:creationId xmlns:p14="http://schemas.microsoft.com/office/powerpoint/2010/main" val="36529149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1C90F-B296-EC53-FC48-4042405D95D6}"/>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C38D9973-6322-0BF0-3D08-D5733E34EA54}"/>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67C2002E-08DB-4EC0-7FE3-8FB988B4474E}"/>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F42DFC6B-363F-50AC-5028-F0E6886531F3}"/>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sp>
        <p:nvSpPr>
          <p:cNvPr id="6" name="Hộp Văn bản 5">
            <a:extLst>
              <a:ext uri="{FF2B5EF4-FFF2-40B4-BE49-F238E27FC236}">
                <a16:creationId xmlns:a16="http://schemas.microsoft.com/office/drawing/2014/main" id="{9F24D448-70BF-1F31-2733-63E628D32088}"/>
              </a:ext>
            </a:extLst>
          </p:cNvPr>
          <p:cNvSpPr txBox="1"/>
          <p:nvPr/>
        </p:nvSpPr>
        <p:spPr>
          <a:xfrm>
            <a:off x="510284" y="833516"/>
            <a:ext cx="6055886" cy="369332"/>
          </a:xfrm>
          <a:prstGeom prst="rect">
            <a:avLst/>
          </a:prstGeom>
          <a:noFill/>
        </p:spPr>
        <p:txBody>
          <a:bodyPr wrap="square">
            <a:spAutoFit/>
          </a:bodyPr>
          <a:lstStyle/>
          <a:p>
            <a:r>
              <a:rPr lang="vi-VN" b="1"/>
              <a:t>3.2. Mô phỏng trên miền rời rạc</a:t>
            </a:r>
            <a:endParaRPr lang="en-ID" b="1"/>
          </a:p>
        </p:txBody>
      </p:sp>
      <p:sp>
        <p:nvSpPr>
          <p:cNvPr id="8" name="Hộp Văn bản 7">
            <a:extLst>
              <a:ext uri="{FF2B5EF4-FFF2-40B4-BE49-F238E27FC236}">
                <a16:creationId xmlns:a16="http://schemas.microsoft.com/office/drawing/2014/main" id="{4AB73FB5-4D31-9B3E-72A2-FBA4405E9F48}"/>
              </a:ext>
            </a:extLst>
          </p:cNvPr>
          <p:cNvSpPr txBox="1"/>
          <p:nvPr/>
        </p:nvSpPr>
        <p:spPr>
          <a:xfrm>
            <a:off x="3680042" y="5378153"/>
            <a:ext cx="4831916" cy="646331"/>
          </a:xfrm>
          <a:prstGeom prst="rect">
            <a:avLst/>
          </a:prstGeom>
          <a:noFill/>
        </p:spPr>
        <p:txBody>
          <a:bodyPr wrap="square">
            <a:spAutoFit/>
          </a:bodyPr>
          <a:lstStyle/>
          <a:p>
            <a:pPr algn="ctr"/>
            <a:r>
              <a:rPr lang="vi-VN"/>
              <a:t>Công suất tác dụng và công suất phản kháng trên 2 bộ nghịch lưu</a:t>
            </a:r>
            <a:endParaRPr lang="en-ID"/>
          </a:p>
        </p:txBody>
      </p:sp>
      <p:pic>
        <p:nvPicPr>
          <p:cNvPr id="9" name="Hình ảnh 8">
            <a:extLst>
              <a:ext uri="{FF2B5EF4-FFF2-40B4-BE49-F238E27FC236}">
                <a16:creationId xmlns:a16="http://schemas.microsoft.com/office/drawing/2014/main" id="{EF7AB7B3-2A8F-9282-34E2-60A3DA5DF175}"/>
              </a:ext>
            </a:extLst>
          </p:cNvPr>
          <p:cNvPicPr>
            <a:picLocks noChangeAspect="1"/>
          </p:cNvPicPr>
          <p:nvPr/>
        </p:nvPicPr>
        <p:blipFill>
          <a:blip r:embed="rId2"/>
          <a:stretch>
            <a:fillRect/>
          </a:stretch>
        </p:blipFill>
        <p:spPr>
          <a:xfrm>
            <a:off x="148416" y="1191671"/>
            <a:ext cx="5534497" cy="3217150"/>
          </a:xfrm>
          <a:prstGeom prst="rect">
            <a:avLst/>
          </a:prstGeom>
        </p:spPr>
      </p:pic>
      <p:pic>
        <p:nvPicPr>
          <p:cNvPr id="11" name="Hình ảnh 10">
            <a:extLst>
              <a:ext uri="{FF2B5EF4-FFF2-40B4-BE49-F238E27FC236}">
                <a16:creationId xmlns:a16="http://schemas.microsoft.com/office/drawing/2014/main" id="{94B1BD69-6427-EB0C-8D27-C8F35B41D553}"/>
              </a:ext>
            </a:extLst>
          </p:cNvPr>
          <p:cNvPicPr>
            <a:picLocks noChangeAspect="1"/>
          </p:cNvPicPr>
          <p:nvPr/>
        </p:nvPicPr>
        <p:blipFill>
          <a:blip r:embed="rId3"/>
          <a:stretch>
            <a:fillRect/>
          </a:stretch>
        </p:blipFill>
        <p:spPr>
          <a:xfrm>
            <a:off x="6014936" y="1291545"/>
            <a:ext cx="6177064" cy="3117276"/>
          </a:xfrm>
          <a:prstGeom prst="rect">
            <a:avLst/>
          </a:prstGeom>
        </p:spPr>
      </p:pic>
    </p:spTree>
    <p:extLst>
      <p:ext uri="{BB962C8B-B14F-4D97-AF65-F5344CB8AC3E}">
        <p14:creationId xmlns:p14="http://schemas.microsoft.com/office/powerpoint/2010/main" val="21056524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8A26E-4B5D-D4C4-F90B-0AE9233DF232}"/>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D4A32D3E-818C-A1CA-C219-37D1AAB37DD8}"/>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C65F2D46-F9C1-08B0-D0AA-20C5DA02CD8C}"/>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76FAA961-03D8-A232-A96A-73A37D306B7F}"/>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graphicFrame>
        <p:nvGraphicFramePr>
          <p:cNvPr id="6" name="Table 13">
            <a:extLst>
              <a:ext uri="{FF2B5EF4-FFF2-40B4-BE49-F238E27FC236}">
                <a16:creationId xmlns:a16="http://schemas.microsoft.com/office/drawing/2014/main" id="{3206DF35-0892-8B8B-188D-AC9057C969B4}"/>
              </a:ext>
            </a:extLst>
          </p:cNvPr>
          <p:cNvGraphicFramePr>
            <a:graphicFrameLocks noGrp="1"/>
          </p:cNvGraphicFramePr>
          <p:nvPr/>
        </p:nvGraphicFramePr>
        <p:xfrm>
          <a:off x="365616" y="3536181"/>
          <a:ext cx="6917019" cy="2446671"/>
        </p:xfrm>
        <a:graphic>
          <a:graphicData uri="http://schemas.openxmlformats.org/drawingml/2006/table">
            <a:tbl>
              <a:tblPr firstRow="1" bandRow="1">
                <a:tableStyleId>{5C22544A-7EE6-4342-B048-85BDC9FD1C3A}</a:tableStyleId>
              </a:tblPr>
              <a:tblGrid>
                <a:gridCol w="589424">
                  <a:extLst>
                    <a:ext uri="{9D8B030D-6E8A-4147-A177-3AD203B41FA5}">
                      <a16:colId xmlns:a16="http://schemas.microsoft.com/office/drawing/2014/main" val="3998854459"/>
                    </a:ext>
                  </a:extLst>
                </a:gridCol>
                <a:gridCol w="3657600">
                  <a:extLst>
                    <a:ext uri="{9D8B030D-6E8A-4147-A177-3AD203B41FA5}">
                      <a16:colId xmlns:a16="http://schemas.microsoft.com/office/drawing/2014/main" val="3372512979"/>
                    </a:ext>
                  </a:extLst>
                </a:gridCol>
                <a:gridCol w="883920">
                  <a:extLst>
                    <a:ext uri="{9D8B030D-6E8A-4147-A177-3AD203B41FA5}">
                      <a16:colId xmlns:a16="http://schemas.microsoft.com/office/drawing/2014/main" val="1462865521"/>
                    </a:ext>
                  </a:extLst>
                </a:gridCol>
                <a:gridCol w="955040">
                  <a:extLst>
                    <a:ext uri="{9D8B030D-6E8A-4147-A177-3AD203B41FA5}">
                      <a16:colId xmlns:a16="http://schemas.microsoft.com/office/drawing/2014/main" val="156630398"/>
                    </a:ext>
                  </a:extLst>
                </a:gridCol>
                <a:gridCol w="831035">
                  <a:extLst>
                    <a:ext uri="{9D8B030D-6E8A-4147-A177-3AD203B41FA5}">
                      <a16:colId xmlns:a16="http://schemas.microsoft.com/office/drawing/2014/main" val="3496083406"/>
                    </a:ext>
                  </a:extLst>
                </a:gridCol>
              </a:tblGrid>
              <a:tr h="761234">
                <a:tc>
                  <a:txBody>
                    <a:bodyPr/>
                    <a:lstStyle/>
                    <a:p>
                      <a:pPr algn="ctr"/>
                      <a:r>
                        <a:rPr lang="en-US" sz="1800">
                          <a:latin typeface="Times New Roman" panose="02020603050405020304" pitchFamily="18" charset="0"/>
                          <a:cs typeface="Times New Roman" panose="02020603050405020304" pitchFamily="18" charset="0"/>
                        </a:rPr>
                        <a:t>Kết quả</a:t>
                      </a:r>
                    </a:p>
                  </a:txBody>
                  <a:tcPr anchor="ctr"/>
                </a:tc>
                <a:tc>
                  <a:txBody>
                    <a:bodyPr/>
                    <a:lstStyle/>
                    <a:p>
                      <a:pPr algn="ctr"/>
                      <a:r>
                        <a:rPr lang="en-US" sz="1800">
                          <a:latin typeface="Times New Roman" panose="02020603050405020304" pitchFamily="18" charset="0"/>
                          <a:cs typeface="Times New Roman" panose="02020603050405020304" pitchFamily="18" charset="0"/>
                        </a:rPr>
                        <a:t>Tham </a:t>
                      </a:r>
                      <a:r>
                        <a:rPr lang="en-US" sz="1800" err="1">
                          <a:latin typeface="Times New Roman" panose="02020603050405020304" pitchFamily="18" charset="0"/>
                          <a:cs typeface="Times New Roman" panose="02020603050405020304" pitchFamily="18" charset="0"/>
                        </a:rPr>
                        <a:t>số</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GT lý thuyết (W)</a:t>
                      </a:r>
                    </a:p>
                  </a:txBody>
                  <a:tcPr anchor="ctr"/>
                </a:tc>
                <a:tc>
                  <a:txBody>
                    <a:bodyPr/>
                    <a:lstStyle/>
                    <a:p>
                      <a:pPr algn="ctr"/>
                      <a:r>
                        <a:rPr lang="en-US" sz="1800">
                          <a:latin typeface="Times New Roman" panose="02020603050405020304" pitchFamily="18" charset="0"/>
                          <a:cs typeface="Times New Roman" panose="02020603050405020304" pitchFamily="18" charset="0"/>
                        </a:rPr>
                        <a:t>GT </a:t>
                      </a:r>
                      <a:r>
                        <a:rPr lang="en-US" sz="1800" err="1">
                          <a:latin typeface="Times New Roman" panose="02020603050405020304" pitchFamily="18" charset="0"/>
                          <a:cs typeface="Times New Roman" panose="02020603050405020304" pitchFamily="18" charset="0"/>
                        </a:rPr>
                        <a:t>mô</a:t>
                      </a:r>
                      <a:r>
                        <a:rPr lang="en-US" sz="1800">
                          <a:latin typeface="Times New Roman" panose="02020603050405020304" pitchFamily="18" charset="0"/>
                          <a:cs typeface="Times New Roman" panose="02020603050405020304" pitchFamily="18" charset="0"/>
                        </a:rPr>
                        <a:t> </a:t>
                      </a:r>
                      <a:r>
                        <a:rPr lang="en-US" sz="1800" err="1">
                          <a:latin typeface="Times New Roman" panose="02020603050405020304" pitchFamily="18" charset="0"/>
                          <a:cs typeface="Times New Roman" panose="02020603050405020304" pitchFamily="18" charset="0"/>
                        </a:rPr>
                        <a:t>phỏng</a:t>
                      </a:r>
                      <a:r>
                        <a:rPr lang="en-US" sz="1800">
                          <a:latin typeface="Times New Roman" panose="02020603050405020304" pitchFamily="18" charset="0"/>
                          <a:cs typeface="Times New Roman" panose="02020603050405020304" pitchFamily="18" charset="0"/>
                        </a:rPr>
                        <a:t> </a:t>
                      </a:r>
                    </a:p>
                    <a:p>
                      <a:pPr algn="ctr"/>
                      <a:r>
                        <a:rPr lang="en-US" sz="1800">
                          <a:latin typeface="Times New Roman" panose="02020603050405020304" pitchFamily="18" charset="0"/>
                          <a:cs typeface="Times New Roman" panose="02020603050405020304" pitchFamily="18" charset="0"/>
                        </a:rPr>
                        <a:t>(W)</a:t>
                      </a:r>
                    </a:p>
                  </a:txBody>
                  <a:tcPr anchor="ctr"/>
                </a:tc>
                <a:tc>
                  <a:txBody>
                    <a:bodyPr/>
                    <a:lstStyle/>
                    <a:p>
                      <a:pPr algn="ctr"/>
                      <a:r>
                        <a:rPr lang="en-US" sz="1800">
                          <a:latin typeface="Times New Roman" panose="02020603050405020304" pitchFamily="18" charset="0"/>
                          <a:cs typeface="Times New Roman" panose="02020603050405020304" pitchFamily="18" charset="0"/>
                        </a:rPr>
                        <a:t>Sai số</a:t>
                      </a:r>
                    </a:p>
                  </a:txBody>
                  <a:tcPr anchor="ctr"/>
                </a:tc>
                <a:extLst>
                  <a:ext uri="{0D108BD9-81ED-4DB2-BD59-A6C34878D82A}">
                    <a16:rowId xmlns:a16="http://schemas.microsoft.com/office/drawing/2014/main" val="305514116"/>
                  </a:ext>
                </a:extLst>
              </a:tr>
              <a:tr h="434991">
                <a:tc>
                  <a:txBody>
                    <a:bodyPr/>
                    <a:lstStyle/>
                    <a:p>
                      <a:pPr algn="ctr"/>
                      <a:r>
                        <a:rPr lang="en-US" sz="1800">
                          <a:latin typeface="Times New Roman" panose="02020603050405020304" pitchFamily="18" charset="0"/>
                          <a:cs typeface="Times New Roman" panose="02020603050405020304" pitchFamily="18" charset="0"/>
                        </a:rPr>
                        <a:t>P1</a:t>
                      </a:r>
                    </a:p>
                  </a:txBody>
                  <a:tcPr anchor="ctr"/>
                </a:tc>
                <a:tc>
                  <a:txBody>
                    <a:bodyPr/>
                    <a:lstStyle/>
                    <a:p>
                      <a:pPr algn="ctr"/>
                      <a:r>
                        <a:rPr lang="en-US" sz="1800" err="1">
                          <a:latin typeface="Times New Roman" panose="02020603050405020304" pitchFamily="18" charset="0"/>
                          <a:cs typeface="Times New Roman" panose="02020603050405020304" pitchFamily="18" charset="0"/>
                        </a:rPr>
                        <a:t>Công</a:t>
                      </a:r>
                      <a:r>
                        <a:rPr lang="en-US" sz="1800">
                          <a:latin typeface="Times New Roman" panose="02020603050405020304" pitchFamily="18" charset="0"/>
                          <a:cs typeface="Times New Roman" panose="02020603050405020304" pitchFamily="18" charset="0"/>
                        </a:rPr>
                        <a:t> </a:t>
                      </a:r>
                      <a:r>
                        <a:rPr lang="en-US" sz="1800" err="1">
                          <a:latin typeface="Times New Roman" panose="02020603050405020304" pitchFamily="18" charset="0"/>
                          <a:cs typeface="Times New Roman" panose="02020603050405020304" pitchFamily="18" charset="0"/>
                        </a:rPr>
                        <a:t>suất</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tác dụng </a:t>
                      </a:r>
                      <a:r>
                        <a:rPr lang="en-US" sz="1800" err="1">
                          <a:latin typeface="Times New Roman" panose="02020603050405020304" pitchFamily="18" charset="0"/>
                          <a:cs typeface="Times New Roman" panose="02020603050405020304" pitchFamily="18" charset="0"/>
                        </a:rPr>
                        <a:t>bộ</a:t>
                      </a:r>
                      <a:r>
                        <a:rPr lang="en-US" sz="1800">
                          <a:latin typeface="Times New Roman" panose="02020603050405020304" pitchFamily="18" charset="0"/>
                          <a:cs typeface="Times New Roman" panose="02020603050405020304" pitchFamily="18" charset="0"/>
                        </a:rPr>
                        <a:t> 1 ban </a:t>
                      </a:r>
                      <a:r>
                        <a:rPr lang="en-US" sz="1800" err="1">
                          <a:latin typeface="Times New Roman" panose="02020603050405020304" pitchFamily="18" charset="0"/>
                          <a:cs typeface="Times New Roman" panose="02020603050405020304" pitchFamily="18" charset="0"/>
                        </a:rPr>
                        <a:t>đầu</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2000</a:t>
                      </a:r>
                    </a:p>
                  </a:txBody>
                  <a:tcPr anchor="ctr"/>
                </a:tc>
                <a:tc>
                  <a:txBody>
                    <a:bodyPr/>
                    <a:lstStyle/>
                    <a:p>
                      <a:pPr algn="ctr"/>
                      <a:r>
                        <a:rPr lang="en-US" sz="1800">
                          <a:latin typeface="Times New Roman" panose="02020603050405020304" pitchFamily="18" charset="0"/>
                          <a:cs typeface="Times New Roman" panose="02020603050405020304" pitchFamily="18" charset="0"/>
                        </a:rPr>
                        <a:t>2004</a:t>
                      </a:r>
                    </a:p>
                  </a:txBody>
                  <a:tcPr anchor="ctr"/>
                </a:tc>
                <a:tc>
                  <a:txBody>
                    <a:bodyPr/>
                    <a:lstStyle/>
                    <a:p>
                      <a:pPr algn="ctr"/>
                      <a:r>
                        <a:rPr lang="en-US" sz="1800">
                          <a:latin typeface="Times New Roman" panose="02020603050405020304" pitchFamily="18" charset="0"/>
                          <a:cs typeface="Times New Roman" panose="02020603050405020304" pitchFamily="18" charset="0"/>
                        </a:rPr>
                        <a:t>0,2%</a:t>
                      </a:r>
                    </a:p>
                  </a:txBody>
                  <a:tcPr anchor="ctr"/>
                </a:tc>
                <a:extLst>
                  <a:ext uri="{0D108BD9-81ED-4DB2-BD59-A6C34878D82A}">
                    <a16:rowId xmlns:a16="http://schemas.microsoft.com/office/drawing/2014/main" val="2136588521"/>
                  </a:ext>
                </a:extLst>
              </a:tr>
              <a:tr h="217496">
                <a:tc>
                  <a:txBody>
                    <a:bodyPr/>
                    <a:lstStyle/>
                    <a:p>
                      <a:pPr algn="ctr"/>
                      <a:r>
                        <a:rPr lang="en-US" sz="1800">
                          <a:latin typeface="Times New Roman" panose="02020603050405020304" pitchFamily="18" charset="0"/>
                          <a:cs typeface="Times New Roman" panose="02020603050405020304" pitchFamily="18" charset="0"/>
                        </a:rPr>
                        <a:t>P2</a:t>
                      </a:r>
                    </a:p>
                  </a:txBody>
                  <a:tcPr anchor="ctr"/>
                </a:tc>
                <a:tc>
                  <a:txBody>
                    <a:bodyPr/>
                    <a:lstStyle/>
                    <a:p>
                      <a:pPr algn="ctr"/>
                      <a:r>
                        <a:rPr lang="en-US" sz="1800" err="1">
                          <a:latin typeface="Times New Roman" panose="02020603050405020304" pitchFamily="18" charset="0"/>
                          <a:cs typeface="Times New Roman" panose="02020603050405020304" pitchFamily="18" charset="0"/>
                        </a:rPr>
                        <a:t>Công</a:t>
                      </a:r>
                      <a:r>
                        <a:rPr lang="en-US" sz="1800">
                          <a:latin typeface="Times New Roman" panose="02020603050405020304" pitchFamily="18" charset="0"/>
                          <a:cs typeface="Times New Roman" panose="02020603050405020304" pitchFamily="18" charset="0"/>
                        </a:rPr>
                        <a:t> </a:t>
                      </a:r>
                      <a:r>
                        <a:rPr lang="en-US" sz="1800" err="1">
                          <a:latin typeface="Times New Roman" panose="02020603050405020304" pitchFamily="18" charset="0"/>
                          <a:cs typeface="Times New Roman" panose="02020603050405020304" pitchFamily="18" charset="0"/>
                        </a:rPr>
                        <a:t>suất</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tác dụng </a:t>
                      </a:r>
                      <a:r>
                        <a:rPr lang="en-US" sz="1800" err="1">
                          <a:latin typeface="Times New Roman" panose="02020603050405020304" pitchFamily="18" charset="0"/>
                          <a:cs typeface="Times New Roman" panose="02020603050405020304" pitchFamily="18" charset="0"/>
                        </a:rPr>
                        <a:t>bộ</a:t>
                      </a:r>
                      <a:r>
                        <a:rPr lang="en-US" sz="1800">
                          <a:latin typeface="Times New Roman" panose="02020603050405020304" pitchFamily="18" charset="0"/>
                          <a:cs typeface="Times New Roman" panose="02020603050405020304" pitchFamily="18" charset="0"/>
                        </a:rPr>
                        <a:t> 2 ban </a:t>
                      </a:r>
                      <a:r>
                        <a:rPr lang="en-US" sz="1800" err="1">
                          <a:latin typeface="Times New Roman" panose="02020603050405020304" pitchFamily="18" charset="0"/>
                          <a:cs typeface="Times New Roman" panose="02020603050405020304" pitchFamily="18" charset="0"/>
                        </a:rPr>
                        <a:t>đầu</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2000</a:t>
                      </a:r>
                    </a:p>
                  </a:txBody>
                  <a:tcPr anchor="ctr"/>
                </a:tc>
                <a:tc>
                  <a:txBody>
                    <a:bodyPr/>
                    <a:lstStyle/>
                    <a:p>
                      <a:pPr algn="ctr"/>
                      <a:r>
                        <a:rPr lang="en-US" sz="1800">
                          <a:latin typeface="Times New Roman" panose="02020603050405020304" pitchFamily="18" charset="0"/>
                          <a:cs typeface="Times New Roman" panose="02020603050405020304" pitchFamily="18" charset="0"/>
                        </a:rPr>
                        <a:t>2004</a:t>
                      </a:r>
                    </a:p>
                  </a:txBody>
                  <a:tcPr anchor="ctr"/>
                </a:tc>
                <a:tc>
                  <a:txBody>
                    <a:bodyPr/>
                    <a:lstStyle/>
                    <a:p>
                      <a:pPr algn="ctr"/>
                      <a:r>
                        <a:rPr lang="en-US" sz="1800">
                          <a:latin typeface="Times New Roman" panose="02020603050405020304" pitchFamily="18" charset="0"/>
                          <a:cs typeface="Times New Roman" panose="02020603050405020304" pitchFamily="18" charset="0"/>
                        </a:rPr>
                        <a:t>0,2%</a:t>
                      </a:r>
                    </a:p>
                  </a:txBody>
                  <a:tcPr anchor="ctr"/>
                </a:tc>
                <a:extLst>
                  <a:ext uri="{0D108BD9-81ED-4DB2-BD59-A6C34878D82A}">
                    <a16:rowId xmlns:a16="http://schemas.microsoft.com/office/drawing/2014/main" val="2469670652"/>
                  </a:ext>
                </a:extLst>
              </a:tr>
              <a:tr h="217496">
                <a:tc>
                  <a:txBody>
                    <a:bodyPr/>
                    <a:lstStyle/>
                    <a:p>
                      <a:pPr algn="ctr"/>
                      <a:r>
                        <a:rPr lang="vi-VN" sz="1800">
                          <a:latin typeface="Times New Roman" panose="02020603050405020304" pitchFamily="18" charset="0"/>
                          <a:cs typeface="Times New Roman" panose="02020603050405020304" pitchFamily="18" charset="0"/>
                        </a:rPr>
                        <a:t>Q1</a:t>
                      </a:r>
                      <a:endParaRPr lang="en-US" sz="180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err="1">
                          <a:latin typeface="Times New Roman" panose="02020603050405020304" pitchFamily="18" charset="0"/>
                          <a:cs typeface="Times New Roman" panose="02020603050405020304" pitchFamily="18" charset="0"/>
                        </a:rPr>
                        <a:t>Công</a:t>
                      </a:r>
                      <a:r>
                        <a:rPr lang="en-US" sz="1800">
                          <a:latin typeface="Times New Roman" panose="02020603050405020304" pitchFamily="18" charset="0"/>
                          <a:cs typeface="Times New Roman" panose="02020603050405020304" pitchFamily="18" charset="0"/>
                        </a:rPr>
                        <a:t> </a:t>
                      </a:r>
                      <a:r>
                        <a:rPr lang="en-US" sz="1800" err="1">
                          <a:latin typeface="Times New Roman" panose="02020603050405020304" pitchFamily="18" charset="0"/>
                          <a:cs typeface="Times New Roman" panose="02020603050405020304" pitchFamily="18" charset="0"/>
                        </a:rPr>
                        <a:t>suất</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phản kháng </a:t>
                      </a:r>
                      <a:r>
                        <a:rPr lang="en-US" sz="1800" err="1">
                          <a:latin typeface="Times New Roman" panose="02020603050405020304" pitchFamily="18" charset="0"/>
                          <a:cs typeface="Times New Roman" panose="02020603050405020304" pitchFamily="18" charset="0"/>
                        </a:rPr>
                        <a:t>bộ</a:t>
                      </a:r>
                      <a:r>
                        <a:rPr lang="en-US" sz="1800">
                          <a:latin typeface="Times New Roman" panose="02020603050405020304" pitchFamily="18" charset="0"/>
                          <a:cs typeface="Times New Roman" panose="02020603050405020304" pitchFamily="18" charset="0"/>
                        </a:rPr>
                        <a:t> 1 ban </a:t>
                      </a:r>
                      <a:r>
                        <a:rPr lang="en-US" sz="1800" err="1">
                          <a:latin typeface="Times New Roman" panose="02020603050405020304" pitchFamily="18" charset="0"/>
                          <a:cs typeface="Times New Roman" panose="02020603050405020304" pitchFamily="18" charset="0"/>
                        </a:rPr>
                        <a:t>đầu</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1000</a:t>
                      </a:r>
                    </a:p>
                  </a:txBody>
                  <a:tcPr anchor="ctr"/>
                </a:tc>
                <a:tc>
                  <a:txBody>
                    <a:bodyPr/>
                    <a:lstStyle/>
                    <a:p>
                      <a:pPr algn="ctr"/>
                      <a:r>
                        <a:rPr lang="vi-VN" sz="1800">
                          <a:latin typeface="Times New Roman" panose="02020603050405020304" pitchFamily="18" charset="0"/>
                          <a:cs typeface="Times New Roman" panose="02020603050405020304" pitchFamily="18" charset="0"/>
                        </a:rPr>
                        <a:t>1002</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vi-VN" sz="1800">
                          <a:latin typeface="Times New Roman" panose="02020603050405020304" pitchFamily="18" charset="0"/>
                          <a:cs typeface="Times New Roman" panose="02020603050405020304" pitchFamily="18" charset="0"/>
                        </a:rPr>
                        <a:t>0,2%</a:t>
                      </a:r>
                      <a:endParaRPr lang="en-US" sz="1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11427999"/>
                  </a:ext>
                </a:extLst>
              </a:tr>
              <a:tr h="217496">
                <a:tc>
                  <a:txBody>
                    <a:bodyPr/>
                    <a:lstStyle/>
                    <a:p>
                      <a:pPr algn="ctr"/>
                      <a:r>
                        <a:rPr lang="en-US" sz="1800">
                          <a:latin typeface="Times New Roman" panose="02020603050405020304" pitchFamily="18" charset="0"/>
                          <a:cs typeface="Times New Roman" panose="02020603050405020304" pitchFamily="18" charset="0"/>
                        </a:rPr>
                        <a:t>Q2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err="1">
                          <a:latin typeface="Times New Roman" panose="02020603050405020304" pitchFamily="18" charset="0"/>
                          <a:cs typeface="Times New Roman" panose="02020603050405020304" pitchFamily="18" charset="0"/>
                        </a:rPr>
                        <a:t>Công</a:t>
                      </a:r>
                      <a:r>
                        <a:rPr lang="en-US" sz="1800">
                          <a:latin typeface="Times New Roman" panose="02020603050405020304" pitchFamily="18" charset="0"/>
                          <a:cs typeface="Times New Roman" panose="02020603050405020304" pitchFamily="18" charset="0"/>
                        </a:rPr>
                        <a:t> </a:t>
                      </a:r>
                      <a:r>
                        <a:rPr lang="en-US" sz="1800" err="1">
                          <a:latin typeface="Times New Roman" panose="02020603050405020304" pitchFamily="18" charset="0"/>
                          <a:cs typeface="Times New Roman" panose="02020603050405020304" pitchFamily="18" charset="0"/>
                        </a:rPr>
                        <a:t>suất</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phản kháng </a:t>
                      </a:r>
                      <a:r>
                        <a:rPr lang="en-US" sz="1800" err="1">
                          <a:latin typeface="Times New Roman" panose="02020603050405020304" pitchFamily="18" charset="0"/>
                          <a:cs typeface="Times New Roman" panose="02020603050405020304" pitchFamily="18" charset="0"/>
                        </a:rPr>
                        <a:t>bộ</a:t>
                      </a:r>
                      <a:r>
                        <a:rPr lang="en-US" sz="1800">
                          <a:latin typeface="Times New Roman" panose="02020603050405020304" pitchFamily="18" charset="0"/>
                          <a:cs typeface="Times New Roman" panose="02020603050405020304" pitchFamily="18" charset="0"/>
                        </a:rPr>
                        <a:t> 2 ban </a:t>
                      </a:r>
                      <a:r>
                        <a:rPr lang="en-US" sz="1800" err="1">
                          <a:latin typeface="Times New Roman" panose="02020603050405020304" pitchFamily="18" charset="0"/>
                          <a:cs typeface="Times New Roman" panose="02020603050405020304" pitchFamily="18" charset="0"/>
                        </a:rPr>
                        <a:t>đầu</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1000</a:t>
                      </a:r>
                    </a:p>
                  </a:txBody>
                  <a:tcPr anchor="ctr"/>
                </a:tc>
                <a:tc>
                  <a:txBody>
                    <a:bodyPr/>
                    <a:lstStyle/>
                    <a:p>
                      <a:pPr algn="ctr"/>
                      <a:r>
                        <a:rPr lang="vi-VN" sz="1800">
                          <a:latin typeface="Times New Roman" panose="02020603050405020304" pitchFamily="18" charset="0"/>
                          <a:cs typeface="Times New Roman" panose="02020603050405020304" pitchFamily="18" charset="0"/>
                        </a:rPr>
                        <a:t>1002</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vi-VN" sz="1800">
                          <a:latin typeface="Times New Roman" panose="02020603050405020304" pitchFamily="18" charset="0"/>
                          <a:cs typeface="Times New Roman" panose="02020603050405020304" pitchFamily="18" charset="0"/>
                        </a:rPr>
                        <a:t>0,2%</a:t>
                      </a:r>
                      <a:endParaRPr lang="en-US" sz="1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9492399"/>
                  </a:ext>
                </a:extLst>
              </a:tr>
            </a:tbl>
          </a:graphicData>
        </a:graphic>
      </p:graphicFrame>
      <p:graphicFrame>
        <p:nvGraphicFramePr>
          <p:cNvPr id="7" name="Table 10">
            <a:extLst>
              <a:ext uri="{FF2B5EF4-FFF2-40B4-BE49-F238E27FC236}">
                <a16:creationId xmlns:a16="http://schemas.microsoft.com/office/drawing/2014/main" id="{AD8A4EE2-735C-221E-DD39-E0AF8FFF694E}"/>
              </a:ext>
            </a:extLst>
          </p:cNvPr>
          <p:cNvGraphicFramePr>
            <a:graphicFrameLocks noGrp="1"/>
          </p:cNvGraphicFramePr>
          <p:nvPr/>
        </p:nvGraphicFramePr>
        <p:xfrm>
          <a:off x="365616" y="1759835"/>
          <a:ext cx="8025348" cy="1561985"/>
        </p:xfrm>
        <a:graphic>
          <a:graphicData uri="http://schemas.openxmlformats.org/drawingml/2006/table">
            <a:tbl>
              <a:tblPr firstRow="1" bandRow="1">
                <a:tableStyleId>{5C22544A-7EE6-4342-B048-85BDC9FD1C3A}</a:tableStyleId>
              </a:tblPr>
              <a:tblGrid>
                <a:gridCol w="801754">
                  <a:extLst>
                    <a:ext uri="{9D8B030D-6E8A-4147-A177-3AD203B41FA5}">
                      <a16:colId xmlns:a16="http://schemas.microsoft.com/office/drawing/2014/main" val="3998854459"/>
                    </a:ext>
                  </a:extLst>
                </a:gridCol>
                <a:gridCol w="2991666">
                  <a:extLst>
                    <a:ext uri="{9D8B030D-6E8A-4147-A177-3AD203B41FA5}">
                      <a16:colId xmlns:a16="http://schemas.microsoft.com/office/drawing/2014/main" val="3372512979"/>
                    </a:ext>
                  </a:extLst>
                </a:gridCol>
                <a:gridCol w="1695429">
                  <a:extLst>
                    <a:ext uri="{9D8B030D-6E8A-4147-A177-3AD203B41FA5}">
                      <a16:colId xmlns:a16="http://schemas.microsoft.com/office/drawing/2014/main" val="1462865521"/>
                    </a:ext>
                  </a:extLst>
                </a:gridCol>
                <a:gridCol w="1689335">
                  <a:extLst>
                    <a:ext uri="{9D8B030D-6E8A-4147-A177-3AD203B41FA5}">
                      <a16:colId xmlns:a16="http://schemas.microsoft.com/office/drawing/2014/main" val="156630398"/>
                    </a:ext>
                  </a:extLst>
                </a:gridCol>
                <a:gridCol w="847164">
                  <a:extLst>
                    <a:ext uri="{9D8B030D-6E8A-4147-A177-3AD203B41FA5}">
                      <a16:colId xmlns:a16="http://schemas.microsoft.com/office/drawing/2014/main" val="3496083406"/>
                    </a:ext>
                  </a:extLst>
                </a:gridCol>
              </a:tblGrid>
              <a:tr h="761234">
                <a:tc>
                  <a:txBody>
                    <a:bodyPr/>
                    <a:lstStyle/>
                    <a:p>
                      <a:pPr algn="ctr"/>
                      <a:r>
                        <a:rPr lang="en-US"/>
                        <a:t>Kết quả</a:t>
                      </a:r>
                    </a:p>
                  </a:txBody>
                  <a:tcPr anchor="ctr"/>
                </a:tc>
                <a:tc>
                  <a:txBody>
                    <a:bodyPr/>
                    <a:lstStyle/>
                    <a:p>
                      <a:pPr algn="ctr"/>
                      <a:r>
                        <a:rPr lang="en-US"/>
                        <a:t>Tham số</a:t>
                      </a:r>
                    </a:p>
                  </a:txBody>
                  <a:tcPr anchor="ctr"/>
                </a:tc>
                <a:tc>
                  <a:txBody>
                    <a:bodyPr/>
                    <a:lstStyle/>
                    <a:p>
                      <a:pPr algn="ctr"/>
                      <a:r>
                        <a:rPr lang="en-US"/>
                        <a:t>GT lý thuyết</a:t>
                      </a:r>
                    </a:p>
                  </a:txBody>
                  <a:tcPr anchor="ctr"/>
                </a:tc>
                <a:tc>
                  <a:txBody>
                    <a:bodyPr/>
                    <a:lstStyle/>
                    <a:p>
                      <a:pPr algn="ctr"/>
                      <a:r>
                        <a:rPr lang="en-US"/>
                        <a:t>GT mô phỏng </a:t>
                      </a:r>
                    </a:p>
                  </a:txBody>
                  <a:tcPr anchor="ctr"/>
                </a:tc>
                <a:tc>
                  <a:txBody>
                    <a:bodyPr/>
                    <a:lstStyle/>
                    <a:p>
                      <a:pPr algn="ctr"/>
                      <a:r>
                        <a:rPr lang="en-US"/>
                        <a:t>Sai số</a:t>
                      </a:r>
                    </a:p>
                  </a:txBody>
                  <a:tcPr anchor="ctr"/>
                </a:tc>
                <a:extLst>
                  <a:ext uri="{0D108BD9-81ED-4DB2-BD59-A6C34878D82A}">
                    <a16:rowId xmlns:a16="http://schemas.microsoft.com/office/drawing/2014/main" val="305514116"/>
                  </a:ext>
                </a:extLst>
              </a:tr>
              <a:tr h="434991">
                <a:tc>
                  <a:txBody>
                    <a:bodyPr/>
                    <a:lstStyle/>
                    <a:p>
                      <a:pPr algn="ctr"/>
                      <a:r>
                        <a:rPr lang="en-US" i="1" err="1">
                          <a:latin typeface="Times New Roman" panose="02020603050405020304" pitchFamily="18" charset="0"/>
                          <a:cs typeface="Times New Roman" panose="02020603050405020304" pitchFamily="18" charset="0"/>
                        </a:rPr>
                        <a:t>V</a:t>
                      </a:r>
                      <a:r>
                        <a:rPr lang="en-US" i="1" baseline="-25000" err="1">
                          <a:latin typeface="Times New Roman" panose="02020603050405020304" pitchFamily="18" charset="0"/>
                          <a:cs typeface="Times New Roman" panose="02020603050405020304" pitchFamily="18" charset="0"/>
                        </a:rPr>
                        <a:t>oc</a:t>
                      </a:r>
                      <a:endParaRPr lang="en-US" i="1">
                        <a:latin typeface="Times New Roman" panose="02020603050405020304" pitchFamily="18" charset="0"/>
                        <a:cs typeface="Times New Roman" panose="02020603050405020304" pitchFamily="18" charset="0"/>
                      </a:endParaRPr>
                    </a:p>
                  </a:txBody>
                  <a:tcPr anchor="ctr"/>
                </a:tc>
                <a:tc>
                  <a:txBody>
                    <a:bodyPr/>
                    <a:lstStyle/>
                    <a:p>
                      <a:pPr algn="ctr"/>
                      <a:r>
                        <a:rPr lang="en-US" err="1"/>
                        <a:t>Điện</a:t>
                      </a:r>
                      <a:r>
                        <a:rPr lang="en-US"/>
                        <a:t> </a:t>
                      </a:r>
                      <a:r>
                        <a:rPr lang="en-US" err="1"/>
                        <a:t>áp</a:t>
                      </a:r>
                      <a:r>
                        <a:rPr lang="en-US"/>
                        <a:t> </a:t>
                      </a:r>
                      <a:r>
                        <a:rPr lang="en-US" err="1"/>
                        <a:t>hở</a:t>
                      </a:r>
                      <a:r>
                        <a:rPr lang="en-US"/>
                        <a:t> </a:t>
                      </a:r>
                      <a:r>
                        <a:rPr lang="en-US" err="1"/>
                        <a:t>mạch</a:t>
                      </a:r>
                      <a:endParaRPr lang="en-US"/>
                    </a:p>
                  </a:txBody>
                  <a:tcPr anchor="ctr"/>
                </a:tc>
                <a:tc>
                  <a:txBody>
                    <a:bodyPr/>
                    <a:lstStyle/>
                    <a:p>
                      <a:pPr algn="ctr"/>
                      <a:r>
                        <a:rPr lang="en-US"/>
                        <a:t>220 V</a:t>
                      </a:r>
                    </a:p>
                  </a:txBody>
                  <a:tcPr anchor="ctr"/>
                </a:tc>
                <a:tc>
                  <a:txBody>
                    <a:bodyPr/>
                    <a:lstStyle/>
                    <a:p>
                      <a:pPr algn="ctr"/>
                      <a:r>
                        <a:rPr lang="vi-VN"/>
                        <a:t>220,2</a:t>
                      </a:r>
                      <a:r>
                        <a:rPr lang="en-US"/>
                        <a:t> V</a:t>
                      </a:r>
                    </a:p>
                  </a:txBody>
                  <a:tcPr anchor="ctr"/>
                </a:tc>
                <a:tc>
                  <a:txBody>
                    <a:bodyPr/>
                    <a:lstStyle/>
                    <a:p>
                      <a:pPr algn="ctr"/>
                      <a:r>
                        <a:rPr lang="en-US"/>
                        <a:t>0,09%</a:t>
                      </a:r>
                    </a:p>
                  </a:txBody>
                  <a:tcPr anchor="ctr"/>
                </a:tc>
                <a:extLst>
                  <a:ext uri="{0D108BD9-81ED-4DB2-BD59-A6C34878D82A}">
                    <a16:rowId xmlns:a16="http://schemas.microsoft.com/office/drawing/2014/main" val="2136588521"/>
                  </a:ext>
                </a:extLst>
              </a:tr>
              <a:tr h="217496">
                <a:tc>
                  <a:txBody>
                    <a:bodyPr/>
                    <a:lstStyle/>
                    <a:p>
                      <a:pPr algn="ctr"/>
                      <a:r>
                        <a:rPr lang="en-US" i="1">
                          <a:latin typeface="Times New Roman" panose="02020603050405020304" pitchFamily="18" charset="0"/>
                          <a:cs typeface="Times New Roman" panose="02020603050405020304" pitchFamily="18" charset="0"/>
                        </a:rPr>
                        <a:t>t</a:t>
                      </a:r>
                      <a:r>
                        <a:rPr lang="en-US" i="1" baseline="-25000">
                          <a:latin typeface="Times New Roman" panose="02020603050405020304" pitchFamily="18" charset="0"/>
                          <a:cs typeface="Times New Roman" panose="02020603050405020304" pitchFamily="18" charset="0"/>
                        </a:rPr>
                        <a:t>rise</a:t>
                      </a:r>
                      <a:endParaRPr lang="en-US" i="1">
                        <a:latin typeface="Times New Roman" panose="02020603050405020304" pitchFamily="18" charset="0"/>
                        <a:cs typeface="Times New Roman" panose="02020603050405020304" pitchFamily="18" charset="0"/>
                      </a:endParaRPr>
                    </a:p>
                  </a:txBody>
                  <a:tcPr anchor="ctr"/>
                </a:tc>
                <a:tc>
                  <a:txBody>
                    <a:bodyPr/>
                    <a:lstStyle/>
                    <a:p>
                      <a:pPr algn="ctr"/>
                      <a:r>
                        <a:rPr lang="en-US" err="1"/>
                        <a:t>Thời</a:t>
                      </a:r>
                      <a:r>
                        <a:rPr lang="en-US"/>
                        <a:t> </a:t>
                      </a:r>
                      <a:r>
                        <a:rPr lang="en-US" err="1"/>
                        <a:t>gian</a:t>
                      </a:r>
                      <a:r>
                        <a:rPr lang="en-US"/>
                        <a:t> </a:t>
                      </a:r>
                      <a:r>
                        <a:rPr lang="en-US" err="1"/>
                        <a:t>tăng</a:t>
                      </a:r>
                      <a:r>
                        <a:rPr lang="en-US"/>
                        <a:t> </a:t>
                      </a:r>
                      <a:r>
                        <a:rPr lang="en-US" err="1"/>
                        <a:t>điện</a:t>
                      </a:r>
                      <a:r>
                        <a:rPr lang="en-US"/>
                        <a:t> </a:t>
                      </a:r>
                      <a:r>
                        <a:rPr lang="en-US" err="1"/>
                        <a:t>áp</a:t>
                      </a: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err="1">
                          <a:latin typeface="Times New Roman" panose="02020603050405020304" pitchFamily="18" charset="0"/>
                          <a:cs typeface="Times New Roman" panose="02020603050405020304" pitchFamily="18" charset="0"/>
                        </a:rPr>
                        <a:t>t</a:t>
                      </a:r>
                      <a:r>
                        <a:rPr lang="en-US" i="1" baseline="-25000" err="1">
                          <a:latin typeface="Times New Roman" panose="02020603050405020304" pitchFamily="18" charset="0"/>
                          <a:cs typeface="Times New Roman" panose="02020603050405020304" pitchFamily="18" charset="0"/>
                        </a:rPr>
                        <a:t>rise</a:t>
                      </a:r>
                      <a:r>
                        <a:rPr lang="en-US" i="1" baseline="-25000">
                          <a:latin typeface="Times New Roman" panose="02020603050405020304" pitchFamily="18" charset="0"/>
                          <a:cs typeface="Times New Roman" panose="02020603050405020304" pitchFamily="18" charset="0"/>
                        </a:rPr>
                        <a:t>  </a:t>
                      </a:r>
                      <a:r>
                        <a:rPr lang="en-US"/>
                        <a:t>&lt; 0.05s</a:t>
                      </a:r>
                    </a:p>
                  </a:txBody>
                  <a:tcPr anchor="ctr"/>
                </a:tc>
                <a:tc>
                  <a:txBody>
                    <a:bodyPr/>
                    <a:lstStyle/>
                    <a:p>
                      <a:pPr algn="ctr"/>
                      <a:r>
                        <a:rPr lang="en-US"/>
                        <a:t>0,07s</a:t>
                      </a:r>
                    </a:p>
                  </a:txBody>
                  <a:tcPr anchor="ctr"/>
                </a:tc>
                <a:tc>
                  <a:txBody>
                    <a:bodyPr/>
                    <a:lstStyle/>
                    <a:p>
                      <a:pPr algn="ctr"/>
                      <a:r>
                        <a:rPr lang="en-US"/>
                        <a:t>0</a:t>
                      </a:r>
                    </a:p>
                  </a:txBody>
                  <a:tcPr anchor="ctr"/>
                </a:tc>
                <a:extLst>
                  <a:ext uri="{0D108BD9-81ED-4DB2-BD59-A6C34878D82A}">
                    <a16:rowId xmlns:a16="http://schemas.microsoft.com/office/drawing/2014/main" val="2469670652"/>
                  </a:ext>
                </a:extLst>
              </a:tr>
            </a:tbl>
          </a:graphicData>
        </a:graphic>
      </p:graphicFrame>
      <p:sp>
        <p:nvSpPr>
          <p:cNvPr id="8" name="TextBox 3">
            <a:extLst>
              <a:ext uri="{FF2B5EF4-FFF2-40B4-BE49-F238E27FC236}">
                <a16:creationId xmlns:a16="http://schemas.microsoft.com/office/drawing/2014/main" id="{6D9F4E7A-7D31-E070-8536-713C33DA1F42}"/>
              </a:ext>
            </a:extLst>
          </p:cNvPr>
          <p:cNvSpPr txBox="1"/>
          <p:nvPr/>
        </p:nvSpPr>
        <p:spPr>
          <a:xfrm>
            <a:off x="7466141" y="3536181"/>
            <a:ext cx="4360243" cy="1938992"/>
          </a:xfrm>
          <a:prstGeom prst="rect">
            <a:avLst/>
          </a:prstGeom>
          <a:noFill/>
        </p:spPr>
        <p:txBody>
          <a:bodyPr wrap="square" rtlCol="0">
            <a:spAutoFit/>
          </a:bodyPr>
          <a:lstStyle/>
          <a:p>
            <a:r>
              <a:rPr lang="en-US" sz="2000" b="1" err="1">
                <a:latin typeface="Times New Roman" panose="02020603050405020304" pitchFamily="18" charset="0"/>
                <a:cs typeface="Times New Roman" panose="02020603050405020304" pitchFamily="18" charset="0"/>
              </a:rPr>
              <a:t>Nhận</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xét</a:t>
            </a:r>
            <a:r>
              <a:rPr lang="en-US" sz="2000" b="1">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Ta </a:t>
            </a:r>
            <a:r>
              <a:rPr lang="en-US" sz="2000" err="1">
                <a:latin typeface="Times New Roman" panose="02020603050405020304" pitchFamily="18" charset="0"/>
                <a:cs typeface="Times New Roman" panose="02020603050405020304" pitchFamily="18" charset="0"/>
              </a:rPr>
              <a:t>thấy</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tổng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công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suất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đầu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ra</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của</a:t>
            </a:r>
            <a:r>
              <a:rPr lang="en-US" sz="2000">
                <a:latin typeface="Times New Roman" panose="02020603050405020304" pitchFamily="18" charset="0"/>
                <a:cs typeface="Times New Roman" panose="02020603050405020304" pitchFamily="18" charset="0"/>
              </a:rPr>
              <a:t> 2 </a:t>
            </a:r>
            <a:r>
              <a:rPr lang="en-US" sz="2000" err="1">
                <a:latin typeface="Times New Roman" panose="02020603050405020304" pitchFamily="18" charset="0"/>
                <a:cs typeface="Times New Roman" panose="02020603050405020304" pitchFamily="18" charset="0"/>
              </a:rPr>
              <a:t>bộ</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nghịch</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lưu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bám</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sát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giá</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trị</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đặt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sai</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số</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nhỏ</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đảm</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bảo</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tỷ</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lệ</a:t>
            </a:r>
            <a:r>
              <a:rPr lang="en-US" sz="2000">
                <a:latin typeface="Times New Roman" panose="02020603050405020304" pitchFamily="18" charset="0"/>
                <a:cs typeface="Times New Roman" panose="02020603050405020304" pitchFamily="18" charset="0"/>
              </a:rPr>
              <a:t> chia </a:t>
            </a:r>
            <a:r>
              <a:rPr lang="en-US" sz="2000" err="1">
                <a:latin typeface="Times New Roman" panose="02020603050405020304" pitchFamily="18" charset="0"/>
                <a:cs typeface="Times New Roman" panose="02020603050405020304" pitchFamily="18" charset="0"/>
              </a:rPr>
              <a:t>sẻ</a:t>
            </a:r>
            <a:r>
              <a:rPr lang="en-US" sz="2000">
                <a:latin typeface="Times New Roman" panose="02020603050405020304" pitchFamily="18" charset="0"/>
                <a:cs typeface="Times New Roman" panose="02020603050405020304" pitchFamily="18" charset="0"/>
              </a:rPr>
              <a:t> 1:1</a:t>
            </a:r>
          </a:p>
          <a:p>
            <a:pPr marL="342900" indent="-342900">
              <a:buFont typeface="Arial" panose="020B0604020202020204" pitchFamily="34" charset="0"/>
              <a:buChar char="•"/>
            </a:pPr>
            <a:r>
              <a:rPr lang="en-US" sz="2000" err="1">
                <a:latin typeface="Times New Roman" panose="02020603050405020304" pitchFamily="18" charset="0"/>
                <a:cs typeface="Times New Roman" panose="02020603050405020304" pitchFamily="18" charset="0"/>
              </a:rPr>
              <a:t>Điện</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áp</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đầu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ra</a:t>
            </a:r>
            <a:r>
              <a:rPr lang="en-US" sz="2000">
                <a:latin typeface="Times New Roman" panose="02020603050405020304" pitchFamily="18" charset="0"/>
                <a:cs typeface="Times New Roman" panose="02020603050405020304" pitchFamily="18" charset="0"/>
              </a:rPr>
              <a:t> 2 </a:t>
            </a:r>
            <a:r>
              <a:rPr lang="en-US" sz="2000" err="1">
                <a:latin typeface="Times New Roman" panose="02020603050405020304" pitchFamily="18" charset="0"/>
                <a:cs typeface="Times New Roman" panose="02020603050405020304" pitchFamily="18" charset="0"/>
              </a:rPr>
              <a:t>bộ</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không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thay</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đổi</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trong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suốt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quá</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trình</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mô</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phỏng</a:t>
            </a:r>
            <a:endParaRPr lang="en-US" sz="2000">
              <a:latin typeface="Times New Roman" panose="02020603050405020304" pitchFamily="18" charset="0"/>
              <a:cs typeface="Times New Roman" panose="02020603050405020304" pitchFamily="18" charset="0"/>
            </a:endParaRPr>
          </a:p>
        </p:txBody>
      </p:sp>
      <p:sp>
        <p:nvSpPr>
          <p:cNvPr id="5" name="Hộp Văn bản 4">
            <a:extLst>
              <a:ext uri="{FF2B5EF4-FFF2-40B4-BE49-F238E27FC236}">
                <a16:creationId xmlns:a16="http://schemas.microsoft.com/office/drawing/2014/main" id="{2E376657-34A1-E9D9-820F-8FD5EBD873AC}"/>
              </a:ext>
            </a:extLst>
          </p:cNvPr>
          <p:cNvSpPr txBox="1"/>
          <p:nvPr/>
        </p:nvSpPr>
        <p:spPr>
          <a:xfrm>
            <a:off x="510284" y="833516"/>
            <a:ext cx="6055886" cy="369332"/>
          </a:xfrm>
          <a:prstGeom prst="rect">
            <a:avLst/>
          </a:prstGeom>
          <a:noFill/>
        </p:spPr>
        <p:txBody>
          <a:bodyPr wrap="square">
            <a:spAutoFit/>
          </a:bodyPr>
          <a:lstStyle/>
          <a:p>
            <a:r>
              <a:rPr lang="vi-VN" b="1"/>
              <a:t>3.2. Mô phỏng trên miền rời rạc</a:t>
            </a:r>
            <a:endParaRPr lang="en-ID" b="1"/>
          </a:p>
        </p:txBody>
      </p:sp>
    </p:spTree>
    <p:extLst>
      <p:ext uri="{BB962C8B-B14F-4D97-AF65-F5344CB8AC3E}">
        <p14:creationId xmlns:p14="http://schemas.microsoft.com/office/powerpoint/2010/main" val="14324647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58395-86AD-BD1E-52C8-9FD1B29CCAB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DBC0EE8-D211-108E-9B25-8BAB23D6BD6A}"/>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65F03CEA-5896-A730-6E4E-D24EC0DC2C2B}"/>
              </a:ext>
            </a:extLst>
          </p:cNvPr>
          <p:cNvSpPr>
            <a:spLocks noGrp="1"/>
          </p:cNvSpPr>
          <p:nvPr>
            <p:ph type="sldNum" sz="quarter" idx="12"/>
          </p:nvPr>
        </p:nvSpPr>
        <p:spPr/>
        <p:txBody>
          <a:bodyPr/>
          <a:lstStyle/>
          <a:p>
            <a:fld id="{931DD963-FD40-4A6D-88A9-402A489E81DE}" type="slidenum">
              <a:rPr lang="en-US" smtClean="0"/>
              <a:t>76</a:t>
            </a:fld>
            <a:endParaRPr lang="en-US"/>
          </a:p>
        </p:txBody>
      </p:sp>
      <p:grpSp>
        <p:nvGrpSpPr>
          <p:cNvPr id="10" name="Group 9">
            <a:extLst>
              <a:ext uri="{FF2B5EF4-FFF2-40B4-BE49-F238E27FC236}">
                <a16:creationId xmlns:a16="http://schemas.microsoft.com/office/drawing/2014/main" id="{D4013EB3-3690-5926-DD7D-4D9890E53C20}"/>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B6D2BF17-5431-D860-8791-DE5BC5088BC5}"/>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E564F294-2F91-0B89-6F6C-45A840762205}"/>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mc:AlternateContent xmlns:mc="http://schemas.openxmlformats.org/markup-compatibility/2006" xmlns:a14="http://schemas.microsoft.com/office/drawing/2010/main">
        <mc:Choice Requires="a14">
          <p:sp>
            <p:nvSpPr>
              <p:cNvPr id="15" name="Hộp Văn bản 14">
                <a:extLst>
                  <a:ext uri="{FF2B5EF4-FFF2-40B4-BE49-F238E27FC236}">
                    <a16:creationId xmlns:a16="http://schemas.microsoft.com/office/drawing/2014/main" id="{DA28D23A-71AA-3081-0F4F-9B0E8FD4E9A2}"/>
                  </a:ext>
                </a:extLst>
              </p:cNvPr>
              <p:cNvSpPr txBox="1"/>
              <p:nvPr/>
            </p:nvSpPr>
            <p:spPr>
              <a:xfrm>
                <a:off x="88900" y="1408268"/>
                <a:ext cx="11916744" cy="5460469"/>
              </a:xfrm>
              <a:prstGeom prst="rect">
                <a:avLst/>
              </a:prstGeom>
              <a:noFill/>
            </p:spPr>
            <p:txBody>
              <a:bodyPr wrap="square">
                <a:spAutoFit/>
              </a:bodyPr>
              <a:lstStyle/>
              <a:p>
                <a:pPr marL="205740" indent="-6350" algn="just">
                  <a:lnSpc>
                    <a:spcPct val="150000"/>
                  </a:lnSpc>
                  <a:spcBef>
                    <a:spcPts val="1200"/>
                  </a:spcBef>
                  <a:spcAft>
                    <a:spcPts val="25"/>
                  </a:spcAft>
                </a:pPr>
                <a:r>
                  <a:rPr lang="vi-VN" sz="2000" i="1" kern="100">
                    <a:solidFill>
                      <a:srgbClr val="000000"/>
                    </a:solidFill>
                    <a:effectLst/>
                    <a:latin typeface="Cambria Math" panose="02040503050406030204" pitchFamily="18" charset="0"/>
                    <a:ea typeface="Times New Roman" panose="02020603050405020304" pitchFamily="18" charset="0"/>
                  </a:rPr>
                  <a:t>- </a:t>
                </a:r>
                <a:r>
                  <a:rPr lang="vi-VN" sz="2000" kern="100">
                    <a:solidFill>
                      <a:srgbClr val="000000"/>
                    </a:solidFill>
                    <a:effectLst/>
                    <a:latin typeface="Cambria Math" panose="02040503050406030204" pitchFamily="18" charset="0"/>
                    <a:ea typeface="Times New Roman" panose="02020603050405020304" pitchFamily="18" charset="0"/>
                  </a:rPr>
                  <a:t>Xét trong hệ tọa độ </a:t>
                </a:r>
                <a:r>
                  <a:rPr lang="vi-VN" sz="2000" kern="100" err="1">
                    <a:solidFill>
                      <a:srgbClr val="000000"/>
                    </a:solidFill>
                    <a:effectLst/>
                    <a:latin typeface="Cambria Math" panose="02040503050406030204" pitchFamily="18" charset="0"/>
                    <a:ea typeface="Times New Roman" panose="02020603050405020304" pitchFamily="18" charset="0"/>
                  </a:rPr>
                  <a:t>Decartes</a:t>
                </a:r>
                <a:r>
                  <a:rPr lang="vi-VN" sz="2000" kern="100">
                    <a:solidFill>
                      <a:srgbClr val="000000"/>
                    </a:solidFill>
                    <a:effectLst/>
                    <a:latin typeface="Cambria Math" panose="02040503050406030204" pitchFamily="18" charset="0"/>
                    <a:ea typeface="Times New Roman" panose="02020603050405020304" pitchFamily="18" charset="0"/>
                  </a:rPr>
                  <a:t>:</a:t>
                </a:r>
                <a:endParaRPr lang="vi-VN" sz="2000" i="1" kern="100">
                  <a:solidFill>
                    <a:srgbClr val="000000"/>
                  </a:solidFill>
                  <a:effectLst/>
                  <a:latin typeface="Cambria Math" panose="02040503050406030204" pitchFamily="18" charset="0"/>
                  <a:ea typeface="Times New Roman" panose="02020603050405020304" pitchFamily="18" charset="0"/>
                </a:endParaRPr>
              </a:p>
              <a:p>
                <a:pPr marL="205740" indent="-6350" algn="just">
                  <a:lnSpc>
                    <a:spcPct val="150000"/>
                  </a:lnSpc>
                  <a:spcBef>
                    <a:spcPts val="1200"/>
                  </a:spcBef>
                  <a:spcAft>
                    <a:spcPts val="25"/>
                  </a:spcAft>
                </a:pPr>
                <a14:m>
                  <m:oMathPara xmlns:m="http://schemas.openxmlformats.org/officeDocument/2006/math">
                    <m:oMath>
                      <m:d>
                        <m:dPr>
                          <m:begChr m:val="{"/>
                          <m:endChr m:val=""/>
                          <m:ctrlPr>
                            <a:rPr lang="vi-VN" sz="2000" i="1" kern="100">
                              <a:solidFill>
                                <a:srgbClr val="000000"/>
                              </a:solidFill>
                              <a:effectLst/>
                              <a:latin typeface="Cambria Math" panose="02040503050406030204" pitchFamily="18" charset="0"/>
                              <a:ea typeface="Times New Roman" panose="02020603050405020304" pitchFamily="18" charset="0"/>
                            </a:rPr>
                          </m:ctrlPr>
                        </m:dPr>
                        <m:e>
                          <m:eqArr>
                            <m:eqArrPr>
                              <m:ctrlPr>
                                <a:rPr lang="vi-VN" sz="2000" i="1" kern="100">
                                  <a:solidFill>
                                    <a:srgbClr val="000000"/>
                                  </a:solidFill>
                                  <a:effectLst/>
                                  <a:latin typeface="Cambria Math" panose="02040503050406030204" pitchFamily="18" charset="0"/>
                                  <a:ea typeface="Times New Roman" panose="02020603050405020304" pitchFamily="18" charset="0"/>
                                </a:rPr>
                              </m:ctrlPr>
                            </m:eqArrPr>
                            <m:e>
                              <m:acc>
                                <m:accPr>
                                  <m:chr m:val="̇"/>
                                  <m:ctrlPr>
                                    <a:rPr lang="en-US" sz="2000" i="1" kern="100">
                                      <a:solidFill>
                                        <a:srgbClr val="000000"/>
                                      </a:solidFill>
                                      <a:effectLst/>
                                      <a:latin typeface="Cambria Math" panose="02040503050406030204" pitchFamily="18" charset="0"/>
                                      <a:ea typeface="Times New Roman" panose="02020603050405020304" pitchFamily="18" charset="0"/>
                                    </a:rPr>
                                  </m:ctrlPr>
                                </m:accPr>
                                <m:e>
                                  <m:r>
                                    <a:rPr lang="en-US" sz="2000" i="1" kern="100">
                                      <a:solidFill>
                                        <a:srgbClr val="000000"/>
                                      </a:solidFill>
                                      <a:effectLst/>
                                      <a:latin typeface="Cambria Math" panose="02040503050406030204" pitchFamily="18" charset="0"/>
                                      <a:ea typeface="Times New Roman" panose="02020603050405020304" pitchFamily="18" charset="0"/>
                                    </a:rPr>
                                    <m:t>𝑥</m:t>
                                  </m:r>
                                </m:e>
                              </m:acc>
                              <m:r>
                                <a:rPr lang="en-US"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𝜀</m:t>
                              </m:r>
                              <m:sSub>
                                <m:sSubPr>
                                  <m:ctrlPr>
                                    <a:rPr lang="vi-VN" sz="2000" i="1" kern="100">
                                      <a:solidFill>
                                        <a:srgbClr val="000000"/>
                                      </a:solidFill>
                                      <a:effectLst/>
                                      <a:latin typeface="Cambria Math" panose="02040503050406030204" pitchFamily="18" charset="0"/>
                                      <a:ea typeface="Times New Roman" panose="02020603050405020304" pitchFamily="18" charset="0"/>
                                    </a:rPr>
                                  </m:ctrlPr>
                                </m:sSubPr>
                                <m:e>
                                  <m:r>
                                    <a:rPr lang="vi-VN" sz="2000" i="1" kern="100">
                                      <a:solidFill>
                                        <a:srgbClr val="000000"/>
                                      </a:solidFill>
                                      <a:effectLst/>
                                      <a:latin typeface="Cambria Math" panose="02040503050406030204" pitchFamily="18" charset="0"/>
                                      <a:ea typeface="Times New Roman" panose="02020603050405020304" pitchFamily="18" charset="0"/>
                                    </a:rPr>
                                    <m:t>𝜔</m:t>
                                  </m:r>
                                </m:e>
                                <m:sub>
                                  <m:r>
                                    <a:rPr lang="vi-VN" sz="2000" i="1" kern="100">
                                      <a:solidFill>
                                        <a:srgbClr val="000000"/>
                                      </a:solidFill>
                                      <a:effectLst/>
                                      <a:latin typeface="Cambria Math" panose="02040503050406030204" pitchFamily="18" charset="0"/>
                                      <a:ea typeface="Times New Roman" panose="02020603050405020304" pitchFamily="18" charset="0"/>
                                    </a:rPr>
                                    <m:t>0</m:t>
                                  </m:r>
                                </m:sub>
                              </m:sSub>
                              <m:d>
                                <m:dPr>
                                  <m:ctrlPr>
                                    <a:rPr lang="vi-VN" sz="2000" i="1" kern="100">
                                      <a:solidFill>
                                        <a:srgbClr val="000000"/>
                                      </a:solidFill>
                                      <a:effectLst/>
                                      <a:latin typeface="Cambria Math" panose="02040503050406030204" pitchFamily="18" charset="0"/>
                                      <a:ea typeface="Times New Roman" panose="02020603050405020304" pitchFamily="18" charset="0"/>
                                    </a:rPr>
                                  </m:ctrlPr>
                                </m:dPr>
                                <m:e>
                                  <m:r>
                                    <a:rPr lang="vi-VN" sz="2000" i="1" kern="100">
                                      <a:solidFill>
                                        <a:srgbClr val="000000"/>
                                      </a:solidFill>
                                      <a:effectLst/>
                                      <a:latin typeface="Cambria Math" panose="02040503050406030204" pitchFamily="18" charset="0"/>
                                      <a:ea typeface="Times New Roman" panose="02020603050405020304" pitchFamily="18" charset="0"/>
                                    </a:rPr>
                                    <m:t>𝜎</m:t>
                                  </m:r>
                                  <m:r>
                                    <a:rPr lang="vi-VN" sz="2000" i="1" kern="100">
                                      <a:solidFill>
                                        <a:srgbClr val="000000"/>
                                      </a:solidFill>
                                      <a:effectLst/>
                                      <a:latin typeface="Cambria Math" panose="02040503050406030204" pitchFamily="18" charset="0"/>
                                      <a:ea typeface="Times New Roman" panose="02020603050405020304" pitchFamily="18" charset="0"/>
                                    </a:rPr>
                                    <m:t>𝑥</m:t>
                                  </m:r>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𝑓</m:t>
                                  </m:r>
                                  <m:d>
                                    <m:dPr>
                                      <m:ctrlPr>
                                        <a:rPr lang="vi-VN" sz="2000" i="1" kern="100">
                                          <a:solidFill>
                                            <a:srgbClr val="000000"/>
                                          </a:solidFill>
                                          <a:effectLst/>
                                          <a:latin typeface="Cambria Math" panose="02040503050406030204" pitchFamily="18" charset="0"/>
                                          <a:ea typeface="Times New Roman" panose="02020603050405020304" pitchFamily="18" charset="0"/>
                                        </a:rPr>
                                      </m:ctrlPr>
                                    </m:dPr>
                                    <m:e>
                                      <m:r>
                                        <a:rPr lang="vi-VN" sz="2000" i="1" kern="100">
                                          <a:solidFill>
                                            <a:srgbClr val="000000"/>
                                          </a:solidFill>
                                          <a:effectLst/>
                                          <a:latin typeface="Cambria Math" panose="02040503050406030204" pitchFamily="18" charset="0"/>
                                          <a:ea typeface="Times New Roman" panose="02020603050405020304" pitchFamily="18" charset="0"/>
                                        </a:rPr>
                                        <m:t>𝑥</m:t>
                                      </m:r>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𝑦</m:t>
                                      </m:r>
                                    </m:e>
                                  </m:d>
                                </m:e>
                              </m:d>
                              <m:r>
                                <a:rPr lang="vi-VN" sz="2000" i="1" kern="100">
                                  <a:solidFill>
                                    <a:srgbClr val="000000"/>
                                  </a:solidFill>
                                  <a:effectLst/>
                                  <a:latin typeface="Cambria Math" panose="02040503050406030204" pitchFamily="18" charset="0"/>
                                  <a:ea typeface="Times New Roman" panose="02020603050405020304" pitchFamily="18" charset="0"/>
                                </a:rPr>
                                <m:t>−</m:t>
                              </m:r>
                              <m:sSub>
                                <m:sSubPr>
                                  <m:ctrlPr>
                                    <a:rPr lang="vi-VN" sz="2000" i="1" kern="100">
                                      <a:solidFill>
                                        <a:srgbClr val="000000"/>
                                      </a:solidFill>
                                      <a:effectLst/>
                                      <a:latin typeface="Cambria Math" panose="02040503050406030204" pitchFamily="18" charset="0"/>
                                      <a:ea typeface="Times New Roman" panose="02020603050405020304" pitchFamily="18" charset="0"/>
                                    </a:rPr>
                                  </m:ctrlPr>
                                </m:sSubPr>
                                <m:e>
                                  <m:r>
                                    <a:rPr lang="vi-VN" sz="2000" i="1" kern="100">
                                      <a:solidFill>
                                        <a:srgbClr val="000000"/>
                                      </a:solidFill>
                                      <a:effectLst/>
                                      <a:latin typeface="Cambria Math" panose="02040503050406030204" pitchFamily="18" charset="0"/>
                                      <a:ea typeface="Times New Roman" panose="02020603050405020304" pitchFamily="18" charset="0"/>
                                    </a:rPr>
                                    <m:t>𝜔</m:t>
                                  </m:r>
                                </m:e>
                                <m:sub>
                                  <m:r>
                                    <a:rPr lang="vi-VN" sz="2000" i="1" kern="100">
                                      <a:solidFill>
                                        <a:srgbClr val="000000"/>
                                      </a:solidFill>
                                      <a:effectLst/>
                                      <a:latin typeface="Cambria Math" panose="02040503050406030204" pitchFamily="18" charset="0"/>
                                      <a:ea typeface="Times New Roman" panose="02020603050405020304" pitchFamily="18" charset="0"/>
                                    </a:rPr>
                                    <m:t>0</m:t>
                                  </m:r>
                                </m:sub>
                              </m:sSub>
                              <m:r>
                                <a:rPr lang="vi-VN" sz="2000" i="1" kern="100">
                                  <a:solidFill>
                                    <a:srgbClr val="000000"/>
                                  </a:solidFill>
                                  <a:effectLst/>
                                  <a:latin typeface="Cambria Math" panose="02040503050406030204" pitchFamily="18" charset="0"/>
                                  <a:ea typeface="Times New Roman" panose="02020603050405020304" pitchFamily="18" charset="0"/>
                                </a:rPr>
                                <m:t>𝑦</m:t>
                              </m:r>
                            </m:e>
                            <m:e>
                              <m:acc>
                                <m:accPr>
                                  <m:chr m:val="̇"/>
                                  <m:ctrlPr>
                                    <a:rPr lang="en-US" sz="2000" i="1" kern="100">
                                      <a:solidFill>
                                        <a:srgbClr val="000000"/>
                                      </a:solidFill>
                                      <a:effectLst/>
                                      <a:latin typeface="Cambria Math" panose="02040503050406030204" pitchFamily="18" charset="0"/>
                                      <a:ea typeface="Times New Roman" panose="02020603050405020304" pitchFamily="18" charset="0"/>
                                    </a:rPr>
                                  </m:ctrlPr>
                                </m:accPr>
                                <m:e>
                                  <m:r>
                                    <a:rPr lang="en-US" sz="2000" i="1" kern="100">
                                      <a:solidFill>
                                        <a:srgbClr val="000000"/>
                                      </a:solidFill>
                                      <a:effectLst/>
                                      <a:latin typeface="Cambria Math" panose="02040503050406030204" pitchFamily="18" charset="0"/>
                                      <a:ea typeface="Times New Roman" panose="02020603050405020304" pitchFamily="18" charset="0"/>
                                    </a:rPr>
                                    <m:t>𝑦</m:t>
                                  </m:r>
                                </m:e>
                              </m:acc>
                              <m:r>
                                <a:rPr lang="en-US" sz="2000" i="1" kern="100">
                                  <a:solidFill>
                                    <a:srgbClr val="000000"/>
                                  </a:solidFill>
                                  <a:effectLst/>
                                  <a:latin typeface="Cambria Math" panose="02040503050406030204" pitchFamily="18" charset="0"/>
                                  <a:ea typeface="Times New Roman" panose="02020603050405020304" pitchFamily="18" charset="0"/>
                                </a:rPr>
                                <m:t>=</m:t>
                              </m:r>
                              <m:sSub>
                                <m:sSubPr>
                                  <m:ctrlPr>
                                    <a:rPr lang="vi-VN" sz="2000" i="1" kern="100">
                                      <a:solidFill>
                                        <a:srgbClr val="000000"/>
                                      </a:solidFill>
                                      <a:effectLst/>
                                      <a:latin typeface="Cambria Math" panose="02040503050406030204" pitchFamily="18" charset="0"/>
                                      <a:ea typeface="Times New Roman" panose="02020603050405020304" pitchFamily="18" charset="0"/>
                                    </a:rPr>
                                  </m:ctrlPr>
                                </m:sSubPr>
                                <m:e>
                                  <m:r>
                                    <a:rPr lang="vi-VN" sz="2000" i="1" kern="100">
                                      <a:solidFill>
                                        <a:srgbClr val="000000"/>
                                      </a:solidFill>
                                      <a:effectLst/>
                                      <a:latin typeface="Cambria Math" panose="02040503050406030204" pitchFamily="18" charset="0"/>
                                      <a:ea typeface="Times New Roman" panose="02020603050405020304" pitchFamily="18" charset="0"/>
                                    </a:rPr>
                                    <m:t>𝜔</m:t>
                                  </m:r>
                                </m:e>
                                <m:sub>
                                  <m:r>
                                    <a:rPr lang="vi-VN" sz="2000" i="1" kern="100">
                                      <a:solidFill>
                                        <a:srgbClr val="000000"/>
                                      </a:solidFill>
                                      <a:effectLst/>
                                      <a:latin typeface="Cambria Math" panose="02040503050406030204" pitchFamily="18" charset="0"/>
                                      <a:ea typeface="Times New Roman" panose="02020603050405020304" pitchFamily="18" charset="0"/>
                                    </a:rPr>
                                    <m:t>0</m:t>
                                  </m:r>
                                </m:sub>
                              </m:sSub>
                              <m:r>
                                <a:rPr lang="vi-VN" sz="2000" i="1" kern="100">
                                  <a:solidFill>
                                    <a:srgbClr val="000000"/>
                                  </a:solidFill>
                                  <a:effectLst/>
                                  <a:latin typeface="Cambria Math" panose="02040503050406030204" pitchFamily="18" charset="0"/>
                                  <a:ea typeface="Times New Roman" panose="02020603050405020304" pitchFamily="18" charset="0"/>
                                </a:rPr>
                                <m:t>𝑥</m:t>
                              </m:r>
                            </m:e>
                          </m:eqArr>
                        </m:e>
                      </m:d>
                      <m:r>
                        <a:rPr lang="en-US" sz="2000" i="1" kern="100">
                          <a:solidFill>
                            <a:srgbClr val="000000"/>
                          </a:solidFill>
                          <a:effectLst/>
                          <a:latin typeface="Cambria Math" panose="02040503050406030204" pitchFamily="18" charset="0"/>
                          <a:ea typeface="Times New Roman" panose="02020603050405020304" pitchFamily="18" charset="0"/>
                        </a:rPr>
                        <m:t> </m:t>
                      </m:r>
                      <m:r>
                        <a:rPr lang="vi-VN" sz="2000" i="1" kern="100">
                          <a:solidFill>
                            <a:srgbClr val="000000"/>
                          </a:solidFill>
                          <a:effectLst/>
                          <a:latin typeface="Cambria Math" panose="02040503050406030204" pitchFamily="18" charset="0"/>
                          <a:ea typeface="Times New Roman" panose="02020603050405020304" pitchFamily="18" charset="0"/>
                        </a:rPr>
                        <m:t>      (</m:t>
                      </m:r>
                      <m:r>
                        <a:rPr lang="vi-VN" sz="2000" i="1" kern="100">
                          <a:solidFill>
                            <a:srgbClr val="000000"/>
                          </a:solidFill>
                          <a:latin typeface="Cambria Math" panose="02040503050406030204" pitchFamily="18" charset="0"/>
                          <a:ea typeface="Times New Roman" panose="02020603050405020304" pitchFamily="18" charset="0"/>
                        </a:rPr>
                        <m:t>16</m:t>
                      </m:r>
                      <m:r>
                        <a:rPr lang="vi-VN" sz="2000" i="1" kern="100">
                          <a:solidFill>
                            <a:srgbClr val="000000"/>
                          </a:solidFill>
                          <a:effectLst/>
                          <a:latin typeface="Cambria Math" panose="02040503050406030204" pitchFamily="18" charset="0"/>
                          <a:ea typeface="Times New Roman" panose="02020603050405020304" pitchFamily="18" charset="0"/>
                        </a:rPr>
                        <m:t>)</m:t>
                      </m:r>
                    </m:oMath>
                  </m:oMathPara>
                </a14:m>
                <a:endParaRPr lang="vi-VN" sz="2000" kern="100">
                  <a:solidFill>
                    <a:srgbClr val="000000"/>
                  </a:solidFill>
                  <a:effectLst/>
                  <a:latin typeface="Times New Roman" panose="02020603050405020304" pitchFamily="18" charset="0"/>
                  <a:ea typeface="Times New Roman" panose="02020603050405020304" pitchFamily="18" charset="0"/>
                </a:endParaRPr>
              </a:p>
              <a:p>
                <a:pPr marL="205740" indent="-6350" algn="just">
                  <a:lnSpc>
                    <a:spcPct val="150000"/>
                  </a:lnSpc>
                  <a:spcBef>
                    <a:spcPts val="1200"/>
                  </a:spcBef>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Từ (16), ta xét hệ dao động phi tuyến yếu bằng cách xét </a:t>
                </a:r>
                <a14:m>
                  <m:oMath xmlns:m="http://schemas.openxmlformats.org/officeDocument/2006/math">
                    <m:r>
                      <a:rPr lang="vi-VN" sz="2000" i="1" kern="100">
                        <a:solidFill>
                          <a:srgbClr val="000000"/>
                        </a:solidFill>
                        <a:effectLst/>
                        <a:latin typeface="Cambria Math" panose="02040503050406030204" pitchFamily="18" charset="0"/>
                        <a:ea typeface="Times New Roman" panose="02020603050405020304" pitchFamily="18" charset="0"/>
                      </a:rPr>
                      <m:t> </m:t>
                    </m:r>
                    <m:r>
                      <a:rPr lang="vi-VN" sz="2000" i="1" kern="100">
                        <a:solidFill>
                          <a:srgbClr val="000000"/>
                        </a:solidFill>
                        <a:effectLst/>
                        <a:latin typeface="Cambria Math" panose="02040503050406030204" pitchFamily="18" charset="0"/>
                        <a:ea typeface="Times New Roman" panose="02020603050405020304" pitchFamily="18" charset="0"/>
                      </a:rPr>
                      <m:t>𝜀</m:t>
                    </m:r>
                    <m:r>
                      <a:rPr lang="vi-VN" sz="2000" i="1" kern="100">
                        <a:solidFill>
                          <a:srgbClr val="000000"/>
                        </a:solidFill>
                        <a:effectLst/>
                        <a:latin typeface="Cambria Math" panose="02040503050406030204" pitchFamily="18" charset="0"/>
                        <a:ea typeface="Times New Roman" panose="02020603050405020304" pitchFamily="18" charset="0"/>
                      </a:rPr>
                      <m:t>≪1, </m:t>
                    </m:r>
                    <m:r>
                      <a:rPr lang="vi-VN" sz="2000" i="1" kern="100">
                        <a:solidFill>
                          <a:srgbClr val="000000"/>
                        </a:solidFill>
                        <a:effectLst/>
                        <a:latin typeface="Cambria Math" panose="02040503050406030204" pitchFamily="18" charset="0"/>
                        <a:ea typeface="Times New Roman" panose="02020603050405020304" pitchFamily="18" charset="0"/>
                      </a:rPr>
                      <m:t>𝑓</m:t>
                    </m:r>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𝑥</m:t>
                    </m:r>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𝑦</m:t>
                    </m:r>
                    <m:r>
                      <a:rPr lang="vi-VN" sz="2000" i="1" kern="100">
                        <a:solidFill>
                          <a:srgbClr val="000000"/>
                        </a:solidFill>
                        <a:effectLst/>
                        <a:latin typeface="Cambria Math" panose="02040503050406030204" pitchFamily="18" charset="0"/>
                        <a:ea typeface="Times New Roman" panose="02020603050405020304" pitchFamily="18" charset="0"/>
                      </a:rPr>
                      <m:t>)</m:t>
                    </m:r>
                  </m:oMath>
                </a14:m>
                <a:r>
                  <a:rPr lang="vi-VN" sz="2000" kern="100">
                    <a:solidFill>
                      <a:srgbClr val="000000"/>
                    </a:solidFill>
                    <a:effectLst/>
                    <a:latin typeface="Times New Roman" panose="02020603050405020304" pitchFamily="18" charset="0"/>
                    <a:ea typeface="Times New Roman" panose="02020603050405020304" pitchFamily="18" charset="0"/>
                  </a:rPr>
                  <a:t> là cổng đơn phân cực của mạch tiêu tán. Đối với </a:t>
                </a:r>
                <a:r>
                  <a:rPr lang="vi-VN" sz="2000" kern="100" err="1">
                    <a:solidFill>
                      <a:srgbClr val="000000"/>
                    </a:solidFill>
                    <a:effectLst/>
                    <a:latin typeface="Times New Roman" panose="02020603050405020304" pitchFamily="18" charset="0"/>
                    <a:ea typeface="Times New Roman" panose="02020603050405020304" pitchFamily="18" charset="0"/>
                  </a:rPr>
                  <a:t>Hopf</a:t>
                </a:r>
                <a:r>
                  <a:rPr lang="vi-VN" sz="2000" kern="100">
                    <a:solidFill>
                      <a:srgbClr val="000000"/>
                    </a:solidFill>
                    <a:effectLst/>
                    <a:latin typeface="Times New Roman" panose="02020603050405020304" pitchFamily="18" charset="0"/>
                    <a:ea typeface="Times New Roman" panose="02020603050405020304" pitchFamily="18" charset="0"/>
                  </a:rPr>
                  <a:t>, </a:t>
                </a:r>
                <a14:m>
                  <m:oMath xmlns:m="http://schemas.openxmlformats.org/officeDocument/2006/math">
                    <m:r>
                      <a:rPr lang="vi-VN" sz="2000" i="1" kern="100">
                        <a:solidFill>
                          <a:srgbClr val="000000"/>
                        </a:solidFill>
                        <a:effectLst/>
                        <a:latin typeface="Cambria Math" panose="02040503050406030204" pitchFamily="18" charset="0"/>
                        <a:ea typeface="Times New Roman" panose="02020603050405020304" pitchFamily="18" charset="0"/>
                      </a:rPr>
                      <m:t>𝑓</m:t>
                    </m:r>
                    <m:d>
                      <m:dPr>
                        <m:ctrlPr>
                          <a:rPr lang="vi-VN" sz="2000" i="1" kern="100">
                            <a:solidFill>
                              <a:srgbClr val="000000"/>
                            </a:solidFill>
                            <a:effectLst/>
                            <a:latin typeface="Cambria Math" panose="02040503050406030204" pitchFamily="18" charset="0"/>
                            <a:ea typeface="Times New Roman" panose="02020603050405020304" pitchFamily="18" charset="0"/>
                          </a:rPr>
                        </m:ctrlPr>
                      </m:dPr>
                      <m:e>
                        <m:r>
                          <a:rPr lang="vi-VN" sz="2000" i="1" kern="100">
                            <a:solidFill>
                              <a:srgbClr val="000000"/>
                            </a:solidFill>
                            <a:effectLst/>
                            <a:latin typeface="Cambria Math" panose="02040503050406030204" pitchFamily="18" charset="0"/>
                            <a:ea typeface="Times New Roman" panose="02020603050405020304" pitchFamily="18" charset="0"/>
                          </a:rPr>
                          <m:t>𝑥</m:t>
                        </m:r>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𝑦</m:t>
                        </m:r>
                      </m:e>
                    </m:d>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𝛼</m:t>
                    </m:r>
                    <m:d>
                      <m:dPr>
                        <m:ctrlPr>
                          <a:rPr lang="vi-VN" sz="2000" i="1" kern="100">
                            <a:solidFill>
                              <a:srgbClr val="000000"/>
                            </a:solidFill>
                            <a:effectLst/>
                            <a:latin typeface="Cambria Math" panose="02040503050406030204" pitchFamily="18" charset="0"/>
                            <a:ea typeface="Times New Roman" panose="02020603050405020304" pitchFamily="18" charset="0"/>
                          </a:rPr>
                        </m:ctrlPr>
                      </m:dPr>
                      <m:e>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r>
                              <a:rPr lang="vi-VN" sz="2000" i="1" kern="100">
                                <a:solidFill>
                                  <a:srgbClr val="000000"/>
                                </a:solidFill>
                                <a:effectLst/>
                                <a:latin typeface="Cambria Math" panose="02040503050406030204" pitchFamily="18" charset="0"/>
                                <a:ea typeface="Times New Roman" panose="02020603050405020304" pitchFamily="18" charset="0"/>
                              </a:rPr>
                              <m:t>𝑥</m:t>
                            </m:r>
                          </m:e>
                          <m:sup>
                            <m:r>
                              <a:rPr lang="vi-VN" sz="2000" i="1" kern="100">
                                <a:solidFill>
                                  <a:srgbClr val="000000"/>
                                </a:solidFill>
                                <a:effectLst/>
                                <a:latin typeface="Cambria Math" panose="02040503050406030204" pitchFamily="18" charset="0"/>
                                <a:ea typeface="Times New Roman" panose="02020603050405020304" pitchFamily="18" charset="0"/>
                              </a:rPr>
                              <m:t>2</m:t>
                            </m:r>
                          </m:sup>
                        </m:sSup>
                        <m:r>
                          <a:rPr lang="vi-VN" sz="2000" i="1" kern="100">
                            <a:solidFill>
                              <a:srgbClr val="000000"/>
                            </a:solidFill>
                            <a:effectLst/>
                            <a:latin typeface="Cambria Math" panose="02040503050406030204" pitchFamily="18" charset="0"/>
                            <a:ea typeface="Times New Roman" panose="02020603050405020304" pitchFamily="18" charset="0"/>
                          </a:rPr>
                          <m:t>+</m:t>
                        </m:r>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r>
                              <a:rPr lang="vi-VN" sz="2000" i="1" kern="100">
                                <a:solidFill>
                                  <a:srgbClr val="000000"/>
                                </a:solidFill>
                                <a:effectLst/>
                                <a:latin typeface="Cambria Math" panose="02040503050406030204" pitchFamily="18" charset="0"/>
                                <a:ea typeface="Times New Roman" panose="02020603050405020304" pitchFamily="18" charset="0"/>
                              </a:rPr>
                              <m:t>𝑦</m:t>
                            </m:r>
                          </m:e>
                          <m:sup>
                            <m:r>
                              <a:rPr lang="vi-VN" sz="2000" i="1" kern="100">
                                <a:solidFill>
                                  <a:srgbClr val="000000"/>
                                </a:solidFill>
                                <a:effectLst/>
                                <a:latin typeface="Cambria Math" panose="02040503050406030204" pitchFamily="18" charset="0"/>
                                <a:ea typeface="Times New Roman" panose="02020603050405020304" pitchFamily="18" charset="0"/>
                              </a:rPr>
                              <m:t>2</m:t>
                            </m:r>
                          </m:sup>
                        </m:sSup>
                      </m:e>
                    </m:d>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𝑥</m:t>
                    </m:r>
                  </m:oMath>
                </a14:m>
                <a:r>
                  <a:rPr lang="vi-VN" sz="2000" kern="100">
                    <a:solidFill>
                      <a:srgbClr val="000000"/>
                    </a:solidFill>
                    <a:effectLst/>
                    <a:latin typeface="Times New Roman" panose="02020603050405020304" pitchFamily="18" charset="0"/>
                    <a:ea typeface="Times New Roman" panose="02020603050405020304" pitchFamily="18" charset="0"/>
                  </a:rPr>
                  <a:t>, còn đối với Van </a:t>
                </a:r>
                <a:r>
                  <a:rPr lang="vi-VN" sz="2000" kern="100" err="1">
                    <a:solidFill>
                      <a:srgbClr val="000000"/>
                    </a:solidFill>
                    <a:effectLst/>
                    <a:latin typeface="Times New Roman" panose="02020603050405020304" pitchFamily="18" charset="0"/>
                    <a:ea typeface="Times New Roman" panose="02020603050405020304" pitchFamily="18" charset="0"/>
                  </a:rPr>
                  <a:t>der</a:t>
                </a:r>
                <a:r>
                  <a:rPr lang="vi-VN" sz="2000" kern="100">
                    <a:solidFill>
                      <a:srgbClr val="000000"/>
                    </a:solidFill>
                    <a:effectLst/>
                    <a:latin typeface="Times New Roman" panose="02020603050405020304" pitchFamily="18" charset="0"/>
                    <a:ea typeface="Times New Roman" panose="02020603050405020304" pitchFamily="18" charset="0"/>
                  </a:rPr>
                  <a:t> </a:t>
                </a:r>
                <a:r>
                  <a:rPr lang="vi-VN" sz="2000" kern="100" err="1">
                    <a:solidFill>
                      <a:srgbClr val="000000"/>
                    </a:solidFill>
                    <a:effectLst/>
                    <a:latin typeface="Times New Roman" panose="02020603050405020304" pitchFamily="18" charset="0"/>
                    <a:ea typeface="Times New Roman" panose="02020603050405020304" pitchFamily="18" charset="0"/>
                  </a:rPr>
                  <a:t>Pol</a:t>
                </a:r>
                <a:r>
                  <a:rPr lang="vi-VN" sz="2000" kern="100">
                    <a:solidFill>
                      <a:srgbClr val="000000"/>
                    </a:solidFill>
                    <a:effectLst/>
                    <a:latin typeface="Times New Roman" panose="02020603050405020304" pitchFamily="18" charset="0"/>
                    <a:ea typeface="Times New Roman" panose="02020603050405020304" pitchFamily="18" charset="0"/>
                  </a:rPr>
                  <a:t>, </a:t>
                </a:r>
                <a14:m>
                  <m:oMath xmlns:m="http://schemas.openxmlformats.org/officeDocument/2006/math">
                    <m:r>
                      <a:rPr lang="vi-VN" sz="2000" i="1" kern="100">
                        <a:solidFill>
                          <a:srgbClr val="000000"/>
                        </a:solidFill>
                        <a:effectLst/>
                        <a:latin typeface="Cambria Math" panose="02040503050406030204" pitchFamily="18" charset="0"/>
                        <a:ea typeface="Times New Roman" panose="02020603050405020304" pitchFamily="18" charset="0"/>
                      </a:rPr>
                      <m:t>𝑓</m:t>
                    </m:r>
                    <m:d>
                      <m:dPr>
                        <m:ctrlPr>
                          <a:rPr lang="vi-VN" sz="2000" i="1" kern="100">
                            <a:solidFill>
                              <a:srgbClr val="000000"/>
                            </a:solidFill>
                            <a:effectLst/>
                            <a:latin typeface="Cambria Math" panose="02040503050406030204" pitchFamily="18" charset="0"/>
                            <a:ea typeface="Times New Roman" panose="02020603050405020304" pitchFamily="18" charset="0"/>
                          </a:rPr>
                        </m:ctrlPr>
                      </m:dPr>
                      <m:e>
                        <m:r>
                          <a:rPr lang="vi-VN" sz="2000" i="1" kern="100">
                            <a:solidFill>
                              <a:srgbClr val="000000"/>
                            </a:solidFill>
                            <a:effectLst/>
                            <a:latin typeface="Cambria Math" panose="02040503050406030204" pitchFamily="18" charset="0"/>
                            <a:ea typeface="Times New Roman" panose="02020603050405020304" pitchFamily="18" charset="0"/>
                          </a:rPr>
                          <m:t>𝑥</m:t>
                        </m:r>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𝑦</m:t>
                        </m:r>
                      </m:e>
                    </m:d>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𝛼</m:t>
                    </m:r>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r>
                          <a:rPr lang="vi-VN" sz="2000" i="1" kern="100">
                            <a:solidFill>
                              <a:srgbClr val="000000"/>
                            </a:solidFill>
                            <a:effectLst/>
                            <a:latin typeface="Cambria Math" panose="02040503050406030204" pitchFamily="18" charset="0"/>
                            <a:ea typeface="Times New Roman" panose="02020603050405020304" pitchFamily="18" charset="0"/>
                          </a:rPr>
                          <m:t>𝑥</m:t>
                        </m:r>
                      </m:e>
                      <m:sup>
                        <m:r>
                          <a:rPr lang="vi-VN" sz="2000" i="1" kern="100">
                            <a:solidFill>
                              <a:srgbClr val="000000"/>
                            </a:solidFill>
                            <a:effectLst/>
                            <a:latin typeface="Cambria Math" panose="02040503050406030204" pitchFamily="18" charset="0"/>
                            <a:ea typeface="Times New Roman" panose="02020603050405020304" pitchFamily="18" charset="0"/>
                          </a:rPr>
                          <m:t>3</m:t>
                        </m:r>
                      </m:sup>
                    </m:sSup>
                  </m:oMath>
                </a14:m>
                <a:r>
                  <a:rPr lang="vi-VN" sz="2000" kern="100">
                    <a:solidFill>
                      <a:srgbClr val="000000"/>
                    </a:solidFill>
                    <a:effectLst/>
                    <a:latin typeface="Times New Roman" panose="02020603050405020304" pitchFamily="18" charset="0"/>
                    <a:ea typeface="Times New Roman" panose="02020603050405020304" pitchFamily="18" charset="0"/>
                  </a:rPr>
                  <a:t>.</a:t>
                </a:r>
              </a:p>
              <a:p>
                <a:pPr marL="205740" indent="-6350" algn="just">
                  <a:lnSpc>
                    <a:spcPct val="150000"/>
                  </a:lnSpc>
                  <a:spcBef>
                    <a:spcPts val="1200"/>
                  </a:spcBef>
                  <a:spcAft>
                    <a:spcPts val="25"/>
                  </a:spcAft>
                </a:pPr>
                <a14:m>
                  <m:oMathPara xmlns:m="http://schemas.openxmlformats.org/officeDocument/2006/math">
                    <m:oMath>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𝑥</m:t>
                          </m:r>
                        </m:e>
                      </m:acc>
                      <m:r>
                        <a:rPr lang="vi-VN" sz="2000" i="1" kern="100">
                          <a:solidFill>
                            <a:srgbClr val="000000"/>
                          </a:solidFill>
                          <a:effectLst/>
                          <a:latin typeface="Cambria Math" panose="02040503050406030204" pitchFamily="18" charset="0"/>
                          <a:ea typeface="Times New Roman" panose="02020603050405020304" pitchFamily="18" charset="0"/>
                        </a:rPr>
                        <m:t>+2</m:t>
                      </m:r>
                      <m:r>
                        <a:rPr lang="vi-VN" sz="2000" i="1" kern="100">
                          <a:solidFill>
                            <a:srgbClr val="000000"/>
                          </a:solidFill>
                          <a:effectLst/>
                          <a:latin typeface="Cambria Math" panose="02040503050406030204" pitchFamily="18" charset="0"/>
                          <a:ea typeface="Times New Roman" panose="02020603050405020304" pitchFamily="18" charset="0"/>
                        </a:rPr>
                        <m:t>𝜁</m:t>
                      </m:r>
                      <m:d>
                        <m:dPr>
                          <m:ctrlPr>
                            <a:rPr lang="vi-VN" sz="2000" i="1" kern="100">
                              <a:solidFill>
                                <a:srgbClr val="000000"/>
                              </a:solidFill>
                              <a:effectLst/>
                              <a:latin typeface="Cambria Math" panose="02040503050406030204" pitchFamily="18" charset="0"/>
                              <a:ea typeface="Times New Roman" panose="02020603050405020304" pitchFamily="18" charset="0"/>
                            </a:rPr>
                          </m:ctrlPr>
                        </m:dPr>
                        <m:e>
                          <m:r>
                            <a:rPr lang="vi-VN" sz="2000" i="1" kern="100">
                              <a:solidFill>
                                <a:srgbClr val="000000"/>
                              </a:solidFill>
                              <a:effectLst/>
                              <a:latin typeface="Cambria Math" panose="02040503050406030204" pitchFamily="18" charset="0"/>
                              <a:ea typeface="Times New Roman" panose="02020603050405020304" pitchFamily="18" charset="0"/>
                            </a:rPr>
                            <m:t>𝑥</m:t>
                          </m:r>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𝑦</m:t>
                          </m:r>
                        </m:e>
                      </m:d>
                      <m:sSub>
                        <m:sSubPr>
                          <m:ctrlPr>
                            <a:rPr lang="vi-VN" sz="2000" i="1" kern="100">
                              <a:solidFill>
                                <a:srgbClr val="000000"/>
                              </a:solidFill>
                              <a:effectLst/>
                              <a:latin typeface="Cambria Math" panose="02040503050406030204" pitchFamily="18" charset="0"/>
                              <a:ea typeface="Times New Roman" panose="02020603050405020304" pitchFamily="18" charset="0"/>
                            </a:rPr>
                          </m:ctrlPr>
                        </m:sSubPr>
                        <m:e>
                          <m:r>
                            <a:rPr lang="vi-VN" sz="2000" i="1" kern="100">
                              <a:solidFill>
                                <a:srgbClr val="000000"/>
                              </a:solidFill>
                              <a:effectLst/>
                              <a:latin typeface="Cambria Math" panose="02040503050406030204" pitchFamily="18" charset="0"/>
                              <a:ea typeface="Times New Roman" panose="02020603050405020304" pitchFamily="18" charset="0"/>
                            </a:rPr>
                            <m:t>𝜔</m:t>
                          </m:r>
                        </m:e>
                        <m:sub>
                          <m:r>
                            <a:rPr lang="vi-VN" sz="2000" i="1" kern="100">
                              <a:solidFill>
                                <a:srgbClr val="000000"/>
                              </a:solidFill>
                              <a:effectLst/>
                              <a:latin typeface="Cambria Math" panose="02040503050406030204" pitchFamily="18" charset="0"/>
                              <a:ea typeface="Times New Roman" panose="02020603050405020304" pitchFamily="18" charset="0"/>
                            </a:rPr>
                            <m:t>0</m:t>
                          </m:r>
                        </m:sub>
                      </m:sSub>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𝑥</m:t>
                          </m:r>
                        </m:e>
                      </m:acc>
                      <m:r>
                        <a:rPr lang="vi-VN" sz="2000" i="1" kern="100">
                          <a:solidFill>
                            <a:srgbClr val="000000"/>
                          </a:solidFill>
                          <a:effectLst/>
                          <a:latin typeface="Cambria Math" panose="02040503050406030204" pitchFamily="18" charset="0"/>
                          <a:ea typeface="Times New Roman" panose="02020603050405020304" pitchFamily="18" charset="0"/>
                        </a:rPr>
                        <m:t>+</m:t>
                      </m:r>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r>
                            <a:rPr lang="vi-VN" sz="2000" i="1" kern="100">
                              <a:solidFill>
                                <a:srgbClr val="000000"/>
                              </a:solidFill>
                              <a:effectLst/>
                              <a:latin typeface="Cambria Math" panose="02040503050406030204" pitchFamily="18" charset="0"/>
                              <a:ea typeface="Times New Roman" panose="02020603050405020304" pitchFamily="18" charset="0"/>
                            </a:rPr>
                            <m:t>𝜔</m:t>
                          </m:r>
                        </m:e>
                        <m:sup>
                          <m:r>
                            <a:rPr lang="vi-VN" sz="2000" i="1" kern="100">
                              <a:solidFill>
                                <a:srgbClr val="000000"/>
                              </a:solidFill>
                              <a:effectLst/>
                              <a:latin typeface="Cambria Math" panose="02040503050406030204" pitchFamily="18" charset="0"/>
                              <a:ea typeface="Times New Roman" panose="02020603050405020304" pitchFamily="18" charset="0"/>
                            </a:rPr>
                            <m:t>2</m:t>
                          </m:r>
                        </m:sup>
                      </m:sSup>
                      <m:d>
                        <m:dPr>
                          <m:ctrlPr>
                            <a:rPr lang="vi-VN" sz="2000" i="1" kern="100">
                              <a:solidFill>
                                <a:srgbClr val="000000"/>
                              </a:solidFill>
                              <a:effectLst/>
                              <a:latin typeface="Cambria Math" panose="02040503050406030204" pitchFamily="18" charset="0"/>
                              <a:ea typeface="Times New Roman" panose="02020603050405020304" pitchFamily="18" charset="0"/>
                            </a:rPr>
                          </m:ctrlPr>
                        </m:dPr>
                        <m:e>
                          <m:r>
                            <a:rPr lang="vi-VN" sz="2000" i="1" kern="100">
                              <a:solidFill>
                                <a:srgbClr val="000000"/>
                              </a:solidFill>
                              <a:effectLst/>
                              <a:latin typeface="Cambria Math" panose="02040503050406030204" pitchFamily="18" charset="0"/>
                              <a:ea typeface="Times New Roman" panose="02020603050405020304" pitchFamily="18" charset="0"/>
                            </a:rPr>
                            <m:t>𝑥</m:t>
                          </m:r>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𝑦</m:t>
                          </m:r>
                        </m:e>
                      </m:d>
                      <m:r>
                        <a:rPr lang="vi-VN" sz="2000" i="1" kern="100">
                          <a:solidFill>
                            <a:srgbClr val="000000"/>
                          </a:solidFill>
                          <a:effectLst/>
                          <a:latin typeface="Cambria Math" panose="02040503050406030204" pitchFamily="18" charset="0"/>
                          <a:ea typeface="Times New Roman" panose="02020603050405020304" pitchFamily="18" charset="0"/>
                        </a:rPr>
                        <m:t>𝑥</m:t>
                      </m:r>
                      <m:r>
                        <a:rPr lang="vi-VN" sz="2000" i="1" kern="100">
                          <a:solidFill>
                            <a:srgbClr val="000000"/>
                          </a:solidFill>
                          <a:effectLst/>
                          <a:latin typeface="Cambria Math" panose="02040503050406030204" pitchFamily="18" charset="0"/>
                          <a:ea typeface="Times New Roman" panose="02020603050405020304" pitchFamily="18" charset="0"/>
                        </a:rPr>
                        <m:t>=0    (17)</m:t>
                      </m:r>
                    </m:oMath>
                  </m:oMathPara>
                </a14:m>
                <a:endParaRPr lang="vi-VN" sz="2000" kern="100">
                  <a:solidFill>
                    <a:srgbClr val="000000"/>
                  </a:solidFill>
                  <a:effectLst/>
                  <a:latin typeface="Times New Roman" panose="02020603050405020304" pitchFamily="18" charset="0"/>
                  <a:ea typeface="Times New Roman" panose="02020603050405020304" pitchFamily="18" charset="0"/>
                </a:endParaRPr>
              </a:p>
              <a:p>
                <a:pPr marL="205740" indent="-6350" algn="just">
                  <a:lnSpc>
                    <a:spcPct val="150000"/>
                  </a:lnSpc>
                  <a:spcBef>
                    <a:spcPts val="1200"/>
                  </a:spcBef>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Tại (17), ta định nghĩa 2 hàm giảm chấn:</a:t>
                </a:r>
              </a:p>
              <a:p>
                <a:pPr marL="205740" indent="-6350" algn="just">
                  <a:spcBef>
                    <a:spcPts val="1200"/>
                  </a:spcBef>
                  <a:spcAft>
                    <a:spcPts val="25"/>
                  </a:spcAft>
                </a:pPr>
                <a14:m>
                  <m:oMathPara xmlns:m="http://schemas.openxmlformats.org/officeDocument/2006/math">
                    <m:oMath>
                      <m:r>
                        <a:rPr lang="vi-VN" sz="2000" i="1" kern="100">
                          <a:solidFill>
                            <a:srgbClr val="000000"/>
                          </a:solidFill>
                          <a:effectLst/>
                          <a:latin typeface="Cambria Math" panose="02040503050406030204" pitchFamily="18" charset="0"/>
                          <a:ea typeface="Times New Roman" panose="02020603050405020304" pitchFamily="18" charset="0"/>
                        </a:rPr>
                        <m:t>𝜁</m:t>
                      </m:r>
                      <m:d>
                        <m:dPr>
                          <m:ctrlPr>
                            <a:rPr lang="vi-VN" sz="2000" i="1" kern="100">
                              <a:solidFill>
                                <a:srgbClr val="000000"/>
                              </a:solidFill>
                              <a:effectLst/>
                              <a:latin typeface="Cambria Math" panose="02040503050406030204" pitchFamily="18" charset="0"/>
                              <a:ea typeface="Times New Roman" panose="02020603050405020304" pitchFamily="18" charset="0"/>
                            </a:rPr>
                          </m:ctrlPr>
                        </m:dPr>
                        <m:e>
                          <m:r>
                            <a:rPr lang="vi-VN" sz="2000" i="1" kern="100">
                              <a:solidFill>
                                <a:srgbClr val="000000"/>
                              </a:solidFill>
                              <a:effectLst/>
                              <a:latin typeface="Cambria Math" panose="02040503050406030204" pitchFamily="18" charset="0"/>
                              <a:ea typeface="Times New Roman" panose="02020603050405020304" pitchFamily="18" charset="0"/>
                            </a:rPr>
                            <m:t>𝑥</m:t>
                          </m:r>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𝑦</m:t>
                          </m:r>
                        </m:e>
                      </m:d>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𝜀</m:t>
                          </m:r>
                        </m:num>
                        <m:den>
                          <m:r>
                            <a:rPr lang="vi-VN" sz="2000" i="1" kern="100">
                              <a:solidFill>
                                <a:srgbClr val="000000"/>
                              </a:solidFill>
                              <a:effectLst/>
                              <a:latin typeface="Cambria Math" panose="02040503050406030204" pitchFamily="18" charset="0"/>
                              <a:ea typeface="Times New Roman" panose="02020603050405020304" pitchFamily="18" charset="0"/>
                            </a:rPr>
                            <m:t>2</m:t>
                          </m:r>
                        </m:den>
                      </m:f>
                      <m:d>
                        <m:dPr>
                          <m:ctrlPr>
                            <a:rPr lang="vi-VN" sz="2000" i="1" kern="100">
                              <a:solidFill>
                                <a:srgbClr val="000000"/>
                              </a:solidFill>
                              <a:effectLst/>
                              <a:latin typeface="Cambria Math" panose="02040503050406030204" pitchFamily="18" charset="0"/>
                              <a:ea typeface="Times New Roman" panose="02020603050405020304" pitchFamily="18" charset="0"/>
                            </a:rPr>
                          </m:ctrlPr>
                        </m:dPr>
                        <m:e>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𝑓</m:t>
                              </m:r>
                            </m:num>
                            <m:den>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𝑥</m:t>
                              </m:r>
                            </m:den>
                          </m:f>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𝑥</m:t>
                              </m:r>
                            </m:num>
                            <m:den>
                              <m:r>
                                <a:rPr lang="vi-VN" sz="2000" i="1" kern="100">
                                  <a:solidFill>
                                    <a:srgbClr val="000000"/>
                                  </a:solidFill>
                                  <a:effectLst/>
                                  <a:latin typeface="Cambria Math" panose="02040503050406030204" pitchFamily="18" charset="0"/>
                                  <a:ea typeface="Times New Roman" panose="02020603050405020304" pitchFamily="18" charset="0"/>
                                </a:rPr>
                                <m:t>𝑦</m:t>
                              </m:r>
                            </m:den>
                          </m:f>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𝑓</m:t>
                              </m:r>
                            </m:num>
                            <m:den>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𝑦</m:t>
                              </m:r>
                            </m:den>
                          </m:f>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𝜎</m:t>
                          </m:r>
                        </m:e>
                      </m:d>
                    </m:oMath>
                  </m:oMathPara>
                </a14:m>
                <a:endParaRPr lang="vi-VN" sz="2000" i="1" kern="100">
                  <a:solidFill>
                    <a:srgbClr val="000000"/>
                  </a:solidFill>
                  <a:effectLst/>
                  <a:latin typeface="Cambria Math" panose="02040503050406030204" pitchFamily="18" charset="0"/>
                  <a:ea typeface="Times New Roman" panose="02020603050405020304" pitchFamily="18" charset="0"/>
                </a:endParaRPr>
              </a:p>
              <a:p>
                <a:pPr marL="205740" indent="-6350" algn="just">
                  <a:spcBef>
                    <a:spcPts val="1200"/>
                  </a:spcBef>
                  <a:spcAft>
                    <a:spcPts val="25"/>
                  </a:spcAft>
                </a:pPr>
                <a14:m>
                  <m:oMathPara xmlns:m="http://schemas.openxmlformats.org/officeDocument/2006/math">
                    <m:oMath>
                      <m:r>
                        <a:rPr lang="vi-VN" sz="2000" i="1" kern="100">
                          <a:solidFill>
                            <a:srgbClr val="000000"/>
                          </a:solidFill>
                          <a:effectLst/>
                          <a:latin typeface="Cambria Math" panose="02040503050406030204" pitchFamily="18" charset="0"/>
                          <a:ea typeface="Times New Roman" panose="02020603050405020304" pitchFamily="18" charset="0"/>
                        </a:rPr>
                        <m:t>𝜔</m:t>
                      </m:r>
                      <m:d>
                        <m:dPr>
                          <m:ctrlPr>
                            <a:rPr lang="vi-VN" sz="2000" i="1" kern="100">
                              <a:solidFill>
                                <a:srgbClr val="000000"/>
                              </a:solidFill>
                              <a:effectLst/>
                              <a:latin typeface="Cambria Math" panose="02040503050406030204" pitchFamily="18" charset="0"/>
                              <a:ea typeface="Times New Roman" panose="02020603050405020304" pitchFamily="18" charset="0"/>
                            </a:rPr>
                          </m:ctrlPr>
                        </m:dPr>
                        <m:e>
                          <m:r>
                            <a:rPr lang="vi-VN" sz="2000" i="1" kern="100">
                              <a:solidFill>
                                <a:srgbClr val="000000"/>
                              </a:solidFill>
                              <a:effectLst/>
                              <a:latin typeface="Cambria Math" panose="02040503050406030204" pitchFamily="18" charset="0"/>
                              <a:ea typeface="Times New Roman" panose="02020603050405020304" pitchFamily="18" charset="0"/>
                            </a:rPr>
                            <m:t>𝑥</m:t>
                          </m:r>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𝑦</m:t>
                          </m:r>
                        </m:e>
                      </m:d>
                      <m:r>
                        <a:rPr lang="vi-VN" sz="2000" i="1" kern="100">
                          <a:solidFill>
                            <a:srgbClr val="000000"/>
                          </a:solidFill>
                          <a:effectLst/>
                          <a:latin typeface="Cambria Math" panose="02040503050406030204" pitchFamily="18" charset="0"/>
                          <a:ea typeface="Times New Roman" panose="02020603050405020304" pitchFamily="18" charset="0"/>
                        </a:rPr>
                        <m:t>≔ </m:t>
                      </m:r>
                      <m:sSub>
                        <m:sSubPr>
                          <m:ctrlPr>
                            <a:rPr lang="vi-VN" sz="2000" i="1" kern="100">
                              <a:solidFill>
                                <a:srgbClr val="000000"/>
                              </a:solidFill>
                              <a:effectLst/>
                              <a:latin typeface="Cambria Math" panose="02040503050406030204" pitchFamily="18" charset="0"/>
                              <a:ea typeface="Times New Roman" panose="02020603050405020304" pitchFamily="18" charset="0"/>
                            </a:rPr>
                          </m:ctrlPr>
                        </m:sSubPr>
                        <m:e>
                          <m:r>
                            <a:rPr lang="vi-VN" sz="2000" i="1" kern="100">
                              <a:solidFill>
                                <a:srgbClr val="000000"/>
                              </a:solidFill>
                              <a:effectLst/>
                              <a:latin typeface="Cambria Math" panose="02040503050406030204" pitchFamily="18" charset="0"/>
                              <a:ea typeface="Times New Roman" panose="02020603050405020304" pitchFamily="18" charset="0"/>
                            </a:rPr>
                            <m:t>𝜔</m:t>
                          </m:r>
                        </m:e>
                        <m:sub>
                          <m:r>
                            <a:rPr lang="vi-VN" sz="2000" i="1" kern="100">
                              <a:solidFill>
                                <a:srgbClr val="000000"/>
                              </a:solidFill>
                              <a:effectLst/>
                              <a:latin typeface="Cambria Math" panose="02040503050406030204" pitchFamily="18" charset="0"/>
                              <a:ea typeface="Times New Roman" panose="02020603050405020304" pitchFamily="18" charset="0"/>
                            </a:rPr>
                            <m:t>0</m:t>
                          </m:r>
                        </m:sub>
                      </m:sSub>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d>
                            <m:dPr>
                              <m:ctrlPr>
                                <a:rPr lang="vi-VN" sz="2000" i="1" kern="100">
                                  <a:solidFill>
                                    <a:srgbClr val="000000"/>
                                  </a:solidFill>
                                  <a:effectLst/>
                                  <a:latin typeface="Cambria Math" panose="02040503050406030204" pitchFamily="18" charset="0"/>
                                  <a:ea typeface="Times New Roman" panose="02020603050405020304" pitchFamily="18" charset="0"/>
                                </a:rPr>
                              </m:ctrlPr>
                            </m:dPr>
                            <m:e>
                              <m:r>
                                <a:rPr lang="vi-VN" sz="2000" i="1" kern="100">
                                  <a:solidFill>
                                    <a:srgbClr val="000000"/>
                                  </a:solidFill>
                                  <a:effectLst/>
                                  <a:latin typeface="Cambria Math" panose="02040503050406030204" pitchFamily="18" charset="0"/>
                                  <a:ea typeface="Times New Roman" panose="02020603050405020304" pitchFamily="18" charset="0"/>
                                </a:rPr>
                                <m:t>1+</m:t>
                              </m:r>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r>
                                    <a:rPr lang="vi-VN" sz="2000" i="1" kern="100">
                                      <a:solidFill>
                                        <a:srgbClr val="000000"/>
                                      </a:solidFill>
                                      <a:effectLst/>
                                      <a:latin typeface="Cambria Math" panose="02040503050406030204" pitchFamily="18" charset="0"/>
                                      <a:ea typeface="Times New Roman" panose="02020603050405020304" pitchFamily="18" charset="0"/>
                                    </a:rPr>
                                    <m:t>𝜀</m:t>
                                  </m:r>
                                </m:e>
                                <m:sup>
                                  <m:r>
                                    <a:rPr lang="vi-VN" sz="2000" i="1" kern="100">
                                      <a:solidFill>
                                        <a:srgbClr val="000000"/>
                                      </a:solidFill>
                                      <a:effectLst/>
                                      <a:latin typeface="Cambria Math" panose="02040503050406030204" pitchFamily="18" charset="0"/>
                                      <a:ea typeface="Times New Roman" panose="02020603050405020304" pitchFamily="18" charset="0"/>
                                    </a:rPr>
                                    <m:t>2</m:t>
                                  </m:r>
                                </m:sup>
                              </m:sSup>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𝜎</m:t>
                                  </m:r>
                                  <m:r>
                                    <a:rPr lang="vi-VN" sz="2000" i="1" kern="100">
                                      <a:solidFill>
                                        <a:srgbClr val="000000"/>
                                      </a:solidFill>
                                      <a:effectLst/>
                                      <a:latin typeface="Cambria Math" panose="02040503050406030204" pitchFamily="18" charset="0"/>
                                      <a:ea typeface="Times New Roman" panose="02020603050405020304" pitchFamily="18" charset="0"/>
                                    </a:rPr>
                                    <m:t>𝑥</m:t>
                                  </m:r>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𝑓</m:t>
                                  </m:r>
                                  <m:d>
                                    <m:dPr>
                                      <m:ctrlPr>
                                        <a:rPr lang="vi-VN" sz="2000" i="1" kern="100">
                                          <a:solidFill>
                                            <a:srgbClr val="000000"/>
                                          </a:solidFill>
                                          <a:effectLst/>
                                          <a:latin typeface="Cambria Math" panose="02040503050406030204" pitchFamily="18" charset="0"/>
                                          <a:ea typeface="Times New Roman" panose="02020603050405020304" pitchFamily="18" charset="0"/>
                                        </a:rPr>
                                      </m:ctrlPr>
                                    </m:dPr>
                                    <m:e>
                                      <m:r>
                                        <a:rPr lang="vi-VN" sz="2000" i="1" kern="100">
                                          <a:solidFill>
                                            <a:srgbClr val="000000"/>
                                          </a:solidFill>
                                          <a:effectLst/>
                                          <a:latin typeface="Cambria Math" panose="02040503050406030204" pitchFamily="18" charset="0"/>
                                          <a:ea typeface="Times New Roman" panose="02020603050405020304" pitchFamily="18" charset="0"/>
                                        </a:rPr>
                                        <m:t>𝑥</m:t>
                                      </m:r>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𝑦</m:t>
                                      </m:r>
                                    </m:e>
                                  </m:d>
                                </m:num>
                                <m:den>
                                  <m:r>
                                    <a:rPr lang="vi-VN" sz="2000" i="1" kern="100">
                                      <a:solidFill>
                                        <a:srgbClr val="000000"/>
                                      </a:solidFill>
                                      <a:effectLst/>
                                      <a:latin typeface="Cambria Math" panose="02040503050406030204" pitchFamily="18" charset="0"/>
                                      <a:ea typeface="Times New Roman" panose="02020603050405020304" pitchFamily="18" charset="0"/>
                                    </a:rPr>
                                    <m:t>𝑦</m:t>
                                  </m:r>
                                </m:den>
                              </m:f>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𝑓</m:t>
                                  </m:r>
                                </m:num>
                                <m:den>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𝑦</m:t>
                                  </m:r>
                                </m:den>
                              </m:f>
                            </m:e>
                          </m:d>
                        </m:e>
                        <m:sup>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1</m:t>
                              </m:r>
                            </m:num>
                            <m:den>
                              <m:r>
                                <a:rPr lang="vi-VN" sz="2000" i="1" kern="100">
                                  <a:solidFill>
                                    <a:srgbClr val="000000"/>
                                  </a:solidFill>
                                  <a:effectLst/>
                                  <a:latin typeface="Cambria Math" panose="02040503050406030204" pitchFamily="18" charset="0"/>
                                  <a:ea typeface="Times New Roman" panose="02020603050405020304" pitchFamily="18" charset="0"/>
                                </a:rPr>
                                <m:t>2</m:t>
                              </m:r>
                            </m:den>
                          </m:f>
                        </m:sup>
                      </m:sSup>
                    </m:oMath>
                  </m:oMathPara>
                </a14:m>
                <a:endParaRPr lang="vi-VN" sz="2000" kern="100">
                  <a:solidFill>
                    <a:srgbClr val="000000"/>
                  </a:solidFill>
                  <a:effectLst/>
                  <a:latin typeface="Times New Roman" panose="02020603050405020304" pitchFamily="18" charset="0"/>
                  <a:ea typeface="Times New Roman" panose="02020603050405020304" pitchFamily="18" charset="0"/>
                </a:endParaRPr>
              </a:p>
            </p:txBody>
          </p:sp>
        </mc:Choice>
        <mc:Fallback xmlns="">
          <p:sp>
            <p:nvSpPr>
              <p:cNvPr id="15" name="Hộp Văn bản 14">
                <a:extLst>
                  <a:ext uri="{FF2B5EF4-FFF2-40B4-BE49-F238E27FC236}">
                    <a16:creationId xmlns:a16="http://schemas.microsoft.com/office/drawing/2014/main" id="{DA28D23A-71AA-3081-0F4F-9B0E8FD4E9A2}"/>
                  </a:ext>
                </a:extLst>
              </p:cNvPr>
              <p:cNvSpPr txBox="1">
                <a:spLocks noRot="1" noChangeAspect="1" noMove="1" noResize="1" noEditPoints="1" noAdjustHandles="1" noChangeArrowheads="1" noChangeShapeType="1" noTextEdit="1"/>
              </p:cNvSpPr>
              <p:nvPr/>
            </p:nvSpPr>
            <p:spPr>
              <a:xfrm>
                <a:off x="88900" y="1408268"/>
                <a:ext cx="11916744" cy="5460469"/>
              </a:xfrm>
              <a:prstGeom prst="rect">
                <a:avLst/>
              </a:prstGeom>
              <a:blipFill>
                <a:blip r:embed="rId2"/>
                <a:stretch>
                  <a:fillRect r="-563"/>
                </a:stretch>
              </a:blipFill>
            </p:spPr>
            <p:txBody>
              <a:bodyPr/>
              <a:lstStyle/>
              <a:p>
                <a:r>
                  <a:rPr lang="vi-VN">
                    <a:noFill/>
                  </a:rPr>
                  <a:t> </a:t>
                </a:r>
              </a:p>
            </p:txBody>
          </p:sp>
        </mc:Fallback>
      </mc:AlternateContent>
      <p:sp>
        <p:nvSpPr>
          <p:cNvPr id="17" name="Hộp Văn bản 16">
            <a:extLst>
              <a:ext uri="{FF2B5EF4-FFF2-40B4-BE49-F238E27FC236}">
                <a16:creationId xmlns:a16="http://schemas.microsoft.com/office/drawing/2014/main" id="{C334F761-6D13-0799-0B23-0635C3F89BB5}"/>
              </a:ext>
            </a:extLst>
          </p:cNvPr>
          <p:cNvSpPr txBox="1"/>
          <p:nvPr/>
        </p:nvSpPr>
        <p:spPr>
          <a:xfrm>
            <a:off x="413528" y="962139"/>
            <a:ext cx="11592115" cy="400110"/>
          </a:xfrm>
          <a:prstGeom prst="rect">
            <a:avLst/>
          </a:prstGeom>
          <a:noFill/>
        </p:spPr>
        <p:txBody>
          <a:bodyPr wrap="square">
            <a:spAutoFit/>
          </a:bodyPr>
          <a:lstStyle/>
          <a:p>
            <a:r>
              <a:rPr lang="vi-VN" sz="2000" b="1" kern="100">
                <a:solidFill>
                  <a:srgbClr val="000000"/>
                </a:solidFill>
                <a:effectLst/>
                <a:latin typeface="Times New Roman" panose="02020603050405020304" pitchFamily="18" charset="0"/>
                <a:ea typeface="Times New Roman" panose="02020603050405020304" pitchFamily="18" charset="0"/>
              </a:rPr>
              <a:t>4.1. Hàm giảm chấn trong phương trình dao động tổng quát của 2 bộ dao động</a:t>
            </a:r>
            <a:endParaRPr lang="vi-VN" sz="2000" b="1"/>
          </a:p>
        </p:txBody>
      </p:sp>
    </p:spTree>
    <p:extLst>
      <p:ext uri="{BB962C8B-B14F-4D97-AF65-F5344CB8AC3E}">
        <p14:creationId xmlns:p14="http://schemas.microsoft.com/office/powerpoint/2010/main" val="12651993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501EF-F798-A3BF-EA22-A783D26003B7}"/>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21AD104-36EC-DF0F-B6D9-26272F17A39A}"/>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CFDBD410-E5F3-DA53-ADB6-ACB8D1AFAA60}"/>
              </a:ext>
            </a:extLst>
          </p:cNvPr>
          <p:cNvSpPr>
            <a:spLocks noGrp="1"/>
          </p:cNvSpPr>
          <p:nvPr>
            <p:ph type="sldNum" sz="quarter" idx="12"/>
          </p:nvPr>
        </p:nvSpPr>
        <p:spPr/>
        <p:txBody>
          <a:bodyPr/>
          <a:lstStyle/>
          <a:p>
            <a:fld id="{931DD963-FD40-4A6D-88A9-402A489E81DE}" type="slidenum">
              <a:rPr lang="en-US" smtClean="0"/>
              <a:t>77</a:t>
            </a:fld>
            <a:endParaRPr lang="en-US"/>
          </a:p>
        </p:txBody>
      </p:sp>
      <p:grpSp>
        <p:nvGrpSpPr>
          <p:cNvPr id="10" name="Group 9">
            <a:extLst>
              <a:ext uri="{FF2B5EF4-FFF2-40B4-BE49-F238E27FC236}">
                <a16:creationId xmlns:a16="http://schemas.microsoft.com/office/drawing/2014/main" id="{4D9CE628-2DC1-F5B0-4E97-CE3AEF6AB9B5}"/>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B08C0333-ADA1-CB07-463F-658C60DD3434}"/>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C54FA0E5-9E90-8480-6DAE-ABC1EB20AEE0}"/>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mc:AlternateContent xmlns:mc="http://schemas.openxmlformats.org/markup-compatibility/2006" xmlns:a14="http://schemas.microsoft.com/office/drawing/2010/main">
        <mc:Choice Requires="a14">
          <p:sp>
            <p:nvSpPr>
              <p:cNvPr id="4" name="Hộp Văn bản 3">
                <a:extLst>
                  <a:ext uri="{FF2B5EF4-FFF2-40B4-BE49-F238E27FC236}">
                    <a16:creationId xmlns:a16="http://schemas.microsoft.com/office/drawing/2014/main" id="{6992B709-2F75-F885-7785-6C244D2A8DF5}"/>
                  </a:ext>
                </a:extLst>
              </p:cNvPr>
              <p:cNvSpPr txBox="1"/>
              <p:nvPr/>
            </p:nvSpPr>
            <p:spPr>
              <a:xfrm>
                <a:off x="166255" y="1436239"/>
                <a:ext cx="5384800" cy="1015471"/>
              </a:xfrm>
              <a:prstGeom prst="rect">
                <a:avLst/>
              </a:prstGeom>
              <a:noFill/>
            </p:spPr>
            <p:txBody>
              <a:bodyPr wrap="square">
                <a:spAutoFit/>
              </a:bodyPr>
              <a:lstStyle/>
              <a:p>
                <a:pPr marL="205740" indent="-6350" algn="just">
                  <a:lnSpc>
                    <a:spcPct val="150000"/>
                  </a:lnSpc>
                  <a:spcBef>
                    <a:spcPts val="1200"/>
                  </a:spcBef>
                  <a:spcAft>
                    <a:spcPts val="25"/>
                  </a:spcAft>
                </a:pPr>
                <a:r>
                  <a:rPr lang="vi-VN" sz="1800" kern="100">
                    <a:solidFill>
                      <a:srgbClr val="000000"/>
                    </a:solidFill>
                    <a:effectLst/>
                    <a:latin typeface="Times New Roman" panose="02020603050405020304" pitchFamily="18" charset="0"/>
                    <a:ea typeface="Times New Roman" panose="02020603050405020304" pitchFamily="18" charset="0"/>
                  </a:rPr>
                  <a:t>Đối với Van </a:t>
                </a:r>
                <a:r>
                  <a:rPr lang="vi-VN" sz="1800" kern="100" err="1">
                    <a:solidFill>
                      <a:srgbClr val="000000"/>
                    </a:solidFill>
                    <a:effectLst/>
                    <a:latin typeface="Times New Roman" panose="02020603050405020304" pitchFamily="18" charset="0"/>
                    <a:ea typeface="Times New Roman" panose="02020603050405020304" pitchFamily="18" charset="0"/>
                  </a:rPr>
                  <a:t>der</a:t>
                </a:r>
                <a:r>
                  <a:rPr lang="vi-VN" sz="1800" kern="100">
                    <a:solidFill>
                      <a:srgbClr val="000000"/>
                    </a:solidFill>
                    <a:effectLst/>
                    <a:latin typeface="Times New Roman" panose="02020603050405020304" pitchFamily="18" charset="0"/>
                    <a:ea typeface="Times New Roman" panose="02020603050405020304" pitchFamily="18" charset="0"/>
                  </a:rPr>
                  <a:t> </a:t>
                </a:r>
                <a:r>
                  <a:rPr lang="vi-VN" sz="1800" kern="100" err="1">
                    <a:solidFill>
                      <a:srgbClr val="000000"/>
                    </a:solidFill>
                    <a:effectLst/>
                    <a:latin typeface="Times New Roman" panose="02020603050405020304" pitchFamily="18" charset="0"/>
                    <a:ea typeface="Times New Roman" panose="02020603050405020304" pitchFamily="18" charset="0"/>
                  </a:rPr>
                  <a:t>Pol</a:t>
                </a:r>
                <a:r>
                  <a:rPr lang="vi-VN" sz="1800" kern="100">
                    <a:solidFill>
                      <a:srgbClr val="000000"/>
                    </a:solidFill>
                    <a:effectLst/>
                    <a:latin typeface="Times New Roman" panose="02020603050405020304" pitchFamily="18" charset="0"/>
                    <a:ea typeface="Times New Roman" panose="02020603050405020304" pitchFamily="18" charset="0"/>
                  </a:rPr>
                  <a:t>, hàm giảm chấn </a:t>
                </a:r>
                <a14:m>
                  <m:oMath xmlns:m="http://schemas.openxmlformats.org/officeDocument/2006/math">
                    <m:r>
                      <a:rPr lang="vi-VN" sz="1800" i="1" kern="100">
                        <a:solidFill>
                          <a:srgbClr val="000000"/>
                        </a:solidFill>
                        <a:effectLst/>
                        <a:latin typeface="Cambria Math" panose="02040503050406030204" pitchFamily="18" charset="0"/>
                        <a:ea typeface="Times New Roman" panose="02020603050405020304" pitchFamily="18" charset="0"/>
                      </a:rPr>
                      <m:t> </m:t>
                    </m:r>
                    <m:r>
                      <a:rPr lang="vi-VN" sz="1800" i="1" kern="100">
                        <a:solidFill>
                          <a:srgbClr val="000000"/>
                        </a:solidFill>
                        <a:effectLst/>
                        <a:latin typeface="Cambria Math" panose="02040503050406030204" pitchFamily="18" charset="0"/>
                        <a:ea typeface="Times New Roman" panose="02020603050405020304" pitchFamily="18" charset="0"/>
                      </a:rPr>
                      <m:t>𝜁</m:t>
                    </m:r>
                    <m:r>
                      <a:rPr lang="vi-VN" sz="1800" i="1" kern="100">
                        <a:solidFill>
                          <a:srgbClr val="000000"/>
                        </a:solidFill>
                        <a:effectLst/>
                        <a:latin typeface="Cambria Math" panose="02040503050406030204" pitchFamily="18" charset="0"/>
                        <a:ea typeface="Times New Roman" panose="02020603050405020304" pitchFamily="18" charset="0"/>
                      </a:rPr>
                      <m:t>(</m:t>
                    </m:r>
                    <m:r>
                      <a:rPr lang="vi-VN" sz="1800" i="1" kern="100">
                        <a:solidFill>
                          <a:srgbClr val="000000"/>
                        </a:solidFill>
                        <a:effectLst/>
                        <a:latin typeface="Cambria Math" panose="02040503050406030204" pitchFamily="18" charset="0"/>
                        <a:ea typeface="Times New Roman" panose="02020603050405020304" pitchFamily="18" charset="0"/>
                      </a:rPr>
                      <m:t>𝑥</m:t>
                    </m:r>
                    <m:r>
                      <a:rPr lang="vi-VN" sz="1800" i="1" kern="100">
                        <a:solidFill>
                          <a:srgbClr val="000000"/>
                        </a:solidFill>
                        <a:effectLst/>
                        <a:latin typeface="Cambria Math" panose="02040503050406030204" pitchFamily="18" charset="0"/>
                        <a:ea typeface="Times New Roman" panose="02020603050405020304" pitchFamily="18" charset="0"/>
                      </a:rPr>
                      <m:t>,</m:t>
                    </m:r>
                    <m:r>
                      <a:rPr lang="vi-VN" sz="1800" i="1" kern="100">
                        <a:solidFill>
                          <a:srgbClr val="000000"/>
                        </a:solidFill>
                        <a:effectLst/>
                        <a:latin typeface="Cambria Math" panose="02040503050406030204" pitchFamily="18" charset="0"/>
                        <a:ea typeface="Times New Roman" panose="02020603050405020304" pitchFamily="18" charset="0"/>
                      </a:rPr>
                      <m:t>𝑦</m:t>
                    </m:r>
                    <m:r>
                      <a:rPr lang="vi-VN" sz="1800" i="1" kern="100">
                        <a:solidFill>
                          <a:srgbClr val="000000"/>
                        </a:solidFill>
                        <a:effectLst/>
                        <a:latin typeface="Cambria Math" panose="02040503050406030204" pitchFamily="18" charset="0"/>
                        <a:ea typeface="Times New Roman" panose="02020603050405020304" pitchFamily="18" charset="0"/>
                      </a:rPr>
                      <m:t>)</m:t>
                    </m:r>
                  </m:oMath>
                </a14:m>
                <a:r>
                  <a:rPr lang="vi-VN" sz="1800" kern="100">
                    <a:solidFill>
                      <a:srgbClr val="000000"/>
                    </a:solidFill>
                    <a:effectLst/>
                    <a:latin typeface="Times New Roman" panose="02020603050405020304" pitchFamily="18" charset="0"/>
                    <a:ea typeface="Times New Roman" panose="02020603050405020304" pitchFamily="18" charset="0"/>
                  </a:rPr>
                  <a:t> có dạng: </a:t>
                </a:r>
                <a:r>
                  <a:rPr lang="vi-VN" kern="100">
                    <a:solidFill>
                      <a:srgbClr val="000000"/>
                    </a:solidFill>
                    <a:latin typeface="Times New Roman" panose="02020603050405020304" pitchFamily="18" charset="0"/>
                    <a:ea typeface="Times New Roman" panose="02020603050405020304" pitchFamily="18" charset="0"/>
                  </a:rPr>
                  <a:t>		</a:t>
                </a:r>
                <a14:m>
                  <m:oMath xmlns:m="http://schemas.openxmlformats.org/officeDocument/2006/math">
                    <m:r>
                      <a:rPr lang="vi-VN" sz="1800" i="1" kern="100">
                        <a:solidFill>
                          <a:srgbClr val="000000"/>
                        </a:solidFill>
                        <a:effectLst/>
                        <a:latin typeface="Cambria Math" panose="02040503050406030204" pitchFamily="18" charset="0"/>
                        <a:ea typeface="Times New Roman" panose="02020603050405020304" pitchFamily="18" charset="0"/>
                      </a:rPr>
                      <m:t>𝜁</m:t>
                    </m:r>
                    <m:d>
                      <m:dPr>
                        <m:ctrlPr>
                          <a:rPr lang="vi-VN" sz="1800" i="1" kern="100">
                            <a:solidFill>
                              <a:srgbClr val="000000"/>
                            </a:solidFill>
                            <a:effectLst/>
                            <a:latin typeface="Cambria Math" panose="02040503050406030204" pitchFamily="18" charset="0"/>
                            <a:ea typeface="Times New Roman" panose="02020603050405020304" pitchFamily="18" charset="0"/>
                          </a:rPr>
                        </m:ctrlPr>
                      </m:dPr>
                      <m:e>
                        <m:r>
                          <a:rPr lang="vi-VN" sz="1800" i="1" kern="100">
                            <a:solidFill>
                              <a:srgbClr val="000000"/>
                            </a:solidFill>
                            <a:effectLst/>
                            <a:latin typeface="Cambria Math" panose="02040503050406030204" pitchFamily="18" charset="0"/>
                            <a:ea typeface="Times New Roman" panose="02020603050405020304" pitchFamily="18" charset="0"/>
                          </a:rPr>
                          <m:t>𝑥</m:t>
                        </m:r>
                        <m:r>
                          <a:rPr lang="vi-VN" sz="1800" i="1" kern="100">
                            <a:solidFill>
                              <a:srgbClr val="000000"/>
                            </a:solidFill>
                            <a:effectLst/>
                            <a:latin typeface="Cambria Math" panose="02040503050406030204" pitchFamily="18" charset="0"/>
                            <a:ea typeface="Times New Roman" panose="02020603050405020304" pitchFamily="18" charset="0"/>
                          </a:rPr>
                          <m:t>.</m:t>
                        </m:r>
                        <m:r>
                          <a:rPr lang="vi-VN" sz="1800" i="1" kern="100">
                            <a:solidFill>
                              <a:srgbClr val="000000"/>
                            </a:solidFill>
                            <a:effectLst/>
                            <a:latin typeface="Cambria Math" panose="02040503050406030204" pitchFamily="18" charset="0"/>
                            <a:ea typeface="Times New Roman" panose="02020603050405020304" pitchFamily="18" charset="0"/>
                          </a:rPr>
                          <m:t>𝑦</m:t>
                        </m:r>
                      </m:e>
                    </m:d>
                    <m:r>
                      <a:rPr lang="vi-VN" sz="1800" i="1" kern="100">
                        <a:solidFill>
                          <a:srgbClr val="000000"/>
                        </a:solidFill>
                        <a:effectLst/>
                        <a:latin typeface="Cambria Math" panose="02040503050406030204" pitchFamily="18" charset="0"/>
                        <a:ea typeface="Times New Roman" panose="02020603050405020304" pitchFamily="18" charset="0"/>
                      </a:rPr>
                      <m:t>=</m:t>
                    </m:r>
                    <m:f>
                      <m:fPr>
                        <m:ctrlPr>
                          <a:rPr lang="vi-VN" sz="1800" i="1" kern="100">
                            <a:solidFill>
                              <a:srgbClr val="000000"/>
                            </a:solidFill>
                            <a:effectLst/>
                            <a:latin typeface="Cambria Math" panose="02040503050406030204" pitchFamily="18" charset="0"/>
                            <a:ea typeface="Times New Roman" panose="02020603050405020304" pitchFamily="18" charset="0"/>
                          </a:rPr>
                        </m:ctrlPr>
                      </m:fPr>
                      <m:num>
                        <m:r>
                          <a:rPr lang="vi-VN" sz="1800" i="1" kern="100">
                            <a:solidFill>
                              <a:srgbClr val="000000"/>
                            </a:solidFill>
                            <a:effectLst/>
                            <a:latin typeface="Cambria Math" panose="02040503050406030204" pitchFamily="18" charset="0"/>
                            <a:ea typeface="Times New Roman" panose="02020603050405020304" pitchFamily="18" charset="0"/>
                          </a:rPr>
                          <m:t>𝜀</m:t>
                        </m:r>
                      </m:num>
                      <m:den>
                        <m:r>
                          <a:rPr lang="vi-VN" sz="1800" i="1" kern="100">
                            <a:solidFill>
                              <a:srgbClr val="000000"/>
                            </a:solidFill>
                            <a:effectLst/>
                            <a:latin typeface="Cambria Math" panose="02040503050406030204" pitchFamily="18" charset="0"/>
                            <a:ea typeface="Times New Roman" panose="02020603050405020304" pitchFamily="18" charset="0"/>
                          </a:rPr>
                          <m:t>2</m:t>
                        </m:r>
                      </m:den>
                    </m:f>
                    <m:d>
                      <m:dPr>
                        <m:ctrlPr>
                          <a:rPr lang="vi-VN" sz="1800" i="1" kern="100">
                            <a:solidFill>
                              <a:srgbClr val="000000"/>
                            </a:solidFill>
                            <a:effectLst/>
                            <a:latin typeface="Cambria Math" panose="02040503050406030204" pitchFamily="18" charset="0"/>
                            <a:ea typeface="Times New Roman" panose="02020603050405020304" pitchFamily="18" charset="0"/>
                          </a:rPr>
                        </m:ctrlPr>
                      </m:dPr>
                      <m:e>
                        <m:r>
                          <a:rPr lang="vi-VN" sz="1800" i="1" kern="100">
                            <a:solidFill>
                              <a:srgbClr val="000000"/>
                            </a:solidFill>
                            <a:effectLst/>
                            <a:latin typeface="Cambria Math" panose="02040503050406030204" pitchFamily="18" charset="0"/>
                            <a:ea typeface="Times New Roman" panose="02020603050405020304" pitchFamily="18" charset="0"/>
                          </a:rPr>
                          <m:t>3</m:t>
                        </m:r>
                        <m:r>
                          <a:rPr lang="vi-VN" sz="1800" i="1" kern="100">
                            <a:solidFill>
                              <a:srgbClr val="000000"/>
                            </a:solidFill>
                            <a:effectLst/>
                            <a:latin typeface="Cambria Math" panose="02040503050406030204" pitchFamily="18" charset="0"/>
                            <a:ea typeface="Times New Roman" panose="02020603050405020304" pitchFamily="18" charset="0"/>
                          </a:rPr>
                          <m:t>𝛼</m:t>
                        </m:r>
                        <m:sSup>
                          <m:sSupPr>
                            <m:ctrlPr>
                              <a:rPr lang="vi-VN" sz="1800" i="1" kern="100">
                                <a:solidFill>
                                  <a:srgbClr val="000000"/>
                                </a:solidFill>
                                <a:effectLst/>
                                <a:latin typeface="Cambria Math" panose="02040503050406030204" pitchFamily="18" charset="0"/>
                                <a:ea typeface="Times New Roman" panose="02020603050405020304" pitchFamily="18" charset="0"/>
                              </a:rPr>
                            </m:ctrlPr>
                          </m:sSupPr>
                          <m:e>
                            <m:r>
                              <a:rPr lang="vi-VN" sz="1800" i="1" kern="100">
                                <a:solidFill>
                                  <a:srgbClr val="000000"/>
                                </a:solidFill>
                                <a:effectLst/>
                                <a:latin typeface="Cambria Math" panose="02040503050406030204" pitchFamily="18" charset="0"/>
                                <a:ea typeface="Times New Roman" panose="02020603050405020304" pitchFamily="18" charset="0"/>
                              </a:rPr>
                              <m:t>𝑥</m:t>
                            </m:r>
                          </m:e>
                          <m:sup>
                            <m:r>
                              <a:rPr lang="vi-VN" sz="1800" i="1" kern="100">
                                <a:solidFill>
                                  <a:srgbClr val="000000"/>
                                </a:solidFill>
                                <a:effectLst/>
                                <a:latin typeface="Cambria Math" panose="02040503050406030204" pitchFamily="18" charset="0"/>
                                <a:ea typeface="Times New Roman" panose="02020603050405020304" pitchFamily="18" charset="0"/>
                              </a:rPr>
                              <m:t>2</m:t>
                            </m:r>
                          </m:sup>
                        </m:sSup>
                        <m:r>
                          <a:rPr lang="vi-VN" sz="1800" i="1" kern="100">
                            <a:solidFill>
                              <a:srgbClr val="000000"/>
                            </a:solidFill>
                            <a:effectLst/>
                            <a:latin typeface="Cambria Math" panose="02040503050406030204" pitchFamily="18" charset="0"/>
                            <a:ea typeface="Times New Roman" panose="02020603050405020304" pitchFamily="18" charset="0"/>
                          </a:rPr>
                          <m:t>−</m:t>
                        </m:r>
                        <m:r>
                          <a:rPr lang="vi-VN" sz="1800" i="1" kern="100">
                            <a:solidFill>
                              <a:srgbClr val="000000"/>
                            </a:solidFill>
                            <a:effectLst/>
                            <a:latin typeface="Cambria Math" panose="02040503050406030204" pitchFamily="18" charset="0"/>
                            <a:ea typeface="Times New Roman" panose="02020603050405020304" pitchFamily="18" charset="0"/>
                          </a:rPr>
                          <m:t>𝜎</m:t>
                        </m:r>
                      </m:e>
                    </m:d>
                  </m:oMath>
                </a14:m>
                <a:endParaRPr lang="vi-VN" sz="1800" kern="100">
                  <a:solidFill>
                    <a:srgbClr val="000000"/>
                  </a:solidFill>
                  <a:effectLst/>
                  <a:latin typeface="Times New Roman" panose="02020603050405020304" pitchFamily="18" charset="0"/>
                  <a:ea typeface="Times New Roman" panose="02020603050405020304" pitchFamily="18" charset="0"/>
                </a:endParaRPr>
              </a:p>
            </p:txBody>
          </p:sp>
        </mc:Choice>
        <mc:Fallback xmlns="">
          <p:sp>
            <p:nvSpPr>
              <p:cNvPr id="4" name="Hộp Văn bản 3">
                <a:extLst>
                  <a:ext uri="{FF2B5EF4-FFF2-40B4-BE49-F238E27FC236}">
                    <a16:creationId xmlns:a16="http://schemas.microsoft.com/office/drawing/2014/main" id="{6992B709-2F75-F885-7785-6C244D2A8DF5}"/>
                  </a:ext>
                </a:extLst>
              </p:cNvPr>
              <p:cNvSpPr txBox="1">
                <a:spLocks noRot="1" noChangeAspect="1" noMove="1" noResize="1" noEditPoints="1" noAdjustHandles="1" noChangeArrowheads="1" noChangeShapeType="1" noTextEdit="1"/>
              </p:cNvSpPr>
              <p:nvPr/>
            </p:nvSpPr>
            <p:spPr>
              <a:xfrm>
                <a:off x="166255" y="1436239"/>
                <a:ext cx="5384800" cy="1015471"/>
              </a:xfrm>
              <a:prstGeom prst="rect">
                <a:avLst/>
              </a:prstGeom>
              <a:blipFill>
                <a:blip r:embed="rId2"/>
                <a:stretch>
                  <a:fillRect r="-905" b="-60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 name="Hộp Văn bản 4">
                <a:extLst>
                  <a:ext uri="{FF2B5EF4-FFF2-40B4-BE49-F238E27FC236}">
                    <a16:creationId xmlns:a16="http://schemas.microsoft.com/office/drawing/2014/main" id="{BE98E515-2828-1A9A-3F08-7E1716A0D14A}"/>
                  </a:ext>
                </a:extLst>
              </p:cNvPr>
              <p:cNvSpPr txBox="1"/>
              <p:nvPr/>
            </p:nvSpPr>
            <p:spPr>
              <a:xfrm>
                <a:off x="5929745" y="1436239"/>
                <a:ext cx="5652655" cy="784830"/>
              </a:xfrm>
              <a:prstGeom prst="rect">
                <a:avLst/>
              </a:prstGeom>
              <a:noFill/>
            </p:spPr>
            <p:txBody>
              <a:bodyPr wrap="square">
                <a:spAutoFit/>
              </a:bodyPr>
              <a:lstStyle/>
              <a:p>
                <a:pPr marL="205740" indent="-6350" algn="just">
                  <a:lnSpc>
                    <a:spcPct val="150000"/>
                  </a:lnSpc>
                  <a:spcBef>
                    <a:spcPts val="1200"/>
                  </a:spcBef>
                  <a:spcAft>
                    <a:spcPts val="25"/>
                  </a:spcAft>
                </a:pPr>
                <a:r>
                  <a:rPr lang="vi-VN" sz="1800" kern="100">
                    <a:solidFill>
                      <a:srgbClr val="000000"/>
                    </a:solidFill>
                    <a:effectLst/>
                    <a:latin typeface="Times New Roman" panose="02020603050405020304" pitchFamily="18" charset="0"/>
                    <a:ea typeface="Times New Roman" panose="02020603050405020304" pitchFamily="18" charset="0"/>
                  </a:rPr>
                  <a:t>Đối với </a:t>
                </a:r>
                <a:r>
                  <a:rPr lang="vi-VN" sz="1800" kern="100" err="1">
                    <a:solidFill>
                      <a:srgbClr val="000000"/>
                    </a:solidFill>
                    <a:effectLst/>
                    <a:latin typeface="Times New Roman" panose="02020603050405020304" pitchFamily="18" charset="0"/>
                    <a:ea typeface="Times New Roman" panose="02020603050405020304" pitchFamily="18" charset="0"/>
                  </a:rPr>
                  <a:t>Hopf</a:t>
                </a:r>
                <a:r>
                  <a:rPr lang="vi-VN" sz="1800" kern="100">
                    <a:solidFill>
                      <a:srgbClr val="000000"/>
                    </a:solidFill>
                    <a:effectLst/>
                    <a:latin typeface="Times New Roman" panose="02020603050405020304" pitchFamily="18" charset="0"/>
                    <a:ea typeface="Times New Roman" panose="02020603050405020304" pitchFamily="18" charset="0"/>
                  </a:rPr>
                  <a:t>, hàm giảm chấn </a:t>
                </a:r>
                <a14:m>
                  <m:oMath xmlns:m="http://schemas.openxmlformats.org/officeDocument/2006/math">
                    <m:r>
                      <a:rPr lang="vi-VN" sz="1800" i="1" kern="100">
                        <a:solidFill>
                          <a:srgbClr val="000000"/>
                        </a:solidFill>
                        <a:effectLst/>
                        <a:latin typeface="Cambria Math" panose="02040503050406030204" pitchFamily="18" charset="0"/>
                        <a:ea typeface="Times New Roman" panose="02020603050405020304" pitchFamily="18" charset="0"/>
                      </a:rPr>
                      <m:t> </m:t>
                    </m:r>
                    <m:r>
                      <a:rPr lang="vi-VN" sz="1800" i="1" kern="100">
                        <a:solidFill>
                          <a:srgbClr val="000000"/>
                        </a:solidFill>
                        <a:effectLst/>
                        <a:latin typeface="Cambria Math" panose="02040503050406030204" pitchFamily="18" charset="0"/>
                        <a:ea typeface="Times New Roman" panose="02020603050405020304" pitchFamily="18" charset="0"/>
                      </a:rPr>
                      <m:t>𝜁</m:t>
                    </m:r>
                    <m:r>
                      <a:rPr lang="vi-VN" sz="1800" i="1" kern="100">
                        <a:solidFill>
                          <a:srgbClr val="000000"/>
                        </a:solidFill>
                        <a:effectLst/>
                        <a:latin typeface="Cambria Math" panose="02040503050406030204" pitchFamily="18" charset="0"/>
                        <a:ea typeface="Times New Roman" panose="02020603050405020304" pitchFamily="18" charset="0"/>
                      </a:rPr>
                      <m:t>(</m:t>
                    </m:r>
                    <m:r>
                      <a:rPr lang="vi-VN" sz="1800" i="1" kern="100">
                        <a:solidFill>
                          <a:srgbClr val="000000"/>
                        </a:solidFill>
                        <a:effectLst/>
                        <a:latin typeface="Cambria Math" panose="02040503050406030204" pitchFamily="18" charset="0"/>
                        <a:ea typeface="Times New Roman" panose="02020603050405020304" pitchFamily="18" charset="0"/>
                      </a:rPr>
                      <m:t>𝑥</m:t>
                    </m:r>
                    <m:r>
                      <a:rPr lang="vi-VN" sz="1800" i="1" kern="100">
                        <a:solidFill>
                          <a:srgbClr val="000000"/>
                        </a:solidFill>
                        <a:effectLst/>
                        <a:latin typeface="Cambria Math" panose="02040503050406030204" pitchFamily="18" charset="0"/>
                        <a:ea typeface="Times New Roman" panose="02020603050405020304" pitchFamily="18" charset="0"/>
                      </a:rPr>
                      <m:t>,</m:t>
                    </m:r>
                    <m:r>
                      <a:rPr lang="vi-VN" sz="1800" i="1" kern="100">
                        <a:solidFill>
                          <a:srgbClr val="000000"/>
                        </a:solidFill>
                        <a:effectLst/>
                        <a:latin typeface="Cambria Math" panose="02040503050406030204" pitchFamily="18" charset="0"/>
                        <a:ea typeface="Times New Roman" panose="02020603050405020304" pitchFamily="18" charset="0"/>
                      </a:rPr>
                      <m:t>𝑦</m:t>
                    </m:r>
                    <m:r>
                      <a:rPr lang="vi-VN" sz="1800" i="1" kern="100">
                        <a:solidFill>
                          <a:srgbClr val="000000"/>
                        </a:solidFill>
                        <a:effectLst/>
                        <a:latin typeface="Cambria Math" panose="02040503050406030204" pitchFamily="18" charset="0"/>
                        <a:ea typeface="Times New Roman" panose="02020603050405020304" pitchFamily="18" charset="0"/>
                      </a:rPr>
                      <m:t>)</m:t>
                    </m:r>
                  </m:oMath>
                </a14:m>
                <a:r>
                  <a:rPr lang="vi-VN" sz="1800" kern="100">
                    <a:solidFill>
                      <a:srgbClr val="000000"/>
                    </a:solidFill>
                    <a:effectLst/>
                    <a:latin typeface="Times New Roman" panose="02020603050405020304" pitchFamily="18" charset="0"/>
                    <a:ea typeface="Times New Roman" panose="02020603050405020304" pitchFamily="18" charset="0"/>
                  </a:rPr>
                  <a:t> có dạng:</a:t>
                </a:r>
              </a:p>
              <a:p>
                <a:pPr/>
                <a14:m>
                  <m:oMathPara xmlns:m="http://schemas.openxmlformats.org/officeDocument/2006/math">
                    <m:oMath>
                      <m: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𝜁</m:t>
                      </m:r>
                      <m:d>
                        <m:dPr>
                          <m:ctrlP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𝑦</m:t>
                          </m:r>
                        </m:e>
                      </m:d>
                      <m: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𝜀</m:t>
                      </m:r>
                      <m: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𝛼</m:t>
                      </m:r>
                      <m:d>
                        <m:dPr>
                          <m:ctrlPr>
                            <a:rPr lang="vi-VN" sz="1800" i="1">
                              <a:solidFill>
                                <a:srgbClr val="000000"/>
                              </a:solidFill>
                              <a:effectLst/>
                              <a:latin typeface="Cambria Math" panose="02040503050406030204" pitchFamily="18" charset="0"/>
                            </a:rPr>
                          </m:ctrlPr>
                        </m:dPr>
                        <m:e>
                          <m:sSup>
                            <m:sSupPr>
                              <m:ctrlP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e>
                      </m:d>
                      <m: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𝜎</m:t>
                      </m:r>
                      <m:r>
                        <a:rPr lang="vi-V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vi-VN"/>
              </a:p>
            </p:txBody>
          </p:sp>
        </mc:Choice>
        <mc:Fallback xmlns="">
          <p:sp>
            <p:nvSpPr>
              <p:cNvPr id="5" name="Hộp Văn bản 4">
                <a:extLst>
                  <a:ext uri="{FF2B5EF4-FFF2-40B4-BE49-F238E27FC236}">
                    <a16:creationId xmlns:a16="http://schemas.microsoft.com/office/drawing/2014/main" id="{BE98E515-2828-1A9A-3F08-7E1716A0D14A}"/>
                  </a:ext>
                </a:extLst>
              </p:cNvPr>
              <p:cNvSpPr txBox="1">
                <a:spLocks noRot="1" noChangeAspect="1" noMove="1" noResize="1" noEditPoints="1" noAdjustHandles="1" noChangeArrowheads="1" noChangeShapeType="1" noTextEdit="1"/>
              </p:cNvSpPr>
              <p:nvPr/>
            </p:nvSpPr>
            <p:spPr>
              <a:xfrm>
                <a:off x="5929745" y="1436239"/>
                <a:ext cx="5652655" cy="784830"/>
              </a:xfrm>
              <a:prstGeom prst="rect">
                <a:avLst/>
              </a:prstGeom>
              <a:blipFill>
                <a:blip r:embed="rId3"/>
                <a:stretch>
                  <a:fillRect b="-7031"/>
                </a:stretch>
              </a:blipFill>
            </p:spPr>
            <p:txBody>
              <a:bodyPr/>
              <a:lstStyle/>
              <a:p>
                <a:r>
                  <a:rPr lang="vi-VN">
                    <a:noFill/>
                  </a:rPr>
                  <a:t> </a:t>
                </a:r>
              </a:p>
            </p:txBody>
          </p:sp>
        </mc:Fallback>
      </mc:AlternateContent>
      <p:pic>
        <p:nvPicPr>
          <p:cNvPr id="6" name="Hình ảnh 5">
            <a:extLst>
              <a:ext uri="{FF2B5EF4-FFF2-40B4-BE49-F238E27FC236}">
                <a16:creationId xmlns:a16="http://schemas.microsoft.com/office/drawing/2014/main" id="{A01BEA54-FE7D-92F1-9099-E2CA6AFCCFCC}"/>
              </a:ext>
            </a:extLst>
          </p:cNvPr>
          <p:cNvPicPr>
            <a:picLocks noChangeAspect="1"/>
          </p:cNvPicPr>
          <p:nvPr/>
        </p:nvPicPr>
        <p:blipFill>
          <a:blip r:embed="rId4"/>
          <a:stretch>
            <a:fillRect/>
          </a:stretch>
        </p:blipFill>
        <p:spPr>
          <a:xfrm>
            <a:off x="1472130" y="2495840"/>
            <a:ext cx="2981741" cy="1952898"/>
          </a:xfrm>
          <a:prstGeom prst="rect">
            <a:avLst/>
          </a:prstGeom>
        </p:spPr>
      </p:pic>
      <p:pic>
        <p:nvPicPr>
          <p:cNvPr id="7" name="Hình ảnh 6">
            <a:extLst>
              <a:ext uri="{FF2B5EF4-FFF2-40B4-BE49-F238E27FC236}">
                <a16:creationId xmlns:a16="http://schemas.microsoft.com/office/drawing/2014/main" id="{E12867E2-F47B-B78B-B7FD-1D09163DB7DC}"/>
              </a:ext>
            </a:extLst>
          </p:cNvPr>
          <p:cNvPicPr>
            <a:picLocks noChangeAspect="1"/>
          </p:cNvPicPr>
          <p:nvPr/>
        </p:nvPicPr>
        <p:blipFill>
          <a:blip r:embed="rId5"/>
          <a:stretch>
            <a:fillRect/>
          </a:stretch>
        </p:blipFill>
        <p:spPr>
          <a:xfrm>
            <a:off x="6831051" y="2845982"/>
            <a:ext cx="3591426" cy="1790950"/>
          </a:xfrm>
          <a:prstGeom prst="rect">
            <a:avLst/>
          </a:prstGeom>
        </p:spPr>
      </p:pic>
      <p:cxnSp>
        <p:nvCxnSpPr>
          <p:cNvPr id="8" name="Đường nối Thẳng 7">
            <a:extLst>
              <a:ext uri="{FF2B5EF4-FFF2-40B4-BE49-F238E27FC236}">
                <a16:creationId xmlns:a16="http://schemas.microsoft.com/office/drawing/2014/main" id="{66DA3024-D1F5-BAA9-A6DE-1B29C515F47B}"/>
              </a:ext>
            </a:extLst>
          </p:cNvPr>
          <p:cNvCxnSpPr/>
          <p:nvPr/>
        </p:nvCxnSpPr>
        <p:spPr>
          <a:xfrm>
            <a:off x="5837382" y="1366982"/>
            <a:ext cx="0" cy="5116945"/>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Hộp Văn bản 8">
                <a:extLst>
                  <a:ext uri="{FF2B5EF4-FFF2-40B4-BE49-F238E27FC236}">
                    <a16:creationId xmlns:a16="http://schemas.microsoft.com/office/drawing/2014/main" id="{D9E2F1EC-4CA4-C21C-F25D-E52A830B0522}"/>
                  </a:ext>
                </a:extLst>
              </p:cNvPr>
              <p:cNvSpPr txBox="1"/>
              <p:nvPr/>
            </p:nvSpPr>
            <p:spPr>
              <a:xfrm>
                <a:off x="374948" y="4703782"/>
                <a:ext cx="5176107" cy="1719125"/>
              </a:xfrm>
              <a:prstGeom prst="rect">
                <a:avLst/>
              </a:prstGeom>
              <a:noFill/>
            </p:spPr>
            <p:txBody>
              <a:bodyPr wrap="square">
                <a:spAutoFit/>
              </a:bodyPr>
              <a:lstStyle/>
              <a:p>
                <a:pPr marL="205740" indent="-6350" algn="just">
                  <a:lnSpc>
                    <a:spcPct val="150000"/>
                  </a:lnSpc>
                  <a:spcBef>
                    <a:spcPts val="1200"/>
                  </a:spcBef>
                  <a:spcAft>
                    <a:spcPts val="25"/>
                  </a:spcAft>
                </a:pPr>
                <a:r>
                  <a:rPr lang="vi-VN" sz="1800" kern="100">
                    <a:solidFill>
                      <a:srgbClr val="000000"/>
                    </a:solidFill>
                    <a:effectLst/>
                    <a:latin typeface="Times New Roman" panose="02020603050405020304" pitchFamily="18" charset="0"/>
                    <a:ea typeface="Times New Roman" panose="02020603050405020304" pitchFamily="18" charset="0"/>
                  </a:rPr>
                  <a:t>Nhận xét: Đây là hàm </a:t>
                </a:r>
                <a:r>
                  <a:rPr lang="vi-VN" sz="1800" kern="100" err="1">
                    <a:solidFill>
                      <a:srgbClr val="000000"/>
                    </a:solidFill>
                    <a:effectLst/>
                    <a:latin typeface="Times New Roman" panose="02020603050405020304" pitchFamily="18" charset="0"/>
                    <a:ea typeface="Times New Roman" panose="02020603050405020304" pitchFamily="18" charset="0"/>
                  </a:rPr>
                  <a:t>Parabol</a:t>
                </a:r>
                <a:r>
                  <a:rPr lang="vi-VN" sz="1800" kern="100">
                    <a:solidFill>
                      <a:srgbClr val="000000"/>
                    </a:solidFill>
                    <a:effectLst/>
                    <a:latin typeface="Times New Roman" panose="02020603050405020304" pitchFamily="18" charset="0"/>
                    <a:ea typeface="Times New Roman" panose="02020603050405020304" pitchFamily="18" charset="0"/>
                  </a:rPr>
                  <a:t> phụ thuộc vào </a:t>
                </a:r>
                <a14:m>
                  <m:oMath xmlns:m="http://schemas.openxmlformats.org/officeDocument/2006/math">
                    <m:r>
                      <a:rPr lang="vi-VN" sz="1800" i="1" kern="100">
                        <a:solidFill>
                          <a:srgbClr val="000000"/>
                        </a:solidFill>
                        <a:effectLst/>
                        <a:latin typeface="Cambria Math" panose="02040503050406030204" pitchFamily="18" charset="0"/>
                        <a:ea typeface="Times New Roman" panose="02020603050405020304" pitchFamily="18" charset="0"/>
                      </a:rPr>
                      <m:t>𝑥</m:t>
                    </m:r>
                  </m:oMath>
                </a14:m>
                <a:r>
                  <a:rPr lang="vi-VN" sz="1800" kern="100">
                    <a:solidFill>
                      <a:srgbClr val="000000"/>
                    </a:solidFill>
                    <a:effectLst/>
                    <a:latin typeface="Times New Roman" panose="02020603050405020304" pitchFamily="18" charset="0"/>
                    <a:ea typeface="Times New Roman" panose="02020603050405020304" pitchFamily="18" charset="0"/>
                  </a:rPr>
                  <a:t>. Khi </a:t>
                </a:r>
                <a14:m>
                  <m:oMath xmlns:m="http://schemas.openxmlformats.org/officeDocument/2006/math">
                    <m:r>
                      <a:rPr lang="vi-VN" sz="1800" i="1" kern="100">
                        <a:solidFill>
                          <a:srgbClr val="000000"/>
                        </a:solidFill>
                        <a:effectLst/>
                        <a:latin typeface="Cambria Math" panose="02040503050406030204" pitchFamily="18" charset="0"/>
                        <a:ea typeface="Times New Roman" panose="02020603050405020304" pitchFamily="18" charset="0"/>
                      </a:rPr>
                      <m:t>𝑥</m:t>
                    </m:r>
                    <m:r>
                      <a:rPr lang="vi-VN" sz="1800" i="1" kern="100">
                        <a:solidFill>
                          <a:srgbClr val="000000"/>
                        </a:solidFill>
                        <a:effectLst/>
                        <a:latin typeface="Cambria Math" panose="02040503050406030204" pitchFamily="18" charset="0"/>
                        <a:ea typeface="Times New Roman" panose="02020603050405020304" pitchFamily="18" charset="0"/>
                      </a:rPr>
                      <m:t>&gt;</m:t>
                    </m:r>
                    <m:rad>
                      <m:radPr>
                        <m:degHide m:val="on"/>
                        <m:ctrlPr>
                          <a:rPr lang="vi-VN" sz="1800" i="1" kern="100">
                            <a:solidFill>
                              <a:srgbClr val="000000"/>
                            </a:solidFill>
                            <a:effectLst/>
                            <a:latin typeface="Cambria Math" panose="02040503050406030204" pitchFamily="18" charset="0"/>
                            <a:ea typeface="Times New Roman" panose="02020603050405020304" pitchFamily="18" charset="0"/>
                          </a:rPr>
                        </m:ctrlPr>
                      </m:radPr>
                      <m:deg/>
                      <m:e>
                        <m:f>
                          <m:fPr>
                            <m:ctrlPr>
                              <a:rPr lang="vi-VN" sz="1800" i="1" kern="100">
                                <a:solidFill>
                                  <a:srgbClr val="000000"/>
                                </a:solidFill>
                                <a:effectLst/>
                                <a:latin typeface="Cambria Math" panose="02040503050406030204" pitchFamily="18" charset="0"/>
                                <a:ea typeface="Times New Roman" panose="02020603050405020304" pitchFamily="18" charset="0"/>
                              </a:rPr>
                            </m:ctrlPr>
                          </m:fPr>
                          <m:num>
                            <m:r>
                              <a:rPr lang="vi-VN" sz="1800" i="1" kern="100">
                                <a:solidFill>
                                  <a:srgbClr val="000000"/>
                                </a:solidFill>
                                <a:effectLst/>
                                <a:latin typeface="Cambria Math" panose="02040503050406030204" pitchFamily="18" charset="0"/>
                                <a:ea typeface="Times New Roman" panose="02020603050405020304" pitchFamily="18" charset="0"/>
                              </a:rPr>
                              <m:t>𝜎</m:t>
                            </m:r>
                          </m:num>
                          <m:den>
                            <m:r>
                              <a:rPr lang="vi-VN" sz="1800" i="1" kern="100">
                                <a:solidFill>
                                  <a:srgbClr val="000000"/>
                                </a:solidFill>
                                <a:effectLst/>
                                <a:latin typeface="Cambria Math" panose="02040503050406030204" pitchFamily="18" charset="0"/>
                                <a:ea typeface="Times New Roman" panose="02020603050405020304" pitchFamily="18" charset="0"/>
                              </a:rPr>
                              <m:t>3</m:t>
                            </m:r>
                            <m:r>
                              <a:rPr lang="vi-VN" sz="1800" i="1" kern="100">
                                <a:solidFill>
                                  <a:srgbClr val="000000"/>
                                </a:solidFill>
                                <a:effectLst/>
                                <a:latin typeface="Cambria Math" panose="02040503050406030204" pitchFamily="18" charset="0"/>
                                <a:ea typeface="Times New Roman" panose="02020603050405020304" pitchFamily="18" charset="0"/>
                              </a:rPr>
                              <m:t>𝛼</m:t>
                            </m:r>
                          </m:den>
                        </m:f>
                      </m:e>
                    </m:rad>
                  </m:oMath>
                </a14:m>
                <a:r>
                  <a:rPr lang="vi-VN" sz="1800" kern="100">
                    <a:solidFill>
                      <a:srgbClr val="000000"/>
                    </a:solidFill>
                    <a:effectLst/>
                    <a:latin typeface="Times New Roman" panose="02020603050405020304" pitchFamily="18" charset="0"/>
                    <a:ea typeface="Times New Roman" panose="02020603050405020304" pitchFamily="18" charset="0"/>
                  </a:rPr>
                  <a:t>, giá trị hàm </a:t>
                </a:r>
                <a14:m>
                  <m:oMath xmlns:m="http://schemas.openxmlformats.org/officeDocument/2006/math">
                    <m:r>
                      <a:rPr lang="vi-VN" sz="1800" i="1" kern="100">
                        <a:solidFill>
                          <a:srgbClr val="000000"/>
                        </a:solidFill>
                        <a:effectLst/>
                        <a:latin typeface="Cambria Math" panose="02040503050406030204" pitchFamily="18" charset="0"/>
                        <a:ea typeface="Times New Roman" panose="02020603050405020304" pitchFamily="18" charset="0"/>
                      </a:rPr>
                      <m:t> </m:t>
                    </m:r>
                    <m:r>
                      <a:rPr lang="vi-VN" sz="1800" i="1" kern="100">
                        <a:solidFill>
                          <a:srgbClr val="000000"/>
                        </a:solidFill>
                        <a:effectLst/>
                        <a:latin typeface="Cambria Math" panose="02040503050406030204" pitchFamily="18" charset="0"/>
                        <a:ea typeface="Times New Roman" panose="02020603050405020304" pitchFamily="18" charset="0"/>
                      </a:rPr>
                      <m:t>𝜁</m:t>
                    </m:r>
                    <m:d>
                      <m:dPr>
                        <m:ctrlPr>
                          <a:rPr lang="vi-VN" sz="1800" i="1" kern="100">
                            <a:solidFill>
                              <a:srgbClr val="000000"/>
                            </a:solidFill>
                            <a:effectLst/>
                            <a:latin typeface="Cambria Math" panose="02040503050406030204" pitchFamily="18" charset="0"/>
                            <a:ea typeface="Times New Roman" panose="02020603050405020304" pitchFamily="18" charset="0"/>
                          </a:rPr>
                        </m:ctrlPr>
                      </m:dPr>
                      <m:e>
                        <m:r>
                          <a:rPr lang="vi-VN" sz="1800" i="1" kern="100">
                            <a:solidFill>
                              <a:srgbClr val="000000"/>
                            </a:solidFill>
                            <a:effectLst/>
                            <a:latin typeface="Cambria Math" panose="02040503050406030204" pitchFamily="18" charset="0"/>
                            <a:ea typeface="Times New Roman" panose="02020603050405020304" pitchFamily="18" charset="0"/>
                          </a:rPr>
                          <m:t>𝑥</m:t>
                        </m:r>
                        <m:r>
                          <a:rPr lang="vi-VN" sz="1800" i="1" kern="100">
                            <a:solidFill>
                              <a:srgbClr val="000000"/>
                            </a:solidFill>
                            <a:effectLst/>
                            <a:latin typeface="Cambria Math" panose="02040503050406030204" pitchFamily="18" charset="0"/>
                            <a:ea typeface="Times New Roman" panose="02020603050405020304" pitchFamily="18" charset="0"/>
                          </a:rPr>
                          <m:t>,</m:t>
                        </m:r>
                        <m:r>
                          <a:rPr lang="vi-VN" sz="1800" i="1" kern="100">
                            <a:solidFill>
                              <a:srgbClr val="000000"/>
                            </a:solidFill>
                            <a:effectLst/>
                            <a:latin typeface="Cambria Math" panose="02040503050406030204" pitchFamily="18" charset="0"/>
                            <a:ea typeface="Times New Roman" panose="02020603050405020304" pitchFamily="18" charset="0"/>
                          </a:rPr>
                          <m:t>𝑦</m:t>
                        </m:r>
                      </m:e>
                    </m:d>
                    <m:r>
                      <a:rPr lang="vi-VN" sz="1800" i="1" kern="100">
                        <a:solidFill>
                          <a:srgbClr val="000000"/>
                        </a:solidFill>
                        <a:effectLst/>
                        <a:latin typeface="Cambria Math" panose="02040503050406030204" pitchFamily="18" charset="0"/>
                        <a:ea typeface="Times New Roman" panose="02020603050405020304" pitchFamily="18" charset="0"/>
                      </a:rPr>
                      <m:t>&gt;0,</m:t>
                    </m:r>
                  </m:oMath>
                </a14:m>
                <a:r>
                  <a:rPr lang="vi-VN" sz="1800" kern="100">
                    <a:solidFill>
                      <a:srgbClr val="000000"/>
                    </a:solidFill>
                    <a:effectLst/>
                    <a:latin typeface="Times New Roman" panose="02020603050405020304" pitchFamily="18" charset="0"/>
                    <a:ea typeface="Times New Roman" panose="02020603050405020304" pitchFamily="18" charset="0"/>
                  </a:rPr>
                  <a:t> làm cho dao động tắt dần, trở về trạng thái cân bằng.</a:t>
                </a:r>
              </a:p>
            </p:txBody>
          </p:sp>
        </mc:Choice>
        <mc:Fallback xmlns="">
          <p:sp>
            <p:nvSpPr>
              <p:cNvPr id="9" name="Hộp Văn bản 8">
                <a:extLst>
                  <a:ext uri="{FF2B5EF4-FFF2-40B4-BE49-F238E27FC236}">
                    <a16:creationId xmlns:a16="http://schemas.microsoft.com/office/drawing/2014/main" id="{D9E2F1EC-4CA4-C21C-F25D-E52A830B0522}"/>
                  </a:ext>
                </a:extLst>
              </p:cNvPr>
              <p:cNvSpPr txBox="1">
                <a:spLocks noRot="1" noChangeAspect="1" noMove="1" noResize="1" noEditPoints="1" noAdjustHandles="1" noChangeArrowheads="1" noChangeShapeType="1" noTextEdit="1"/>
              </p:cNvSpPr>
              <p:nvPr/>
            </p:nvSpPr>
            <p:spPr>
              <a:xfrm>
                <a:off x="374948" y="4703782"/>
                <a:ext cx="5176107" cy="1719125"/>
              </a:xfrm>
              <a:prstGeom prst="rect">
                <a:avLst/>
              </a:prstGeom>
              <a:blipFill>
                <a:blip r:embed="rId6"/>
                <a:stretch>
                  <a:fillRect r="-2120" b="-461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Hộp Văn bản 10">
                <a:extLst>
                  <a:ext uri="{FF2B5EF4-FFF2-40B4-BE49-F238E27FC236}">
                    <a16:creationId xmlns:a16="http://schemas.microsoft.com/office/drawing/2014/main" id="{AB55B69A-4EA2-DBDA-0CF5-291C5883AEFB}"/>
                  </a:ext>
                </a:extLst>
              </p:cNvPr>
              <p:cNvSpPr txBox="1"/>
              <p:nvPr/>
            </p:nvSpPr>
            <p:spPr>
              <a:xfrm>
                <a:off x="5837382" y="4754329"/>
                <a:ext cx="5979670" cy="1015086"/>
              </a:xfrm>
              <a:prstGeom prst="rect">
                <a:avLst/>
              </a:prstGeom>
              <a:noFill/>
            </p:spPr>
            <p:txBody>
              <a:bodyPr wrap="square">
                <a:spAutoFit/>
              </a:bodyPr>
              <a:lstStyle/>
              <a:p>
                <a:pPr marL="205740" indent="-6350" algn="just">
                  <a:lnSpc>
                    <a:spcPct val="150000"/>
                  </a:lnSpc>
                  <a:spcBef>
                    <a:spcPts val="1200"/>
                  </a:spcBef>
                  <a:spcAft>
                    <a:spcPts val="25"/>
                  </a:spcAft>
                </a:pPr>
                <a:r>
                  <a:rPr lang="vi-VN" sz="1800" kern="100">
                    <a:solidFill>
                      <a:srgbClr val="000000"/>
                    </a:solidFill>
                    <a:effectLst/>
                    <a:latin typeface="Times New Roman" panose="02020603050405020304" pitchFamily="18" charset="0"/>
                    <a:ea typeface="Times New Roman" panose="02020603050405020304" pitchFamily="18" charset="0"/>
                  </a:rPr>
                  <a:t>Nhận xét: Đây là hàm </a:t>
                </a:r>
                <a:r>
                  <a:rPr lang="vi-VN" sz="1800" kern="100" err="1">
                    <a:solidFill>
                      <a:srgbClr val="000000"/>
                    </a:solidFill>
                    <a:effectLst/>
                    <a:latin typeface="Times New Roman" panose="02020603050405020304" pitchFamily="18" charset="0"/>
                    <a:ea typeface="Times New Roman" panose="02020603050405020304" pitchFamily="18" charset="0"/>
                  </a:rPr>
                  <a:t>Parabol</a:t>
                </a:r>
                <a:r>
                  <a:rPr lang="vi-VN" sz="1800" kern="100">
                    <a:solidFill>
                      <a:srgbClr val="000000"/>
                    </a:solidFill>
                    <a:effectLst/>
                    <a:latin typeface="Times New Roman" panose="02020603050405020304" pitchFamily="18" charset="0"/>
                    <a:ea typeface="Times New Roman" panose="02020603050405020304" pitchFamily="18" charset="0"/>
                  </a:rPr>
                  <a:t> phụ thuộc vào </a:t>
                </a:r>
                <a14:m>
                  <m:oMath xmlns:m="http://schemas.openxmlformats.org/officeDocument/2006/math">
                    <m:r>
                      <a:rPr lang="vi-VN" sz="1800" i="1" kern="100">
                        <a:solidFill>
                          <a:srgbClr val="000000"/>
                        </a:solidFill>
                        <a:effectLst/>
                        <a:latin typeface="Cambria Math" panose="02040503050406030204" pitchFamily="18" charset="0"/>
                        <a:ea typeface="Times New Roman" panose="02020603050405020304" pitchFamily="18" charset="0"/>
                      </a:rPr>
                      <m:t>𝑥</m:t>
                    </m:r>
                    <m:r>
                      <a:rPr lang="vi-VN" sz="1800" i="1" kern="100">
                        <a:solidFill>
                          <a:srgbClr val="000000"/>
                        </a:solidFill>
                        <a:effectLst/>
                        <a:latin typeface="Cambria Math" panose="02040503050406030204" pitchFamily="18" charset="0"/>
                        <a:ea typeface="Times New Roman" panose="02020603050405020304" pitchFamily="18" charset="0"/>
                      </a:rPr>
                      <m:t>,</m:t>
                    </m:r>
                    <m:r>
                      <a:rPr lang="vi-VN" sz="1800" i="1" kern="100">
                        <a:solidFill>
                          <a:srgbClr val="000000"/>
                        </a:solidFill>
                        <a:effectLst/>
                        <a:latin typeface="Cambria Math" panose="02040503050406030204" pitchFamily="18" charset="0"/>
                        <a:ea typeface="Times New Roman" panose="02020603050405020304" pitchFamily="18" charset="0"/>
                      </a:rPr>
                      <m:t>𝑦</m:t>
                    </m:r>
                  </m:oMath>
                </a14:m>
                <a:r>
                  <a:rPr lang="vi-VN" sz="1800" kern="100">
                    <a:solidFill>
                      <a:srgbClr val="000000"/>
                    </a:solidFill>
                    <a:effectLst/>
                    <a:latin typeface="Times New Roman" panose="02020603050405020304" pitchFamily="18" charset="0"/>
                    <a:ea typeface="Times New Roman" panose="02020603050405020304" pitchFamily="18" charset="0"/>
                  </a:rPr>
                  <a:t>. Dao động này tạo ra một chu kỳ giới hạn ổn định </a:t>
                </a:r>
                <a14:m>
                  <m:oMath xmlns:m="http://schemas.openxmlformats.org/officeDocument/2006/math">
                    <m:sSup>
                      <m:sSupPr>
                        <m:ctrlPr>
                          <a:rPr lang="vi-VN" sz="1800" i="1" kern="100">
                            <a:solidFill>
                              <a:srgbClr val="000000"/>
                            </a:solidFill>
                            <a:effectLst/>
                            <a:latin typeface="Cambria Math" panose="02040503050406030204" pitchFamily="18" charset="0"/>
                            <a:ea typeface="Times New Roman" panose="02020603050405020304" pitchFamily="18" charset="0"/>
                          </a:rPr>
                        </m:ctrlPr>
                      </m:sSupPr>
                      <m:e>
                        <m:r>
                          <a:rPr lang="vi-VN" sz="1800" i="1" kern="100">
                            <a:solidFill>
                              <a:srgbClr val="000000"/>
                            </a:solidFill>
                            <a:effectLst/>
                            <a:latin typeface="Cambria Math" panose="02040503050406030204" pitchFamily="18" charset="0"/>
                            <a:ea typeface="Times New Roman" panose="02020603050405020304" pitchFamily="18" charset="0"/>
                          </a:rPr>
                          <m:t>𝑥</m:t>
                        </m:r>
                      </m:e>
                      <m:sup>
                        <m:r>
                          <a:rPr lang="vi-VN" sz="1800" i="1" kern="100">
                            <a:solidFill>
                              <a:srgbClr val="000000"/>
                            </a:solidFill>
                            <a:effectLst/>
                            <a:latin typeface="Cambria Math" panose="02040503050406030204" pitchFamily="18" charset="0"/>
                            <a:ea typeface="Times New Roman" panose="02020603050405020304" pitchFamily="18" charset="0"/>
                          </a:rPr>
                          <m:t>2</m:t>
                        </m:r>
                      </m:sup>
                    </m:sSup>
                    <m:r>
                      <a:rPr lang="vi-VN" sz="1800" i="1" kern="100">
                        <a:solidFill>
                          <a:srgbClr val="000000"/>
                        </a:solidFill>
                        <a:effectLst/>
                        <a:latin typeface="Cambria Math" panose="02040503050406030204" pitchFamily="18" charset="0"/>
                        <a:ea typeface="Times New Roman" panose="02020603050405020304" pitchFamily="18" charset="0"/>
                      </a:rPr>
                      <m:t>+</m:t>
                    </m:r>
                    <m:sSup>
                      <m:sSupPr>
                        <m:ctrlPr>
                          <a:rPr lang="vi-VN" sz="1800" i="1" kern="100">
                            <a:solidFill>
                              <a:srgbClr val="000000"/>
                            </a:solidFill>
                            <a:effectLst/>
                            <a:latin typeface="Cambria Math" panose="02040503050406030204" pitchFamily="18" charset="0"/>
                            <a:ea typeface="Times New Roman" panose="02020603050405020304" pitchFamily="18" charset="0"/>
                          </a:rPr>
                        </m:ctrlPr>
                      </m:sSupPr>
                      <m:e>
                        <m:r>
                          <a:rPr lang="vi-VN" sz="1800" i="1" kern="100">
                            <a:solidFill>
                              <a:srgbClr val="000000"/>
                            </a:solidFill>
                            <a:effectLst/>
                            <a:latin typeface="Cambria Math" panose="02040503050406030204" pitchFamily="18" charset="0"/>
                            <a:ea typeface="Times New Roman" panose="02020603050405020304" pitchFamily="18" charset="0"/>
                          </a:rPr>
                          <m:t>𝑦</m:t>
                        </m:r>
                      </m:e>
                      <m:sup>
                        <m:r>
                          <a:rPr lang="vi-VN" sz="1800" i="1" kern="100">
                            <a:solidFill>
                              <a:srgbClr val="000000"/>
                            </a:solidFill>
                            <a:effectLst/>
                            <a:latin typeface="Cambria Math" panose="02040503050406030204" pitchFamily="18" charset="0"/>
                            <a:ea typeface="Times New Roman" panose="02020603050405020304" pitchFamily="18" charset="0"/>
                          </a:rPr>
                          <m:t>2</m:t>
                        </m:r>
                      </m:sup>
                    </m:sSup>
                    <m:r>
                      <a:rPr lang="vi-VN" sz="1800" i="1" kern="100">
                        <a:solidFill>
                          <a:srgbClr val="000000"/>
                        </a:solidFill>
                        <a:effectLst/>
                        <a:latin typeface="Cambria Math" panose="02040503050406030204" pitchFamily="18" charset="0"/>
                        <a:ea typeface="Times New Roman" panose="02020603050405020304" pitchFamily="18" charset="0"/>
                      </a:rPr>
                      <m:t>=</m:t>
                    </m:r>
                    <m:f>
                      <m:fPr>
                        <m:ctrlPr>
                          <a:rPr lang="vi-VN" sz="1800" i="1" kern="100">
                            <a:solidFill>
                              <a:srgbClr val="000000"/>
                            </a:solidFill>
                            <a:effectLst/>
                            <a:latin typeface="Cambria Math" panose="02040503050406030204" pitchFamily="18" charset="0"/>
                            <a:ea typeface="Times New Roman" panose="02020603050405020304" pitchFamily="18" charset="0"/>
                          </a:rPr>
                        </m:ctrlPr>
                      </m:fPr>
                      <m:num>
                        <m:r>
                          <a:rPr lang="vi-VN" sz="1800" i="1" kern="100">
                            <a:solidFill>
                              <a:srgbClr val="000000"/>
                            </a:solidFill>
                            <a:effectLst/>
                            <a:latin typeface="Cambria Math" panose="02040503050406030204" pitchFamily="18" charset="0"/>
                            <a:ea typeface="Times New Roman" panose="02020603050405020304" pitchFamily="18" charset="0"/>
                          </a:rPr>
                          <m:t>𝜎</m:t>
                        </m:r>
                      </m:num>
                      <m:den>
                        <m:r>
                          <a:rPr lang="vi-VN" sz="1800" i="1" kern="100">
                            <a:solidFill>
                              <a:srgbClr val="000000"/>
                            </a:solidFill>
                            <a:effectLst/>
                            <a:latin typeface="Cambria Math" panose="02040503050406030204" pitchFamily="18" charset="0"/>
                            <a:ea typeface="Times New Roman" panose="02020603050405020304" pitchFamily="18" charset="0"/>
                          </a:rPr>
                          <m:t>𝛼</m:t>
                        </m:r>
                      </m:den>
                    </m:f>
                  </m:oMath>
                </a14:m>
                <a:r>
                  <a:rPr lang="vi-VN" sz="1800" kern="100">
                    <a:solidFill>
                      <a:srgbClr val="000000"/>
                    </a:solidFill>
                    <a:effectLst/>
                    <a:latin typeface="Times New Roman" panose="02020603050405020304" pitchFamily="18" charset="0"/>
                    <a:ea typeface="Times New Roman" panose="02020603050405020304" pitchFamily="18" charset="0"/>
                  </a:rPr>
                  <a:t>.</a:t>
                </a:r>
              </a:p>
            </p:txBody>
          </p:sp>
        </mc:Choice>
        <mc:Fallback xmlns="">
          <p:sp>
            <p:nvSpPr>
              <p:cNvPr id="11" name="Hộp Văn bản 10">
                <a:extLst>
                  <a:ext uri="{FF2B5EF4-FFF2-40B4-BE49-F238E27FC236}">
                    <a16:creationId xmlns:a16="http://schemas.microsoft.com/office/drawing/2014/main" id="{AB55B69A-4EA2-DBDA-0CF5-291C5883AEFB}"/>
                  </a:ext>
                </a:extLst>
              </p:cNvPr>
              <p:cNvSpPr txBox="1">
                <a:spLocks noRot="1" noChangeAspect="1" noMove="1" noResize="1" noEditPoints="1" noAdjustHandles="1" noChangeArrowheads="1" noChangeShapeType="1" noTextEdit="1"/>
              </p:cNvSpPr>
              <p:nvPr/>
            </p:nvSpPr>
            <p:spPr>
              <a:xfrm>
                <a:off x="5837382" y="4754329"/>
                <a:ext cx="5979670" cy="1015086"/>
              </a:xfrm>
              <a:prstGeom prst="rect">
                <a:avLst/>
              </a:prstGeom>
              <a:blipFill>
                <a:blip r:embed="rId7"/>
                <a:stretch>
                  <a:fillRect r="-1837" b="-3012"/>
                </a:stretch>
              </a:blipFill>
            </p:spPr>
            <p:txBody>
              <a:bodyPr/>
              <a:lstStyle/>
              <a:p>
                <a:r>
                  <a:rPr lang="vi-VN">
                    <a:noFill/>
                  </a:rPr>
                  <a:t> </a:t>
                </a:r>
              </a:p>
            </p:txBody>
          </p:sp>
        </mc:Fallback>
      </mc:AlternateContent>
      <p:sp>
        <p:nvSpPr>
          <p:cNvPr id="14" name="Hộp Văn bản 13">
            <a:extLst>
              <a:ext uri="{FF2B5EF4-FFF2-40B4-BE49-F238E27FC236}">
                <a16:creationId xmlns:a16="http://schemas.microsoft.com/office/drawing/2014/main" id="{89D6614C-8F08-6FF5-E980-2D338FA557B3}"/>
              </a:ext>
            </a:extLst>
          </p:cNvPr>
          <p:cNvSpPr txBox="1"/>
          <p:nvPr/>
        </p:nvSpPr>
        <p:spPr>
          <a:xfrm>
            <a:off x="413528" y="962139"/>
            <a:ext cx="11592115" cy="400110"/>
          </a:xfrm>
          <a:prstGeom prst="rect">
            <a:avLst/>
          </a:prstGeom>
          <a:noFill/>
        </p:spPr>
        <p:txBody>
          <a:bodyPr wrap="square">
            <a:spAutoFit/>
          </a:bodyPr>
          <a:lstStyle/>
          <a:p>
            <a:r>
              <a:rPr lang="vi-VN" sz="2000" b="1" kern="100">
                <a:solidFill>
                  <a:srgbClr val="000000"/>
                </a:solidFill>
                <a:effectLst/>
                <a:latin typeface="Times New Roman" panose="02020603050405020304" pitchFamily="18" charset="0"/>
                <a:ea typeface="Times New Roman" panose="02020603050405020304" pitchFamily="18" charset="0"/>
              </a:rPr>
              <a:t>4.1. Hàm giảm chấn trong phương trình dao động tổng quát của 2 bộ dao động</a:t>
            </a:r>
            <a:endParaRPr lang="vi-VN" sz="2000" b="1"/>
          </a:p>
        </p:txBody>
      </p:sp>
    </p:spTree>
    <p:extLst>
      <p:ext uri="{BB962C8B-B14F-4D97-AF65-F5344CB8AC3E}">
        <p14:creationId xmlns:p14="http://schemas.microsoft.com/office/powerpoint/2010/main" val="36099144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B341D-000A-2858-98F1-3B1C4E25050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A9D6BC6-A94A-D716-4751-251C6B054C29}"/>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FAAEC463-83BB-6965-FBF9-DCF2C4DFAAFC}"/>
              </a:ext>
            </a:extLst>
          </p:cNvPr>
          <p:cNvSpPr>
            <a:spLocks noGrp="1"/>
          </p:cNvSpPr>
          <p:nvPr>
            <p:ph type="sldNum" sz="quarter" idx="12"/>
          </p:nvPr>
        </p:nvSpPr>
        <p:spPr/>
        <p:txBody>
          <a:bodyPr/>
          <a:lstStyle/>
          <a:p>
            <a:fld id="{931DD963-FD40-4A6D-88A9-402A489E81DE}" type="slidenum">
              <a:rPr lang="en-US" smtClean="0"/>
              <a:t>78</a:t>
            </a:fld>
            <a:endParaRPr lang="en-US"/>
          </a:p>
        </p:txBody>
      </p:sp>
      <p:grpSp>
        <p:nvGrpSpPr>
          <p:cNvPr id="10" name="Group 9">
            <a:extLst>
              <a:ext uri="{FF2B5EF4-FFF2-40B4-BE49-F238E27FC236}">
                <a16:creationId xmlns:a16="http://schemas.microsoft.com/office/drawing/2014/main" id="{D2101E05-7356-FA57-6626-241AC7CB1917}"/>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99EC80C2-BBE4-69F0-3E64-E8856A785229}"/>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E105947A-7D3E-5F14-82D4-05E7F267EF6A}"/>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6C06643-0590-1262-0F01-C984D4347CC8}"/>
                  </a:ext>
                </a:extLst>
              </p:cNvPr>
              <p:cNvSpPr txBox="1"/>
              <p:nvPr/>
            </p:nvSpPr>
            <p:spPr>
              <a:xfrm>
                <a:off x="413529" y="963293"/>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4.2. </a:t>
                </a:r>
                <a:r>
                  <a:rPr lang="vi-VN" sz="2000" b="1">
                    <a:solidFill>
                      <a:prstClr val="black"/>
                    </a:solidFill>
                    <a:latin typeface="Times New Roman" panose="02020603050405020304" pitchFamily="18" charset="0"/>
                    <a:cs typeface="Times New Roman" panose="02020603050405020304" pitchFamily="18" charset="0"/>
                  </a:rPr>
                  <a:t>Phân tích mối quan hệ thời gian đáp ứng </a:t>
                </a:r>
                <a14:m>
                  <m:oMath xmlns:m="http://schemas.openxmlformats.org/officeDocument/2006/math">
                    <m:sSub>
                      <m:sSubPr>
                        <m:ctrlPr>
                          <a:rPr lang="vi-VN" sz="2000" b="1" i="0">
                            <a:solidFill>
                              <a:prstClr val="black"/>
                            </a:solidFill>
                            <a:latin typeface="Cambria Math" panose="02040503050406030204" pitchFamily="18" charset="0"/>
                            <a:cs typeface="Times New Roman" panose="02020603050405020304" pitchFamily="18" charset="0"/>
                          </a:rPr>
                        </m:ctrlPr>
                      </m:sSubPr>
                      <m:e>
                        <m:r>
                          <a:rPr lang="vi-VN" sz="2000" b="1" i="0">
                            <a:solidFill>
                              <a:prstClr val="black"/>
                            </a:solidFill>
                            <a:latin typeface="Cambria Math" panose="02040503050406030204" pitchFamily="18" charset="0"/>
                            <a:cs typeface="Times New Roman" panose="02020603050405020304" pitchFamily="18" charset="0"/>
                          </a:rPr>
                          <m:t>𝐭</m:t>
                        </m:r>
                      </m:e>
                      <m:sub>
                        <m:r>
                          <a:rPr lang="vi-VN" sz="2000" b="1" i="0">
                            <a:solidFill>
                              <a:prstClr val="black"/>
                            </a:solidFill>
                            <a:latin typeface="Cambria Math" panose="02040503050406030204" pitchFamily="18" charset="0"/>
                            <a:cs typeface="Times New Roman" panose="02020603050405020304" pitchFamily="18" charset="0"/>
                          </a:rPr>
                          <m:t>𝐫𝐢𝐬𝐞</m:t>
                        </m:r>
                      </m:sub>
                    </m:sSub>
                  </m:oMath>
                </a14:m>
                <a:r>
                  <a:rPr lang="vi-VN" sz="2000" b="1">
                    <a:solidFill>
                      <a:prstClr val="black"/>
                    </a:solidFill>
                    <a:latin typeface="Times New Roman" panose="02020603050405020304" pitchFamily="18" charset="0"/>
                    <a:cs typeface="Times New Roman" panose="02020603050405020304" pitchFamily="18" charset="0"/>
                  </a:rPr>
                  <a:t> và hài bậc 3 </a:t>
                </a:r>
                <a14:m>
                  <m:oMath xmlns:m="http://schemas.openxmlformats.org/officeDocument/2006/math">
                    <m:sSub>
                      <m:sSubPr>
                        <m:ctrlPr>
                          <a:rPr lang="vi-V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vi-V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𝜸</m:t>
                        </m:r>
                      </m:e>
                      <m:sub>
                        <m:r>
                          <a:rPr lang="vi-V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m:t>
                        </m:r>
                      </m:sub>
                    </m:sSub>
                  </m:oMath>
                </a14:m>
                <a:endParaRPr lang="en-US" sz="2000" b="1">
                  <a:solidFill>
                    <a:prstClr val="black"/>
                  </a:solidFill>
                  <a:latin typeface="Times New Roman" panose="020206030504050203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B6C06643-0590-1262-0F01-C984D4347CC8}"/>
                  </a:ext>
                </a:extLst>
              </p:cNvPr>
              <p:cNvSpPr txBox="1">
                <a:spLocks noRot="1" noChangeAspect="1" noMove="1" noResize="1" noEditPoints="1" noAdjustHandles="1" noChangeArrowheads="1" noChangeShapeType="1" noTextEdit="1"/>
              </p:cNvSpPr>
              <p:nvPr/>
            </p:nvSpPr>
            <p:spPr>
              <a:xfrm>
                <a:off x="413529" y="963293"/>
                <a:ext cx="7463708" cy="400110"/>
              </a:xfrm>
              <a:prstGeom prst="rect">
                <a:avLst/>
              </a:prstGeom>
              <a:blipFill>
                <a:blip r:embed="rId2"/>
                <a:stretch>
                  <a:fillRect l="-899" t="-7576" b="-2575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 name="Hộp Văn bản 5">
                <a:extLst>
                  <a:ext uri="{FF2B5EF4-FFF2-40B4-BE49-F238E27FC236}">
                    <a16:creationId xmlns:a16="http://schemas.microsoft.com/office/drawing/2014/main" id="{F4F1FEAD-94AC-95D0-5ECF-5798E84111A8}"/>
                  </a:ext>
                </a:extLst>
              </p:cNvPr>
              <p:cNvSpPr txBox="1"/>
              <p:nvPr/>
            </p:nvSpPr>
            <p:spPr>
              <a:xfrm>
                <a:off x="413529" y="1406824"/>
                <a:ext cx="11656292" cy="4568110"/>
              </a:xfrm>
              <a:prstGeom prst="rect">
                <a:avLst/>
              </a:prstGeom>
              <a:noFill/>
            </p:spPr>
            <p:txBody>
              <a:bodyPr wrap="square">
                <a:spAutoFit/>
              </a:bodyPr>
              <a:lstStyle/>
              <a:p>
                <a:pPr marL="285750" indent="-285750">
                  <a:buFontTx/>
                  <a:buChar char="-"/>
                </a:pPr>
                <a:r>
                  <a:rPr lang="vi-VN" sz="2000" kern="100">
                    <a:solidFill>
                      <a:srgbClr val="000000"/>
                    </a:solidFill>
                    <a:effectLst/>
                    <a:latin typeface="Times New Roman" panose="02020603050405020304" pitchFamily="18" charset="0"/>
                    <a:ea typeface="Times New Roman" panose="02020603050405020304" pitchFamily="18" charset="0"/>
                  </a:rPr>
                  <a:t>Đối với Van </a:t>
                </a:r>
                <a:r>
                  <a:rPr lang="vi-VN" sz="2000" kern="100" err="1">
                    <a:solidFill>
                      <a:srgbClr val="000000"/>
                    </a:solidFill>
                    <a:effectLst/>
                    <a:latin typeface="Times New Roman" panose="02020603050405020304" pitchFamily="18" charset="0"/>
                    <a:ea typeface="Times New Roman" panose="02020603050405020304" pitchFamily="18" charset="0"/>
                  </a:rPr>
                  <a:t>der</a:t>
                </a:r>
                <a:r>
                  <a:rPr lang="vi-VN" sz="2000" kern="100">
                    <a:solidFill>
                      <a:srgbClr val="000000"/>
                    </a:solidFill>
                    <a:effectLst/>
                    <a:latin typeface="Times New Roman" panose="02020603050405020304" pitchFamily="18" charset="0"/>
                    <a:ea typeface="Times New Roman" panose="02020603050405020304" pitchFamily="18" charset="0"/>
                  </a:rPr>
                  <a:t> </a:t>
                </a:r>
                <a:r>
                  <a:rPr lang="vi-VN" sz="2000" kern="100" err="1">
                    <a:solidFill>
                      <a:srgbClr val="000000"/>
                    </a:solidFill>
                    <a:effectLst/>
                    <a:latin typeface="Times New Roman" panose="02020603050405020304" pitchFamily="18" charset="0"/>
                    <a:ea typeface="Times New Roman" panose="02020603050405020304" pitchFamily="18" charset="0"/>
                  </a:rPr>
                  <a:t>Pol</a:t>
                </a:r>
                <a:r>
                  <a:rPr lang="vi-VN" sz="2000" kern="100">
                    <a:solidFill>
                      <a:srgbClr val="000000"/>
                    </a:solidFill>
                    <a:effectLst/>
                    <a:latin typeface="Times New Roman" panose="02020603050405020304" pitchFamily="18" charset="0"/>
                    <a:ea typeface="Times New Roman" panose="02020603050405020304" pitchFamily="18" charset="0"/>
                  </a:rPr>
                  <a:t>: giá trị hài bậc 3 </a:t>
                </a:r>
                <a14:m>
                  <m:oMath xmlns:m="http://schemas.openxmlformats.org/officeDocument/2006/math">
                    <m:sSub>
                      <m:sSubPr>
                        <m:ctrlPr>
                          <a:rPr lang="vi-V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vi-V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𝜸</m:t>
                        </m:r>
                      </m:e>
                      <m:sub>
                        <m:r>
                          <a:rPr lang="vi-V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m:t>
                        </m:r>
                      </m:sub>
                    </m:sSub>
                  </m:oMath>
                </a14:m>
                <a:r>
                  <a:rPr lang="vi-VN" sz="2000" kern="100">
                    <a:solidFill>
                      <a:srgbClr val="000000"/>
                    </a:solidFill>
                    <a:effectLst/>
                    <a:latin typeface="Times New Roman" panose="02020603050405020304" pitchFamily="18" charset="0"/>
                    <a:ea typeface="Times New Roman" panose="02020603050405020304" pitchFamily="18" charset="0"/>
                  </a:rPr>
                  <a:t> = </a:t>
                </a:r>
                <a14:m>
                  <m:oMath xmlns:m="http://schemas.openxmlformats.org/officeDocument/2006/math">
                    <m:f>
                      <m:fPr>
                        <m:ctrlPr>
                          <a:rPr lang="vi-VN" sz="2000" b="0" i="1" kern="100" smtClean="0">
                            <a:solidFill>
                              <a:srgbClr val="000000"/>
                            </a:solidFill>
                            <a:effectLst/>
                            <a:latin typeface="Cambria Math" panose="02040503050406030204" pitchFamily="18" charset="0"/>
                          </a:rPr>
                        </m:ctrlPr>
                      </m:fPr>
                      <m:num>
                        <m:r>
                          <a:rPr lang="vi-VN" sz="2000" b="0" i="1" kern="100" smtClean="0">
                            <a:solidFill>
                              <a:srgbClr val="000000"/>
                            </a:solidFill>
                            <a:effectLst/>
                            <a:latin typeface="Cambria Math" panose="02040503050406030204" pitchFamily="18" charset="0"/>
                          </a:rPr>
                          <m:t>𝜀𝜎</m:t>
                        </m:r>
                      </m:num>
                      <m:den>
                        <m:r>
                          <a:rPr lang="vi-VN" sz="2000" i="1" kern="100">
                            <a:solidFill>
                              <a:srgbClr val="000000"/>
                            </a:solidFill>
                            <a:latin typeface="Cambria Math" panose="02040503050406030204" pitchFamily="18" charset="0"/>
                          </a:rPr>
                          <m:t>8</m:t>
                        </m:r>
                      </m:den>
                    </m:f>
                  </m:oMath>
                </a14:m>
                <a:r>
                  <a:rPr lang="vi-VN" sz="2000"/>
                  <a:t>. Để đảm bảo giá trị hài đạt 2%, ta cần giá trị </a:t>
                </a:r>
                <a14:m>
                  <m:oMath xmlns:m="http://schemas.openxmlformats.org/officeDocument/2006/math">
                    <m:r>
                      <a:rPr lang="vi-VN" sz="2000" i="1" smtClean="0">
                        <a:latin typeface="Cambria Math" panose="02040503050406030204" pitchFamily="18" charset="0"/>
                        <a:ea typeface="Cambria Math" panose="02040503050406030204" pitchFamily="18" charset="0"/>
                      </a:rPr>
                      <m:t>𝜎</m:t>
                    </m:r>
                  </m:oMath>
                </a14:m>
                <a:r>
                  <a:rPr lang="vi-VN" sz="2000"/>
                  <a:t> phải nhỏ.</a:t>
                </a:r>
              </a:p>
              <a:p>
                <a:pPr marL="285750" indent="-285750">
                  <a:buFontTx/>
                  <a:buChar char="-"/>
                </a:pPr>
                <a:r>
                  <a:rPr lang="vi-VN" sz="2000" kern="100">
                    <a:solidFill>
                      <a:srgbClr val="000000"/>
                    </a:solidFill>
                    <a:effectLst/>
                    <a:latin typeface="+mj-lt"/>
                    <a:ea typeface="Times New Roman" panose="02020603050405020304" pitchFamily="18" charset="0"/>
                  </a:rPr>
                  <a:t>Về thời gian đáp ứng </a:t>
                </a:r>
                <a14:m>
                  <m:oMath xmlns:m="http://schemas.openxmlformats.org/officeDocument/2006/math">
                    <m:sSub>
                      <m:sSubPr>
                        <m:ctrlPr>
                          <a:rPr lang="vi-VN" sz="2000" i="1" kern="100">
                            <a:solidFill>
                              <a:srgbClr val="000000"/>
                            </a:solidFill>
                            <a:latin typeface="Cambria Math" panose="02040503050406030204" pitchFamily="18" charset="0"/>
                          </a:rPr>
                        </m:ctrlPr>
                      </m:sSubPr>
                      <m:e>
                        <m:r>
                          <m:rPr>
                            <m:sty m:val="p"/>
                          </m:rPr>
                          <a:rPr lang="vi-VN" sz="2000" i="1" kern="100">
                            <a:solidFill>
                              <a:srgbClr val="000000"/>
                            </a:solidFill>
                            <a:latin typeface="Cambria Math" panose="02040503050406030204" pitchFamily="18" charset="0"/>
                          </a:rPr>
                          <m:t>t</m:t>
                        </m:r>
                      </m:e>
                      <m:sub>
                        <m:r>
                          <m:rPr>
                            <m:sty m:val="p"/>
                          </m:rPr>
                          <a:rPr lang="vi-VN" sz="2000" i="1" kern="100">
                            <a:solidFill>
                              <a:srgbClr val="000000"/>
                            </a:solidFill>
                            <a:latin typeface="Cambria Math" panose="02040503050406030204" pitchFamily="18" charset="0"/>
                          </a:rPr>
                          <m:t>rise</m:t>
                        </m:r>
                      </m:sub>
                    </m:sSub>
                  </m:oMath>
                </a14:m>
                <a:r>
                  <a:rPr lang="vi-VN" sz="2000" kern="100">
                    <a:solidFill>
                      <a:srgbClr val="000000"/>
                    </a:solidFill>
                    <a:effectLst/>
                    <a:latin typeface="+mj-lt"/>
                    <a:ea typeface="Times New Roman" panose="02020603050405020304" pitchFamily="18" charset="0"/>
                  </a:rPr>
                  <a:t>, ta tiến hành phân tích:</a:t>
                </a:r>
              </a:p>
              <a:p>
                <a:pPr marL="205740" indent="-6350" algn="ctr">
                  <a:lnSpc>
                    <a:spcPct val="150000"/>
                  </a:lnSpc>
                  <a:spcAft>
                    <a:spcPts val="25"/>
                  </a:spcAft>
                </a:pPr>
                <a14:m>
                  <m:oMath xmlns:m="http://schemas.openxmlformats.org/officeDocument/2006/math">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𝑑</m:t>
                        </m:r>
                      </m:num>
                      <m:den>
                        <m:r>
                          <a:rPr lang="vi-VN" sz="2000" i="1" kern="100">
                            <a:solidFill>
                              <a:srgbClr val="000000"/>
                            </a:solidFill>
                            <a:effectLst/>
                            <a:latin typeface="Cambria Math" panose="02040503050406030204" pitchFamily="18" charset="0"/>
                            <a:ea typeface="Times New Roman" panose="02020603050405020304" pitchFamily="18" charset="0"/>
                          </a:rPr>
                          <m:t>𝑑𝑡</m:t>
                        </m:r>
                      </m:den>
                    </m:f>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r>
                      <a:rPr lang="vi-VN" sz="2000" i="1" kern="100">
                        <a:solidFill>
                          <a:srgbClr val="000000"/>
                        </a:solidFill>
                        <a:effectLst/>
                        <a:latin typeface="Cambria Math" panose="02040503050406030204" pitchFamily="18" charset="0"/>
                        <a:ea typeface="Times New Roman" panose="02020603050405020304" pitchFamily="18" charset="0"/>
                      </a:rPr>
                      <m:t> ≈ </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1</m:t>
                        </m:r>
                      </m:num>
                      <m:den>
                        <m:r>
                          <a:rPr lang="vi-VN" sz="2000" i="1" kern="100">
                            <a:solidFill>
                              <a:srgbClr val="000000"/>
                            </a:solidFill>
                            <a:effectLst/>
                            <a:latin typeface="Cambria Math" panose="02040503050406030204" pitchFamily="18" charset="0"/>
                            <a:ea typeface="Times New Roman" panose="02020603050405020304" pitchFamily="18" charset="0"/>
                          </a:rPr>
                          <m:t>𝐶</m:t>
                        </m:r>
                      </m:den>
                    </m:f>
                    <m:func>
                      <m:funcPr>
                        <m:ctrlPr>
                          <a:rPr lang="vi-VN" sz="2000" i="1" kern="100">
                            <a:solidFill>
                              <a:srgbClr val="000000"/>
                            </a:solidFill>
                            <a:effectLst/>
                            <a:latin typeface="Cambria Math" panose="02040503050406030204" pitchFamily="18" charset="0"/>
                            <a:ea typeface="Times New Roman" panose="02020603050405020304" pitchFamily="18" charset="0"/>
                          </a:rPr>
                        </m:ctrlPr>
                      </m:funcPr>
                      <m:fName>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𝜎</m:t>
                            </m:r>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num>
                          <m:den>
                            <m:r>
                              <a:rPr lang="vi-VN" sz="2000" i="1" kern="100">
                                <a:solidFill>
                                  <a:srgbClr val="000000"/>
                                </a:solidFill>
                                <a:effectLst/>
                                <a:latin typeface="Cambria Math" panose="02040503050406030204" pitchFamily="18" charset="0"/>
                                <a:ea typeface="Times New Roman" panose="02020603050405020304" pitchFamily="18" charset="0"/>
                              </a:rPr>
                              <m:t>2</m:t>
                            </m:r>
                          </m:den>
                        </m:f>
                      </m:fName>
                      <m:e>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3</m:t>
                            </m:r>
                            <m:r>
                              <a:rPr lang="vi-VN" sz="2000" i="1" kern="100">
                                <a:solidFill>
                                  <a:srgbClr val="000000"/>
                                </a:solidFill>
                                <a:effectLst/>
                                <a:latin typeface="Cambria Math" panose="02040503050406030204" pitchFamily="18" charset="0"/>
                                <a:ea typeface="Times New Roman" panose="02020603050405020304" pitchFamily="18" charset="0"/>
                              </a:rPr>
                              <m:t>𝛼</m:t>
                            </m:r>
                          </m:num>
                          <m:den>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sSub>
                                  <m:sSubPr>
                                    <m:ctrlPr>
                                      <a:rPr lang="vi-VN" sz="2000" i="1" kern="100">
                                        <a:solidFill>
                                          <a:srgbClr val="000000"/>
                                        </a:solidFill>
                                        <a:effectLst/>
                                        <a:latin typeface="Cambria Math" panose="02040503050406030204" pitchFamily="18" charset="0"/>
                                        <a:ea typeface="Times New Roman" panose="02020603050405020304" pitchFamily="18" charset="0"/>
                                      </a:rPr>
                                    </m:ctrlPr>
                                  </m:sSubPr>
                                  <m:e>
                                    <m:r>
                                      <a:rPr lang="vi-VN" sz="2000" i="1" kern="100">
                                        <a:solidFill>
                                          <a:srgbClr val="000000"/>
                                        </a:solidFill>
                                        <a:effectLst/>
                                        <a:latin typeface="Cambria Math" panose="02040503050406030204" pitchFamily="18" charset="0"/>
                                        <a:ea typeface="Times New Roman" panose="02020603050405020304" pitchFamily="18" charset="0"/>
                                      </a:rPr>
                                      <m:t>4</m:t>
                                    </m:r>
                                    <m:r>
                                      <a:rPr lang="vi-VN" sz="2000" i="1" kern="100">
                                        <a:solidFill>
                                          <a:srgbClr val="000000"/>
                                        </a:solidFill>
                                        <a:effectLst/>
                                        <a:latin typeface="Cambria Math" panose="02040503050406030204" pitchFamily="18" charset="0"/>
                                        <a:ea typeface="Times New Roman" panose="02020603050405020304" pitchFamily="18" charset="0"/>
                                      </a:rPr>
                                      <m:t>𝑘</m:t>
                                    </m:r>
                                  </m:e>
                                  <m:sub>
                                    <m:r>
                                      <a:rPr lang="vi-VN" sz="2000" i="1" kern="100">
                                        <a:solidFill>
                                          <a:srgbClr val="000000"/>
                                        </a:solidFill>
                                        <a:effectLst/>
                                        <a:latin typeface="Cambria Math" panose="02040503050406030204" pitchFamily="18" charset="0"/>
                                        <a:ea typeface="Times New Roman" panose="02020603050405020304" pitchFamily="18" charset="0"/>
                                      </a:rPr>
                                      <m:t>𝑣</m:t>
                                    </m:r>
                                  </m:sub>
                                </m:sSub>
                              </m:e>
                              <m:sup>
                                <m:r>
                                  <a:rPr lang="vi-VN" sz="2000" i="1" kern="100">
                                    <a:solidFill>
                                      <a:srgbClr val="000000"/>
                                    </a:solidFill>
                                    <a:effectLst/>
                                    <a:latin typeface="Cambria Math" panose="02040503050406030204" pitchFamily="18" charset="0"/>
                                    <a:ea typeface="Times New Roman" panose="02020603050405020304" pitchFamily="18" charset="0"/>
                                  </a:rPr>
                                  <m:t>2</m:t>
                                </m:r>
                              </m:sup>
                            </m:sSup>
                          </m:den>
                        </m:f>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e>
                          <m:sup>
                            <m:r>
                              <a:rPr lang="vi-VN" sz="2000" i="1" kern="100">
                                <a:solidFill>
                                  <a:srgbClr val="000000"/>
                                </a:solidFill>
                                <a:effectLst/>
                                <a:latin typeface="Cambria Math" panose="02040503050406030204" pitchFamily="18" charset="0"/>
                                <a:ea typeface="Times New Roman" panose="02020603050405020304" pitchFamily="18" charset="0"/>
                              </a:rPr>
                              <m:t>3</m:t>
                            </m:r>
                          </m:sup>
                        </m:sSup>
                        <m:r>
                          <a:rPr lang="vi-VN" sz="2000" i="1" kern="100">
                            <a:solidFill>
                              <a:srgbClr val="000000"/>
                            </a:solidFill>
                            <a:effectLst/>
                            <a:latin typeface="Cambria Math" panose="02040503050406030204" pitchFamily="18" charset="0"/>
                            <a:ea typeface="Times New Roman" panose="02020603050405020304" pitchFamily="18" charset="0"/>
                          </a:rPr>
                          <m:t>)</m:t>
                        </m:r>
                      </m:e>
                    </m:func>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sSub>
                          <m:sSubPr>
                            <m:ctrlPr>
                              <a:rPr lang="vi-VN" sz="2000" i="1" kern="100">
                                <a:solidFill>
                                  <a:srgbClr val="000000"/>
                                </a:solidFill>
                                <a:effectLst/>
                                <a:latin typeface="Cambria Math" panose="02040503050406030204" pitchFamily="18" charset="0"/>
                                <a:ea typeface="Times New Roman" panose="02020603050405020304" pitchFamily="18" charset="0"/>
                              </a:rPr>
                            </m:ctrlPr>
                          </m:sSubPr>
                          <m:e>
                            <m:r>
                              <a:rPr lang="vi-VN" sz="2000" i="1" kern="100">
                                <a:solidFill>
                                  <a:srgbClr val="000000"/>
                                </a:solidFill>
                                <a:effectLst/>
                                <a:latin typeface="Cambria Math" panose="02040503050406030204" pitchFamily="18" charset="0"/>
                                <a:ea typeface="Times New Roman" panose="02020603050405020304" pitchFamily="18" charset="0"/>
                              </a:rPr>
                              <m:t>𝑘</m:t>
                            </m:r>
                          </m:e>
                          <m:sub>
                            <m:r>
                              <a:rPr lang="vi-VN" sz="2000" i="1" kern="100">
                                <a:solidFill>
                                  <a:srgbClr val="000000"/>
                                </a:solidFill>
                                <a:effectLst/>
                                <a:latin typeface="Cambria Math" panose="02040503050406030204" pitchFamily="18" charset="0"/>
                                <a:ea typeface="Times New Roman" panose="02020603050405020304" pitchFamily="18" charset="0"/>
                              </a:rPr>
                              <m:t>𝑣</m:t>
                            </m:r>
                          </m:sub>
                        </m:sSub>
                        <m:sSub>
                          <m:sSubPr>
                            <m:ctrlPr>
                              <a:rPr lang="vi-VN" sz="2000" i="1" kern="100">
                                <a:solidFill>
                                  <a:srgbClr val="000000"/>
                                </a:solidFill>
                                <a:effectLst/>
                                <a:latin typeface="Cambria Math" panose="02040503050406030204" pitchFamily="18" charset="0"/>
                                <a:ea typeface="Times New Roman" panose="02020603050405020304" pitchFamily="18" charset="0"/>
                              </a:rPr>
                            </m:ctrlPr>
                          </m:sSubPr>
                          <m:e>
                            <m:r>
                              <a:rPr lang="vi-VN" sz="2000" i="1" kern="100">
                                <a:solidFill>
                                  <a:srgbClr val="000000"/>
                                </a:solidFill>
                                <a:effectLst/>
                                <a:latin typeface="Cambria Math" panose="02040503050406030204" pitchFamily="18" charset="0"/>
                                <a:ea typeface="Times New Roman" panose="02020603050405020304" pitchFamily="18" charset="0"/>
                              </a:rPr>
                              <m:t>𝑘</m:t>
                            </m:r>
                          </m:e>
                          <m:sub>
                            <m:r>
                              <a:rPr lang="vi-VN" sz="2000" i="1" kern="100">
                                <a:solidFill>
                                  <a:srgbClr val="000000"/>
                                </a:solidFill>
                                <a:effectLst/>
                                <a:latin typeface="Cambria Math" panose="02040503050406030204" pitchFamily="18" charset="0"/>
                                <a:ea typeface="Times New Roman" panose="02020603050405020304" pitchFamily="18" charset="0"/>
                              </a:rPr>
                              <m:t>𝑖</m:t>
                            </m:r>
                          </m:sub>
                        </m:sSub>
                      </m:num>
                      <m:den>
                        <m:r>
                          <a:rPr lang="vi-VN" sz="2000" i="1" kern="100">
                            <a:solidFill>
                              <a:srgbClr val="000000"/>
                            </a:solidFill>
                            <a:effectLst/>
                            <a:latin typeface="Cambria Math" panose="02040503050406030204" pitchFamily="18" charset="0"/>
                            <a:ea typeface="Times New Roman" panose="02020603050405020304" pitchFamily="18" charset="0"/>
                          </a:rPr>
                          <m:t>2</m:t>
                        </m:r>
                        <m:r>
                          <m:rPr>
                            <m:sty m:val="p"/>
                          </m:rPr>
                          <a:rPr lang="vi-VN" sz="2000" kern="100">
                            <a:solidFill>
                              <a:srgbClr val="000000"/>
                            </a:solidFill>
                            <a:effectLst/>
                            <a:latin typeface="Cambria Math" panose="02040503050406030204" pitchFamily="18" charset="0"/>
                            <a:ea typeface="Times New Roman" panose="02020603050405020304" pitchFamily="18" charset="0"/>
                          </a:rPr>
                          <m:t>C</m:t>
                        </m:r>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den>
                    </m:f>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𝑃</m:t>
                        </m:r>
                      </m:e>
                    </m:acc>
                  </m:oMath>
                </a14:m>
                <a:r>
                  <a:rPr lang="vi-VN" sz="2000" kern="100">
                    <a:solidFill>
                      <a:srgbClr val="000000"/>
                    </a:solidFill>
                    <a:effectLst/>
                    <a:latin typeface="Times New Roman" panose="02020603050405020304" pitchFamily="18" charset="0"/>
                    <a:ea typeface="Times New Roman" panose="02020603050405020304" pitchFamily="18" charset="0"/>
                  </a:rPr>
                  <a:t>	</a:t>
                </a:r>
              </a:p>
              <a:p>
                <a:pPr marL="205740" indent="-6350" algn="just">
                  <a:lnSpc>
                    <a:spcPct val="150000"/>
                  </a:lnSpc>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Với giá trị </a:t>
                </a:r>
                <a14:m>
                  <m:oMath xmlns:m="http://schemas.openxmlformats.org/officeDocument/2006/math">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𝑃</m:t>
                        </m:r>
                      </m:e>
                    </m:acc>
                    <m:r>
                      <a:rPr lang="vi-VN" sz="2000" i="1" kern="100">
                        <a:solidFill>
                          <a:srgbClr val="000000"/>
                        </a:solidFill>
                        <a:effectLst/>
                        <a:latin typeface="Cambria Math" panose="02040503050406030204" pitchFamily="18" charset="0"/>
                        <a:ea typeface="Times New Roman" panose="02020603050405020304" pitchFamily="18" charset="0"/>
                      </a:rPr>
                      <m:t>=0</m:t>
                    </m:r>
                  </m:oMath>
                </a14:m>
                <a:r>
                  <a:rPr lang="vi-VN" sz="2000" kern="100">
                    <a:solidFill>
                      <a:srgbClr val="000000"/>
                    </a:solidFill>
                    <a:effectLst/>
                    <a:latin typeface="Times New Roman" panose="02020603050405020304" pitchFamily="18" charset="0"/>
                    <a:ea typeface="Times New Roman" panose="02020603050405020304" pitchFamily="18" charset="0"/>
                  </a:rPr>
                  <a:t>, ta được:</a:t>
                </a:r>
              </a:p>
              <a:p>
                <a:pPr marL="205740" indent="-6350" algn="ctr">
                  <a:lnSpc>
                    <a:spcPct val="150000"/>
                  </a:lnSpc>
                  <a:spcAft>
                    <a:spcPts val="25"/>
                  </a:spcAft>
                </a:pPr>
                <a14:m>
                  <m:oMath xmlns:m="http://schemas.openxmlformats.org/officeDocument/2006/math">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𝑑</m:t>
                        </m:r>
                      </m:num>
                      <m:den>
                        <m:r>
                          <a:rPr lang="vi-VN" sz="2000" i="1" kern="100">
                            <a:solidFill>
                              <a:srgbClr val="000000"/>
                            </a:solidFill>
                            <a:effectLst/>
                            <a:latin typeface="Cambria Math" panose="02040503050406030204" pitchFamily="18" charset="0"/>
                            <a:ea typeface="Times New Roman" panose="02020603050405020304" pitchFamily="18" charset="0"/>
                          </a:rPr>
                          <m:t>𝑑𝑡</m:t>
                        </m:r>
                      </m:den>
                    </m:f>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r>
                      <a:rPr lang="vi-VN" sz="2000" i="1" kern="100">
                        <a:solidFill>
                          <a:srgbClr val="000000"/>
                        </a:solidFill>
                        <a:effectLst/>
                        <a:latin typeface="Cambria Math" panose="02040503050406030204" pitchFamily="18" charset="0"/>
                        <a:ea typeface="Times New Roman" panose="02020603050405020304" pitchFamily="18" charset="0"/>
                      </a:rPr>
                      <m:t> ≈ </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1</m:t>
                        </m:r>
                      </m:num>
                      <m:den>
                        <m:r>
                          <a:rPr lang="vi-VN" sz="2000" i="1" kern="100">
                            <a:solidFill>
                              <a:srgbClr val="000000"/>
                            </a:solidFill>
                            <a:effectLst/>
                            <a:latin typeface="Cambria Math" panose="02040503050406030204" pitchFamily="18" charset="0"/>
                            <a:ea typeface="Times New Roman" panose="02020603050405020304" pitchFamily="18" charset="0"/>
                          </a:rPr>
                          <m:t>𝐶</m:t>
                        </m:r>
                      </m:den>
                    </m:f>
                    <m:func>
                      <m:funcPr>
                        <m:ctrlPr>
                          <a:rPr lang="vi-VN" sz="2000" i="1" kern="100">
                            <a:solidFill>
                              <a:srgbClr val="000000"/>
                            </a:solidFill>
                            <a:effectLst/>
                            <a:latin typeface="Cambria Math" panose="02040503050406030204" pitchFamily="18" charset="0"/>
                            <a:ea typeface="Times New Roman" panose="02020603050405020304" pitchFamily="18" charset="0"/>
                          </a:rPr>
                        </m:ctrlPr>
                      </m:funcPr>
                      <m:fName>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𝜎</m:t>
                            </m:r>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num>
                          <m:den>
                            <m:r>
                              <a:rPr lang="vi-VN" sz="2000" i="1" kern="100">
                                <a:solidFill>
                                  <a:srgbClr val="000000"/>
                                </a:solidFill>
                                <a:effectLst/>
                                <a:latin typeface="Cambria Math" panose="02040503050406030204" pitchFamily="18" charset="0"/>
                                <a:ea typeface="Times New Roman" panose="02020603050405020304" pitchFamily="18" charset="0"/>
                              </a:rPr>
                              <m:t>2</m:t>
                            </m:r>
                          </m:den>
                        </m:f>
                      </m:fName>
                      <m:e>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3</m:t>
                            </m:r>
                            <m:r>
                              <a:rPr lang="vi-VN" sz="2000" i="1" kern="100">
                                <a:solidFill>
                                  <a:srgbClr val="000000"/>
                                </a:solidFill>
                                <a:effectLst/>
                                <a:latin typeface="Cambria Math" panose="02040503050406030204" pitchFamily="18" charset="0"/>
                                <a:ea typeface="Times New Roman" panose="02020603050405020304" pitchFamily="18" charset="0"/>
                              </a:rPr>
                              <m:t>𝛼</m:t>
                            </m:r>
                          </m:num>
                          <m:den>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sSub>
                                  <m:sSubPr>
                                    <m:ctrlPr>
                                      <a:rPr lang="vi-VN" sz="2000" i="1" kern="100">
                                        <a:solidFill>
                                          <a:srgbClr val="000000"/>
                                        </a:solidFill>
                                        <a:effectLst/>
                                        <a:latin typeface="Cambria Math" panose="02040503050406030204" pitchFamily="18" charset="0"/>
                                        <a:ea typeface="Times New Roman" panose="02020603050405020304" pitchFamily="18" charset="0"/>
                                      </a:rPr>
                                    </m:ctrlPr>
                                  </m:sSubPr>
                                  <m:e>
                                    <m:r>
                                      <a:rPr lang="vi-VN" sz="2000" i="1" kern="100">
                                        <a:solidFill>
                                          <a:srgbClr val="000000"/>
                                        </a:solidFill>
                                        <a:effectLst/>
                                        <a:latin typeface="Cambria Math" panose="02040503050406030204" pitchFamily="18" charset="0"/>
                                        <a:ea typeface="Times New Roman" panose="02020603050405020304" pitchFamily="18" charset="0"/>
                                      </a:rPr>
                                      <m:t>4</m:t>
                                    </m:r>
                                    <m:r>
                                      <a:rPr lang="vi-VN" sz="2000" i="1" kern="100">
                                        <a:solidFill>
                                          <a:srgbClr val="000000"/>
                                        </a:solidFill>
                                        <a:effectLst/>
                                        <a:latin typeface="Cambria Math" panose="02040503050406030204" pitchFamily="18" charset="0"/>
                                        <a:ea typeface="Times New Roman" panose="02020603050405020304" pitchFamily="18" charset="0"/>
                                      </a:rPr>
                                      <m:t>𝑘</m:t>
                                    </m:r>
                                  </m:e>
                                  <m:sub>
                                    <m:r>
                                      <a:rPr lang="vi-VN" sz="2000" i="1" kern="100">
                                        <a:solidFill>
                                          <a:srgbClr val="000000"/>
                                        </a:solidFill>
                                        <a:effectLst/>
                                        <a:latin typeface="Cambria Math" panose="02040503050406030204" pitchFamily="18" charset="0"/>
                                        <a:ea typeface="Times New Roman" panose="02020603050405020304" pitchFamily="18" charset="0"/>
                                      </a:rPr>
                                      <m:t>𝑣</m:t>
                                    </m:r>
                                  </m:sub>
                                </m:sSub>
                              </m:e>
                              <m:sup>
                                <m:r>
                                  <a:rPr lang="vi-VN" sz="2000" i="1" kern="100">
                                    <a:solidFill>
                                      <a:srgbClr val="000000"/>
                                    </a:solidFill>
                                    <a:effectLst/>
                                    <a:latin typeface="Cambria Math" panose="02040503050406030204" pitchFamily="18" charset="0"/>
                                    <a:ea typeface="Times New Roman" panose="02020603050405020304" pitchFamily="18" charset="0"/>
                                  </a:rPr>
                                  <m:t>2</m:t>
                                </m:r>
                              </m:sup>
                            </m:sSup>
                          </m:den>
                        </m:f>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e>
                          <m:sup>
                            <m:r>
                              <a:rPr lang="vi-VN" sz="2000" i="1" kern="100">
                                <a:solidFill>
                                  <a:srgbClr val="000000"/>
                                </a:solidFill>
                                <a:effectLst/>
                                <a:latin typeface="Cambria Math" panose="02040503050406030204" pitchFamily="18" charset="0"/>
                                <a:ea typeface="Times New Roman" panose="02020603050405020304" pitchFamily="18" charset="0"/>
                              </a:rPr>
                              <m:t>3</m:t>
                            </m:r>
                          </m:sup>
                        </m:sSup>
                        <m:r>
                          <a:rPr lang="vi-VN" sz="2000" i="1" kern="100">
                            <a:solidFill>
                              <a:srgbClr val="000000"/>
                            </a:solidFill>
                            <a:effectLst/>
                            <a:latin typeface="Cambria Math" panose="02040503050406030204" pitchFamily="18" charset="0"/>
                            <a:ea typeface="Times New Roman" panose="02020603050405020304" pitchFamily="18" charset="0"/>
                          </a:rPr>
                          <m:t>)</m:t>
                        </m:r>
                      </m:e>
                    </m:func>
                  </m:oMath>
                </a14:m>
                <a:r>
                  <a:rPr lang="vi-VN" sz="2000" kern="100">
                    <a:solidFill>
                      <a:srgbClr val="000000"/>
                    </a:solidFill>
                    <a:effectLst/>
                    <a:latin typeface="Times New Roman" panose="02020603050405020304" pitchFamily="18" charset="0"/>
                    <a:ea typeface="Times New Roman" panose="02020603050405020304" pitchFamily="18" charset="0"/>
                  </a:rPr>
                  <a:t>	</a:t>
                </a:r>
              </a:p>
              <a:p>
                <a:pPr marL="205740" indent="-6350" algn="just">
                  <a:lnSpc>
                    <a:spcPct val="150000"/>
                  </a:lnSpc>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 Lấy tích phân 2 vế của phương trình (37), với giá trị thời gian để biên độ điện áp </a:t>
                </a:r>
                <a14:m>
                  <m:oMath xmlns:m="http://schemas.openxmlformats.org/officeDocument/2006/math">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oMath>
                </a14:m>
                <a:r>
                  <a:rPr lang="vi-VN" sz="2000" kern="100">
                    <a:solidFill>
                      <a:srgbClr val="000000"/>
                    </a:solidFill>
                    <a:effectLst/>
                    <a:latin typeface="Times New Roman" panose="02020603050405020304" pitchFamily="18" charset="0"/>
                    <a:ea typeface="Times New Roman" panose="02020603050405020304" pitchFamily="18" charset="0"/>
                  </a:rPr>
                  <a:t> thay đổi từ 0.1</a:t>
                </a:r>
                <a14:m>
                  <m:oMath xmlns:m="http://schemas.openxmlformats.org/officeDocument/2006/math">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oMath>
                </a14:m>
                <a:r>
                  <a:rPr lang="vi-VN" sz="2000" kern="100">
                    <a:solidFill>
                      <a:srgbClr val="000000"/>
                    </a:solidFill>
                    <a:effectLst/>
                    <a:latin typeface="Times New Roman" panose="02020603050405020304" pitchFamily="18" charset="0"/>
                    <a:ea typeface="Times New Roman" panose="02020603050405020304" pitchFamily="18" charset="0"/>
                  </a:rPr>
                  <a:t> đến giá trị 0.9</a:t>
                </a:r>
                <a:r>
                  <a:rPr lang="vi-VN" sz="2000" i="1" kern="100">
                    <a:solidFill>
                      <a:srgbClr val="000000"/>
                    </a:solidFill>
                    <a:effectLst/>
                    <a:latin typeface="Times New Roman" panose="02020603050405020304" pitchFamily="18" charset="0"/>
                    <a:ea typeface="Times New Roman" panose="02020603050405020304" pitchFamily="18" charset="0"/>
                  </a:rPr>
                  <a:t> </a:t>
                </a:r>
                <a14:m>
                  <m:oMath xmlns:m="http://schemas.openxmlformats.org/officeDocument/2006/math">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oMath>
                </a14:m>
                <a:r>
                  <a:rPr lang="vi-VN" sz="2000" kern="100">
                    <a:solidFill>
                      <a:srgbClr val="000000"/>
                    </a:solidFill>
                    <a:effectLst/>
                    <a:latin typeface="Times New Roman" panose="02020603050405020304" pitchFamily="18" charset="0"/>
                    <a:ea typeface="Times New Roman" panose="02020603050405020304" pitchFamily="18" charset="0"/>
                  </a:rPr>
                  <a:t>, thời gian này được định nghĩa là </a:t>
                </a:r>
                <a14:m>
                  <m:oMath xmlns:m="http://schemas.openxmlformats.org/officeDocument/2006/math">
                    <m:sSub>
                      <m:sSubPr>
                        <m:ctrlPr>
                          <a:rPr lang="vi-VN" sz="2000" i="1" kern="100">
                            <a:solidFill>
                              <a:srgbClr val="000000"/>
                            </a:solidFill>
                            <a:effectLst/>
                            <a:latin typeface="Cambria Math" panose="02040503050406030204" pitchFamily="18" charset="0"/>
                            <a:ea typeface="Times New Roman" panose="02020603050405020304" pitchFamily="18" charset="0"/>
                          </a:rPr>
                        </m:ctrlPr>
                      </m:sSubPr>
                      <m:e>
                        <m:r>
                          <a:rPr lang="vi-VN" sz="2000" i="1" kern="100">
                            <a:solidFill>
                              <a:srgbClr val="000000"/>
                            </a:solidFill>
                            <a:effectLst/>
                            <a:latin typeface="Cambria Math" panose="02040503050406030204" pitchFamily="18" charset="0"/>
                            <a:ea typeface="Times New Roman" panose="02020603050405020304" pitchFamily="18" charset="0"/>
                          </a:rPr>
                          <m:t>𝑡</m:t>
                        </m:r>
                      </m:e>
                      <m:sub>
                        <m:r>
                          <a:rPr lang="vi-VN" sz="2000" i="1" kern="100">
                            <a:solidFill>
                              <a:srgbClr val="000000"/>
                            </a:solidFill>
                            <a:effectLst/>
                            <a:latin typeface="Cambria Math" panose="02040503050406030204" pitchFamily="18" charset="0"/>
                            <a:ea typeface="Times New Roman" panose="02020603050405020304" pitchFamily="18" charset="0"/>
                          </a:rPr>
                          <m:t>𝑟𝑖𝑠𝑒</m:t>
                        </m:r>
                      </m:sub>
                    </m:sSub>
                  </m:oMath>
                </a14:m>
                <a:r>
                  <a:rPr lang="vi-VN" sz="2000" kern="100">
                    <a:solidFill>
                      <a:srgbClr val="000000"/>
                    </a:solidFill>
                    <a:effectLst/>
                    <a:latin typeface="Times New Roman" panose="02020603050405020304" pitchFamily="18" charset="0"/>
                    <a:ea typeface="Times New Roman" panose="02020603050405020304" pitchFamily="18" charset="0"/>
                  </a:rPr>
                  <a:t> :</a:t>
                </a:r>
              </a:p>
              <a:p>
                <a:pPr marL="205740" indent="-6350" algn="ctr">
                  <a:lnSpc>
                    <a:spcPct val="150000"/>
                  </a:lnSpc>
                  <a:spcAft>
                    <a:spcPts val="25"/>
                  </a:spcAft>
                </a:pPr>
                <a14:m>
                  <m:oMath xmlns:m="http://schemas.openxmlformats.org/officeDocument/2006/math">
                    <m:sSub>
                      <m:sSubPr>
                        <m:ctrlPr>
                          <a:rPr lang="vi-VN" sz="2000" i="1" kern="100">
                            <a:solidFill>
                              <a:srgbClr val="000000"/>
                            </a:solidFill>
                            <a:effectLst/>
                            <a:latin typeface="Cambria Math" panose="02040503050406030204" pitchFamily="18" charset="0"/>
                            <a:ea typeface="Times New Roman" panose="02020603050405020304" pitchFamily="18" charset="0"/>
                          </a:rPr>
                        </m:ctrlPr>
                      </m:sSubPr>
                      <m:e>
                        <m:r>
                          <a:rPr lang="vi-VN" sz="2000" i="1" kern="100">
                            <a:solidFill>
                              <a:srgbClr val="000000"/>
                            </a:solidFill>
                            <a:effectLst/>
                            <a:latin typeface="Cambria Math" panose="02040503050406030204" pitchFamily="18" charset="0"/>
                            <a:ea typeface="Times New Roman" panose="02020603050405020304" pitchFamily="18" charset="0"/>
                          </a:rPr>
                          <m:t>𝑡</m:t>
                        </m:r>
                      </m:e>
                      <m:sub>
                        <m:r>
                          <a:rPr lang="vi-VN" sz="2000" i="1" kern="100">
                            <a:solidFill>
                              <a:srgbClr val="000000"/>
                            </a:solidFill>
                            <a:effectLst/>
                            <a:latin typeface="Cambria Math" panose="02040503050406030204" pitchFamily="18" charset="0"/>
                            <a:ea typeface="Times New Roman" panose="02020603050405020304" pitchFamily="18" charset="0"/>
                          </a:rPr>
                          <m:t>𝑟𝑖𝑠𝑒</m:t>
                        </m:r>
                      </m:sub>
                    </m:sSub>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2</m:t>
                        </m:r>
                      </m:num>
                      <m:den>
                        <m:r>
                          <a:rPr lang="vi-VN" sz="2000" i="1" kern="100">
                            <a:solidFill>
                              <a:srgbClr val="000000"/>
                            </a:solidFill>
                            <a:effectLst/>
                            <a:latin typeface="Cambria Math" panose="02040503050406030204" pitchFamily="18" charset="0"/>
                            <a:ea typeface="Times New Roman" panose="02020603050405020304" pitchFamily="18" charset="0"/>
                          </a:rPr>
                          <m:t>𝜀𝜎</m:t>
                        </m:r>
                      </m:den>
                    </m:f>
                    <m:sSubSup>
                      <m:sSubSupPr>
                        <m:ctrlPr>
                          <a:rPr lang="vi-VN" sz="2000" i="1" kern="100">
                            <a:solidFill>
                              <a:srgbClr val="000000"/>
                            </a:solidFill>
                            <a:effectLst/>
                            <a:latin typeface="Cambria Math" panose="02040503050406030204" pitchFamily="18" charset="0"/>
                            <a:ea typeface="Times New Roman" panose="02020603050405020304" pitchFamily="18" charset="0"/>
                          </a:rPr>
                        </m:ctrlPr>
                      </m:sSubSupPr>
                      <m:e>
                        <m:d>
                          <m:dPr>
                            <m:begChr m:val="["/>
                            <m:endChr m:val="]"/>
                            <m:ctrlPr>
                              <a:rPr lang="vi-VN" sz="2000" i="1" kern="100">
                                <a:solidFill>
                                  <a:srgbClr val="000000"/>
                                </a:solidFill>
                                <a:effectLst/>
                                <a:latin typeface="Cambria Math" panose="02040503050406030204" pitchFamily="18" charset="0"/>
                                <a:ea typeface="Times New Roman" panose="02020603050405020304" pitchFamily="18" charset="0"/>
                              </a:rPr>
                            </m:ctrlPr>
                          </m:dPr>
                          <m:e>
                            <m:r>
                              <a:rPr lang="vi-VN" sz="2000" i="1" kern="100">
                                <a:solidFill>
                                  <a:srgbClr val="000000"/>
                                </a:solidFill>
                                <a:effectLst/>
                                <a:latin typeface="Cambria Math" panose="02040503050406030204" pitchFamily="18" charset="0"/>
                                <a:ea typeface="Times New Roman" panose="02020603050405020304" pitchFamily="18" charset="0"/>
                              </a:rPr>
                              <m:t>𝑙𝑜𝑔</m:t>
                            </m:r>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1</m:t>
                                </m:r>
                              </m:num>
                              <m:den>
                                <m:r>
                                  <a:rPr lang="vi-VN" sz="2000" i="1" kern="100">
                                    <a:solidFill>
                                      <a:srgbClr val="000000"/>
                                    </a:solidFill>
                                    <a:effectLst/>
                                    <a:latin typeface="Cambria Math" panose="02040503050406030204" pitchFamily="18" charset="0"/>
                                    <a:ea typeface="Times New Roman" panose="02020603050405020304" pitchFamily="18" charset="0"/>
                                  </a:rPr>
                                  <m:t>2</m:t>
                                </m:r>
                              </m:den>
                            </m:f>
                            <m:r>
                              <a:rPr lang="vi-VN" sz="2000" i="1" kern="100">
                                <a:solidFill>
                                  <a:srgbClr val="000000"/>
                                </a:solidFill>
                                <a:effectLst/>
                                <a:latin typeface="Cambria Math" panose="02040503050406030204" pitchFamily="18" charset="0"/>
                                <a:ea typeface="Times New Roman" panose="02020603050405020304" pitchFamily="18" charset="0"/>
                              </a:rPr>
                              <m:t>𝑙𝑜𝑔</m:t>
                            </m:r>
                            <m:d>
                              <m:dPr>
                                <m:begChr m:val="|"/>
                                <m:endChr m:val="|"/>
                                <m:ctrlPr>
                                  <a:rPr lang="vi-VN" sz="2000" i="1" kern="100">
                                    <a:solidFill>
                                      <a:srgbClr val="000000"/>
                                    </a:solidFill>
                                    <a:effectLst/>
                                    <a:latin typeface="Cambria Math" panose="02040503050406030204" pitchFamily="18" charset="0"/>
                                    <a:ea typeface="Times New Roman" panose="02020603050405020304" pitchFamily="18" charset="0"/>
                                  </a:rPr>
                                </m:ctrlPr>
                              </m:dPr>
                              <m:e>
                                <m:r>
                                  <a:rPr lang="vi-VN" sz="2000" i="1" kern="100">
                                    <a:solidFill>
                                      <a:srgbClr val="000000"/>
                                    </a:solidFill>
                                    <a:effectLst/>
                                    <a:latin typeface="Cambria Math" panose="02040503050406030204" pitchFamily="18" charset="0"/>
                                    <a:ea typeface="Times New Roman" panose="02020603050405020304" pitchFamily="18" charset="0"/>
                                  </a:rPr>
                                  <m:t>1−</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3</m:t>
                                    </m:r>
                                    <m:r>
                                      <a:rPr lang="vi-VN" sz="2000" i="1" kern="100">
                                        <a:solidFill>
                                          <a:srgbClr val="000000"/>
                                        </a:solidFill>
                                        <a:effectLst/>
                                        <a:latin typeface="Cambria Math" panose="02040503050406030204" pitchFamily="18" charset="0"/>
                                        <a:ea typeface="Times New Roman" panose="02020603050405020304" pitchFamily="18" charset="0"/>
                                      </a:rPr>
                                      <m:t>𝛼</m:t>
                                    </m:r>
                                  </m:num>
                                  <m:den>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sSub>
                                          <m:sSubPr>
                                            <m:ctrlPr>
                                              <a:rPr lang="vi-VN" sz="2000" i="1" kern="100">
                                                <a:solidFill>
                                                  <a:srgbClr val="000000"/>
                                                </a:solidFill>
                                                <a:effectLst/>
                                                <a:latin typeface="Cambria Math" panose="02040503050406030204" pitchFamily="18" charset="0"/>
                                                <a:ea typeface="Times New Roman" panose="02020603050405020304" pitchFamily="18" charset="0"/>
                                              </a:rPr>
                                            </m:ctrlPr>
                                          </m:sSubPr>
                                          <m:e>
                                            <m:r>
                                              <a:rPr lang="vi-VN" sz="2000" i="1" kern="100">
                                                <a:solidFill>
                                                  <a:srgbClr val="000000"/>
                                                </a:solidFill>
                                                <a:effectLst/>
                                                <a:latin typeface="Cambria Math" panose="02040503050406030204" pitchFamily="18" charset="0"/>
                                                <a:ea typeface="Times New Roman" panose="02020603050405020304" pitchFamily="18" charset="0"/>
                                              </a:rPr>
                                              <m:t>4</m:t>
                                            </m:r>
                                            <m:r>
                                              <a:rPr lang="vi-VN" sz="2000" i="1" kern="100">
                                                <a:solidFill>
                                                  <a:srgbClr val="000000"/>
                                                </a:solidFill>
                                                <a:effectLst/>
                                                <a:latin typeface="Cambria Math" panose="02040503050406030204" pitchFamily="18" charset="0"/>
                                                <a:ea typeface="Times New Roman" panose="02020603050405020304" pitchFamily="18" charset="0"/>
                                              </a:rPr>
                                              <m:t>𝑘</m:t>
                                            </m:r>
                                          </m:e>
                                          <m:sub>
                                            <m:r>
                                              <a:rPr lang="vi-VN" sz="2000" i="1" kern="100">
                                                <a:solidFill>
                                                  <a:srgbClr val="000000"/>
                                                </a:solidFill>
                                                <a:effectLst/>
                                                <a:latin typeface="Cambria Math" panose="02040503050406030204" pitchFamily="18" charset="0"/>
                                                <a:ea typeface="Times New Roman" panose="02020603050405020304" pitchFamily="18" charset="0"/>
                                              </a:rPr>
                                              <m:t>𝑣</m:t>
                                            </m:r>
                                          </m:sub>
                                        </m:sSub>
                                      </m:e>
                                      <m:sup>
                                        <m:r>
                                          <a:rPr lang="vi-VN" sz="2000" i="1" kern="100">
                                            <a:solidFill>
                                              <a:srgbClr val="000000"/>
                                            </a:solidFill>
                                            <a:effectLst/>
                                            <a:latin typeface="Cambria Math" panose="02040503050406030204" pitchFamily="18" charset="0"/>
                                            <a:ea typeface="Times New Roman" panose="02020603050405020304" pitchFamily="18" charset="0"/>
                                          </a:rPr>
                                          <m:t>2</m:t>
                                        </m:r>
                                      </m:sup>
                                    </m:sSup>
                                  </m:den>
                                </m:f>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e>
                                  <m:sup>
                                    <m:r>
                                      <a:rPr lang="vi-VN" sz="2000" i="1" kern="100">
                                        <a:solidFill>
                                          <a:srgbClr val="000000"/>
                                        </a:solidFill>
                                        <a:effectLst/>
                                        <a:latin typeface="Cambria Math" panose="02040503050406030204" pitchFamily="18" charset="0"/>
                                        <a:ea typeface="Times New Roman" panose="02020603050405020304" pitchFamily="18" charset="0"/>
                                      </a:rPr>
                                      <m:t>2</m:t>
                                    </m:r>
                                  </m:sup>
                                </m:sSup>
                              </m:e>
                            </m:d>
                          </m:e>
                        </m:d>
                      </m:e>
                      <m:sub>
                        <m:r>
                          <a:rPr lang="vi-VN" sz="2000" kern="100">
                            <a:solidFill>
                              <a:srgbClr val="000000"/>
                            </a:solidFill>
                            <a:effectLst/>
                            <a:latin typeface="Cambria Math" panose="02040503050406030204" pitchFamily="18" charset="0"/>
                            <a:ea typeface="Times New Roman" panose="02020603050405020304" pitchFamily="18" charset="0"/>
                          </a:rPr>
                          <m:t>0.1</m:t>
                        </m:r>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sub>
                      <m:sup>
                        <m:r>
                          <a:rPr lang="vi-VN" sz="2000" kern="100">
                            <a:solidFill>
                              <a:srgbClr val="000000"/>
                            </a:solidFill>
                            <a:effectLst/>
                            <a:latin typeface="Cambria Math" panose="02040503050406030204" pitchFamily="18" charset="0"/>
                            <a:ea typeface="Times New Roman" panose="02020603050405020304" pitchFamily="18" charset="0"/>
                          </a:rPr>
                          <m:t>0.9</m:t>
                        </m:r>
                        <m:r>
                          <a:rPr lang="vi-VN" sz="2000" i="1" kern="100">
                            <a:solidFill>
                              <a:srgbClr val="000000"/>
                            </a:solidFill>
                            <a:effectLst/>
                            <a:latin typeface="Cambria Math" panose="02040503050406030204" pitchFamily="18" charset="0"/>
                            <a:ea typeface="Times New Roman" panose="02020603050405020304" pitchFamily="18" charset="0"/>
                          </a:rPr>
                          <m:t> </m:t>
                        </m:r>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sup>
                    </m:sSubSup>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6</m:t>
                        </m:r>
                      </m:num>
                      <m:den>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r>
                              <a:rPr lang="vi-VN" sz="2000" i="1" kern="100">
                                <a:solidFill>
                                  <a:srgbClr val="000000"/>
                                </a:solidFill>
                                <a:effectLst/>
                                <a:latin typeface="Cambria Math" panose="02040503050406030204" pitchFamily="18" charset="0"/>
                                <a:ea typeface="Times New Roman" panose="02020603050405020304" pitchFamily="18" charset="0"/>
                              </a:rPr>
                              <m:t>𝜔</m:t>
                            </m:r>
                          </m:e>
                          <m:sup>
                            <m:r>
                              <a:rPr lang="vi-VN" sz="2000" i="1" kern="100">
                                <a:solidFill>
                                  <a:srgbClr val="000000"/>
                                </a:solidFill>
                                <a:effectLst/>
                                <a:latin typeface="Cambria Math" panose="02040503050406030204" pitchFamily="18" charset="0"/>
                                <a:ea typeface="Times New Roman" panose="02020603050405020304" pitchFamily="18" charset="0"/>
                              </a:rPr>
                              <m:t>∗</m:t>
                            </m:r>
                          </m:sup>
                        </m:sSup>
                        <m:r>
                          <a:rPr lang="vi-VN" sz="2000" i="1" kern="100">
                            <a:solidFill>
                              <a:srgbClr val="000000"/>
                            </a:solidFill>
                            <a:effectLst/>
                            <a:latin typeface="Cambria Math" panose="02040503050406030204" pitchFamily="18" charset="0"/>
                            <a:ea typeface="Times New Roman" panose="02020603050405020304" pitchFamily="18" charset="0"/>
                          </a:rPr>
                          <m:t>𝜀𝜎</m:t>
                        </m:r>
                      </m:den>
                    </m:f>
                  </m:oMath>
                </a14:m>
                <a:r>
                  <a:rPr lang="vi-VN" sz="2000" kern="100">
                    <a:solidFill>
                      <a:srgbClr val="000000"/>
                    </a:solidFill>
                    <a:effectLst/>
                    <a:latin typeface="Times New Roman" panose="02020603050405020304" pitchFamily="18" charset="0"/>
                    <a:ea typeface="Times New Roman" panose="02020603050405020304" pitchFamily="18" charset="0"/>
                  </a:rPr>
                  <a:t>	</a:t>
                </a:r>
              </a:p>
            </p:txBody>
          </p:sp>
        </mc:Choice>
        <mc:Fallback xmlns="">
          <p:sp>
            <p:nvSpPr>
              <p:cNvPr id="6" name="Hộp Văn bản 5">
                <a:extLst>
                  <a:ext uri="{FF2B5EF4-FFF2-40B4-BE49-F238E27FC236}">
                    <a16:creationId xmlns:a16="http://schemas.microsoft.com/office/drawing/2014/main" id="{F4F1FEAD-94AC-95D0-5ECF-5798E84111A8}"/>
                  </a:ext>
                </a:extLst>
              </p:cNvPr>
              <p:cNvSpPr txBox="1">
                <a:spLocks noRot="1" noChangeAspect="1" noMove="1" noResize="1" noEditPoints="1" noAdjustHandles="1" noChangeArrowheads="1" noChangeShapeType="1" noTextEdit="1"/>
              </p:cNvSpPr>
              <p:nvPr/>
            </p:nvSpPr>
            <p:spPr>
              <a:xfrm>
                <a:off x="413529" y="1406824"/>
                <a:ext cx="11656292" cy="4568110"/>
              </a:xfrm>
              <a:prstGeom prst="rect">
                <a:avLst/>
              </a:prstGeom>
              <a:blipFill>
                <a:blip r:embed="rId3"/>
                <a:stretch>
                  <a:fillRect l="-471" r="-1046"/>
                </a:stretch>
              </a:blipFill>
            </p:spPr>
            <p:txBody>
              <a:bodyPr/>
              <a:lstStyle/>
              <a:p>
                <a:r>
                  <a:rPr lang="vi-VN">
                    <a:noFill/>
                  </a:rPr>
                  <a:t> </a:t>
                </a:r>
              </a:p>
            </p:txBody>
          </p:sp>
        </mc:Fallback>
      </mc:AlternateContent>
    </p:spTree>
    <p:extLst>
      <p:ext uri="{BB962C8B-B14F-4D97-AF65-F5344CB8AC3E}">
        <p14:creationId xmlns:p14="http://schemas.microsoft.com/office/powerpoint/2010/main" val="260533080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97AE5-DFAB-6F12-F621-D9038279C29A}"/>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2E6551D-C7D6-BD94-67A8-69AADB8FD789}"/>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95739816-7120-AFEF-AA64-6E61E1A9C2F9}"/>
              </a:ext>
            </a:extLst>
          </p:cNvPr>
          <p:cNvSpPr>
            <a:spLocks noGrp="1"/>
          </p:cNvSpPr>
          <p:nvPr>
            <p:ph type="sldNum" sz="quarter" idx="12"/>
          </p:nvPr>
        </p:nvSpPr>
        <p:spPr/>
        <p:txBody>
          <a:bodyPr/>
          <a:lstStyle/>
          <a:p>
            <a:fld id="{931DD963-FD40-4A6D-88A9-402A489E81DE}" type="slidenum">
              <a:rPr lang="en-US" smtClean="0"/>
              <a:t>79</a:t>
            </a:fld>
            <a:endParaRPr lang="en-US"/>
          </a:p>
        </p:txBody>
      </p:sp>
      <p:grpSp>
        <p:nvGrpSpPr>
          <p:cNvPr id="10" name="Group 9">
            <a:extLst>
              <a:ext uri="{FF2B5EF4-FFF2-40B4-BE49-F238E27FC236}">
                <a16:creationId xmlns:a16="http://schemas.microsoft.com/office/drawing/2014/main" id="{5A723306-D56A-44A7-EAD7-831879817E0C}"/>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0D495C4E-803F-E57C-9372-47BE14C88A9B}"/>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29A6D2AD-EDAC-3266-24E1-929CA81A9E5D}"/>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D5C21BB-231C-C516-29E5-730D802C027E}"/>
                  </a:ext>
                </a:extLst>
              </p:cNvPr>
              <p:cNvSpPr txBox="1"/>
              <p:nvPr/>
            </p:nvSpPr>
            <p:spPr>
              <a:xfrm>
                <a:off x="413529" y="963293"/>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4.2. </a:t>
                </a:r>
                <a:r>
                  <a:rPr lang="vi-VN" sz="2000" b="1">
                    <a:solidFill>
                      <a:prstClr val="black"/>
                    </a:solidFill>
                    <a:latin typeface="Times New Roman" panose="02020603050405020304" pitchFamily="18" charset="0"/>
                    <a:cs typeface="Times New Roman" panose="02020603050405020304" pitchFamily="18" charset="0"/>
                  </a:rPr>
                  <a:t>Phân tích mối quan hệ thời gian đáp ứng </a:t>
                </a:r>
                <a14:m>
                  <m:oMath xmlns:m="http://schemas.openxmlformats.org/officeDocument/2006/math">
                    <m:sSub>
                      <m:sSubPr>
                        <m:ctrlPr>
                          <a:rPr lang="vi-VN" sz="2000" b="1" i="0">
                            <a:solidFill>
                              <a:prstClr val="black"/>
                            </a:solidFill>
                            <a:latin typeface="Cambria Math" panose="02040503050406030204" pitchFamily="18" charset="0"/>
                            <a:cs typeface="Times New Roman" panose="02020603050405020304" pitchFamily="18" charset="0"/>
                          </a:rPr>
                        </m:ctrlPr>
                      </m:sSubPr>
                      <m:e>
                        <m:r>
                          <a:rPr lang="vi-VN" sz="2000" b="1" i="0">
                            <a:solidFill>
                              <a:prstClr val="black"/>
                            </a:solidFill>
                            <a:latin typeface="Cambria Math" panose="02040503050406030204" pitchFamily="18" charset="0"/>
                            <a:cs typeface="Times New Roman" panose="02020603050405020304" pitchFamily="18" charset="0"/>
                          </a:rPr>
                          <m:t>𝐭</m:t>
                        </m:r>
                      </m:e>
                      <m:sub>
                        <m:r>
                          <a:rPr lang="vi-VN" sz="2000" b="1" i="0">
                            <a:solidFill>
                              <a:prstClr val="black"/>
                            </a:solidFill>
                            <a:latin typeface="Cambria Math" panose="02040503050406030204" pitchFamily="18" charset="0"/>
                            <a:cs typeface="Times New Roman" panose="02020603050405020304" pitchFamily="18" charset="0"/>
                          </a:rPr>
                          <m:t>𝐫𝐢𝐬𝐞</m:t>
                        </m:r>
                      </m:sub>
                    </m:sSub>
                  </m:oMath>
                </a14:m>
                <a:r>
                  <a:rPr lang="vi-VN" sz="2000" b="1">
                    <a:solidFill>
                      <a:prstClr val="black"/>
                    </a:solidFill>
                    <a:latin typeface="Times New Roman" panose="02020603050405020304" pitchFamily="18" charset="0"/>
                    <a:cs typeface="Times New Roman" panose="02020603050405020304" pitchFamily="18" charset="0"/>
                  </a:rPr>
                  <a:t> và hài bậc 3 </a:t>
                </a:r>
                <a14:m>
                  <m:oMath xmlns:m="http://schemas.openxmlformats.org/officeDocument/2006/math">
                    <m:sSub>
                      <m:sSubPr>
                        <m:ctrlPr>
                          <a:rPr lang="vi-V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vi-V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𝜸</m:t>
                        </m:r>
                      </m:e>
                      <m:sub>
                        <m:r>
                          <a:rPr lang="vi-V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m:t>
                        </m:r>
                      </m:sub>
                    </m:sSub>
                  </m:oMath>
                </a14:m>
                <a:endParaRPr lang="en-US" sz="2000" b="1">
                  <a:solidFill>
                    <a:prstClr val="black"/>
                  </a:solidFill>
                  <a:latin typeface="Times New Roman" panose="020206030504050203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6D5C21BB-231C-C516-29E5-730D802C027E}"/>
                  </a:ext>
                </a:extLst>
              </p:cNvPr>
              <p:cNvSpPr txBox="1">
                <a:spLocks noRot="1" noChangeAspect="1" noMove="1" noResize="1" noEditPoints="1" noAdjustHandles="1" noChangeArrowheads="1" noChangeShapeType="1" noTextEdit="1"/>
              </p:cNvSpPr>
              <p:nvPr/>
            </p:nvSpPr>
            <p:spPr>
              <a:xfrm>
                <a:off x="413529" y="963293"/>
                <a:ext cx="7463708" cy="400110"/>
              </a:xfrm>
              <a:prstGeom prst="rect">
                <a:avLst/>
              </a:prstGeom>
              <a:blipFill>
                <a:blip r:embed="rId2"/>
                <a:stretch>
                  <a:fillRect l="-899" t="-7576" b="-2575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 name="Hộp Văn bản 4">
                <a:extLst>
                  <a:ext uri="{FF2B5EF4-FFF2-40B4-BE49-F238E27FC236}">
                    <a16:creationId xmlns:a16="http://schemas.microsoft.com/office/drawing/2014/main" id="{0B4455DB-8D4C-C5E9-301C-F990A8B7B017}"/>
                  </a:ext>
                </a:extLst>
              </p:cNvPr>
              <p:cNvSpPr txBox="1"/>
              <p:nvPr/>
            </p:nvSpPr>
            <p:spPr>
              <a:xfrm>
                <a:off x="349352" y="1363403"/>
                <a:ext cx="11656292" cy="4495718"/>
              </a:xfrm>
              <a:prstGeom prst="rect">
                <a:avLst/>
              </a:prstGeom>
              <a:noFill/>
            </p:spPr>
            <p:txBody>
              <a:bodyPr wrap="square">
                <a:spAutoFit/>
              </a:bodyPr>
              <a:lstStyle/>
              <a:p>
                <a:pPr marL="285750" indent="-285750">
                  <a:buFontTx/>
                  <a:buChar char="-"/>
                </a:pPr>
                <a:r>
                  <a:rPr lang="vi-VN" sz="2000" kern="100">
                    <a:solidFill>
                      <a:srgbClr val="000000"/>
                    </a:solidFill>
                    <a:effectLst/>
                    <a:latin typeface="Times New Roman" panose="02020603050405020304" pitchFamily="18" charset="0"/>
                    <a:ea typeface="Times New Roman" panose="02020603050405020304" pitchFamily="18" charset="0"/>
                  </a:rPr>
                  <a:t>Đối với </a:t>
                </a:r>
                <a:r>
                  <a:rPr lang="vi-VN" sz="2000" kern="100" err="1">
                    <a:solidFill>
                      <a:srgbClr val="000000"/>
                    </a:solidFill>
                    <a:effectLst/>
                    <a:latin typeface="Times New Roman" panose="02020603050405020304" pitchFamily="18" charset="0"/>
                    <a:ea typeface="Times New Roman" panose="02020603050405020304" pitchFamily="18" charset="0"/>
                  </a:rPr>
                  <a:t>Hopf</a:t>
                </a:r>
                <a:r>
                  <a:rPr lang="vi-VN" sz="2000" kern="100">
                    <a:solidFill>
                      <a:srgbClr val="000000"/>
                    </a:solidFill>
                    <a:effectLst/>
                    <a:latin typeface="Times New Roman" panose="02020603050405020304" pitchFamily="18" charset="0"/>
                    <a:ea typeface="Times New Roman" panose="02020603050405020304" pitchFamily="18" charset="0"/>
                  </a:rPr>
                  <a:t>: giá trị hài bậc 3 </a:t>
                </a:r>
                <a14:m>
                  <m:oMath xmlns:m="http://schemas.openxmlformats.org/officeDocument/2006/math">
                    <m:sSub>
                      <m:sSubPr>
                        <m:ctrlPr>
                          <a:rPr lang="vi-V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vi-V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𝜸</m:t>
                        </m:r>
                      </m:e>
                      <m:sub>
                        <m:r>
                          <a:rPr lang="vi-V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m:t>
                        </m:r>
                      </m:sub>
                    </m:sSub>
                  </m:oMath>
                </a14:m>
                <a:r>
                  <a:rPr lang="vi-VN" sz="2000" kern="100">
                    <a:solidFill>
                      <a:srgbClr val="000000"/>
                    </a:solidFill>
                    <a:effectLst/>
                    <a:latin typeface="Times New Roman" panose="02020603050405020304" pitchFamily="18" charset="0"/>
                    <a:ea typeface="Times New Roman" panose="02020603050405020304" pitchFamily="18" charset="0"/>
                  </a:rPr>
                  <a:t> = 0</a:t>
                </a:r>
                <a:r>
                  <a:rPr lang="vi-VN" sz="2000"/>
                  <a:t>.</a:t>
                </a:r>
              </a:p>
              <a:p>
                <a:pPr marL="285750" indent="-285750">
                  <a:buFontTx/>
                  <a:buChar char="-"/>
                </a:pPr>
                <a:r>
                  <a:rPr lang="vi-VN" sz="2000" kern="100">
                    <a:solidFill>
                      <a:srgbClr val="000000"/>
                    </a:solidFill>
                    <a:effectLst/>
                    <a:latin typeface="+mj-lt"/>
                    <a:ea typeface="Times New Roman" panose="02020603050405020304" pitchFamily="18" charset="0"/>
                  </a:rPr>
                  <a:t>Về thời gian đáp ứng </a:t>
                </a:r>
                <a14:m>
                  <m:oMath xmlns:m="http://schemas.openxmlformats.org/officeDocument/2006/math">
                    <m:sSub>
                      <m:sSubPr>
                        <m:ctrlPr>
                          <a:rPr lang="vi-VN" sz="2000" i="1" kern="100">
                            <a:solidFill>
                              <a:srgbClr val="000000"/>
                            </a:solidFill>
                            <a:latin typeface="Cambria Math" panose="02040503050406030204" pitchFamily="18" charset="0"/>
                          </a:rPr>
                        </m:ctrlPr>
                      </m:sSubPr>
                      <m:e>
                        <m:r>
                          <m:rPr>
                            <m:sty m:val="p"/>
                          </m:rPr>
                          <a:rPr lang="vi-VN" sz="2000" i="1" kern="100">
                            <a:solidFill>
                              <a:srgbClr val="000000"/>
                            </a:solidFill>
                            <a:latin typeface="Cambria Math" panose="02040503050406030204" pitchFamily="18" charset="0"/>
                          </a:rPr>
                          <m:t>t</m:t>
                        </m:r>
                      </m:e>
                      <m:sub>
                        <m:r>
                          <m:rPr>
                            <m:sty m:val="p"/>
                          </m:rPr>
                          <a:rPr lang="vi-VN" sz="2000" i="1" kern="100">
                            <a:solidFill>
                              <a:srgbClr val="000000"/>
                            </a:solidFill>
                            <a:latin typeface="Cambria Math" panose="02040503050406030204" pitchFamily="18" charset="0"/>
                          </a:rPr>
                          <m:t>rise</m:t>
                        </m:r>
                      </m:sub>
                    </m:sSub>
                  </m:oMath>
                </a14:m>
                <a:r>
                  <a:rPr lang="vi-VN" sz="2000" kern="100">
                    <a:solidFill>
                      <a:srgbClr val="000000"/>
                    </a:solidFill>
                    <a:effectLst/>
                    <a:latin typeface="+mj-lt"/>
                    <a:ea typeface="Times New Roman" panose="02020603050405020304" pitchFamily="18" charset="0"/>
                  </a:rPr>
                  <a:t>, ta tiến hành phân tích:</a:t>
                </a:r>
              </a:p>
              <a:p>
                <a:pPr marL="205740" indent="-6350" algn="just">
                  <a:lnSpc>
                    <a:spcPct val="150000"/>
                  </a:lnSpc>
                  <a:spcBef>
                    <a:spcPts val="1200"/>
                  </a:spcBef>
                  <a:spcAft>
                    <a:spcPts val="25"/>
                  </a:spcAft>
                </a:pPr>
                <a14:m>
                  <m:oMathPara xmlns:m="http://schemas.openxmlformats.org/officeDocument/2006/math">
                    <m:oMath>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acc>
                            <m:accPr>
                              <m:chr m:val="̅"/>
                              <m:ctrlPr>
                                <a:rPr lang="en-US" sz="2000" i="1" kern="100">
                                  <a:solidFill>
                                    <a:srgbClr val="000000"/>
                                  </a:solidFill>
                                  <a:effectLst/>
                                  <a:latin typeface="Cambria Math" panose="02040503050406030204" pitchFamily="18" charset="0"/>
                                  <a:ea typeface="Times New Roman" panose="02020603050405020304" pitchFamily="18" charset="0"/>
                                </a:rPr>
                              </m:ctrlPr>
                            </m:accPr>
                            <m:e>
                              <m:r>
                                <a:rPr lang="en-US" sz="2000" i="1" kern="100">
                                  <a:solidFill>
                                    <a:srgbClr val="000000"/>
                                  </a:solidFill>
                                  <a:effectLst/>
                                  <a:latin typeface="Cambria Math" panose="02040503050406030204" pitchFamily="18" charset="0"/>
                                  <a:ea typeface="Times New Roman" panose="02020603050405020304" pitchFamily="18" charset="0"/>
                                </a:rPr>
                                <m:t>𝑉</m:t>
                              </m:r>
                            </m:e>
                          </m:acc>
                        </m:e>
                      </m:acc>
                      <m:r>
                        <a:rPr lang="en-US"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r>
                                <a:rPr lang="vi-VN" sz="2000" i="1" kern="100">
                                  <a:solidFill>
                                    <a:srgbClr val="000000"/>
                                  </a:solidFill>
                                  <a:effectLst/>
                                  <a:latin typeface="Cambria Math" panose="02040503050406030204" pitchFamily="18" charset="0"/>
                                  <a:ea typeface="Times New Roman" panose="02020603050405020304" pitchFamily="18" charset="0"/>
                                </a:rPr>
                                <m:t>𝑉</m:t>
                              </m:r>
                            </m:e>
                            <m:sup>
                              <m:r>
                                <a:rPr lang="vi-VN" sz="2000" i="1" kern="100">
                                  <a:solidFill>
                                    <a:srgbClr val="000000"/>
                                  </a:solidFill>
                                  <a:effectLst/>
                                  <a:latin typeface="Cambria Math" panose="02040503050406030204" pitchFamily="18" charset="0"/>
                                  <a:ea typeface="Times New Roman" panose="02020603050405020304" pitchFamily="18" charset="0"/>
                                </a:rPr>
                                <m:t>2</m:t>
                              </m:r>
                            </m:sup>
                          </m:sSup>
                          <m:r>
                            <a:rPr lang="vi-VN" sz="2000" i="1" kern="100">
                              <a:solidFill>
                                <a:srgbClr val="000000"/>
                              </a:solidFill>
                              <a:effectLst/>
                              <a:latin typeface="Cambria Math" panose="02040503050406030204" pitchFamily="18" charset="0"/>
                              <a:ea typeface="Times New Roman" panose="02020603050405020304" pitchFamily="18" charset="0"/>
                            </a:rPr>
                            <m:t>𝜇</m:t>
                          </m:r>
                        </m:num>
                        <m:den>
                          <m:r>
                            <a:rPr lang="vi-VN" sz="2000" i="1" kern="100">
                              <a:solidFill>
                                <a:srgbClr val="000000"/>
                              </a:solidFill>
                              <a:effectLst/>
                              <a:latin typeface="Cambria Math" panose="02040503050406030204" pitchFamily="18" charset="0"/>
                              <a:ea typeface="Times New Roman" panose="02020603050405020304" pitchFamily="18" charset="0"/>
                            </a:rPr>
                            <m:t>2</m:t>
                          </m:r>
                        </m:den>
                      </m:f>
                      <m:r>
                        <a:rPr lang="vi-VN" sz="2000" i="1" kern="100">
                          <a:solidFill>
                            <a:srgbClr val="000000"/>
                          </a:solidFill>
                          <a:effectLst/>
                          <a:latin typeface="Cambria Math" panose="02040503050406030204" pitchFamily="18" charset="0"/>
                          <a:ea typeface="Times New Roman" panose="02020603050405020304" pitchFamily="18" charset="0"/>
                        </a:rPr>
                        <m:t>.</m:t>
                      </m:r>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r>
                                <a:rPr lang="vi-VN" sz="2000" i="1" kern="100">
                                  <a:solidFill>
                                    <a:srgbClr val="000000"/>
                                  </a:solidFill>
                                  <a:effectLst/>
                                  <a:latin typeface="Cambria Math" panose="02040503050406030204" pitchFamily="18" charset="0"/>
                                  <a:ea typeface="Times New Roman" panose="02020603050405020304" pitchFamily="18" charset="0"/>
                                </a:rPr>
                                <m:t>𝑉</m:t>
                              </m:r>
                            </m:e>
                            <m:sup>
                              <m:r>
                                <a:rPr lang="vi-VN" sz="2000" i="1" kern="100">
                                  <a:solidFill>
                                    <a:srgbClr val="000000"/>
                                  </a:solidFill>
                                  <a:effectLst/>
                                  <a:latin typeface="Cambria Math" panose="02040503050406030204" pitchFamily="18" charset="0"/>
                                  <a:ea typeface="Times New Roman" panose="02020603050405020304" pitchFamily="18" charset="0"/>
                                </a:rPr>
                                <m:t>∗</m:t>
                              </m:r>
                            </m:sup>
                          </m:sSup>
                        </m:e>
                        <m:sup>
                          <m:r>
                            <a:rPr lang="vi-VN" sz="2000" i="1" kern="100">
                              <a:solidFill>
                                <a:srgbClr val="000000"/>
                              </a:solidFill>
                              <a:effectLst/>
                              <a:latin typeface="Cambria Math" panose="02040503050406030204" pitchFamily="18" charset="0"/>
                              <a:ea typeface="Times New Roman" panose="02020603050405020304" pitchFamily="18" charset="0"/>
                            </a:rPr>
                            <m:t>2</m:t>
                          </m:r>
                        </m:sup>
                      </m:sSup>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𝜇</m:t>
                          </m:r>
                        </m:num>
                        <m:den>
                          <m:r>
                            <a:rPr lang="vi-VN" sz="2000" i="1" kern="100">
                              <a:solidFill>
                                <a:srgbClr val="000000"/>
                              </a:solidFill>
                              <a:effectLst/>
                              <a:latin typeface="Cambria Math" panose="02040503050406030204" pitchFamily="18" charset="0"/>
                              <a:ea typeface="Times New Roman" panose="02020603050405020304" pitchFamily="18" charset="0"/>
                            </a:rPr>
                            <m:t>2</m:t>
                          </m:r>
                        </m:den>
                      </m:f>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e>
                        <m:sup>
                          <m:r>
                            <a:rPr lang="vi-VN" sz="2000" i="1" kern="100">
                              <a:solidFill>
                                <a:srgbClr val="000000"/>
                              </a:solidFill>
                              <a:effectLst/>
                              <a:latin typeface="Cambria Math" panose="02040503050406030204" pitchFamily="18" charset="0"/>
                              <a:ea typeface="Times New Roman" panose="02020603050405020304" pitchFamily="18" charset="0"/>
                            </a:rPr>
                            <m:t>3</m:t>
                          </m:r>
                        </m:sup>
                      </m:sSup>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𝑘</m:t>
                          </m:r>
                        </m:num>
                        <m:den>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den>
                      </m:f>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𝑃</m:t>
                          </m:r>
                        </m:e>
                      </m:acc>
                    </m:oMath>
                  </m:oMathPara>
                </a14:m>
                <a:endParaRPr lang="vi-VN" sz="2000" kern="100">
                  <a:solidFill>
                    <a:srgbClr val="000000"/>
                  </a:solidFill>
                  <a:effectLst/>
                  <a:latin typeface="Times New Roman" panose="02020603050405020304" pitchFamily="18" charset="0"/>
                  <a:ea typeface="Times New Roman" panose="02020603050405020304" pitchFamily="18" charset="0"/>
                </a:endParaRPr>
              </a:p>
              <a:p>
                <a:pPr marL="205740" indent="-6350" algn="just">
                  <a:lnSpc>
                    <a:spcPct val="150000"/>
                  </a:lnSpc>
                  <a:spcBef>
                    <a:spcPts val="1200"/>
                  </a:spcBef>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Coi </a:t>
                </a:r>
                <a14:m>
                  <m:oMath xmlns:m="http://schemas.openxmlformats.org/officeDocument/2006/math">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𝑃</m:t>
                        </m:r>
                      </m:e>
                    </m:acc>
                    <m:r>
                      <a:rPr lang="vi-VN" sz="2000" i="1" kern="100">
                        <a:solidFill>
                          <a:srgbClr val="000000"/>
                        </a:solidFill>
                        <a:effectLst/>
                        <a:latin typeface="Cambria Math" panose="02040503050406030204" pitchFamily="18" charset="0"/>
                        <a:ea typeface="Times New Roman" panose="02020603050405020304" pitchFamily="18" charset="0"/>
                      </a:rPr>
                      <m:t>=0, </m:t>
                    </m:r>
                  </m:oMath>
                </a14:m>
                <a:r>
                  <a:rPr lang="vi-VN" sz="2000" kern="100">
                    <a:solidFill>
                      <a:srgbClr val="000000"/>
                    </a:solidFill>
                    <a:effectLst/>
                    <a:latin typeface="Times New Roman" panose="02020603050405020304" pitchFamily="18" charset="0"/>
                    <a:ea typeface="Times New Roman" panose="02020603050405020304" pitchFamily="18" charset="0"/>
                  </a:rPr>
                  <a:t>ta thu được: 	</a:t>
                </a:r>
                <a14:m>
                  <m:oMath xmlns:m="http://schemas.openxmlformats.org/officeDocument/2006/math">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e>
                    </m:acc>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r>
                              <a:rPr lang="vi-VN" sz="2000" i="1" kern="100">
                                <a:solidFill>
                                  <a:srgbClr val="000000"/>
                                </a:solidFill>
                                <a:effectLst/>
                                <a:latin typeface="Cambria Math" panose="02040503050406030204" pitchFamily="18" charset="0"/>
                                <a:ea typeface="Times New Roman" panose="02020603050405020304" pitchFamily="18" charset="0"/>
                              </a:rPr>
                              <m:t>𝑉</m:t>
                            </m:r>
                          </m:e>
                          <m:sup>
                            <m:r>
                              <a:rPr lang="vi-VN" sz="2000" i="1" kern="100">
                                <a:solidFill>
                                  <a:srgbClr val="000000"/>
                                </a:solidFill>
                                <a:effectLst/>
                                <a:latin typeface="Cambria Math" panose="02040503050406030204" pitchFamily="18" charset="0"/>
                                <a:ea typeface="Times New Roman" panose="02020603050405020304" pitchFamily="18" charset="0"/>
                              </a:rPr>
                              <m:t>2</m:t>
                            </m:r>
                          </m:sup>
                        </m:sSup>
                        <m:r>
                          <a:rPr lang="vi-VN" sz="2000" i="1" kern="100">
                            <a:solidFill>
                              <a:srgbClr val="000000"/>
                            </a:solidFill>
                            <a:effectLst/>
                            <a:latin typeface="Cambria Math" panose="02040503050406030204" pitchFamily="18" charset="0"/>
                            <a:ea typeface="Times New Roman" panose="02020603050405020304" pitchFamily="18" charset="0"/>
                          </a:rPr>
                          <m:t>𝜇</m:t>
                        </m:r>
                      </m:num>
                      <m:den>
                        <m:r>
                          <a:rPr lang="vi-VN" sz="2000" i="1" kern="100">
                            <a:solidFill>
                              <a:srgbClr val="000000"/>
                            </a:solidFill>
                            <a:effectLst/>
                            <a:latin typeface="Cambria Math" panose="02040503050406030204" pitchFamily="18" charset="0"/>
                            <a:ea typeface="Times New Roman" panose="02020603050405020304" pitchFamily="18" charset="0"/>
                          </a:rPr>
                          <m:t>2</m:t>
                        </m:r>
                      </m:den>
                    </m:f>
                    <m:r>
                      <a:rPr lang="vi-VN" sz="2000" i="1" kern="100">
                        <a:solidFill>
                          <a:srgbClr val="000000"/>
                        </a:solidFill>
                        <a:effectLst/>
                        <a:latin typeface="Cambria Math" panose="02040503050406030204" pitchFamily="18" charset="0"/>
                        <a:ea typeface="Times New Roman" panose="02020603050405020304" pitchFamily="18" charset="0"/>
                      </a:rPr>
                      <m:t>.</m:t>
                    </m:r>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r>
                              <a:rPr lang="vi-VN" sz="2000" i="1" kern="100">
                                <a:solidFill>
                                  <a:srgbClr val="000000"/>
                                </a:solidFill>
                                <a:effectLst/>
                                <a:latin typeface="Cambria Math" panose="02040503050406030204" pitchFamily="18" charset="0"/>
                                <a:ea typeface="Times New Roman" panose="02020603050405020304" pitchFamily="18" charset="0"/>
                              </a:rPr>
                              <m:t>𝑉</m:t>
                            </m:r>
                          </m:e>
                          <m:sup>
                            <m:r>
                              <a:rPr lang="vi-VN" sz="2000" i="1" kern="100">
                                <a:solidFill>
                                  <a:srgbClr val="000000"/>
                                </a:solidFill>
                                <a:effectLst/>
                                <a:latin typeface="Cambria Math" panose="02040503050406030204" pitchFamily="18" charset="0"/>
                                <a:ea typeface="Times New Roman" panose="02020603050405020304" pitchFamily="18" charset="0"/>
                              </a:rPr>
                              <m:t>∗</m:t>
                            </m:r>
                          </m:sup>
                        </m:sSup>
                      </m:e>
                      <m:sup>
                        <m:r>
                          <a:rPr lang="vi-VN" sz="2000" i="1" kern="100">
                            <a:solidFill>
                              <a:srgbClr val="000000"/>
                            </a:solidFill>
                            <a:effectLst/>
                            <a:latin typeface="Cambria Math" panose="02040503050406030204" pitchFamily="18" charset="0"/>
                            <a:ea typeface="Times New Roman" panose="02020603050405020304" pitchFamily="18" charset="0"/>
                          </a:rPr>
                          <m:t>2</m:t>
                        </m:r>
                      </m:sup>
                    </m:sSup>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𝜇</m:t>
                        </m:r>
                      </m:num>
                      <m:den>
                        <m:r>
                          <a:rPr lang="vi-VN" sz="2000" i="1" kern="100">
                            <a:solidFill>
                              <a:srgbClr val="000000"/>
                            </a:solidFill>
                            <a:effectLst/>
                            <a:latin typeface="Cambria Math" panose="02040503050406030204" pitchFamily="18" charset="0"/>
                            <a:ea typeface="Times New Roman" panose="02020603050405020304" pitchFamily="18" charset="0"/>
                          </a:rPr>
                          <m:t>2</m:t>
                        </m:r>
                      </m:den>
                    </m:f>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e>
                      <m:sup>
                        <m:r>
                          <a:rPr lang="vi-VN" sz="2000" i="1" kern="100">
                            <a:solidFill>
                              <a:srgbClr val="000000"/>
                            </a:solidFill>
                            <a:effectLst/>
                            <a:latin typeface="Cambria Math" panose="02040503050406030204" pitchFamily="18" charset="0"/>
                            <a:ea typeface="Times New Roman" panose="02020603050405020304" pitchFamily="18" charset="0"/>
                          </a:rPr>
                          <m:t>3</m:t>
                        </m:r>
                      </m:sup>
                    </m:sSup>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𝑑</m:t>
                        </m:r>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num>
                      <m:den>
                        <m:r>
                          <a:rPr lang="vi-VN" sz="2000" i="1" kern="100">
                            <a:solidFill>
                              <a:srgbClr val="000000"/>
                            </a:solidFill>
                            <a:effectLst/>
                            <a:latin typeface="Cambria Math" panose="02040503050406030204" pitchFamily="18" charset="0"/>
                            <a:ea typeface="Times New Roman" panose="02020603050405020304" pitchFamily="18" charset="0"/>
                          </a:rPr>
                          <m:t>𝑑𝑡</m:t>
                        </m:r>
                      </m:den>
                    </m:f>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r>
                                  <a:rPr lang="vi-VN" sz="2000" i="1" kern="100">
                                    <a:solidFill>
                                      <a:srgbClr val="000000"/>
                                    </a:solidFill>
                                    <a:effectLst/>
                                    <a:latin typeface="Cambria Math" panose="02040503050406030204" pitchFamily="18" charset="0"/>
                                    <a:ea typeface="Times New Roman" panose="02020603050405020304" pitchFamily="18" charset="0"/>
                                  </a:rPr>
                                  <m:t>𝑉</m:t>
                                </m:r>
                              </m:e>
                              <m:sup>
                                <m:r>
                                  <a:rPr lang="vi-VN" sz="2000" i="1" kern="100">
                                    <a:solidFill>
                                      <a:srgbClr val="000000"/>
                                    </a:solidFill>
                                    <a:effectLst/>
                                    <a:latin typeface="Cambria Math" panose="02040503050406030204" pitchFamily="18" charset="0"/>
                                    <a:ea typeface="Times New Roman" panose="02020603050405020304" pitchFamily="18" charset="0"/>
                                  </a:rPr>
                                  <m:t>∗</m:t>
                                </m:r>
                              </m:sup>
                            </m:sSup>
                          </m:e>
                          <m:sup>
                            <m:r>
                              <a:rPr lang="vi-VN" sz="2000" i="1" kern="100">
                                <a:solidFill>
                                  <a:srgbClr val="000000"/>
                                </a:solidFill>
                                <a:effectLst/>
                                <a:latin typeface="Cambria Math" panose="02040503050406030204" pitchFamily="18" charset="0"/>
                                <a:ea typeface="Times New Roman" panose="02020603050405020304" pitchFamily="18" charset="0"/>
                              </a:rPr>
                              <m:t>2</m:t>
                            </m:r>
                          </m:sup>
                        </m:sSup>
                        <m:r>
                          <a:rPr lang="vi-VN" sz="2000" i="1" kern="100">
                            <a:solidFill>
                              <a:srgbClr val="000000"/>
                            </a:solidFill>
                            <a:effectLst/>
                            <a:latin typeface="Cambria Math" panose="02040503050406030204" pitchFamily="18" charset="0"/>
                            <a:ea typeface="Times New Roman" panose="02020603050405020304" pitchFamily="18" charset="0"/>
                          </a:rPr>
                          <m:t>𝜇</m:t>
                        </m:r>
                      </m:num>
                      <m:den>
                        <m:r>
                          <a:rPr lang="vi-VN" sz="2000" i="1" kern="100">
                            <a:solidFill>
                              <a:srgbClr val="000000"/>
                            </a:solidFill>
                            <a:effectLst/>
                            <a:latin typeface="Cambria Math" panose="02040503050406030204" pitchFamily="18" charset="0"/>
                            <a:ea typeface="Times New Roman" panose="02020603050405020304" pitchFamily="18" charset="0"/>
                          </a:rPr>
                          <m:t>2</m:t>
                        </m:r>
                      </m:den>
                    </m:f>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𝜇</m:t>
                        </m:r>
                      </m:num>
                      <m:den>
                        <m:r>
                          <a:rPr lang="vi-VN" sz="2000" i="1" kern="100">
                            <a:solidFill>
                              <a:srgbClr val="000000"/>
                            </a:solidFill>
                            <a:effectLst/>
                            <a:latin typeface="Cambria Math" panose="02040503050406030204" pitchFamily="18" charset="0"/>
                            <a:ea typeface="Times New Roman" panose="02020603050405020304" pitchFamily="18" charset="0"/>
                          </a:rPr>
                          <m:t>2</m:t>
                        </m:r>
                      </m:den>
                    </m:f>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e>
                      <m:sup>
                        <m:r>
                          <a:rPr lang="vi-VN" sz="2000" i="1" kern="100">
                            <a:solidFill>
                              <a:srgbClr val="000000"/>
                            </a:solidFill>
                            <a:effectLst/>
                            <a:latin typeface="Cambria Math" panose="02040503050406030204" pitchFamily="18" charset="0"/>
                            <a:ea typeface="Times New Roman" panose="02020603050405020304" pitchFamily="18" charset="0"/>
                          </a:rPr>
                          <m:t>3</m:t>
                        </m:r>
                      </m:sup>
                    </m:sSup>
                  </m:oMath>
                </a14:m>
                <a:endParaRPr lang="vi-VN" sz="2000" kern="100">
                  <a:solidFill>
                    <a:srgbClr val="000000"/>
                  </a:solidFill>
                  <a:effectLst/>
                  <a:latin typeface="Times New Roman" panose="02020603050405020304" pitchFamily="18" charset="0"/>
                  <a:ea typeface="Times New Roman" panose="02020603050405020304" pitchFamily="18" charset="0"/>
                </a:endParaRPr>
              </a:p>
              <a:p>
                <a:pPr marL="205740" indent="-6350" algn="just">
                  <a:lnSpc>
                    <a:spcPct val="150000"/>
                  </a:lnSpc>
                  <a:spcBef>
                    <a:spcPts val="1200"/>
                  </a:spcBef>
                  <a:spcAft>
                    <a:spcPts val="25"/>
                  </a:spcAft>
                </a:pPr>
                <a14:m>
                  <m:oMathPara xmlns:m="http://schemas.openxmlformats.org/officeDocument/2006/math">
                    <m:oMath>
                      <m:r>
                        <a:rPr lang="vi-VN" sz="2000" i="1" kern="10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effectLst/>
                          <a:latin typeface="Cambria Math" panose="02040503050406030204" pitchFamily="18" charset="0"/>
                          <a:ea typeface="Times New Roman" panose="02020603050405020304" pitchFamily="18" charset="0"/>
                        </a:rPr>
                        <m:t>𝑑𝑡</m:t>
                      </m:r>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2</m:t>
                          </m:r>
                        </m:num>
                        <m:den>
                          <m:r>
                            <a:rPr lang="vi-VN" sz="2000" i="1" kern="100">
                              <a:solidFill>
                                <a:srgbClr val="000000"/>
                              </a:solidFill>
                              <a:effectLst/>
                              <a:latin typeface="Cambria Math" panose="02040503050406030204" pitchFamily="18" charset="0"/>
                              <a:ea typeface="Times New Roman" panose="02020603050405020304" pitchFamily="18" charset="0"/>
                            </a:rPr>
                            <m:t>𝜇</m:t>
                          </m:r>
                        </m:den>
                      </m:f>
                      <m:nary>
                        <m:naryPr>
                          <m:limLoc m:val="subSup"/>
                          <m:ctrlPr>
                            <a:rPr lang="vi-VN" sz="2000" i="1" kern="100">
                              <a:solidFill>
                                <a:srgbClr val="000000"/>
                              </a:solidFill>
                              <a:effectLst/>
                              <a:latin typeface="Cambria Math" panose="02040503050406030204" pitchFamily="18" charset="0"/>
                              <a:ea typeface="Times New Roman" panose="02020603050405020304" pitchFamily="18" charset="0"/>
                            </a:rPr>
                          </m:ctrlPr>
                        </m:naryPr>
                        <m:sub>
                          <m:r>
                            <a:rPr lang="vi-VN" sz="2000" i="1" kern="100">
                              <a:solidFill>
                                <a:srgbClr val="000000"/>
                              </a:solidFill>
                              <a:effectLst/>
                              <a:latin typeface="Cambria Math" panose="02040503050406030204" pitchFamily="18" charset="0"/>
                              <a:ea typeface="Times New Roman" panose="02020603050405020304" pitchFamily="18" charset="0"/>
                            </a:rPr>
                            <m:t>0,1</m:t>
                          </m:r>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sub>
                        <m:sup>
                          <m:r>
                            <a:rPr lang="vi-VN" sz="2000" i="1" kern="100">
                              <a:solidFill>
                                <a:srgbClr val="000000"/>
                              </a:solidFill>
                              <a:effectLst/>
                              <a:latin typeface="Cambria Math" panose="02040503050406030204" pitchFamily="18" charset="0"/>
                              <a:ea typeface="Times New Roman" panose="02020603050405020304" pitchFamily="18" charset="0"/>
                            </a:rPr>
                            <m:t>0,9</m:t>
                          </m:r>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sup>
                        <m:e>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𝑑</m:t>
                              </m:r>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num>
                            <m:den>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r>
                                        <a:rPr lang="vi-VN" sz="2000" i="1" kern="100">
                                          <a:solidFill>
                                            <a:srgbClr val="000000"/>
                                          </a:solidFill>
                                          <a:effectLst/>
                                          <a:latin typeface="Cambria Math" panose="02040503050406030204" pitchFamily="18" charset="0"/>
                                          <a:ea typeface="Times New Roman" panose="02020603050405020304" pitchFamily="18" charset="0"/>
                                        </a:rPr>
                                        <m:t>𝑉</m:t>
                                      </m:r>
                                    </m:e>
                                    <m:sup>
                                      <m:r>
                                        <a:rPr lang="vi-VN" sz="2000" i="1" kern="100">
                                          <a:solidFill>
                                            <a:srgbClr val="000000"/>
                                          </a:solidFill>
                                          <a:effectLst/>
                                          <a:latin typeface="Cambria Math" panose="02040503050406030204" pitchFamily="18" charset="0"/>
                                          <a:ea typeface="Times New Roman" panose="02020603050405020304" pitchFamily="18" charset="0"/>
                                        </a:rPr>
                                        <m:t>∗</m:t>
                                      </m:r>
                                    </m:sup>
                                  </m:sSup>
                                </m:e>
                                <m:sup>
                                  <m:r>
                                    <a:rPr lang="vi-VN" sz="2000" i="1" kern="100">
                                      <a:solidFill>
                                        <a:srgbClr val="000000"/>
                                      </a:solidFill>
                                      <a:effectLst/>
                                      <a:latin typeface="Cambria Math" panose="02040503050406030204" pitchFamily="18" charset="0"/>
                                      <a:ea typeface="Times New Roman" panose="02020603050405020304" pitchFamily="18" charset="0"/>
                                    </a:rPr>
                                    <m:t>2</m:t>
                                  </m:r>
                                </m:sup>
                              </m:sSup>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r>
                                <a:rPr lang="vi-VN" sz="2000" i="1" kern="100">
                                  <a:solidFill>
                                    <a:srgbClr val="000000"/>
                                  </a:solidFill>
                                  <a:effectLst/>
                                  <a:latin typeface="Cambria Math" panose="02040503050406030204" pitchFamily="18" charset="0"/>
                                  <a:ea typeface="Times New Roman" panose="02020603050405020304" pitchFamily="18" charset="0"/>
                                </a:rPr>
                                <m:t>−</m:t>
                              </m:r>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acc>
                                    <m:accPr>
                                      <m:chr m:val="̅"/>
                                      <m:ctrlPr>
                                        <a:rPr lang="vi-VN" sz="2000" i="1" kern="100">
                                          <a:solidFill>
                                            <a:srgbClr val="000000"/>
                                          </a:solidFill>
                                          <a:effectLst/>
                                          <a:latin typeface="Cambria Math" panose="02040503050406030204" pitchFamily="18" charset="0"/>
                                          <a:ea typeface="Times New Roman" panose="02020603050405020304" pitchFamily="18" charset="0"/>
                                        </a:rPr>
                                      </m:ctrlPr>
                                    </m:accPr>
                                    <m:e>
                                      <m:r>
                                        <a:rPr lang="vi-VN" sz="2000" i="1" kern="100">
                                          <a:solidFill>
                                            <a:srgbClr val="000000"/>
                                          </a:solidFill>
                                          <a:effectLst/>
                                          <a:latin typeface="Cambria Math" panose="02040503050406030204" pitchFamily="18" charset="0"/>
                                          <a:ea typeface="Times New Roman" panose="02020603050405020304" pitchFamily="18" charset="0"/>
                                        </a:rPr>
                                        <m:t>𝑉</m:t>
                                      </m:r>
                                    </m:e>
                                  </m:acc>
                                </m:e>
                                <m:sup>
                                  <m:r>
                                    <a:rPr lang="vi-VN" sz="2000" i="1" kern="100">
                                      <a:solidFill>
                                        <a:srgbClr val="000000"/>
                                      </a:solidFill>
                                      <a:effectLst/>
                                      <a:latin typeface="Cambria Math" panose="02040503050406030204" pitchFamily="18" charset="0"/>
                                      <a:ea typeface="Times New Roman" panose="02020603050405020304" pitchFamily="18" charset="0"/>
                                    </a:rPr>
                                    <m:t>3</m:t>
                                  </m:r>
                                </m:sup>
                              </m:sSup>
                            </m:den>
                          </m:f>
                        </m:e>
                      </m:nary>
                    </m:oMath>
                  </m:oMathPara>
                </a14:m>
                <a:endParaRPr lang="vi-VN" sz="2000" kern="100">
                  <a:solidFill>
                    <a:srgbClr val="000000"/>
                  </a:solidFill>
                  <a:effectLst/>
                  <a:latin typeface="Times New Roman" panose="02020603050405020304" pitchFamily="18" charset="0"/>
                  <a:ea typeface="Times New Roman" panose="02020603050405020304" pitchFamily="18" charset="0"/>
                </a:endParaRPr>
              </a:p>
              <a:p>
                <a:pPr marL="205740" indent="-6350" algn="ctr">
                  <a:lnSpc>
                    <a:spcPct val="150000"/>
                  </a:lnSpc>
                  <a:spcBef>
                    <a:spcPts val="1200"/>
                  </a:spcBef>
                  <a:spcAft>
                    <a:spcPts val="25"/>
                  </a:spcAft>
                </a:pPr>
                <a14:m>
                  <m:oMath xmlns:m="http://schemas.openxmlformats.org/officeDocument/2006/math">
                    <m:r>
                      <a:rPr lang="vi-VN" sz="2000" i="1" kern="100">
                        <a:solidFill>
                          <a:srgbClr val="000000"/>
                        </a:solidFill>
                        <a:effectLst/>
                        <a:latin typeface="Cambria Math" panose="02040503050406030204" pitchFamily="18" charset="0"/>
                        <a:ea typeface="Times New Roman" panose="02020603050405020304" pitchFamily="18" charset="0"/>
                      </a:rPr>
                      <m:t>⇒</m:t>
                    </m:r>
                    <m:sSub>
                      <m:sSubPr>
                        <m:ctrlPr>
                          <a:rPr lang="vi-VN" sz="2000" i="1" kern="100">
                            <a:solidFill>
                              <a:srgbClr val="000000"/>
                            </a:solidFill>
                            <a:effectLst/>
                            <a:latin typeface="Cambria Math" panose="02040503050406030204" pitchFamily="18" charset="0"/>
                            <a:ea typeface="Times New Roman" panose="02020603050405020304" pitchFamily="18" charset="0"/>
                          </a:rPr>
                        </m:ctrlPr>
                      </m:sSubPr>
                      <m:e>
                        <m:r>
                          <a:rPr lang="vi-VN" sz="2000" i="1" kern="100">
                            <a:solidFill>
                              <a:srgbClr val="000000"/>
                            </a:solidFill>
                            <a:effectLst/>
                            <a:latin typeface="Cambria Math" panose="02040503050406030204" pitchFamily="18" charset="0"/>
                            <a:ea typeface="Times New Roman" panose="02020603050405020304" pitchFamily="18" charset="0"/>
                          </a:rPr>
                          <m:t>𝑡</m:t>
                        </m:r>
                      </m:e>
                      <m:sub>
                        <m:r>
                          <a:rPr lang="vi-VN" sz="2000" i="1" kern="100">
                            <a:solidFill>
                              <a:srgbClr val="000000"/>
                            </a:solidFill>
                            <a:effectLst/>
                            <a:latin typeface="Cambria Math" panose="02040503050406030204" pitchFamily="18" charset="0"/>
                            <a:ea typeface="Times New Roman" panose="02020603050405020304" pitchFamily="18" charset="0"/>
                          </a:rPr>
                          <m:t>𝑟𝑖𝑠𝑒</m:t>
                        </m:r>
                      </m:sub>
                    </m:sSub>
                    <m:r>
                      <a:rPr lang="vi-VN" sz="2000" i="1" kern="100">
                        <a:solidFill>
                          <a:srgbClr val="000000"/>
                        </a:solidFill>
                        <a:effectLst/>
                        <a:latin typeface="Cambria Math" panose="02040503050406030204" pitchFamily="18" charset="0"/>
                        <a:ea typeface="Times New Roman" panose="02020603050405020304" pitchFamily="18" charset="0"/>
                      </a:rPr>
                      <m:t>=</m:t>
                    </m:r>
                    <m:f>
                      <m:fPr>
                        <m:ctrlPr>
                          <a:rPr lang="vi-VN" sz="2000" i="1" kern="100">
                            <a:solidFill>
                              <a:srgbClr val="000000"/>
                            </a:solidFill>
                            <a:effectLst/>
                            <a:latin typeface="Cambria Math" panose="02040503050406030204" pitchFamily="18" charset="0"/>
                            <a:ea typeface="Times New Roman" panose="02020603050405020304" pitchFamily="18" charset="0"/>
                          </a:rPr>
                        </m:ctrlPr>
                      </m:fPr>
                      <m:num>
                        <m:r>
                          <a:rPr lang="vi-VN" sz="2000" i="1" kern="100">
                            <a:solidFill>
                              <a:srgbClr val="000000"/>
                            </a:solidFill>
                            <a:effectLst/>
                            <a:latin typeface="Cambria Math" panose="02040503050406030204" pitchFamily="18" charset="0"/>
                            <a:ea typeface="Times New Roman" panose="02020603050405020304" pitchFamily="18" charset="0"/>
                          </a:rPr>
                          <m:t>6,045</m:t>
                        </m:r>
                      </m:num>
                      <m:den>
                        <m:r>
                          <a:rPr lang="vi-VN" sz="2000" i="1" kern="100">
                            <a:solidFill>
                              <a:srgbClr val="000000"/>
                            </a:solidFill>
                            <a:effectLst/>
                            <a:latin typeface="Cambria Math" panose="02040503050406030204" pitchFamily="18" charset="0"/>
                            <a:ea typeface="Times New Roman" panose="02020603050405020304" pitchFamily="18" charset="0"/>
                          </a:rPr>
                          <m:t>𝜇</m:t>
                        </m:r>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sSup>
                              <m:sSupPr>
                                <m:ctrlPr>
                                  <a:rPr lang="vi-VN" sz="2000" i="1" kern="100">
                                    <a:solidFill>
                                      <a:srgbClr val="000000"/>
                                    </a:solidFill>
                                    <a:effectLst/>
                                    <a:latin typeface="Cambria Math" panose="02040503050406030204" pitchFamily="18" charset="0"/>
                                    <a:ea typeface="Times New Roman" panose="02020603050405020304" pitchFamily="18" charset="0"/>
                                  </a:rPr>
                                </m:ctrlPr>
                              </m:sSupPr>
                              <m:e>
                                <m:r>
                                  <a:rPr lang="vi-VN" sz="2000" i="1" kern="100">
                                    <a:solidFill>
                                      <a:srgbClr val="000000"/>
                                    </a:solidFill>
                                    <a:effectLst/>
                                    <a:latin typeface="Cambria Math" panose="02040503050406030204" pitchFamily="18" charset="0"/>
                                    <a:ea typeface="Times New Roman" panose="02020603050405020304" pitchFamily="18" charset="0"/>
                                  </a:rPr>
                                  <m:t>𝑉</m:t>
                                </m:r>
                              </m:e>
                              <m:sup>
                                <m:r>
                                  <a:rPr lang="vi-VN" sz="2000" i="1" kern="100">
                                    <a:solidFill>
                                      <a:srgbClr val="000000"/>
                                    </a:solidFill>
                                    <a:effectLst/>
                                    <a:latin typeface="Cambria Math" panose="02040503050406030204" pitchFamily="18" charset="0"/>
                                    <a:ea typeface="Times New Roman" panose="02020603050405020304" pitchFamily="18" charset="0"/>
                                  </a:rPr>
                                  <m:t>∗</m:t>
                                </m:r>
                              </m:sup>
                            </m:sSup>
                          </m:e>
                          <m:sup>
                            <m:r>
                              <a:rPr lang="vi-VN" sz="2000" i="1" kern="100">
                                <a:solidFill>
                                  <a:srgbClr val="000000"/>
                                </a:solidFill>
                                <a:effectLst/>
                                <a:latin typeface="Cambria Math" panose="02040503050406030204" pitchFamily="18" charset="0"/>
                                <a:ea typeface="Times New Roman" panose="02020603050405020304" pitchFamily="18" charset="0"/>
                              </a:rPr>
                              <m:t>2</m:t>
                            </m:r>
                          </m:sup>
                        </m:sSup>
                      </m:den>
                    </m:f>
                    <m:r>
                      <a:rPr lang="vi-VN" sz="2000" b="0" i="0" kern="100" smtClean="0">
                        <a:solidFill>
                          <a:srgbClr val="000000"/>
                        </a:solidFill>
                        <a:effectLst/>
                        <a:latin typeface="Cambria Math" panose="02040503050406030204" pitchFamily="18" charset="0"/>
                        <a:ea typeface="Times New Roman" panose="02020603050405020304" pitchFamily="18" charset="0"/>
                      </a:rPr>
                      <m:t>(</m:t>
                    </m:r>
                    <m:r>
                      <a:rPr lang="vi-VN" sz="2000" i="1" kern="100">
                        <a:solidFill>
                          <a:srgbClr val="000000"/>
                        </a:solidFill>
                        <a:latin typeface="Cambria Math" panose="02040503050406030204" pitchFamily="18" charset="0"/>
                        <a:ea typeface="Times New Roman" panose="02020603050405020304" pitchFamily="18" charset="0"/>
                      </a:rPr>
                      <m:t>13</m:t>
                    </m:r>
                  </m:oMath>
                </a14:m>
                <a:r>
                  <a:rPr lang="vi-VN" sz="2000" kern="100">
                    <a:solidFill>
                      <a:srgbClr val="000000"/>
                    </a:solidFill>
                    <a:effectLst/>
                    <a:latin typeface="Times New Roman" panose="02020603050405020304" pitchFamily="18" charset="0"/>
                    <a:ea typeface="Times New Roman" panose="02020603050405020304" pitchFamily="18" charset="0"/>
                  </a:rPr>
                  <a:t>)</a:t>
                </a:r>
              </a:p>
            </p:txBody>
          </p:sp>
        </mc:Choice>
        <mc:Fallback xmlns="">
          <p:sp>
            <p:nvSpPr>
              <p:cNvPr id="5" name="Hộp Văn bản 4">
                <a:extLst>
                  <a:ext uri="{FF2B5EF4-FFF2-40B4-BE49-F238E27FC236}">
                    <a16:creationId xmlns:a16="http://schemas.microsoft.com/office/drawing/2014/main" id="{0B4455DB-8D4C-C5E9-301C-F990A8B7B017}"/>
                  </a:ext>
                </a:extLst>
              </p:cNvPr>
              <p:cNvSpPr txBox="1">
                <a:spLocks noRot="1" noChangeAspect="1" noMove="1" noResize="1" noEditPoints="1" noAdjustHandles="1" noChangeArrowheads="1" noChangeShapeType="1" noTextEdit="1"/>
              </p:cNvSpPr>
              <p:nvPr/>
            </p:nvSpPr>
            <p:spPr>
              <a:xfrm>
                <a:off x="349352" y="1363403"/>
                <a:ext cx="11656292" cy="4495718"/>
              </a:xfrm>
              <a:prstGeom prst="rect">
                <a:avLst/>
              </a:prstGeom>
              <a:blipFill>
                <a:blip r:embed="rId3"/>
                <a:stretch>
                  <a:fillRect l="-418" t="-814"/>
                </a:stretch>
              </a:blipFill>
            </p:spPr>
            <p:txBody>
              <a:bodyPr/>
              <a:lstStyle/>
              <a:p>
                <a:r>
                  <a:rPr lang="vi-VN">
                    <a:noFill/>
                  </a:rPr>
                  <a:t> </a:t>
                </a:r>
              </a:p>
            </p:txBody>
          </p:sp>
        </mc:Fallback>
      </mc:AlternateContent>
    </p:spTree>
    <p:extLst>
      <p:ext uri="{BB962C8B-B14F-4D97-AF65-F5344CB8AC3E}">
        <p14:creationId xmlns:p14="http://schemas.microsoft.com/office/powerpoint/2010/main" val="377714081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17619-BBAA-629A-BDBB-89289642C70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93BEF5A-5562-AED3-777B-ECADFBA556AE}"/>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F0EAAC56-BC0A-5274-704F-EC1640F8BA70}"/>
              </a:ext>
            </a:extLst>
          </p:cNvPr>
          <p:cNvSpPr>
            <a:spLocks noGrp="1"/>
          </p:cNvSpPr>
          <p:nvPr>
            <p:ph type="sldNum" sz="quarter" idx="12"/>
          </p:nvPr>
        </p:nvSpPr>
        <p:spPr/>
        <p:txBody>
          <a:bodyPr/>
          <a:lstStyle/>
          <a:p>
            <a:fld id="{931DD963-FD40-4A6D-88A9-402A489E81DE}" type="slidenum">
              <a:rPr lang="en-US" smtClean="0"/>
              <a:t>80</a:t>
            </a:fld>
            <a:endParaRPr lang="en-US"/>
          </a:p>
        </p:txBody>
      </p:sp>
      <p:grpSp>
        <p:nvGrpSpPr>
          <p:cNvPr id="10" name="Group 9">
            <a:extLst>
              <a:ext uri="{FF2B5EF4-FFF2-40B4-BE49-F238E27FC236}">
                <a16:creationId xmlns:a16="http://schemas.microsoft.com/office/drawing/2014/main" id="{0FB47330-3975-53B7-416D-9F2380A1E381}"/>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06EE2B29-DFA5-4ECB-540C-9E58411B0EB8}"/>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FD6F5DB3-253C-8213-138A-B5176A5FE410}"/>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8FF4686-2A6A-AE1F-BBD5-28B1ECA8AE4C}"/>
                  </a:ext>
                </a:extLst>
              </p:cNvPr>
              <p:cNvSpPr txBox="1"/>
              <p:nvPr/>
            </p:nvSpPr>
            <p:spPr>
              <a:xfrm>
                <a:off x="413529" y="963293"/>
                <a:ext cx="7463708" cy="400110"/>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4.2. </a:t>
                </a:r>
                <a:r>
                  <a:rPr lang="vi-VN" sz="2000" b="1">
                    <a:solidFill>
                      <a:prstClr val="black"/>
                    </a:solidFill>
                    <a:latin typeface="Times New Roman" panose="02020603050405020304" pitchFamily="18" charset="0"/>
                    <a:cs typeface="Times New Roman" panose="02020603050405020304" pitchFamily="18" charset="0"/>
                  </a:rPr>
                  <a:t>Phân tích mối quan hệ thời gian đáp ứng </a:t>
                </a:r>
                <a14:m>
                  <m:oMath xmlns:m="http://schemas.openxmlformats.org/officeDocument/2006/math">
                    <m:sSub>
                      <m:sSubPr>
                        <m:ctrlPr>
                          <a:rPr lang="vi-VN" sz="2000" b="1" i="0">
                            <a:solidFill>
                              <a:prstClr val="black"/>
                            </a:solidFill>
                            <a:latin typeface="Cambria Math" panose="02040503050406030204" pitchFamily="18" charset="0"/>
                            <a:cs typeface="Times New Roman" panose="02020603050405020304" pitchFamily="18" charset="0"/>
                          </a:rPr>
                        </m:ctrlPr>
                      </m:sSubPr>
                      <m:e>
                        <m:r>
                          <a:rPr lang="vi-VN" sz="2000" b="1" i="0">
                            <a:solidFill>
                              <a:prstClr val="black"/>
                            </a:solidFill>
                            <a:latin typeface="Cambria Math" panose="02040503050406030204" pitchFamily="18" charset="0"/>
                            <a:cs typeface="Times New Roman" panose="02020603050405020304" pitchFamily="18" charset="0"/>
                          </a:rPr>
                          <m:t>𝐭</m:t>
                        </m:r>
                      </m:e>
                      <m:sub>
                        <m:r>
                          <a:rPr lang="vi-VN" sz="2000" b="1" i="0">
                            <a:solidFill>
                              <a:prstClr val="black"/>
                            </a:solidFill>
                            <a:latin typeface="Cambria Math" panose="02040503050406030204" pitchFamily="18" charset="0"/>
                            <a:cs typeface="Times New Roman" panose="02020603050405020304" pitchFamily="18" charset="0"/>
                          </a:rPr>
                          <m:t>𝐫𝐢𝐬𝐞</m:t>
                        </m:r>
                      </m:sub>
                    </m:sSub>
                  </m:oMath>
                </a14:m>
                <a:r>
                  <a:rPr lang="vi-VN" sz="2000" b="1">
                    <a:solidFill>
                      <a:prstClr val="black"/>
                    </a:solidFill>
                    <a:latin typeface="Times New Roman" panose="02020603050405020304" pitchFamily="18" charset="0"/>
                    <a:cs typeface="Times New Roman" panose="02020603050405020304" pitchFamily="18" charset="0"/>
                  </a:rPr>
                  <a:t> và hài bậc 3 </a:t>
                </a:r>
                <a14:m>
                  <m:oMath xmlns:m="http://schemas.openxmlformats.org/officeDocument/2006/math">
                    <m:sSub>
                      <m:sSubPr>
                        <m:ctrlPr>
                          <a:rPr lang="vi-V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vi-V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𝜸</m:t>
                        </m:r>
                      </m:e>
                      <m:sub>
                        <m:r>
                          <a:rPr lang="vi-V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m:t>
                        </m:r>
                      </m:sub>
                    </m:sSub>
                  </m:oMath>
                </a14:m>
                <a:endParaRPr lang="en-US" sz="2000" b="1">
                  <a:solidFill>
                    <a:prstClr val="black"/>
                  </a:solidFill>
                  <a:latin typeface="Times New Roman" panose="020206030504050203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6D5C21BB-231C-C516-29E5-730D802C027E}"/>
                  </a:ext>
                </a:extLst>
              </p:cNvPr>
              <p:cNvSpPr txBox="1">
                <a:spLocks noRot="1" noChangeAspect="1" noMove="1" noResize="1" noEditPoints="1" noAdjustHandles="1" noChangeArrowheads="1" noChangeShapeType="1" noTextEdit="1"/>
              </p:cNvSpPr>
              <p:nvPr/>
            </p:nvSpPr>
            <p:spPr>
              <a:xfrm>
                <a:off x="413529" y="963293"/>
                <a:ext cx="7463708" cy="400110"/>
              </a:xfrm>
              <a:prstGeom prst="rect">
                <a:avLst/>
              </a:prstGeom>
              <a:blipFill>
                <a:blip r:embed="rId2"/>
                <a:stretch>
                  <a:fillRect l="-899" t="-7576" b="-2575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24974264-BDA2-9584-DB53-F7DD43B5EDE3}"/>
                  </a:ext>
                </a:extLst>
              </p:cNvPr>
              <p:cNvSpPr txBox="1"/>
              <p:nvPr/>
            </p:nvSpPr>
            <p:spPr>
              <a:xfrm>
                <a:off x="413530" y="1481922"/>
                <a:ext cx="11104020" cy="1938992"/>
              </a:xfrm>
              <a:prstGeom prst="rect">
                <a:avLst/>
              </a:prstGeom>
              <a:noFill/>
            </p:spPr>
            <p:txBody>
              <a:bodyPr wrap="square">
                <a:spAutoFit/>
              </a:bodyPr>
              <a:lstStyle/>
              <a:p>
                <a:pPr marL="285750" indent="-285750">
                  <a:buFontTx/>
                  <a:buChar char="-"/>
                </a:pPr>
                <a:r>
                  <a:rPr lang="vi-VN" sz="2000">
                    <a:latin typeface="Times New Roman" panose="02020603050405020304" pitchFamily="18" charset="0"/>
                    <a:cs typeface="Times New Roman" panose="02020603050405020304" pitchFamily="18" charset="0"/>
                  </a:rPr>
                  <a:t>Kết luận: </a:t>
                </a:r>
              </a:p>
              <a:p>
                <a:pPr marL="742950" lvl="1" indent="-285750">
                  <a:buFontTx/>
                  <a:buChar char="-"/>
                </a:pPr>
                <a:r>
                  <a:rPr lang="vi-VN" sz="2000">
                    <a:latin typeface="Times New Roman" panose="02020603050405020304" pitchFamily="18" charset="0"/>
                    <a:cs typeface="Times New Roman" panose="02020603050405020304" pitchFamily="18" charset="0"/>
                  </a:rPr>
                  <a:t>Van </a:t>
                </a:r>
                <a:r>
                  <a:rPr lang="vi-VN" sz="2000" err="1">
                    <a:latin typeface="Times New Roman" panose="02020603050405020304" pitchFamily="18" charset="0"/>
                    <a:cs typeface="Times New Roman" panose="02020603050405020304" pitchFamily="18" charset="0"/>
                  </a:rPr>
                  <a:t>der</a:t>
                </a:r>
                <a:r>
                  <a:rPr lang="vi-VN" sz="2000">
                    <a:latin typeface="Times New Roman" panose="02020603050405020304" pitchFamily="18" charset="0"/>
                    <a:cs typeface="Times New Roman" panose="02020603050405020304" pitchFamily="18" charset="0"/>
                  </a:rPr>
                  <a:t> </a:t>
                </a:r>
                <a:r>
                  <a:rPr lang="vi-VN" sz="2000" err="1">
                    <a:latin typeface="Times New Roman" panose="02020603050405020304" pitchFamily="18" charset="0"/>
                    <a:cs typeface="Times New Roman" panose="02020603050405020304" pitchFamily="18" charset="0"/>
                  </a:rPr>
                  <a:t>Pol</a:t>
                </a:r>
                <a:r>
                  <a:rPr lang="vi-VN" sz="2000">
                    <a:latin typeface="Times New Roman" panose="02020603050405020304" pitchFamily="18" charset="0"/>
                    <a:cs typeface="Times New Roman" panose="02020603050405020304" pitchFamily="18" charset="0"/>
                  </a:rPr>
                  <a:t> có mối ràng buộc ở việc điều chỉnh chỉ số </a:t>
                </a:r>
                <a14:m>
                  <m:oMath xmlns:m="http://schemas.openxmlformats.org/officeDocument/2006/math">
                    <m:r>
                      <a:rPr lang="vi-VN" sz="2000" i="1" smtClean="0">
                        <a:latin typeface="Cambria Math" panose="02040503050406030204" pitchFamily="18" charset="0"/>
                        <a:ea typeface="Cambria Math" panose="02040503050406030204" pitchFamily="18" charset="0"/>
                        <a:cs typeface="Times New Roman" panose="02020603050405020304" pitchFamily="18" charset="0"/>
                      </a:rPr>
                      <m:t>𝜀</m:t>
                    </m:r>
                  </m:oMath>
                </a14:m>
                <a:r>
                  <a:rPr lang="vi-VN" sz="2000">
                    <a:latin typeface="Times New Roman" panose="02020603050405020304" pitchFamily="18" charset="0"/>
                    <a:cs typeface="Times New Roman" panose="02020603050405020304" pitchFamily="18" charset="0"/>
                  </a:rPr>
                  <a:t> và </a:t>
                </a:r>
                <a14:m>
                  <m:oMath xmlns:m="http://schemas.openxmlformats.org/officeDocument/2006/math">
                    <m:r>
                      <a:rPr lang="vi-VN" sz="2000" i="1" smtClean="0">
                        <a:latin typeface="Cambria Math" panose="02040503050406030204" pitchFamily="18" charset="0"/>
                        <a:ea typeface="Cambria Math" panose="02040503050406030204" pitchFamily="18" charset="0"/>
                        <a:cs typeface="Times New Roman" panose="02020603050405020304" pitchFamily="18" charset="0"/>
                      </a:rPr>
                      <m:t>𝜎</m:t>
                    </m:r>
                    <m:r>
                      <a:rPr lang="vi-VN" sz="2000" b="0" i="0" smtClean="0">
                        <a:latin typeface="Cambria Math" panose="02040503050406030204" pitchFamily="18" charset="0"/>
                        <a:ea typeface="Cambria Math" panose="02040503050406030204" pitchFamily="18" charset="0"/>
                        <a:cs typeface="Times New Roman" panose="02020603050405020304" pitchFamily="18" charset="0"/>
                      </a:rPr>
                      <m:t> </m:t>
                    </m:r>
                    <m:r>
                      <a:rPr lang="vi-VN" sz="2000" i="1">
                        <a:latin typeface="Cambria Math" panose="02040503050406030204" pitchFamily="18" charset="0"/>
                        <a:ea typeface="Cambria Math" panose="02040503050406030204" pitchFamily="18" charset="0"/>
                        <a:cs typeface="Times New Roman" panose="02020603050405020304" pitchFamily="18" charset="0"/>
                      </a:rPr>
                      <m:t>để</m:t>
                    </m:r>
                    <m:r>
                      <a:rPr lang="vi-VN" sz="2000" b="0" i="0" smtClean="0">
                        <a:latin typeface="Cambria Math" panose="02040503050406030204" pitchFamily="18" charset="0"/>
                        <a:ea typeface="Cambria Math" panose="02040503050406030204" pitchFamily="18" charset="0"/>
                        <a:cs typeface="Times New Roman" panose="02020603050405020304" pitchFamily="18" charset="0"/>
                      </a:rPr>
                      <m:t> </m:t>
                    </m:r>
                    <m:r>
                      <a:rPr lang="vi-VN" sz="2000" i="1">
                        <a:latin typeface="Cambria Math" panose="02040503050406030204" pitchFamily="18" charset="0"/>
                        <a:ea typeface="Cambria Math" panose="02040503050406030204" pitchFamily="18" charset="0"/>
                        <a:cs typeface="Times New Roman" panose="02020603050405020304" pitchFamily="18" charset="0"/>
                      </a:rPr>
                      <m:t>đả</m:t>
                    </m:r>
                    <m:r>
                      <m:rPr>
                        <m:sty m:val="p"/>
                      </m:rPr>
                      <a:rPr lang="vi-VN" sz="2000" i="1">
                        <a:latin typeface="Cambria Math" panose="02040503050406030204" pitchFamily="18" charset="0"/>
                        <a:ea typeface="Cambria Math" panose="02040503050406030204" pitchFamily="18" charset="0"/>
                        <a:cs typeface="Times New Roman" panose="02020603050405020304" pitchFamily="18" charset="0"/>
                      </a:rPr>
                      <m:t>m</m:t>
                    </m:r>
                    <m:r>
                      <a:rPr lang="vi-VN" sz="2000" b="0" i="0"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vi-VN" sz="2000" i="1">
                        <a:latin typeface="Cambria Math" panose="02040503050406030204" pitchFamily="18" charset="0"/>
                        <a:ea typeface="Cambria Math" panose="02040503050406030204" pitchFamily="18" charset="0"/>
                        <a:cs typeface="Times New Roman" panose="02020603050405020304" pitchFamily="18" charset="0"/>
                      </a:rPr>
                      <m:t>b</m:t>
                    </m:r>
                    <m:r>
                      <a:rPr lang="vi-VN" sz="2000" i="1">
                        <a:latin typeface="Cambria Math" panose="02040503050406030204" pitchFamily="18" charset="0"/>
                        <a:ea typeface="Cambria Math" panose="02040503050406030204" pitchFamily="18" charset="0"/>
                        <a:cs typeface="Times New Roman" panose="02020603050405020304" pitchFamily="18" charset="0"/>
                      </a:rPr>
                      <m:t>ả</m:t>
                    </m:r>
                    <m:r>
                      <m:rPr>
                        <m:sty m:val="p"/>
                      </m:rPr>
                      <a:rPr lang="vi-VN" sz="2000" i="1">
                        <a:latin typeface="Cambria Math" panose="02040503050406030204" pitchFamily="18" charset="0"/>
                        <a:ea typeface="Cambria Math" panose="02040503050406030204" pitchFamily="18" charset="0"/>
                        <a:cs typeface="Times New Roman" panose="02020603050405020304" pitchFamily="18" charset="0"/>
                      </a:rPr>
                      <m:t>o</m:t>
                    </m:r>
                    <m:r>
                      <a:rPr lang="vi-VN" sz="2000" b="0" i="0"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vi-VN" sz="2000" i="1">
                        <a:latin typeface="Cambria Math" panose="02040503050406030204" pitchFamily="18" charset="0"/>
                        <a:ea typeface="Cambria Math" panose="02040503050406030204" pitchFamily="18" charset="0"/>
                        <a:cs typeface="Times New Roman" panose="02020603050405020304" pitchFamily="18" charset="0"/>
                      </a:rPr>
                      <m:t>th</m:t>
                    </m:r>
                    <m:r>
                      <a:rPr lang="vi-VN" sz="2000" i="1">
                        <a:latin typeface="Cambria Math" panose="02040503050406030204" pitchFamily="18" charset="0"/>
                        <a:ea typeface="Cambria Math" panose="02040503050406030204" pitchFamily="18" charset="0"/>
                        <a:cs typeface="Times New Roman" panose="02020603050405020304" pitchFamily="18" charset="0"/>
                      </a:rPr>
                      <m:t>ờ</m:t>
                    </m:r>
                    <m:r>
                      <m:rPr>
                        <m:sty m:val="p"/>
                      </m:rPr>
                      <a:rPr lang="vi-VN" sz="2000" i="1">
                        <a:latin typeface="Cambria Math" panose="02040503050406030204" pitchFamily="18" charset="0"/>
                        <a:ea typeface="Cambria Math" panose="02040503050406030204" pitchFamily="18" charset="0"/>
                        <a:cs typeface="Times New Roman" panose="02020603050405020304" pitchFamily="18" charset="0"/>
                      </a:rPr>
                      <m:t>i</m:t>
                    </m:r>
                    <m:r>
                      <a:rPr lang="vi-VN" sz="2000" b="0" i="0"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vi-VN" sz="2000" i="1">
                        <a:latin typeface="Cambria Math" panose="02040503050406030204" pitchFamily="18" charset="0"/>
                        <a:ea typeface="Cambria Math" panose="02040503050406030204" pitchFamily="18" charset="0"/>
                        <a:cs typeface="Times New Roman" panose="02020603050405020304" pitchFamily="18" charset="0"/>
                      </a:rPr>
                      <m:t>gian</m:t>
                    </m:r>
                    <m:r>
                      <a:rPr lang="vi-VN" sz="2000" b="0" i="0" smtClean="0">
                        <a:latin typeface="Cambria Math" panose="02040503050406030204" pitchFamily="18" charset="0"/>
                        <a:ea typeface="Cambria Math" panose="02040503050406030204" pitchFamily="18" charset="0"/>
                        <a:cs typeface="Times New Roman" panose="02020603050405020304" pitchFamily="18" charset="0"/>
                      </a:rPr>
                      <m:t> </m:t>
                    </m:r>
                    <m:r>
                      <a:rPr lang="vi-VN" sz="2000" i="1">
                        <a:latin typeface="Cambria Math" panose="02040503050406030204" pitchFamily="18" charset="0"/>
                        <a:ea typeface="Cambria Math" panose="02040503050406030204" pitchFamily="18" charset="0"/>
                        <a:cs typeface="Times New Roman" panose="02020603050405020304" pitchFamily="18" charset="0"/>
                      </a:rPr>
                      <m:t>đá</m:t>
                    </m:r>
                    <m:r>
                      <m:rPr>
                        <m:sty m:val="p"/>
                      </m:rPr>
                      <a:rPr lang="vi-VN" sz="2000" i="1">
                        <a:latin typeface="Cambria Math" panose="02040503050406030204" pitchFamily="18" charset="0"/>
                        <a:ea typeface="Cambria Math" panose="02040503050406030204" pitchFamily="18" charset="0"/>
                        <a:cs typeface="Times New Roman" panose="02020603050405020304" pitchFamily="18" charset="0"/>
                      </a:rPr>
                      <m:t>p</m:t>
                    </m:r>
                    <m:r>
                      <a:rPr lang="vi-VN" sz="2000" b="0" i="0" smtClean="0">
                        <a:latin typeface="Cambria Math" panose="02040503050406030204" pitchFamily="18" charset="0"/>
                        <a:ea typeface="Cambria Math" panose="02040503050406030204" pitchFamily="18" charset="0"/>
                        <a:cs typeface="Times New Roman" panose="02020603050405020304" pitchFamily="18" charset="0"/>
                      </a:rPr>
                      <m:t> </m:t>
                    </m:r>
                    <m:r>
                      <a:rPr lang="vi-VN" sz="2000" i="1">
                        <a:latin typeface="Cambria Math" panose="02040503050406030204" pitchFamily="18" charset="0"/>
                        <a:ea typeface="Cambria Math" panose="02040503050406030204" pitchFamily="18" charset="0"/>
                        <a:cs typeface="Times New Roman" panose="02020603050405020304" pitchFamily="18" charset="0"/>
                      </a:rPr>
                      <m:t>ứ</m:t>
                    </m:r>
                    <m:r>
                      <m:rPr>
                        <m:sty m:val="p"/>
                      </m:rPr>
                      <a:rPr lang="vi-VN" sz="2000" i="1">
                        <a:latin typeface="Cambria Math" panose="02040503050406030204" pitchFamily="18" charset="0"/>
                        <a:ea typeface="Cambria Math" panose="02040503050406030204" pitchFamily="18" charset="0"/>
                        <a:cs typeface="Times New Roman" panose="02020603050405020304" pitchFamily="18" charset="0"/>
                      </a:rPr>
                      <m:t>ng</m:t>
                    </m:r>
                    <m:r>
                      <a:rPr lang="vi-VN" sz="2000" b="0" i="0"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vi-VN" sz="2000" i="1">
                        <a:latin typeface="Cambria Math" panose="02040503050406030204" pitchFamily="18" charset="0"/>
                        <a:ea typeface="Cambria Math" panose="02040503050406030204" pitchFamily="18" charset="0"/>
                        <a:cs typeface="Times New Roman" panose="02020603050405020304" pitchFamily="18" charset="0"/>
                      </a:rPr>
                      <m:t>th</m:t>
                    </m:r>
                    <m:r>
                      <a:rPr lang="vi-VN" sz="2000" i="1">
                        <a:latin typeface="Cambria Math" panose="02040503050406030204" pitchFamily="18" charset="0"/>
                        <a:ea typeface="Cambria Math" panose="02040503050406030204" pitchFamily="18" charset="0"/>
                        <a:cs typeface="Times New Roman" panose="02020603050405020304" pitchFamily="18" charset="0"/>
                      </a:rPr>
                      <m:t>ấ</m:t>
                    </m:r>
                    <m:r>
                      <m:rPr>
                        <m:sty m:val="p"/>
                      </m:rPr>
                      <a:rPr lang="vi-VN" sz="2000" i="1">
                        <a:latin typeface="Cambria Math" panose="02040503050406030204" pitchFamily="18" charset="0"/>
                        <a:ea typeface="Cambria Math" panose="02040503050406030204" pitchFamily="18" charset="0"/>
                        <a:cs typeface="Times New Roman" panose="02020603050405020304" pitchFamily="18" charset="0"/>
                      </a:rPr>
                      <m:t>p</m:t>
                    </m:r>
                    <m:r>
                      <a:rPr lang="vi-VN" sz="2000" b="0" i="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vi-VN" sz="2000">
                    <a:latin typeface="Times New Roman" panose="02020603050405020304" pitchFamily="18" charset="0"/>
                    <a:cs typeface="Times New Roman" panose="02020603050405020304" pitchFamily="18" charset="0"/>
                  </a:rPr>
                  <a:t> tuy vậy 2 chỉ số này cần nhỏ để đảm bảo các điều kiện về dao động và sóng hài =&gt; thời gian đáp ứng của Van </a:t>
                </a:r>
                <a:r>
                  <a:rPr lang="vi-VN" sz="2000" err="1">
                    <a:latin typeface="Times New Roman" panose="02020603050405020304" pitchFamily="18" charset="0"/>
                    <a:cs typeface="Times New Roman" panose="02020603050405020304" pitchFamily="18" charset="0"/>
                  </a:rPr>
                  <a:t>der</a:t>
                </a:r>
                <a:r>
                  <a:rPr lang="vi-VN" sz="2000">
                    <a:latin typeface="Times New Roman" panose="02020603050405020304" pitchFamily="18" charset="0"/>
                    <a:cs typeface="Times New Roman" panose="02020603050405020304" pitchFamily="18" charset="0"/>
                  </a:rPr>
                  <a:t> </a:t>
                </a:r>
                <a:r>
                  <a:rPr lang="vi-VN" sz="2000" err="1">
                    <a:latin typeface="Times New Roman" panose="02020603050405020304" pitchFamily="18" charset="0"/>
                    <a:cs typeface="Times New Roman" panose="02020603050405020304" pitchFamily="18" charset="0"/>
                  </a:rPr>
                  <a:t>pol</a:t>
                </a:r>
                <a:r>
                  <a:rPr lang="vi-VN" sz="2000">
                    <a:latin typeface="Times New Roman" panose="02020603050405020304" pitchFamily="18" charset="0"/>
                    <a:cs typeface="Times New Roman" panose="02020603050405020304" pitchFamily="18" charset="0"/>
                  </a:rPr>
                  <a:t> chậm hơn.</a:t>
                </a:r>
              </a:p>
              <a:p>
                <a:pPr marL="742950" lvl="1" indent="-285750">
                  <a:buFontTx/>
                  <a:buChar char="-"/>
                </a:pPr>
                <a:r>
                  <a:rPr lang="vi-VN" sz="2000" err="1">
                    <a:latin typeface="Times New Roman" panose="02020603050405020304" pitchFamily="18" charset="0"/>
                    <a:cs typeface="Times New Roman" panose="02020603050405020304" pitchFamily="18" charset="0"/>
                  </a:rPr>
                  <a:t>Hopf</a:t>
                </a:r>
                <a:r>
                  <a:rPr lang="vi-VN" sz="2000">
                    <a:latin typeface="Times New Roman" panose="02020603050405020304" pitchFamily="18" charset="0"/>
                    <a:cs typeface="Times New Roman" panose="02020603050405020304" pitchFamily="18" charset="0"/>
                  </a:rPr>
                  <a:t> có thời gian đáp ứng phụ thuộc vào chỉ số </a:t>
                </a:r>
                <a14:m>
                  <m:oMath xmlns:m="http://schemas.openxmlformats.org/officeDocument/2006/math">
                    <m:r>
                      <a:rPr lang="vi-VN" sz="2000" i="1" smtClean="0">
                        <a:latin typeface="Cambria Math" panose="02040503050406030204" pitchFamily="18" charset="0"/>
                        <a:ea typeface="Cambria Math" panose="02040503050406030204" pitchFamily="18" charset="0"/>
                        <a:cs typeface="Times New Roman" panose="02020603050405020304" pitchFamily="18" charset="0"/>
                      </a:rPr>
                      <m:t>𝜇</m:t>
                    </m:r>
                    <m:r>
                      <a:rPr lang="vi-VN" sz="2000" b="0" i="1"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vi-VN" sz="2000" i="1">
                        <a:latin typeface="Cambria Math" panose="02040503050406030204" pitchFamily="18" charset="0"/>
                        <a:ea typeface="Cambria Math" panose="02040503050406030204" pitchFamily="18" charset="0"/>
                        <a:cs typeface="Times New Roman" panose="02020603050405020304" pitchFamily="18" charset="0"/>
                      </a:rPr>
                      <m:t>c</m:t>
                    </m:r>
                    <m:r>
                      <a:rPr lang="vi-VN" sz="2000" i="1">
                        <a:latin typeface="Cambria Math" panose="02040503050406030204" pitchFamily="18" charset="0"/>
                        <a:ea typeface="Cambria Math" panose="02040503050406030204" pitchFamily="18" charset="0"/>
                        <a:cs typeface="Times New Roman" panose="02020603050405020304" pitchFamily="18" charset="0"/>
                      </a:rPr>
                      <m:t>ó</m:t>
                    </m:r>
                  </m:oMath>
                </a14:m>
                <a:r>
                  <a:rPr lang="vi-VN" sz="2000">
                    <a:latin typeface="Times New Roman" panose="02020603050405020304" pitchFamily="18" charset="0"/>
                    <a:cs typeface="Times New Roman" panose="02020603050405020304" pitchFamily="18" charset="0"/>
                  </a:rPr>
                  <a:t> thời gian đáp ứng nhanh hơn so với Van </a:t>
                </a:r>
                <a:r>
                  <a:rPr lang="vi-VN" sz="2000" err="1">
                    <a:latin typeface="Times New Roman" panose="02020603050405020304" pitchFamily="18" charset="0"/>
                    <a:cs typeface="Times New Roman" panose="02020603050405020304" pitchFamily="18" charset="0"/>
                  </a:rPr>
                  <a:t>der</a:t>
                </a:r>
                <a:r>
                  <a:rPr lang="vi-VN" sz="2000">
                    <a:latin typeface="Times New Roman" panose="02020603050405020304" pitchFamily="18" charset="0"/>
                    <a:cs typeface="Times New Roman" panose="02020603050405020304" pitchFamily="18" charset="0"/>
                  </a:rPr>
                  <a:t> </a:t>
                </a:r>
                <a:r>
                  <a:rPr lang="vi-VN" sz="2000" err="1">
                    <a:latin typeface="Times New Roman" panose="02020603050405020304" pitchFamily="18" charset="0"/>
                    <a:cs typeface="Times New Roman" panose="02020603050405020304" pitchFamily="18" charset="0"/>
                  </a:rPr>
                  <a:t>Pol</a:t>
                </a:r>
                <a:r>
                  <a:rPr lang="vi-VN" sz="2000">
                    <a:latin typeface="Times New Roman" panose="02020603050405020304" pitchFamily="18" charset="0"/>
                    <a:cs typeface="Times New Roman" panose="02020603050405020304" pitchFamily="18" charset="0"/>
                  </a:rPr>
                  <a:t>.</a:t>
                </a:r>
              </a:p>
            </p:txBody>
          </p:sp>
        </mc:Choice>
        <mc:Fallback xmlns="">
          <p:sp>
            <p:nvSpPr>
              <p:cNvPr id="8" name="Hộp Văn bản 7">
                <a:extLst>
                  <a:ext uri="{FF2B5EF4-FFF2-40B4-BE49-F238E27FC236}">
                    <a16:creationId xmlns:a16="http://schemas.microsoft.com/office/drawing/2014/main" id="{24974264-BDA2-9584-DB53-F7DD43B5EDE3}"/>
                  </a:ext>
                </a:extLst>
              </p:cNvPr>
              <p:cNvSpPr txBox="1">
                <a:spLocks noRot="1" noChangeAspect="1" noMove="1" noResize="1" noEditPoints="1" noAdjustHandles="1" noChangeArrowheads="1" noChangeShapeType="1" noTextEdit="1"/>
              </p:cNvSpPr>
              <p:nvPr/>
            </p:nvSpPr>
            <p:spPr>
              <a:xfrm>
                <a:off x="413530" y="1481922"/>
                <a:ext cx="11104020" cy="1938992"/>
              </a:xfrm>
              <a:prstGeom prst="rect">
                <a:avLst/>
              </a:prstGeom>
              <a:blipFill>
                <a:blip r:embed="rId3"/>
                <a:stretch>
                  <a:fillRect l="-494" t="-1572" b="-4717"/>
                </a:stretch>
              </a:blipFill>
            </p:spPr>
            <p:txBody>
              <a:bodyPr/>
              <a:lstStyle/>
              <a:p>
                <a:r>
                  <a:rPr lang="vi-VN">
                    <a:noFill/>
                  </a:rPr>
                  <a:t> </a:t>
                </a:r>
              </a:p>
            </p:txBody>
          </p:sp>
        </mc:Fallback>
      </mc:AlternateContent>
    </p:spTree>
    <p:extLst>
      <p:ext uri="{BB962C8B-B14F-4D97-AF65-F5344CB8AC3E}">
        <p14:creationId xmlns:p14="http://schemas.microsoft.com/office/powerpoint/2010/main" val="24577242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0F7FB-73AF-4DAC-2510-2990779B5429}"/>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30C00DD-930D-D5F8-1F84-CE2C67272B57}"/>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D8F90B67-772D-45AB-6F63-4EAF28709000}"/>
              </a:ext>
            </a:extLst>
          </p:cNvPr>
          <p:cNvSpPr>
            <a:spLocks noGrp="1"/>
          </p:cNvSpPr>
          <p:nvPr>
            <p:ph type="sldNum" sz="quarter" idx="12"/>
          </p:nvPr>
        </p:nvSpPr>
        <p:spPr/>
        <p:txBody>
          <a:bodyPr/>
          <a:lstStyle/>
          <a:p>
            <a:fld id="{931DD963-FD40-4A6D-88A9-402A489E81DE}" type="slidenum">
              <a:rPr lang="en-US" smtClean="0"/>
              <a:t>81</a:t>
            </a:fld>
            <a:endParaRPr lang="en-US"/>
          </a:p>
        </p:txBody>
      </p:sp>
      <p:grpSp>
        <p:nvGrpSpPr>
          <p:cNvPr id="10" name="Group 9">
            <a:extLst>
              <a:ext uri="{FF2B5EF4-FFF2-40B4-BE49-F238E27FC236}">
                <a16:creationId xmlns:a16="http://schemas.microsoft.com/office/drawing/2014/main" id="{83F2ACD8-27F1-1B22-5811-589DEB2D3C24}"/>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5042DCD3-C504-13F1-9621-7B7BD23B7C33}"/>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DADD37C6-1C58-C5AA-8CA7-9CDB5BF99C52}"/>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p:sp>
        <p:nvSpPr>
          <p:cNvPr id="4" name="TextBox 3">
            <a:extLst>
              <a:ext uri="{FF2B5EF4-FFF2-40B4-BE49-F238E27FC236}">
                <a16:creationId xmlns:a16="http://schemas.microsoft.com/office/drawing/2014/main" id="{1BDA9ED6-E49D-4E11-6B0A-2ADF9A29A502}"/>
              </a:ext>
            </a:extLst>
          </p:cNvPr>
          <p:cNvSpPr txBox="1"/>
          <p:nvPr/>
        </p:nvSpPr>
        <p:spPr>
          <a:xfrm>
            <a:off x="413529" y="973021"/>
            <a:ext cx="4975264" cy="707886"/>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4.2. </a:t>
            </a:r>
            <a:r>
              <a:rPr lang="vi-VN" sz="2000" b="1">
                <a:solidFill>
                  <a:prstClr val="black"/>
                </a:solidFill>
                <a:latin typeface="Times New Roman" panose="02020603050405020304" pitchFamily="18" charset="0"/>
                <a:cs typeface="Times New Roman" panose="02020603050405020304" pitchFamily="18" charset="0"/>
              </a:rPr>
              <a:t>Lý giải về hài bậc 3 của 2 bộ dao động</a:t>
            </a:r>
          </a:p>
          <a:p>
            <a:pPr defTabSz="609585">
              <a:defRPr/>
            </a:pPr>
            <a:r>
              <a:rPr lang="vi-VN" sz="2000">
                <a:solidFill>
                  <a:prstClr val="black"/>
                </a:solidFill>
                <a:latin typeface="Times New Roman" panose="02020603050405020304" pitchFamily="18" charset="0"/>
                <a:cs typeface="Times New Roman" panose="02020603050405020304" pitchFamily="18" charset="0"/>
              </a:rPr>
              <a:t>4.2.1. Van </a:t>
            </a:r>
            <a:r>
              <a:rPr lang="vi-VN" sz="2000" err="1">
                <a:solidFill>
                  <a:prstClr val="black"/>
                </a:solidFill>
                <a:latin typeface="Times New Roman" panose="02020603050405020304" pitchFamily="18" charset="0"/>
                <a:cs typeface="Times New Roman" panose="02020603050405020304" pitchFamily="18" charset="0"/>
              </a:rPr>
              <a:t>der</a:t>
            </a:r>
            <a:r>
              <a:rPr lang="vi-VN" sz="2000">
                <a:solidFill>
                  <a:prstClr val="black"/>
                </a:solidFill>
                <a:latin typeface="Times New Roman" panose="02020603050405020304" pitchFamily="18" charset="0"/>
                <a:cs typeface="Times New Roman" panose="02020603050405020304" pitchFamily="18" charset="0"/>
              </a:rPr>
              <a:t> </a:t>
            </a:r>
            <a:r>
              <a:rPr lang="vi-VN" sz="2000" err="1">
                <a:solidFill>
                  <a:prstClr val="black"/>
                </a:solidFill>
                <a:latin typeface="Times New Roman" panose="02020603050405020304" pitchFamily="18" charset="0"/>
                <a:cs typeface="Times New Roman" panose="02020603050405020304" pitchFamily="18" charset="0"/>
              </a:rPr>
              <a:t>Pol</a:t>
            </a:r>
            <a:endParaRPr lang="en-US" sz="2000">
              <a:solidFill>
                <a:prstClr val="black"/>
              </a:solidFill>
              <a:latin typeface="Times New Roman" panose="02020603050405020304" pitchFamily="18" charset="0"/>
              <a:cs typeface="Times New Roman" panose="02020603050405020304" pitchFamily="18" charset="0"/>
            </a:endParaRPr>
          </a:p>
        </p:txBody>
      </p:sp>
      <p:sp>
        <p:nvSpPr>
          <p:cNvPr id="5" name="Hộp Văn bản 4">
            <a:extLst>
              <a:ext uri="{FF2B5EF4-FFF2-40B4-BE49-F238E27FC236}">
                <a16:creationId xmlns:a16="http://schemas.microsoft.com/office/drawing/2014/main" id="{AEC4BBB4-E9C6-1012-3CD1-66125635E102}"/>
              </a:ext>
            </a:extLst>
          </p:cNvPr>
          <p:cNvSpPr txBox="1"/>
          <p:nvPr/>
        </p:nvSpPr>
        <p:spPr>
          <a:xfrm>
            <a:off x="413529" y="1574949"/>
            <a:ext cx="5337603" cy="400110"/>
          </a:xfrm>
          <a:prstGeom prst="rect">
            <a:avLst/>
          </a:prstGeom>
          <a:noFill/>
        </p:spPr>
        <p:txBody>
          <a:bodyPr wrap="square">
            <a:spAutoFit/>
          </a:bodyPr>
          <a:lstStyle/>
          <a:p>
            <a:r>
              <a:rPr lang="vi-VN" sz="2000">
                <a:latin typeface="+mj-lt"/>
              </a:rPr>
              <a:t>- Xét từ hàm giảm chấn đã nói bên trên: </a:t>
            </a:r>
          </a:p>
        </p:txBody>
      </p:sp>
      <p:cxnSp>
        <p:nvCxnSpPr>
          <p:cNvPr id="6" name="Đường nối Thẳng 5">
            <a:extLst>
              <a:ext uri="{FF2B5EF4-FFF2-40B4-BE49-F238E27FC236}">
                <a16:creationId xmlns:a16="http://schemas.microsoft.com/office/drawing/2014/main" id="{8B3BB9A9-3567-4E9E-707F-C793F8F3617D}"/>
              </a:ext>
            </a:extLst>
          </p:cNvPr>
          <p:cNvCxnSpPr>
            <a:cxnSpLocks/>
          </p:cNvCxnSpPr>
          <p:nvPr/>
        </p:nvCxnSpPr>
        <p:spPr>
          <a:xfrm>
            <a:off x="5880489" y="1975059"/>
            <a:ext cx="0" cy="4775671"/>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Hộp Văn bản 6">
                <a:extLst>
                  <a:ext uri="{FF2B5EF4-FFF2-40B4-BE49-F238E27FC236}">
                    <a16:creationId xmlns:a16="http://schemas.microsoft.com/office/drawing/2014/main" id="{0FAEEE83-6266-3031-0DFD-6F4ACAE3B577}"/>
                  </a:ext>
                </a:extLst>
              </p:cNvPr>
              <p:cNvSpPr txBox="1"/>
              <p:nvPr/>
            </p:nvSpPr>
            <p:spPr>
              <a:xfrm>
                <a:off x="283807" y="2193756"/>
                <a:ext cx="5467323" cy="4042325"/>
              </a:xfrm>
              <a:prstGeom prst="rect">
                <a:avLst/>
              </a:prstGeom>
              <a:noFill/>
            </p:spPr>
            <p:txBody>
              <a:bodyPr wrap="square">
                <a:spAutoFit/>
              </a:bodyPr>
              <a:lstStyle/>
              <a:p>
                <a:pPr>
                  <a:lnSpc>
                    <a:spcPct val="115000"/>
                  </a:lnSpc>
                  <a:spcAft>
                    <a:spcPts val="800"/>
                  </a:spcAft>
                </a:pPr>
                <a14:m>
                  <m:oMath xmlns:m="http://schemas.openxmlformats.org/officeDocument/2006/math">
                    <m:r>
                      <a:rPr lang="en-US" i="1" kern="100" smtClean="0">
                        <a:effectLst/>
                        <a:latin typeface="Cambria Math" panose="02040503050406030204" pitchFamily="18" charset="0"/>
                        <a:ea typeface="Arial" panose="020B0604020202020204" pitchFamily="34" charset="0"/>
                        <a:cs typeface="Times New Roman" panose="02020603050405020304" pitchFamily="18" charset="0"/>
                      </a:rPr>
                      <m:t>𝜁</m:t>
                    </m:r>
                    <m:d>
                      <m:d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dPr>
                      <m:e>
                        <m:r>
                          <a:rPr lang="en-US" i="1" kern="100">
                            <a:effectLst/>
                            <a:latin typeface="Cambria Math" panose="02040503050406030204" pitchFamily="18" charset="0"/>
                            <a:ea typeface="Arial" panose="020B0604020202020204" pitchFamily="34" charset="0"/>
                            <a:cs typeface="Times New Roman" panose="02020603050405020304" pitchFamily="18" charset="0"/>
                          </a:rPr>
                          <m:t>𝑥</m:t>
                        </m:r>
                        <m:r>
                          <a:rPr lang="en-US" i="1" kern="100">
                            <a:effectLst/>
                            <a:latin typeface="Cambria Math" panose="02040503050406030204" pitchFamily="18" charset="0"/>
                            <a:ea typeface="Arial" panose="020B0604020202020204" pitchFamily="34" charset="0"/>
                            <a:cs typeface="Times New Roman" panose="02020603050405020304" pitchFamily="18" charset="0"/>
                          </a:rPr>
                          <m:t>,</m:t>
                        </m:r>
                        <m:r>
                          <a:rPr lang="en-US" i="1" kern="100">
                            <a:effectLst/>
                            <a:latin typeface="Cambria Math" panose="02040503050406030204" pitchFamily="18" charset="0"/>
                            <a:ea typeface="Arial" panose="020B0604020202020204" pitchFamily="34" charset="0"/>
                            <a:cs typeface="Times New Roman" panose="02020603050405020304" pitchFamily="18" charset="0"/>
                          </a:rPr>
                          <m:t>𝑦</m:t>
                        </m:r>
                      </m:e>
                    </m:d>
                    <m:r>
                      <a:rPr lang="en-US" i="1" kern="100">
                        <a:effectLst/>
                        <a:latin typeface="Cambria Math" panose="02040503050406030204" pitchFamily="18" charset="0"/>
                        <a:ea typeface="Arial" panose="020B0604020202020204" pitchFamily="34" charset="0"/>
                        <a:cs typeface="Times New Roman" panose="02020603050405020304" pitchFamily="18" charset="0"/>
                      </a:rPr>
                      <m:t>=</m:t>
                    </m:r>
                    <m:f>
                      <m:f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i="1" kern="100">
                            <a:effectLst/>
                            <a:latin typeface="Cambria Math" panose="02040503050406030204" pitchFamily="18" charset="0"/>
                            <a:ea typeface="Arial" panose="020B0604020202020204" pitchFamily="34" charset="0"/>
                            <a:cs typeface="Times New Roman" panose="02020603050405020304" pitchFamily="18" charset="0"/>
                          </a:rPr>
                          <m:t>𝜀</m:t>
                        </m:r>
                      </m:num>
                      <m:den>
                        <m:r>
                          <a:rPr lang="en-US" i="1" kern="100">
                            <a:effectLst/>
                            <a:latin typeface="Cambria Math" panose="02040503050406030204" pitchFamily="18" charset="0"/>
                            <a:ea typeface="Arial" panose="020B0604020202020204" pitchFamily="34" charset="0"/>
                            <a:cs typeface="Times New Roman" panose="02020603050405020304" pitchFamily="18" charset="0"/>
                          </a:rPr>
                          <m:t>2</m:t>
                        </m:r>
                      </m:den>
                    </m:f>
                    <m:d>
                      <m:d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dPr>
                      <m:e>
                        <m:r>
                          <a:rPr lang="en-US" i="1" kern="100">
                            <a:effectLst/>
                            <a:latin typeface="Cambria Math" panose="02040503050406030204" pitchFamily="18" charset="0"/>
                            <a:ea typeface="Arial" panose="020B0604020202020204" pitchFamily="34" charset="0"/>
                            <a:cs typeface="Times New Roman" panose="02020603050405020304" pitchFamily="18" charset="0"/>
                          </a:rPr>
                          <m:t>3</m:t>
                        </m:r>
                        <m:r>
                          <a:rPr lang="en-US" i="1" kern="100">
                            <a:effectLst/>
                            <a:latin typeface="Cambria Math" panose="02040503050406030204" pitchFamily="18" charset="0"/>
                            <a:ea typeface="Arial" panose="020B0604020202020204" pitchFamily="34" charset="0"/>
                            <a:cs typeface="Times New Roman" panose="02020603050405020304" pitchFamily="18" charset="0"/>
                          </a:rPr>
                          <m:t>𝛼</m:t>
                        </m:r>
                        <m:sSup>
                          <m:sSup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i="1" kern="100">
                                <a:effectLst/>
                                <a:latin typeface="Cambria Math" panose="02040503050406030204" pitchFamily="18" charset="0"/>
                                <a:ea typeface="Arial" panose="020B0604020202020204" pitchFamily="34" charset="0"/>
                                <a:cs typeface="Times New Roman" panose="02020603050405020304" pitchFamily="18" charset="0"/>
                              </a:rPr>
                              <m:t>𝑥</m:t>
                            </m:r>
                          </m:e>
                          <m:sup>
                            <m:r>
                              <a:rPr lang="en-US" i="1" kern="100">
                                <a:effectLst/>
                                <a:latin typeface="Cambria Math" panose="02040503050406030204" pitchFamily="18" charset="0"/>
                                <a:ea typeface="Arial" panose="020B0604020202020204" pitchFamily="34" charset="0"/>
                                <a:cs typeface="Times New Roman" panose="02020603050405020304" pitchFamily="18" charset="0"/>
                              </a:rPr>
                              <m:t>2</m:t>
                            </m:r>
                          </m:sup>
                        </m:sSup>
                        <m:r>
                          <a:rPr lang="en-US" i="1" kern="100">
                            <a:effectLst/>
                            <a:latin typeface="Cambria Math" panose="02040503050406030204" pitchFamily="18" charset="0"/>
                            <a:ea typeface="Yu Mincho" panose="02020400000000000000" pitchFamily="18" charset="-128"/>
                            <a:cs typeface="Times New Roman" panose="02020603050405020304" pitchFamily="18" charset="0"/>
                          </a:rPr>
                          <m:t>−</m:t>
                        </m:r>
                        <m:r>
                          <a:rPr lang="en-US" i="1" kern="100">
                            <a:effectLst/>
                            <a:latin typeface="Cambria Math" panose="02040503050406030204" pitchFamily="18" charset="0"/>
                            <a:ea typeface="Yu Mincho" panose="02020400000000000000" pitchFamily="18" charset="-128"/>
                            <a:cs typeface="Times New Roman" panose="02020603050405020304" pitchFamily="18" charset="0"/>
                          </a:rPr>
                          <m:t>𝜎</m:t>
                        </m:r>
                      </m:e>
                    </m:d>
                  </m:oMath>
                </a14:m>
                <a:r>
                  <a:rPr lang="en-US" kern="100">
                    <a:effectLst/>
                    <a:latin typeface="Arial" panose="020B0604020202020204" pitchFamily="34" charset="0"/>
                    <a:ea typeface="Yu Mincho" panose="02020400000000000000" pitchFamily="18" charset="-128"/>
                    <a:cs typeface="Times New Roman" panose="02020603050405020304" pitchFamily="18" charset="0"/>
                  </a:rPr>
                  <a:t>                                    	(2)</a:t>
                </a:r>
                <a:endParaRPr lang="vi-VN"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kern="100" err="1">
                    <a:effectLst/>
                    <a:latin typeface="Arial" panose="020B0604020202020204" pitchFamily="34" charset="0"/>
                    <a:ea typeface="Yu Mincho" panose="02020400000000000000" pitchFamily="18" charset="-128"/>
                    <a:cs typeface="Times New Roman" panose="02020603050405020304" pitchFamily="18" charset="0"/>
                  </a:rPr>
                  <a:t>Đặt</a:t>
                </a:r>
                <a:r>
                  <a:rPr lang="en-US" kern="100">
                    <a:effectLst/>
                    <a:latin typeface="Arial" panose="020B0604020202020204" pitchFamily="34" charset="0"/>
                    <a:ea typeface="Yu Mincho" panose="02020400000000000000" pitchFamily="18" charset="-128"/>
                    <a:cs typeface="Times New Roman" panose="02020603050405020304" pitchFamily="18" charset="0"/>
                  </a:rPr>
                  <a:t> </a:t>
                </a:r>
                <a14:m>
                  <m:oMath xmlns:m="http://schemas.openxmlformats.org/officeDocument/2006/math">
                    <m:r>
                      <a:rPr lang="en-US" i="1" kern="100">
                        <a:effectLst/>
                        <a:latin typeface="Cambria Math" panose="02040503050406030204" pitchFamily="18" charset="0"/>
                        <a:ea typeface="Yu Mincho" panose="02020400000000000000" pitchFamily="18" charset="-128"/>
                        <a:cs typeface="Times New Roman" panose="02020603050405020304" pitchFamily="18" charset="0"/>
                      </a:rPr>
                      <m:t>𝜏</m:t>
                    </m:r>
                    <m:r>
                      <a:rPr lang="en-US" i="1" kern="100">
                        <a:effectLst/>
                        <a:latin typeface="Cambria Math" panose="02040503050406030204" pitchFamily="18" charset="0"/>
                        <a:ea typeface="Yu Mincho" panose="02020400000000000000" pitchFamily="18" charset="-128"/>
                        <a:cs typeface="Times New Roman" panose="02020603050405020304" pitchFamily="18" charset="0"/>
                      </a:rPr>
                      <m:t>=</m:t>
                    </m:r>
                    <m:sSub>
                      <m:sSub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i="1" kern="100">
                            <a:effectLst/>
                            <a:latin typeface="Cambria Math" panose="02040503050406030204" pitchFamily="18" charset="0"/>
                            <a:ea typeface="Arial" panose="020B0604020202020204" pitchFamily="34" charset="0"/>
                            <a:cs typeface="Times New Roman" panose="02020603050405020304" pitchFamily="18" charset="0"/>
                          </a:rPr>
                          <m:t>𝑒𝑞</m:t>
                        </m:r>
                      </m:sub>
                    </m:sSub>
                    <m:r>
                      <a:rPr lang="en-US" i="1" kern="100">
                        <a:effectLst/>
                        <a:latin typeface="Cambria Math" panose="02040503050406030204" pitchFamily="18" charset="0"/>
                        <a:ea typeface="Arial" panose="020B0604020202020204" pitchFamily="34" charset="0"/>
                        <a:cs typeface="Times New Roman" panose="02020603050405020304" pitchFamily="18" charset="0"/>
                      </a:rPr>
                      <m:t>𝑡</m:t>
                    </m:r>
                  </m:oMath>
                </a14:m>
                <a:r>
                  <a:rPr lang="en-US" kern="100">
                    <a:effectLst/>
                    <a:latin typeface="Arial" panose="020B0604020202020204" pitchFamily="34" charset="0"/>
                    <a:ea typeface="Yu Mincho" panose="02020400000000000000" pitchFamily="18" charset="-128"/>
                    <a:cs typeface="Times New Roman" panose="02020603050405020304" pitchFamily="18" charset="0"/>
                  </a:rPr>
                  <a:t> </a:t>
                </a:r>
                <a:r>
                  <a:rPr lang="en-US" kern="100" err="1">
                    <a:effectLst/>
                    <a:latin typeface="Arial" panose="020B0604020202020204" pitchFamily="34" charset="0"/>
                    <a:ea typeface="Yu Mincho" panose="02020400000000000000" pitchFamily="18" charset="-128"/>
                    <a:cs typeface="Times New Roman" panose="02020603050405020304" pitchFamily="18" charset="0"/>
                  </a:rPr>
                  <a:t>để</a:t>
                </a:r>
                <a:r>
                  <a:rPr lang="en-US" kern="100">
                    <a:effectLst/>
                    <a:latin typeface="Arial" panose="020B0604020202020204" pitchFamily="34" charset="0"/>
                    <a:ea typeface="Yu Mincho" panose="02020400000000000000" pitchFamily="18" charset="-128"/>
                    <a:cs typeface="Times New Roman" panose="02020603050405020304" pitchFamily="18" charset="0"/>
                  </a:rPr>
                  <a:t> </a:t>
                </a:r>
                <a:r>
                  <a:rPr lang="en-US" kern="100" err="1">
                    <a:effectLst/>
                    <a:latin typeface="Arial" panose="020B0604020202020204" pitchFamily="34" charset="0"/>
                    <a:ea typeface="Yu Mincho" panose="02020400000000000000" pitchFamily="18" charset="-128"/>
                    <a:cs typeface="Times New Roman" panose="02020603050405020304" pitchFamily="18" charset="0"/>
                  </a:rPr>
                  <a:t>tiện</a:t>
                </a:r>
                <a:r>
                  <a:rPr lang="en-US" kern="100">
                    <a:effectLst/>
                    <a:latin typeface="Arial" panose="020B0604020202020204" pitchFamily="34" charset="0"/>
                    <a:ea typeface="Yu Mincho" panose="02020400000000000000" pitchFamily="18" charset="-128"/>
                    <a:cs typeface="Times New Roman" panose="02020603050405020304" pitchFamily="18" charset="0"/>
                  </a:rPr>
                  <a:t> </a:t>
                </a:r>
                <a:r>
                  <a:rPr lang="en-US" kern="100" err="1">
                    <a:effectLst/>
                    <a:latin typeface="Arial" panose="020B0604020202020204" pitchFamily="34" charset="0"/>
                    <a:ea typeface="Yu Mincho" panose="02020400000000000000" pitchFamily="18" charset="-128"/>
                    <a:cs typeface="Times New Roman" panose="02020603050405020304" pitchFamily="18" charset="0"/>
                  </a:rPr>
                  <a:t>phân</a:t>
                </a:r>
                <a:r>
                  <a:rPr lang="en-US" kern="100">
                    <a:effectLst/>
                    <a:latin typeface="Arial" panose="020B0604020202020204" pitchFamily="34" charset="0"/>
                    <a:ea typeface="Yu Mincho" panose="02020400000000000000" pitchFamily="18" charset="-128"/>
                    <a:cs typeface="Times New Roman" panose="02020603050405020304" pitchFamily="18" charset="0"/>
                  </a:rPr>
                  <a:t> </a:t>
                </a:r>
                <a:r>
                  <a:rPr lang="en-US" kern="100" err="1">
                    <a:effectLst/>
                    <a:latin typeface="Arial" panose="020B0604020202020204" pitchFamily="34" charset="0"/>
                    <a:ea typeface="Yu Mincho" panose="02020400000000000000" pitchFamily="18" charset="-128"/>
                    <a:cs typeface="Times New Roman" panose="02020603050405020304" pitchFamily="18" charset="0"/>
                  </a:rPr>
                  <a:t>tích</a:t>
                </a:r>
                <a:r>
                  <a:rPr lang="en-US" kern="100">
                    <a:effectLst/>
                    <a:latin typeface="Arial" panose="020B0604020202020204" pitchFamily="34" charset="0"/>
                    <a:ea typeface="Yu Mincho" panose="02020400000000000000" pitchFamily="18" charset="-128"/>
                    <a:cs typeface="Times New Roman" panose="02020603050405020304" pitchFamily="18" charset="0"/>
                  </a:rPr>
                  <a:t>, </a:t>
                </a:r>
                <a14:m>
                  <m:oMath xmlns:m="http://schemas.openxmlformats.org/officeDocument/2006/math">
                    <m:sSub>
                      <m:sSub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i="1" kern="100">
                            <a:effectLst/>
                            <a:latin typeface="Cambria Math" panose="02040503050406030204" pitchFamily="18" charset="0"/>
                            <a:ea typeface="Arial" panose="020B0604020202020204" pitchFamily="34" charset="0"/>
                            <a:cs typeface="Times New Roman" panose="02020603050405020304" pitchFamily="18" charset="0"/>
                          </a:rPr>
                          <m:t>𝑒𝑞</m:t>
                        </m:r>
                      </m:sub>
                    </m:sSub>
                    <m:r>
                      <a:rPr lang="en-US" i="1" kern="100">
                        <a:effectLst/>
                        <a:latin typeface="Cambria Math" panose="02040503050406030204" pitchFamily="18" charset="0"/>
                        <a:ea typeface="Arial" panose="020B0604020202020204" pitchFamily="34" charset="0"/>
                        <a:cs typeface="Times New Roman" panose="02020603050405020304" pitchFamily="18" charset="0"/>
                      </a:rPr>
                      <m:t> </m:t>
                    </m:r>
                  </m:oMath>
                </a14:m>
                <a:r>
                  <a:rPr lang="en-US" kern="100" err="1">
                    <a:effectLst/>
                    <a:latin typeface="Arial" panose="020B0604020202020204" pitchFamily="34" charset="0"/>
                    <a:ea typeface="Yu Mincho" panose="02020400000000000000" pitchFamily="18" charset="-128"/>
                    <a:cs typeface="Times New Roman" panose="02020603050405020304" pitchFamily="18" charset="0"/>
                  </a:rPr>
                  <a:t>là</a:t>
                </a:r>
                <a:r>
                  <a:rPr lang="en-US" kern="100">
                    <a:effectLst/>
                    <a:latin typeface="Arial" panose="020B0604020202020204" pitchFamily="34" charset="0"/>
                    <a:ea typeface="Yu Mincho" panose="02020400000000000000" pitchFamily="18" charset="-128"/>
                    <a:cs typeface="Times New Roman" panose="02020603050405020304" pitchFamily="18" charset="0"/>
                  </a:rPr>
                  <a:t> </a:t>
                </a:r>
                <a:r>
                  <a:rPr lang="en-US" kern="100" err="1">
                    <a:effectLst/>
                    <a:latin typeface="Arial" panose="020B0604020202020204" pitchFamily="34" charset="0"/>
                    <a:ea typeface="Yu Mincho" panose="02020400000000000000" pitchFamily="18" charset="-128"/>
                    <a:cs typeface="Times New Roman" panose="02020603050405020304" pitchFamily="18" charset="0"/>
                  </a:rPr>
                  <a:t>tần</a:t>
                </a:r>
                <a:r>
                  <a:rPr lang="en-US" kern="100">
                    <a:effectLst/>
                    <a:latin typeface="Arial" panose="020B0604020202020204" pitchFamily="34" charset="0"/>
                    <a:ea typeface="Yu Mincho" panose="02020400000000000000" pitchFamily="18" charset="-128"/>
                    <a:cs typeface="Times New Roman" panose="02020603050405020304" pitchFamily="18" charset="0"/>
                  </a:rPr>
                  <a:t> </a:t>
                </a:r>
                <a:r>
                  <a:rPr lang="en-US" kern="100" err="1">
                    <a:effectLst/>
                    <a:latin typeface="Arial" panose="020B0604020202020204" pitchFamily="34" charset="0"/>
                    <a:ea typeface="Yu Mincho" panose="02020400000000000000" pitchFamily="18" charset="-128"/>
                    <a:cs typeface="Times New Roman" panose="02020603050405020304" pitchFamily="18" charset="0"/>
                  </a:rPr>
                  <a:t>số</a:t>
                </a:r>
                <a:r>
                  <a:rPr lang="en-US" kern="100">
                    <a:effectLst/>
                    <a:latin typeface="Arial" panose="020B0604020202020204" pitchFamily="34" charset="0"/>
                    <a:ea typeface="Yu Mincho" panose="02020400000000000000" pitchFamily="18" charset="-128"/>
                    <a:cs typeface="Times New Roman" panose="02020603050405020304" pitchFamily="18" charset="0"/>
                  </a:rPr>
                  <a:t> dao </a:t>
                </a:r>
                <a:r>
                  <a:rPr lang="en-US" kern="100" err="1">
                    <a:effectLst/>
                    <a:latin typeface="Arial" panose="020B0604020202020204" pitchFamily="34" charset="0"/>
                    <a:ea typeface="Yu Mincho" panose="02020400000000000000" pitchFamily="18" charset="-128"/>
                    <a:cs typeface="Times New Roman" panose="02020603050405020304" pitchFamily="18" charset="0"/>
                  </a:rPr>
                  <a:t>động</a:t>
                </a:r>
                <a:r>
                  <a:rPr lang="en-US" kern="100">
                    <a:effectLst/>
                    <a:latin typeface="Arial" panose="020B0604020202020204" pitchFamily="34" charset="0"/>
                    <a:ea typeface="Yu Mincho" panose="02020400000000000000" pitchFamily="18" charset="-128"/>
                    <a:cs typeface="Times New Roman" panose="02020603050405020304" pitchFamily="18" charset="0"/>
                  </a:rPr>
                  <a:t> </a:t>
                </a:r>
                <a:r>
                  <a:rPr lang="en-US" kern="100" err="1">
                    <a:effectLst/>
                    <a:latin typeface="Arial" panose="020B0604020202020204" pitchFamily="34" charset="0"/>
                    <a:ea typeface="Yu Mincho" panose="02020400000000000000" pitchFamily="18" charset="-128"/>
                    <a:cs typeface="Times New Roman" panose="02020603050405020304" pitchFamily="18" charset="0"/>
                  </a:rPr>
                  <a:t>cân</a:t>
                </a:r>
                <a:r>
                  <a:rPr lang="en-US" kern="100">
                    <a:effectLst/>
                    <a:latin typeface="Arial" panose="020B0604020202020204" pitchFamily="34" charset="0"/>
                    <a:ea typeface="Yu Mincho" panose="02020400000000000000" pitchFamily="18" charset="-128"/>
                    <a:cs typeface="Times New Roman" panose="02020603050405020304" pitchFamily="18" charset="0"/>
                  </a:rPr>
                  <a:t> </a:t>
                </a:r>
                <a:r>
                  <a:rPr lang="en-US" kern="100" err="1">
                    <a:effectLst/>
                    <a:latin typeface="Arial" panose="020B0604020202020204" pitchFamily="34" charset="0"/>
                    <a:ea typeface="Yu Mincho" panose="02020400000000000000" pitchFamily="18" charset="-128"/>
                    <a:cs typeface="Times New Roman" panose="02020603050405020304" pitchFamily="18" charset="0"/>
                  </a:rPr>
                  <a:t>bằng</a:t>
                </a:r>
                <a:endParaRPr lang="en-US" kern="100">
                  <a:effectLst/>
                  <a:latin typeface="Arial" panose="020B0604020202020204" pitchFamily="34" charset="0"/>
                  <a:ea typeface="Yu Mincho" panose="02020400000000000000" pitchFamily="18" charset="-128"/>
                  <a:cs typeface="Times New Roman" panose="02020603050405020304" pitchFamily="18" charset="0"/>
                </a:endParaRPr>
              </a:p>
              <a:p>
                <a:pPr>
                  <a:lnSpc>
                    <a:spcPct val="115000"/>
                  </a:lnSpc>
                  <a:spcAft>
                    <a:spcPts val="800"/>
                  </a:spcAft>
                </a:pPr>
                <a:r>
                  <a:rPr lang="en-US" kern="100" err="1">
                    <a:effectLst/>
                    <a:latin typeface="Arial" panose="020B0604020202020204" pitchFamily="34" charset="0"/>
                    <a:ea typeface="Arial" panose="020B0604020202020204" pitchFamily="34" charset="0"/>
                    <a:cs typeface="Times New Roman" panose="02020603050405020304" pitchFamily="18" charset="0"/>
                  </a:rPr>
                  <a:t>Từ</a:t>
                </a:r>
                <a:r>
                  <a:rPr lang="en-US" kern="100">
                    <a:effectLst/>
                    <a:latin typeface="Arial" panose="020B0604020202020204" pitchFamily="34" charset="0"/>
                    <a:ea typeface="Arial" panose="020B0604020202020204" pitchFamily="34" charset="0"/>
                    <a:cs typeface="Times New Roman" panose="02020603050405020304" pitchFamily="18" charset="0"/>
                  </a:rPr>
                  <a:t> </a:t>
                </a:r>
                <a:r>
                  <a:rPr lang="en-US" kern="100" err="1">
                    <a:effectLst/>
                    <a:latin typeface="Arial" panose="020B0604020202020204" pitchFamily="34" charset="0"/>
                    <a:ea typeface="Arial" panose="020B0604020202020204" pitchFamily="34" charset="0"/>
                    <a:cs typeface="Times New Roman" panose="02020603050405020304" pitchFamily="18" charset="0"/>
                  </a:rPr>
                  <a:t>đây</a:t>
                </a:r>
                <a:r>
                  <a:rPr lang="en-US" kern="100">
                    <a:effectLst/>
                    <a:latin typeface="Arial" panose="020B0604020202020204" pitchFamily="34" charset="0"/>
                    <a:ea typeface="Arial" panose="020B0604020202020204" pitchFamily="34" charset="0"/>
                    <a:cs typeface="Times New Roman" panose="02020603050405020304" pitchFamily="18" charset="0"/>
                  </a:rPr>
                  <a:t> </a:t>
                </a:r>
                <a:r>
                  <a:rPr lang="en-US" kern="100" err="1">
                    <a:effectLst/>
                    <a:latin typeface="Arial" panose="020B0604020202020204" pitchFamily="34" charset="0"/>
                    <a:ea typeface="Arial" panose="020B0604020202020204" pitchFamily="34" charset="0"/>
                    <a:cs typeface="Times New Roman" panose="02020603050405020304" pitchFamily="18" charset="0"/>
                  </a:rPr>
                  <a:t>đạo</a:t>
                </a:r>
                <a:r>
                  <a:rPr lang="en-US" kern="100">
                    <a:effectLst/>
                    <a:latin typeface="Arial" panose="020B0604020202020204" pitchFamily="34" charset="0"/>
                    <a:ea typeface="Arial" panose="020B0604020202020204" pitchFamily="34" charset="0"/>
                    <a:cs typeface="Times New Roman" panose="02020603050405020304" pitchFamily="18" charset="0"/>
                  </a:rPr>
                  <a:t> </a:t>
                </a:r>
                <a:r>
                  <a:rPr lang="en-US" kern="100" err="1">
                    <a:effectLst/>
                    <a:latin typeface="Arial" panose="020B0604020202020204" pitchFamily="34" charset="0"/>
                    <a:ea typeface="Arial" panose="020B0604020202020204" pitchFamily="34" charset="0"/>
                    <a:cs typeface="Times New Roman" panose="02020603050405020304" pitchFamily="18" charset="0"/>
                  </a:rPr>
                  <a:t>hàm</a:t>
                </a:r>
                <a:r>
                  <a:rPr lang="en-US" kern="100">
                    <a:effectLst/>
                    <a:latin typeface="Arial" panose="020B0604020202020204" pitchFamily="34" charset="0"/>
                    <a:ea typeface="Arial" panose="020B0604020202020204" pitchFamily="34" charset="0"/>
                    <a:cs typeface="Times New Roman" panose="02020603050405020304" pitchFamily="18" charset="0"/>
                  </a:rPr>
                  <a:t> </a:t>
                </a:r>
                <a:r>
                  <a:rPr lang="en-US" kern="100" err="1">
                    <a:effectLst/>
                    <a:latin typeface="Arial" panose="020B0604020202020204" pitchFamily="34" charset="0"/>
                    <a:ea typeface="Arial" panose="020B0604020202020204" pitchFamily="34" charset="0"/>
                    <a:cs typeface="Times New Roman" panose="02020603050405020304" pitchFamily="18" charset="0"/>
                  </a:rPr>
                  <a:t>bậc</a:t>
                </a:r>
                <a:r>
                  <a:rPr lang="en-US" kern="100">
                    <a:effectLst/>
                    <a:latin typeface="Arial" panose="020B0604020202020204" pitchFamily="34" charset="0"/>
                    <a:ea typeface="Arial" panose="020B0604020202020204" pitchFamily="34" charset="0"/>
                    <a:cs typeface="Times New Roman" panose="02020603050405020304" pitchFamily="18" charset="0"/>
                  </a:rPr>
                  <a:t> </a:t>
                </a:r>
                <a:r>
                  <a:rPr lang="en-US" kern="100" err="1">
                    <a:effectLst/>
                    <a:latin typeface="Arial" panose="020B0604020202020204" pitchFamily="34" charset="0"/>
                    <a:ea typeface="Arial" panose="020B0604020202020204" pitchFamily="34" charset="0"/>
                    <a:cs typeface="Times New Roman" panose="02020603050405020304" pitchFamily="18" charset="0"/>
                  </a:rPr>
                  <a:t>nhất</a:t>
                </a:r>
                <a:r>
                  <a:rPr lang="en-US" kern="100">
                    <a:effectLst/>
                    <a:latin typeface="Arial" panose="020B0604020202020204" pitchFamily="34" charset="0"/>
                    <a:ea typeface="Arial" panose="020B0604020202020204" pitchFamily="34" charset="0"/>
                    <a:cs typeface="Times New Roman" panose="02020603050405020304" pitchFamily="18" charset="0"/>
                  </a:rPr>
                  <a:t> </a:t>
                </a:r>
                <a:r>
                  <a:rPr lang="en-US" kern="100" err="1">
                    <a:effectLst/>
                    <a:latin typeface="Arial" panose="020B0604020202020204" pitchFamily="34" charset="0"/>
                    <a:ea typeface="Arial" panose="020B0604020202020204" pitchFamily="34" charset="0"/>
                    <a:cs typeface="Times New Roman" panose="02020603050405020304" pitchFamily="18" charset="0"/>
                  </a:rPr>
                  <a:t>và</a:t>
                </a:r>
                <a:r>
                  <a:rPr lang="en-US" kern="100">
                    <a:effectLst/>
                    <a:latin typeface="Arial" panose="020B0604020202020204" pitchFamily="34" charset="0"/>
                    <a:ea typeface="Arial" panose="020B0604020202020204" pitchFamily="34" charset="0"/>
                    <a:cs typeface="Times New Roman" panose="02020603050405020304" pitchFamily="18" charset="0"/>
                  </a:rPr>
                  <a:t> </a:t>
                </a:r>
                <a:r>
                  <a:rPr lang="en-US" kern="100" err="1">
                    <a:effectLst/>
                    <a:latin typeface="Arial" panose="020B0604020202020204" pitchFamily="34" charset="0"/>
                    <a:ea typeface="Arial" panose="020B0604020202020204" pitchFamily="34" charset="0"/>
                    <a:cs typeface="Times New Roman" panose="02020603050405020304" pitchFamily="18" charset="0"/>
                  </a:rPr>
                  <a:t>bậc</a:t>
                </a:r>
                <a:r>
                  <a:rPr lang="en-US" kern="100">
                    <a:effectLst/>
                    <a:latin typeface="Arial" panose="020B0604020202020204" pitchFamily="34" charset="0"/>
                    <a:ea typeface="Arial" panose="020B0604020202020204" pitchFamily="34" charset="0"/>
                    <a:cs typeface="Times New Roman" panose="02020603050405020304" pitchFamily="18" charset="0"/>
                  </a:rPr>
                  <a:t> </a:t>
                </a:r>
                <a:r>
                  <a:rPr lang="en-US" kern="100" err="1">
                    <a:effectLst/>
                    <a:latin typeface="Arial" panose="020B0604020202020204" pitchFamily="34" charset="0"/>
                    <a:ea typeface="Arial" panose="020B0604020202020204" pitchFamily="34" charset="0"/>
                    <a:cs typeface="Times New Roman" panose="02020603050405020304" pitchFamily="18" charset="0"/>
                  </a:rPr>
                  <a:t>hai</a:t>
                </a:r>
                <a:r>
                  <a:rPr lang="en-US" kern="100">
                    <a:effectLst/>
                    <a:latin typeface="Arial" panose="020B0604020202020204" pitchFamily="34" charset="0"/>
                    <a:ea typeface="Arial" panose="020B0604020202020204" pitchFamily="34" charset="0"/>
                    <a:cs typeface="Times New Roman" panose="02020603050405020304" pitchFamily="18" charset="0"/>
                  </a:rPr>
                  <a:t> </a:t>
                </a:r>
                <a:r>
                  <a:rPr lang="en-US" kern="100" err="1">
                    <a:effectLst/>
                    <a:latin typeface="Arial" panose="020B0604020202020204" pitchFamily="34" charset="0"/>
                    <a:ea typeface="Arial" panose="020B0604020202020204" pitchFamily="34" charset="0"/>
                    <a:cs typeface="Times New Roman" panose="02020603050405020304" pitchFamily="18" charset="0"/>
                  </a:rPr>
                  <a:t>theo</a:t>
                </a:r>
                <a:r>
                  <a:rPr lang="en-US" kern="100">
                    <a:effectLst/>
                    <a:latin typeface="Arial" panose="020B0604020202020204" pitchFamily="34" charset="0"/>
                    <a:ea typeface="Arial" panose="020B0604020202020204" pitchFamily="34" charset="0"/>
                    <a:cs typeface="Times New Roman" panose="02020603050405020304" pitchFamily="18" charset="0"/>
                  </a:rPr>
                  <a:t> </a:t>
                </a:r>
                <a14:m>
                  <m:oMath xmlns:m="http://schemas.openxmlformats.org/officeDocument/2006/math">
                    <m:r>
                      <a:rPr lang="en-US" i="1" smtClean="0">
                        <a:effectLst/>
                        <a:latin typeface="Cambria Math" panose="02040503050406030204" pitchFamily="18" charset="0"/>
                        <a:ea typeface="Yu Mincho" panose="02020400000000000000" pitchFamily="18" charset="-128"/>
                        <a:cs typeface="Arial" panose="020B0604020202020204" pitchFamily="34" charset="0"/>
                      </a:rPr>
                      <m:t>𝜏</m:t>
                    </m:r>
                  </m:oMath>
                </a14:m>
                <a:r>
                  <a:rPr lang="en-US" i="1">
                    <a:effectLst/>
                    <a:latin typeface="Arial" panose="020B0604020202020204" pitchFamily="34" charset="0"/>
                    <a:ea typeface="Yu Mincho" panose="02020400000000000000" pitchFamily="18" charset="-128"/>
                  </a:rPr>
                  <a:t> </a:t>
                </a:r>
                <a:r>
                  <a:rPr lang="en-US" err="1">
                    <a:effectLst/>
                    <a:latin typeface="Arial" panose="020B0604020202020204" pitchFamily="34" charset="0"/>
                    <a:ea typeface="Yu Mincho" panose="02020400000000000000" pitchFamily="18" charset="-128"/>
                  </a:rPr>
                  <a:t>kí</a:t>
                </a:r>
                <a:r>
                  <a:rPr lang="en-US">
                    <a:effectLst/>
                    <a:latin typeface="Arial" panose="020B0604020202020204" pitchFamily="34" charset="0"/>
                    <a:ea typeface="Yu Mincho" panose="02020400000000000000" pitchFamily="18" charset="-128"/>
                  </a:rPr>
                  <a:t> </a:t>
                </a:r>
                <a:r>
                  <a:rPr lang="en-US" err="1">
                    <a:effectLst/>
                    <a:latin typeface="Arial" panose="020B0604020202020204" pitchFamily="34" charset="0"/>
                    <a:ea typeface="Yu Mincho" panose="02020400000000000000" pitchFamily="18" charset="-128"/>
                  </a:rPr>
                  <a:t>hiệu</a:t>
                </a:r>
                <a:r>
                  <a:rPr lang="en-US">
                    <a:effectLst/>
                    <a:latin typeface="Arial" panose="020B0604020202020204" pitchFamily="34" charset="0"/>
                    <a:ea typeface="Yu Mincho" panose="02020400000000000000" pitchFamily="18" charset="-128"/>
                  </a:rPr>
                  <a:t> </a:t>
                </a:r>
                <a:r>
                  <a:rPr lang="en-US" err="1">
                    <a:effectLst/>
                    <a:latin typeface="Arial" panose="020B0604020202020204" pitchFamily="34" charset="0"/>
                    <a:ea typeface="Yu Mincho" panose="02020400000000000000" pitchFamily="18" charset="-128"/>
                  </a:rPr>
                  <a:t>là</a:t>
                </a:r>
                <a:r>
                  <a:rPr lang="en-US">
                    <a:effectLst/>
                    <a:latin typeface="Arial" panose="020B0604020202020204" pitchFamily="34" charset="0"/>
                    <a:ea typeface="Yu Mincho" panose="02020400000000000000" pitchFamily="18" charset="-128"/>
                  </a:rPr>
                  <a:t> </a:t>
                </a:r>
                <a14:m>
                  <m:oMath xmlns:m="http://schemas.openxmlformats.org/officeDocument/2006/math">
                    <m:sSup>
                      <m:sSupPr>
                        <m:ctrlPr>
                          <a:rPr lang="en-US" i="1">
                            <a:effectLst/>
                            <a:latin typeface="Cambria Math" panose="02040503050406030204" pitchFamily="18" charset="0"/>
                            <a:ea typeface="Yu Mincho" panose="02020400000000000000" pitchFamily="18" charset="-128"/>
                            <a:cs typeface="Arial" panose="020B0604020202020204" pitchFamily="34" charset="0"/>
                          </a:rPr>
                        </m:ctrlPr>
                      </m:sSupPr>
                      <m:e>
                        <m:r>
                          <a:rPr lang="en-US" i="1">
                            <a:effectLst/>
                            <a:latin typeface="Cambria Math" panose="02040503050406030204" pitchFamily="18" charset="0"/>
                            <a:ea typeface="Yu Mincho" panose="02020400000000000000" pitchFamily="18" charset="-128"/>
                            <a:cs typeface="Arial" panose="020B0604020202020204" pitchFamily="34" charset="0"/>
                          </a:rPr>
                          <m:t>𝑥</m:t>
                        </m:r>
                      </m:e>
                      <m:sup>
                        <m:r>
                          <a:rPr lang="en-US" i="1">
                            <a:effectLst/>
                            <a:latin typeface="Cambria Math" panose="02040503050406030204" pitchFamily="18" charset="0"/>
                            <a:ea typeface="Yu Mincho" panose="02020400000000000000" pitchFamily="18" charset="-128"/>
                            <a:cs typeface="Arial" panose="020B0604020202020204" pitchFamily="34" charset="0"/>
                          </a:rPr>
                          <m:t>,</m:t>
                        </m:r>
                      </m:sup>
                    </m:sSup>
                  </m:oMath>
                </a14:m>
                <a:r>
                  <a:rPr lang="en-US">
                    <a:effectLst/>
                    <a:latin typeface="Arial" panose="020B0604020202020204" pitchFamily="34" charset="0"/>
                    <a:ea typeface="Yu Mincho" panose="02020400000000000000" pitchFamily="18" charset="-128"/>
                  </a:rPr>
                  <a:t> </a:t>
                </a:r>
                <a:r>
                  <a:rPr lang="en-US" err="1">
                    <a:effectLst/>
                    <a:latin typeface="Arial" panose="020B0604020202020204" pitchFamily="34" charset="0"/>
                    <a:ea typeface="Yu Mincho" panose="02020400000000000000" pitchFamily="18" charset="-128"/>
                  </a:rPr>
                  <a:t>và</a:t>
                </a:r>
                <a14:m>
                  <m:oMath xmlns:m="http://schemas.openxmlformats.org/officeDocument/2006/math">
                    <m:sSup>
                      <m:sSupPr>
                        <m:ctrlPr>
                          <a:rPr lang="en-US" i="1">
                            <a:effectLst/>
                            <a:latin typeface="Cambria Math" panose="02040503050406030204" pitchFamily="18" charset="0"/>
                            <a:ea typeface="Yu Mincho" panose="02020400000000000000" pitchFamily="18" charset="-128"/>
                            <a:cs typeface="Arial" panose="020B0604020202020204" pitchFamily="34" charset="0"/>
                          </a:rPr>
                        </m:ctrlPr>
                      </m:sSupPr>
                      <m:e>
                        <m:r>
                          <a:rPr lang="en-US" i="1">
                            <a:effectLst/>
                            <a:latin typeface="Cambria Math" panose="02040503050406030204" pitchFamily="18" charset="0"/>
                            <a:ea typeface="Yu Mincho" panose="02020400000000000000" pitchFamily="18" charset="-128"/>
                            <a:cs typeface="Arial" panose="020B0604020202020204" pitchFamily="34" charset="0"/>
                          </a:rPr>
                          <m:t> </m:t>
                        </m:r>
                        <m:r>
                          <a:rPr lang="en-US" i="1">
                            <a:effectLst/>
                            <a:latin typeface="Cambria Math" panose="02040503050406030204" pitchFamily="18" charset="0"/>
                            <a:ea typeface="Yu Mincho" panose="02020400000000000000" pitchFamily="18" charset="-128"/>
                            <a:cs typeface="Arial" panose="020B0604020202020204" pitchFamily="34" charset="0"/>
                          </a:rPr>
                          <m:t>𝑥</m:t>
                        </m:r>
                      </m:e>
                      <m:sup>
                        <m:r>
                          <a:rPr lang="en-US" i="1">
                            <a:effectLst/>
                            <a:latin typeface="Cambria Math" panose="02040503050406030204" pitchFamily="18" charset="0"/>
                            <a:ea typeface="Yu Mincho" panose="02020400000000000000" pitchFamily="18" charset="-128"/>
                            <a:cs typeface="Arial" panose="020B0604020202020204" pitchFamily="34" charset="0"/>
                          </a:rPr>
                          <m:t>,,</m:t>
                        </m:r>
                      </m:sup>
                    </m:sSup>
                  </m:oMath>
                </a14:m>
                <a:endParaRPr lang="en-US"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Para xmlns:m="http://schemas.openxmlformats.org/officeDocument/2006/math">
                    <m:oMath>
                      <m:sSup>
                        <m:sSupPr>
                          <m:ctrlPr>
                            <a:rPr lang="en-US" i="1" kern="100">
                              <a:effectLst/>
                              <a:latin typeface="Cambria Math" panose="02040503050406030204" pitchFamily="18" charset="0"/>
                              <a:ea typeface="Yu Mincho" panose="02020400000000000000" pitchFamily="18" charset="-128"/>
                              <a:cs typeface="Times New Roman" panose="02020603050405020304" pitchFamily="18" charset="0"/>
                            </a:rPr>
                          </m:ctrlPr>
                        </m:sSupPr>
                        <m:e>
                          <m:r>
                            <a:rPr lang="en-US" i="1" kern="100">
                              <a:effectLst/>
                              <a:latin typeface="Cambria Math" panose="02040503050406030204" pitchFamily="18" charset="0"/>
                              <a:ea typeface="Yu Mincho" panose="02020400000000000000" pitchFamily="18" charset="-128"/>
                              <a:cs typeface="Times New Roman" panose="02020603050405020304" pitchFamily="18" charset="0"/>
                            </a:rPr>
                            <m:t>𝑥</m:t>
                          </m:r>
                        </m:e>
                        <m:sup>
                          <m:r>
                            <a:rPr lang="en-US" i="1" kern="100">
                              <a:effectLst/>
                              <a:latin typeface="Cambria Math" panose="02040503050406030204" pitchFamily="18" charset="0"/>
                              <a:ea typeface="Yu Mincho" panose="02020400000000000000" pitchFamily="18" charset="-128"/>
                              <a:cs typeface="Times New Roman" panose="02020603050405020304" pitchFamily="18" charset="0"/>
                            </a:rPr>
                            <m:t>,</m:t>
                          </m:r>
                        </m:sup>
                      </m:sSup>
                      <m:r>
                        <a:rPr lang="en-US" i="1" kern="100">
                          <a:effectLst/>
                          <a:latin typeface="Cambria Math" panose="02040503050406030204" pitchFamily="18" charset="0"/>
                          <a:ea typeface="Yu Mincho" panose="02020400000000000000" pitchFamily="18" charset="-128"/>
                          <a:cs typeface="Times New Roman" panose="02020603050405020304" pitchFamily="18" charset="0"/>
                        </a:rPr>
                        <m:t>=</m:t>
                      </m:r>
                      <m:f>
                        <m:fPr>
                          <m:ctrlPr>
                            <a:rPr lang="en-US" i="1" kern="100">
                              <a:effectLst/>
                              <a:latin typeface="Cambria Math" panose="02040503050406030204" pitchFamily="18" charset="0"/>
                              <a:ea typeface="Yu Mincho" panose="02020400000000000000" pitchFamily="18" charset="-128"/>
                              <a:cs typeface="Times New Roman" panose="02020603050405020304" pitchFamily="18" charset="0"/>
                            </a:rPr>
                          </m:ctrlPr>
                        </m:fPr>
                        <m:num>
                          <m:r>
                            <a:rPr lang="en-US" i="1" kern="100">
                              <a:effectLst/>
                              <a:latin typeface="Cambria Math" panose="02040503050406030204" pitchFamily="18" charset="0"/>
                              <a:ea typeface="Yu Mincho" panose="02020400000000000000" pitchFamily="18" charset="-128"/>
                              <a:cs typeface="Times New Roman" panose="02020603050405020304" pitchFamily="18" charset="0"/>
                            </a:rPr>
                            <m:t>𝑑𝑥</m:t>
                          </m:r>
                        </m:num>
                        <m:den>
                          <m:r>
                            <a:rPr lang="en-US" i="1" kern="100">
                              <a:effectLst/>
                              <a:latin typeface="Cambria Math" panose="02040503050406030204" pitchFamily="18" charset="0"/>
                              <a:ea typeface="Yu Mincho" panose="02020400000000000000" pitchFamily="18" charset="-128"/>
                              <a:cs typeface="Times New Roman" panose="02020603050405020304" pitchFamily="18" charset="0"/>
                            </a:rPr>
                            <m:t>𝑑</m:t>
                          </m:r>
                          <m:r>
                            <a:rPr lang="en-US" i="1" kern="100">
                              <a:effectLst/>
                              <a:latin typeface="Cambria Math" panose="02040503050406030204" pitchFamily="18" charset="0"/>
                              <a:ea typeface="Yu Mincho" panose="02020400000000000000" pitchFamily="18" charset="-128"/>
                              <a:cs typeface="Times New Roman" panose="02020603050405020304" pitchFamily="18" charset="0"/>
                            </a:rPr>
                            <m:t>𝜏</m:t>
                          </m:r>
                        </m:den>
                      </m:f>
                      <m:r>
                        <a:rPr lang="en-US" i="1" kern="100">
                          <a:effectLst/>
                          <a:latin typeface="Cambria Math" panose="02040503050406030204" pitchFamily="18" charset="0"/>
                          <a:ea typeface="Yu Mincho" panose="02020400000000000000" pitchFamily="18" charset="-128"/>
                          <a:cs typeface="Times New Roman" panose="02020603050405020304" pitchFamily="18" charset="0"/>
                        </a:rPr>
                        <m:t>=</m:t>
                      </m:r>
                      <m:f>
                        <m:fPr>
                          <m:ctrlPr>
                            <a:rPr lang="en-US" i="1" kern="100">
                              <a:effectLst/>
                              <a:latin typeface="Cambria Math" panose="02040503050406030204" pitchFamily="18" charset="0"/>
                              <a:ea typeface="Yu Mincho" panose="02020400000000000000" pitchFamily="18" charset="-128"/>
                              <a:cs typeface="Times New Roman" panose="02020603050405020304" pitchFamily="18" charset="0"/>
                            </a:rPr>
                          </m:ctrlPr>
                        </m:fPr>
                        <m:num>
                          <m:r>
                            <a:rPr lang="en-US" i="1" kern="100">
                              <a:effectLst/>
                              <a:latin typeface="Cambria Math" panose="02040503050406030204" pitchFamily="18" charset="0"/>
                              <a:ea typeface="Yu Mincho" panose="02020400000000000000" pitchFamily="18" charset="-128"/>
                              <a:cs typeface="Times New Roman" panose="02020603050405020304" pitchFamily="18" charset="0"/>
                            </a:rPr>
                            <m:t>𝑑𝑡</m:t>
                          </m:r>
                        </m:num>
                        <m:den>
                          <m:r>
                            <a:rPr lang="en-US" i="1" kern="100">
                              <a:effectLst/>
                              <a:latin typeface="Cambria Math" panose="02040503050406030204" pitchFamily="18" charset="0"/>
                              <a:ea typeface="Yu Mincho" panose="02020400000000000000" pitchFamily="18" charset="-128"/>
                              <a:cs typeface="Times New Roman" panose="02020603050405020304" pitchFamily="18" charset="0"/>
                            </a:rPr>
                            <m:t>𝑑</m:t>
                          </m:r>
                          <m:r>
                            <a:rPr lang="en-US" i="1" kern="100">
                              <a:effectLst/>
                              <a:latin typeface="Cambria Math" panose="02040503050406030204" pitchFamily="18" charset="0"/>
                              <a:ea typeface="Yu Mincho" panose="02020400000000000000" pitchFamily="18" charset="-128"/>
                              <a:cs typeface="Times New Roman" panose="02020603050405020304" pitchFamily="18" charset="0"/>
                            </a:rPr>
                            <m:t>𝜏</m:t>
                          </m:r>
                        </m:den>
                      </m:f>
                      <m:r>
                        <a:rPr lang="en-US" i="1" kern="100">
                          <a:effectLst/>
                          <a:latin typeface="Cambria Math" panose="02040503050406030204" pitchFamily="18" charset="0"/>
                          <a:ea typeface="Yu Mincho" panose="02020400000000000000" pitchFamily="18" charset="-128"/>
                          <a:cs typeface="Times New Roman" panose="02020603050405020304" pitchFamily="18" charset="0"/>
                        </a:rPr>
                        <m:t> . </m:t>
                      </m:r>
                      <m:f>
                        <m:fPr>
                          <m:ctrlPr>
                            <a:rPr lang="en-US" i="1" kern="100">
                              <a:effectLst/>
                              <a:latin typeface="Cambria Math" panose="02040503050406030204" pitchFamily="18" charset="0"/>
                              <a:ea typeface="Yu Mincho" panose="02020400000000000000" pitchFamily="18" charset="-128"/>
                              <a:cs typeface="Times New Roman" panose="02020603050405020304" pitchFamily="18" charset="0"/>
                            </a:rPr>
                          </m:ctrlPr>
                        </m:fPr>
                        <m:num>
                          <m:r>
                            <a:rPr lang="en-US" i="1" kern="100">
                              <a:effectLst/>
                              <a:latin typeface="Cambria Math" panose="02040503050406030204" pitchFamily="18" charset="0"/>
                              <a:ea typeface="Yu Mincho" panose="02020400000000000000" pitchFamily="18" charset="-128"/>
                              <a:cs typeface="Times New Roman" panose="02020603050405020304" pitchFamily="18" charset="0"/>
                            </a:rPr>
                            <m:t>𝑑𝑥</m:t>
                          </m:r>
                        </m:num>
                        <m:den>
                          <m:r>
                            <a:rPr lang="en-US" i="1" kern="100">
                              <a:effectLst/>
                              <a:latin typeface="Cambria Math" panose="02040503050406030204" pitchFamily="18" charset="0"/>
                              <a:ea typeface="Yu Mincho" panose="02020400000000000000" pitchFamily="18" charset="-128"/>
                              <a:cs typeface="Times New Roman" panose="02020603050405020304" pitchFamily="18" charset="0"/>
                            </a:rPr>
                            <m:t>𝑑𝑡</m:t>
                          </m:r>
                        </m:den>
                      </m:f>
                      <m:r>
                        <a:rPr lang="en-US" i="1" kern="100">
                          <a:effectLst/>
                          <a:latin typeface="Cambria Math" panose="02040503050406030204" pitchFamily="18" charset="0"/>
                          <a:ea typeface="Yu Mincho" panose="02020400000000000000" pitchFamily="18" charset="-128"/>
                          <a:cs typeface="Times New Roman" panose="02020603050405020304" pitchFamily="18" charset="0"/>
                        </a:rPr>
                        <m:t>=</m:t>
                      </m:r>
                      <m:sSup>
                        <m:sSupPr>
                          <m:ctrlPr>
                            <a:rPr lang="vi-VN"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i="1" kern="100">
                                  <a:effectLst/>
                                  <a:latin typeface="Cambria Math" panose="02040503050406030204" pitchFamily="18" charset="0"/>
                                  <a:ea typeface="Arial" panose="020B0604020202020204" pitchFamily="34" charset="0"/>
                                  <a:cs typeface="Times New Roman" panose="02020603050405020304" pitchFamily="18" charset="0"/>
                                </a:rPr>
                                <m:t>𝑒𝑞</m:t>
                              </m:r>
                            </m:sub>
                          </m:sSub>
                        </m:e>
                        <m:sup>
                          <m:r>
                            <a:rPr lang="en-US" i="1" kern="100">
                              <a:effectLst/>
                              <a:latin typeface="Cambria Math" panose="02040503050406030204" pitchFamily="18" charset="0"/>
                              <a:ea typeface="Yu Mincho" panose="02020400000000000000" pitchFamily="18" charset="-128"/>
                              <a:cs typeface="Times New Roman" panose="02020603050405020304" pitchFamily="18" charset="0"/>
                            </a:rPr>
                            <m:t>−1</m:t>
                          </m:r>
                        </m:sup>
                      </m:sSup>
                      <m:r>
                        <a:rPr lang="en-US" i="1" kern="100">
                          <a:effectLst/>
                          <a:latin typeface="Cambria Math" panose="02040503050406030204" pitchFamily="18" charset="0"/>
                          <a:ea typeface="Yu Mincho" panose="02020400000000000000" pitchFamily="18" charset="-128"/>
                          <a:cs typeface="Times New Roman" panose="02020603050405020304" pitchFamily="18" charset="0"/>
                        </a:rPr>
                        <m:t>.</m:t>
                      </m:r>
                      <m:r>
                        <a:rPr lang="en-US" i="1" kern="100">
                          <a:effectLst/>
                          <a:latin typeface="Cambria Math" panose="02040503050406030204" pitchFamily="18" charset="0"/>
                          <a:ea typeface="Arial" panose="020B0604020202020204" pitchFamily="34" charset="0"/>
                          <a:cs typeface="Times New Roman" panose="02020603050405020304" pitchFamily="18" charset="0"/>
                        </a:rPr>
                        <m:t> </m:t>
                      </m:r>
                      <m:acc>
                        <m:accPr>
                          <m:chr m:val="̇"/>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i="1" kern="100">
                              <a:effectLst/>
                              <a:latin typeface="Cambria Math" panose="02040503050406030204" pitchFamily="18" charset="0"/>
                              <a:ea typeface="Arial" panose="020B0604020202020204" pitchFamily="34" charset="0"/>
                              <a:cs typeface="Times New Roman" panose="02020603050405020304" pitchFamily="18" charset="0"/>
                            </a:rPr>
                            <m:t>𝑥</m:t>
                          </m:r>
                        </m:e>
                      </m:acc>
                    </m:oMath>
                  </m:oMathPara>
                </a14:m>
                <a:endParaRPr lang="vi-VN"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Para xmlns:m="http://schemas.openxmlformats.org/officeDocument/2006/math">
                    <m:oMath>
                      <m:sSup>
                        <m:sSupPr>
                          <m:ctrlPr>
                            <a:rPr lang="en-US" i="1" kern="100">
                              <a:effectLst/>
                              <a:latin typeface="Cambria Math" panose="02040503050406030204" pitchFamily="18" charset="0"/>
                              <a:ea typeface="Yu Mincho" panose="02020400000000000000" pitchFamily="18" charset="-128"/>
                              <a:cs typeface="Times New Roman" panose="02020603050405020304" pitchFamily="18" charset="0"/>
                            </a:rPr>
                          </m:ctrlPr>
                        </m:sSupPr>
                        <m:e>
                          <m:r>
                            <a:rPr lang="en-US" i="1" kern="100">
                              <a:effectLst/>
                              <a:latin typeface="Cambria Math" panose="02040503050406030204" pitchFamily="18" charset="0"/>
                              <a:ea typeface="Yu Mincho" panose="02020400000000000000" pitchFamily="18" charset="-128"/>
                              <a:cs typeface="Times New Roman" panose="02020603050405020304" pitchFamily="18" charset="0"/>
                            </a:rPr>
                            <m:t>𝑥</m:t>
                          </m:r>
                        </m:e>
                        <m:sup>
                          <m:r>
                            <a:rPr lang="en-US" i="1" kern="100">
                              <a:effectLst/>
                              <a:latin typeface="Cambria Math" panose="02040503050406030204" pitchFamily="18" charset="0"/>
                              <a:ea typeface="Yu Mincho" panose="02020400000000000000" pitchFamily="18" charset="-128"/>
                              <a:cs typeface="Times New Roman" panose="02020603050405020304" pitchFamily="18" charset="0"/>
                            </a:rPr>
                            <m:t>,,</m:t>
                          </m:r>
                        </m:sup>
                      </m:sSup>
                      <m:r>
                        <a:rPr lang="en-US" i="1" kern="100">
                          <a:effectLst/>
                          <a:latin typeface="Cambria Math" panose="02040503050406030204" pitchFamily="18" charset="0"/>
                          <a:ea typeface="Yu Mincho" panose="02020400000000000000" pitchFamily="18" charset="-128"/>
                          <a:cs typeface="Times New Roman" panose="02020603050405020304" pitchFamily="18" charset="0"/>
                        </a:rPr>
                        <m:t>=</m:t>
                      </m:r>
                      <m:sSup>
                        <m:sSupPr>
                          <m:ctrlPr>
                            <a:rPr lang="vi-VN"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i="1" kern="100">
                                  <a:effectLst/>
                                  <a:latin typeface="Cambria Math" panose="02040503050406030204" pitchFamily="18" charset="0"/>
                                  <a:ea typeface="Arial" panose="020B0604020202020204" pitchFamily="34" charset="0"/>
                                  <a:cs typeface="Times New Roman" panose="02020603050405020304" pitchFamily="18" charset="0"/>
                                </a:rPr>
                                <m:t>𝑒𝑞</m:t>
                              </m:r>
                            </m:sub>
                          </m:sSub>
                        </m:e>
                        <m:sup>
                          <m:r>
                            <a:rPr lang="en-US" i="1" kern="100">
                              <a:effectLst/>
                              <a:latin typeface="Cambria Math" panose="02040503050406030204" pitchFamily="18" charset="0"/>
                              <a:ea typeface="Yu Mincho" panose="02020400000000000000" pitchFamily="18" charset="-128"/>
                              <a:cs typeface="Times New Roman" panose="02020603050405020304" pitchFamily="18" charset="0"/>
                            </a:rPr>
                            <m:t>−2</m:t>
                          </m:r>
                        </m:sup>
                      </m:sSup>
                      <m:r>
                        <a:rPr lang="en-US" i="1" kern="100">
                          <a:effectLst/>
                          <a:latin typeface="Cambria Math" panose="02040503050406030204" pitchFamily="18" charset="0"/>
                          <a:ea typeface="Yu Mincho" panose="02020400000000000000" pitchFamily="18" charset="-128"/>
                          <a:cs typeface="Times New Roman" panose="02020603050405020304" pitchFamily="18" charset="0"/>
                        </a:rPr>
                        <m:t>.</m:t>
                      </m:r>
                      <m:r>
                        <a:rPr lang="en-US" i="1" kern="100">
                          <a:effectLst/>
                          <a:latin typeface="Cambria Math" panose="02040503050406030204" pitchFamily="18" charset="0"/>
                          <a:ea typeface="Arial" panose="020B0604020202020204" pitchFamily="34" charset="0"/>
                          <a:cs typeface="Times New Roman" panose="02020603050405020304" pitchFamily="18" charset="0"/>
                        </a:rPr>
                        <m:t> </m:t>
                      </m:r>
                      <m:acc>
                        <m:accPr>
                          <m:chr m:val="̈"/>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i="1" kern="100">
                              <a:effectLst/>
                              <a:latin typeface="Cambria Math" panose="02040503050406030204" pitchFamily="18" charset="0"/>
                              <a:ea typeface="Arial" panose="020B0604020202020204" pitchFamily="34" charset="0"/>
                              <a:cs typeface="Times New Roman" panose="02020603050405020304" pitchFamily="18" charset="0"/>
                            </a:rPr>
                            <m:t>𝑥</m:t>
                          </m:r>
                        </m:e>
                      </m:acc>
                    </m:oMath>
                  </m:oMathPara>
                </a14:m>
                <a:endParaRPr lang="vi-VN"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Thay</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vào</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(1) ta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được</a:t>
                </a:r>
                <a:endParaRPr lang="vi-VN"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 xmlns:m="http://schemas.openxmlformats.org/officeDocument/2006/math">
                    <m:sSup>
                      <m:sSupPr>
                        <m:ctrlPr>
                          <a:rPr lang="vi-VN"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i="1" kern="100">
                                <a:effectLst/>
                                <a:latin typeface="Cambria Math" panose="02040503050406030204" pitchFamily="18" charset="0"/>
                                <a:ea typeface="Arial" panose="020B0604020202020204" pitchFamily="34" charset="0"/>
                                <a:cs typeface="Times New Roman" panose="02020603050405020304" pitchFamily="18" charset="0"/>
                              </a:rPr>
                              <m:t>𝑒𝑞</m:t>
                            </m:r>
                          </m:sub>
                        </m:sSub>
                      </m:e>
                      <m:sup>
                        <m:r>
                          <a:rPr lang="en-US" i="1" kern="100">
                            <a:effectLst/>
                            <a:latin typeface="Cambria Math" panose="02040503050406030204" pitchFamily="18" charset="0"/>
                            <a:ea typeface="Yu Mincho" panose="02020400000000000000" pitchFamily="18" charset="-128"/>
                            <a:cs typeface="Times New Roman" panose="02020603050405020304" pitchFamily="18" charset="0"/>
                          </a:rPr>
                          <m:t>2</m:t>
                        </m:r>
                      </m:sup>
                    </m:sSup>
                    <m:sSup>
                      <m:sSupPr>
                        <m:ctrlPr>
                          <a:rPr lang="en-US" i="1" kern="100">
                            <a:effectLst/>
                            <a:latin typeface="Cambria Math" panose="02040503050406030204" pitchFamily="18" charset="0"/>
                            <a:ea typeface="Yu Mincho" panose="02020400000000000000" pitchFamily="18" charset="-128"/>
                            <a:cs typeface="Times New Roman" panose="02020603050405020304" pitchFamily="18" charset="0"/>
                          </a:rPr>
                        </m:ctrlPr>
                      </m:sSupPr>
                      <m:e>
                        <m:r>
                          <a:rPr lang="en-US" i="1" kern="100">
                            <a:effectLst/>
                            <a:latin typeface="Cambria Math" panose="02040503050406030204" pitchFamily="18" charset="0"/>
                            <a:ea typeface="Yu Mincho" panose="02020400000000000000" pitchFamily="18" charset="-128"/>
                            <a:cs typeface="Times New Roman" panose="02020603050405020304" pitchFamily="18" charset="0"/>
                          </a:rPr>
                          <m:t>𝑥</m:t>
                        </m:r>
                      </m:e>
                      <m:sup>
                        <m:r>
                          <a:rPr lang="en-US" i="1" kern="100">
                            <a:effectLst/>
                            <a:latin typeface="Cambria Math" panose="02040503050406030204" pitchFamily="18" charset="0"/>
                            <a:ea typeface="Yu Mincho" panose="02020400000000000000" pitchFamily="18" charset="-128"/>
                            <a:cs typeface="Times New Roman" panose="02020603050405020304" pitchFamily="18" charset="0"/>
                          </a:rPr>
                          <m:t>,,</m:t>
                        </m:r>
                      </m:sup>
                    </m:sSup>
                    <m:r>
                      <a:rPr lang="en-US" i="1" kern="100">
                        <a:effectLst/>
                        <a:latin typeface="Cambria Math" panose="02040503050406030204" pitchFamily="18" charset="0"/>
                        <a:ea typeface="Yu Mincho" panose="02020400000000000000" pitchFamily="18" charset="-128"/>
                        <a:cs typeface="Times New Roman" panose="02020603050405020304" pitchFamily="18" charset="0"/>
                      </a:rPr>
                      <m:t>+</m:t>
                    </m:r>
                    <m:r>
                      <a:rPr lang="en-US" i="1" kern="100">
                        <a:effectLst/>
                        <a:latin typeface="Cambria Math" panose="02040503050406030204" pitchFamily="18" charset="0"/>
                        <a:ea typeface="Arial" panose="020B0604020202020204" pitchFamily="34" charset="0"/>
                        <a:cs typeface="Times New Roman" panose="02020603050405020304" pitchFamily="18" charset="0"/>
                      </a:rPr>
                      <m:t>2</m:t>
                    </m:r>
                    <m:r>
                      <a:rPr lang="en-US" i="1" kern="100">
                        <a:effectLst/>
                        <a:latin typeface="Cambria Math" panose="02040503050406030204" pitchFamily="18" charset="0"/>
                        <a:ea typeface="Arial" panose="020B0604020202020204" pitchFamily="34" charset="0"/>
                        <a:cs typeface="Times New Roman" panose="02020603050405020304" pitchFamily="18" charset="0"/>
                      </a:rPr>
                      <m:t>𝜁</m:t>
                    </m:r>
                    <m:d>
                      <m:d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dPr>
                      <m:e>
                        <m:r>
                          <a:rPr lang="en-US" i="1" kern="100">
                            <a:effectLst/>
                            <a:latin typeface="Cambria Math" panose="02040503050406030204" pitchFamily="18" charset="0"/>
                            <a:ea typeface="Arial" panose="020B0604020202020204" pitchFamily="34" charset="0"/>
                            <a:cs typeface="Times New Roman" panose="02020603050405020304" pitchFamily="18" charset="0"/>
                          </a:rPr>
                          <m:t>𝑥</m:t>
                        </m:r>
                        <m:r>
                          <a:rPr lang="en-US" i="1" kern="100">
                            <a:effectLst/>
                            <a:latin typeface="Cambria Math" panose="02040503050406030204" pitchFamily="18" charset="0"/>
                            <a:ea typeface="Arial" panose="020B0604020202020204" pitchFamily="34" charset="0"/>
                            <a:cs typeface="Times New Roman" panose="02020603050405020304" pitchFamily="18" charset="0"/>
                          </a:rPr>
                          <m:t>,</m:t>
                        </m:r>
                        <m:r>
                          <a:rPr lang="en-US" i="1" kern="100">
                            <a:effectLst/>
                            <a:latin typeface="Cambria Math" panose="02040503050406030204" pitchFamily="18" charset="0"/>
                            <a:ea typeface="Arial" panose="020B0604020202020204" pitchFamily="34" charset="0"/>
                            <a:cs typeface="Times New Roman" panose="02020603050405020304" pitchFamily="18" charset="0"/>
                          </a:rPr>
                          <m:t>𝑦</m:t>
                        </m:r>
                      </m:e>
                    </m:d>
                    <m:sSub>
                      <m:sSub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i="1" kern="100">
                            <a:effectLst/>
                            <a:latin typeface="Cambria Math" panose="02040503050406030204" pitchFamily="18" charset="0"/>
                            <a:ea typeface="Arial" panose="020B0604020202020204" pitchFamily="34" charset="0"/>
                            <a:cs typeface="Times New Roman" panose="02020603050405020304" pitchFamily="18" charset="0"/>
                          </a:rPr>
                          <m:t>0</m:t>
                        </m:r>
                      </m:sub>
                    </m:sSub>
                    <m:sSub>
                      <m:sSub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i="1" kern="100">
                            <a:effectLst/>
                            <a:latin typeface="Cambria Math" panose="02040503050406030204" pitchFamily="18" charset="0"/>
                            <a:ea typeface="Arial" panose="020B0604020202020204" pitchFamily="34" charset="0"/>
                            <a:cs typeface="Times New Roman" panose="02020603050405020304" pitchFamily="18" charset="0"/>
                          </a:rPr>
                          <m:t>𝑒𝑞</m:t>
                        </m:r>
                      </m:sub>
                    </m:sSub>
                    <m:sSup>
                      <m:sSupPr>
                        <m:ctrlPr>
                          <a:rPr lang="en-US" i="1" kern="100">
                            <a:effectLst/>
                            <a:latin typeface="Cambria Math" panose="02040503050406030204" pitchFamily="18" charset="0"/>
                            <a:ea typeface="Yu Mincho" panose="02020400000000000000" pitchFamily="18" charset="-128"/>
                            <a:cs typeface="Times New Roman" panose="02020603050405020304" pitchFamily="18" charset="0"/>
                          </a:rPr>
                        </m:ctrlPr>
                      </m:sSupPr>
                      <m:e>
                        <m:r>
                          <a:rPr lang="en-US" i="1" kern="100">
                            <a:effectLst/>
                            <a:latin typeface="Cambria Math" panose="02040503050406030204" pitchFamily="18" charset="0"/>
                            <a:ea typeface="Yu Mincho" panose="02020400000000000000" pitchFamily="18" charset="-128"/>
                            <a:cs typeface="Times New Roman" panose="02020603050405020304" pitchFamily="18" charset="0"/>
                          </a:rPr>
                          <m:t>𝑥</m:t>
                        </m:r>
                      </m:e>
                      <m:sup>
                        <m:r>
                          <a:rPr lang="en-US" i="1" kern="100">
                            <a:effectLst/>
                            <a:latin typeface="Cambria Math" panose="02040503050406030204" pitchFamily="18" charset="0"/>
                            <a:ea typeface="Yu Mincho" panose="02020400000000000000" pitchFamily="18" charset="-128"/>
                            <a:cs typeface="Times New Roman" panose="02020603050405020304" pitchFamily="18" charset="0"/>
                          </a:rPr>
                          <m:t>,</m:t>
                        </m:r>
                      </m:sup>
                    </m:sSup>
                    <m:r>
                      <a:rPr lang="en-US" i="1" kern="100">
                        <a:effectLst/>
                        <a:latin typeface="Cambria Math" panose="02040503050406030204" pitchFamily="18" charset="0"/>
                        <a:ea typeface="Yu Mincho" panose="02020400000000000000" pitchFamily="18" charset="-128"/>
                        <a:cs typeface="Times New Roman" panose="02020603050405020304" pitchFamily="18" charset="0"/>
                      </a:rPr>
                      <m:t>+</m:t>
                    </m:r>
                    <m:sSup>
                      <m:sSupPr>
                        <m:ctrlPr>
                          <a:rPr lang="vi-VN"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i="1" kern="100">
                                <a:effectLst/>
                                <a:latin typeface="Cambria Math" panose="02040503050406030204" pitchFamily="18" charset="0"/>
                                <a:ea typeface="Arial" panose="020B0604020202020204" pitchFamily="34" charset="0"/>
                                <a:cs typeface="Times New Roman" panose="02020603050405020304" pitchFamily="18" charset="0"/>
                              </a:rPr>
                              <m:t>0</m:t>
                            </m:r>
                          </m:sub>
                        </m:sSub>
                      </m:e>
                      <m:sup>
                        <m:r>
                          <a:rPr lang="en-US" i="1" kern="100">
                            <a:effectLst/>
                            <a:latin typeface="Cambria Math" panose="02040503050406030204" pitchFamily="18" charset="0"/>
                            <a:ea typeface="Arial" panose="020B0604020202020204" pitchFamily="34" charset="0"/>
                            <a:cs typeface="Times New Roman" panose="02020603050405020304" pitchFamily="18" charset="0"/>
                          </a:rPr>
                          <m:t>2</m:t>
                        </m:r>
                      </m:sup>
                    </m:sSup>
                    <m:r>
                      <a:rPr lang="en-US" i="1" kern="100">
                        <a:effectLst/>
                        <a:latin typeface="Cambria Math" panose="02040503050406030204" pitchFamily="18" charset="0"/>
                        <a:ea typeface="Arial" panose="020B0604020202020204" pitchFamily="34" charset="0"/>
                        <a:cs typeface="Times New Roman" panose="02020603050405020304" pitchFamily="18" charset="0"/>
                      </a:rPr>
                      <m:t>𝑥</m:t>
                    </m:r>
                    <m:r>
                      <a:rPr lang="en-US" i="1" kern="100">
                        <a:effectLst/>
                        <a:latin typeface="Cambria Math" panose="02040503050406030204" pitchFamily="18" charset="0"/>
                        <a:ea typeface="Arial" panose="020B0604020202020204" pitchFamily="34" charset="0"/>
                        <a:cs typeface="Times New Roman" panose="02020603050405020304" pitchFamily="18" charset="0"/>
                      </a:rPr>
                      <m:t>=0 </m:t>
                    </m:r>
                  </m:oMath>
                </a14:m>
                <a:r>
                  <a:rPr lang="en-US" kern="100">
                    <a:effectLst/>
                    <a:latin typeface="Cambria Math" panose="02040503050406030204" pitchFamily="18" charset="0"/>
                    <a:ea typeface="Yu Mincho" panose="02020400000000000000" pitchFamily="18" charset="-128"/>
                    <a:cs typeface="Times New Roman" panose="02020603050405020304" pitchFamily="18" charset="0"/>
                  </a:rPr>
                  <a:t>	(3)</a:t>
                </a:r>
                <a:endParaRPr lang="vi-VN" kern="100">
                  <a:effectLst/>
                  <a:latin typeface="Arial" panose="020B0604020202020204" pitchFamily="34" charset="0"/>
                  <a:ea typeface="Arial" panose="020B0604020202020204" pitchFamily="34" charset="0"/>
                  <a:cs typeface="Times New Roman" panose="02020603050405020304" pitchFamily="18" charset="0"/>
                </a:endParaRPr>
              </a:p>
            </p:txBody>
          </p:sp>
        </mc:Choice>
        <mc:Fallback xmlns="">
          <p:sp>
            <p:nvSpPr>
              <p:cNvPr id="7" name="Hộp Văn bản 6">
                <a:extLst>
                  <a:ext uri="{FF2B5EF4-FFF2-40B4-BE49-F238E27FC236}">
                    <a16:creationId xmlns:a16="http://schemas.microsoft.com/office/drawing/2014/main" id="{0FAEEE83-6266-3031-0DFD-6F4ACAE3B577}"/>
                  </a:ext>
                </a:extLst>
              </p:cNvPr>
              <p:cNvSpPr txBox="1">
                <a:spLocks noRot="1" noChangeAspect="1" noMove="1" noResize="1" noEditPoints="1" noAdjustHandles="1" noChangeArrowheads="1" noChangeShapeType="1" noTextEdit="1"/>
              </p:cNvSpPr>
              <p:nvPr/>
            </p:nvSpPr>
            <p:spPr>
              <a:xfrm>
                <a:off x="283807" y="2193756"/>
                <a:ext cx="5467323" cy="4042325"/>
              </a:xfrm>
              <a:prstGeom prst="rect">
                <a:avLst/>
              </a:prstGeom>
              <a:blipFill>
                <a:blip r:embed="rId2"/>
                <a:stretch>
                  <a:fillRect l="-1004" b="-75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A068BB34-99B6-1CB7-F6C1-7D266E42C97D}"/>
                  </a:ext>
                </a:extLst>
              </p:cNvPr>
              <p:cNvSpPr txBox="1"/>
              <p:nvPr/>
            </p:nvSpPr>
            <p:spPr>
              <a:xfrm>
                <a:off x="6057975" y="1775004"/>
                <a:ext cx="5793199" cy="5165901"/>
              </a:xfrm>
              <a:prstGeom prst="rect">
                <a:avLst/>
              </a:prstGeom>
              <a:noFill/>
            </p:spPr>
            <p:txBody>
              <a:bodyPr wrap="square">
                <a:spAutoFit/>
              </a:bodyPr>
              <a:lstStyle/>
              <a:p>
                <a:pPr>
                  <a:lnSpc>
                    <a:spcPct val="115000"/>
                  </a:lnSpc>
                  <a:spcAft>
                    <a:spcPts val="800"/>
                  </a:spcAft>
                </a:pPr>
                <a:r>
                  <a:rPr lang="en-US" kern="100">
                    <a:effectLst/>
                    <a:latin typeface="Cambria Math" panose="02040503050406030204" pitchFamily="18" charset="0"/>
                    <a:ea typeface="Yu Mincho" panose="02020400000000000000" pitchFamily="18" charset="-128"/>
                    <a:cs typeface="Times New Roman" panose="02020603050405020304" pitchFamily="18" charset="0"/>
                  </a:rPr>
                  <a:t>Ta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biểu</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diễn</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tần</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số</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cân</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bằng</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dưới</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dạng</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chuỗi</a:t>
                </a:r>
                <a:endParaRPr lang="vi-VN"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14:m>
                  <m:oMath xmlns:m="http://schemas.openxmlformats.org/officeDocument/2006/math">
                    <m:sSub>
                      <m:sSub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i="1" kern="100">
                            <a:effectLst/>
                            <a:latin typeface="Cambria Math" panose="02040503050406030204" pitchFamily="18" charset="0"/>
                            <a:ea typeface="Arial" panose="020B0604020202020204" pitchFamily="34" charset="0"/>
                            <a:cs typeface="Times New Roman" panose="02020603050405020304" pitchFamily="18" charset="0"/>
                          </a:rPr>
                          <m:t>𝑒𝑞</m:t>
                        </m:r>
                      </m:sub>
                    </m:sSub>
                    <m:r>
                      <a:rPr lang="en-US" i="1" kern="100">
                        <a:effectLst/>
                        <a:latin typeface="Cambria Math" panose="02040503050406030204" pitchFamily="18" charset="0"/>
                        <a:ea typeface="Arial" panose="020B0604020202020204" pitchFamily="34" charset="0"/>
                        <a:cs typeface="Times New Roman" panose="02020603050405020304" pitchFamily="18" charset="0"/>
                      </a:rPr>
                      <m:t>=</m:t>
                    </m:r>
                    <m:nary>
                      <m:naryPr>
                        <m:chr m:val="∑"/>
                        <m:limLoc m:val="undOv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naryPr>
                      <m:sub>
                        <m:r>
                          <a:rPr lang="en-US" i="1" kern="100">
                            <a:effectLst/>
                            <a:latin typeface="Cambria Math" panose="02040503050406030204" pitchFamily="18" charset="0"/>
                            <a:ea typeface="Arial" panose="020B0604020202020204" pitchFamily="34" charset="0"/>
                            <a:cs typeface="Times New Roman" panose="02020603050405020304" pitchFamily="18" charset="0"/>
                          </a:rPr>
                          <m:t>𝑘</m:t>
                        </m:r>
                        <m:r>
                          <a:rPr lang="en-US" i="1" kern="100">
                            <a:effectLst/>
                            <a:latin typeface="Cambria Math" panose="02040503050406030204" pitchFamily="18" charset="0"/>
                            <a:ea typeface="Arial" panose="020B0604020202020204" pitchFamily="34" charset="0"/>
                            <a:cs typeface="Times New Roman" panose="02020603050405020304" pitchFamily="18" charset="0"/>
                          </a:rPr>
                          <m:t>=0</m:t>
                        </m:r>
                      </m:sub>
                      <m:sup>
                        <m:r>
                          <a:rPr lang="en-US" i="1" kern="100">
                            <a:effectLst/>
                            <a:latin typeface="Cambria Math" panose="02040503050406030204" pitchFamily="18" charset="0"/>
                            <a:ea typeface="Arial" panose="020B0604020202020204" pitchFamily="34" charset="0"/>
                            <a:cs typeface="Times New Roman" panose="02020603050405020304" pitchFamily="18" charset="0"/>
                          </a:rPr>
                          <m:t>∞</m:t>
                        </m:r>
                      </m:sup>
                      <m:e>
                        <m:sSup>
                          <m:sSup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i="1" kern="100">
                                <a:effectLst/>
                                <a:latin typeface="Cambria Math" panose="02040503050406030204" pitchFamily="18" charset="0"/>
                                <a:ea typeface="Arial" panose="020B0604020202020204" pitchFamily="34" charset="0"/>
                                <a:cs typeface="Times New Roman" panose="02020603050405020304" pitchFamily="18" charset="0"/>
                              </a:rPr>
                              <m:t>𝜖</m:t>
                            </m:r>
                          </m:e>
                          <m:sup>
                            <m:r>
                              <a:rPr lang="en-US" i="1" kern="100">
                                <a:effectLst/>
                                <a:latin typeface="Cambria Math" panose="02040503050406030204" pitchFamily="18" charset="0"/>
                                <a:ea typeface="Arial" panose="020B0604020202020204" pitchFamily="34" charset="0"/>
                                <a:cs typeface="Times New Roman" panose="02020603050405020304" pitchFamily="18" charset="0"/>
                              </a:rPr>
                              <m:t>𝑘</m:t>
                            </m:r>
                          </m:sup>
                        </m:sSup>
                        <m:sSup>
                          <m:sSup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i="1" kern="100">
                                <a:effectLst/>
                                <a:latin typeface="Cambria Math" panose="02040503050406030204" pitchFamily="18" charset="0"/>
                                <a:ea typeface="Arial" panose="020B0604020202020204" pitchFamily="34" charset="0"/>
                                <a:cs typeface="Times New Roman" panose="02020603050405020304" pitchFamily="18" charset="0"/>
                              </a:rPr>
                              <m:t>𝜔</m:t>
                            </m:r>
                          </m:e>
                          <m:sup>
                            <m:r>
                              <a:rPr lang="en-US" i="1" kern="100">
                                <a:effectLst/>
                                <a:latin typeface="Cambria Math" panose="02040503050406030204" pitchFamily="18" charset="0"/>
                                <a:ea typeface="Arial" panose="020B0604020202020204" pitchFamily="34" charset="0"/>
                                <a:cs typeface="Times New Roman" panose="02020603050405020304" pitchFamily="18" charset="0"/>
                              </a:rPr>
                              <m:t>𝑘</m:t>
                            </m:r>
                          </m:sup>
                        </m:sSup>
                      </m:e>
                    </m:nary>
                  </m:oMath>
                </a14:m>
                <a:r>
                  <a:rPr lang="en-US" kern="100">
                    <a:effectLst/>
                    <a:latin typeface="Cambria Math" panose="02040503050406030204" pitchFamily="18" charset="0"/>
                    <a:ea typeface="Yu Mincho" panose="02020400000000000000" pitchFamily="18" charset="-128"/>
                    <a:cs typeface="Times New Roman" panose="02020603050405020304" pitchFamily="18" charset="0"/>
                  </a:rPr>
                  <a:t>                       (4)</a:t>
                </a:r>
                <a:endParaRPr lang="vi-VN"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kern="100">
                    <a:effectLst/>
                    <a:latin typeface="Cambria Math" panose="02040503050406030204" pitchFamily="18" charset="0"/>
                    <a:ea typeface="Yu Mincho" panose="02020400000000000000" pitchFamily="18" charset="-128"/>
                    <a:cs typeface="Times New Roman" panose="02020603050405020304" pitchFamily="18" charset="0"/>
                  </a:rPr>
                  <a:t>Trong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đó</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14:m>
                  <m:oMath xmlns:m="http://schemas.openxmlformats.org/officeDocument/2006/math">
                    <m:r>
                      <a:rPr lang="en-US" i="1" kern="100">
                        <a:effectLst/>
                        <a:latin typeface="Cambria Math" panose="02040503050406030204" pitchFamily="18" charset="0"/>
                        <a:ea typeface="Arial" panose="020B0604020202020204" pitchFamily="34" charset="0"/>
                        <a:cs typeface="Times New Roman" panose="02020603050405020304" pitchFamily="18" charset="0"/>
                      </a:rPr>
                      <m:t>𝜖</m:t>
                    </m:r>
                  </m:oMath>
                </a14:m>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là</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tham</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số</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không</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thứ</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nguyên</a:t>
                </a:r>
                <a:endParaRPr lang="vi-VN"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Para xmlns:m="http://schemas.openxmlformats.org/officeDocument/2006/math">
                    <m:oMath>
                      <m:r>
                        <a:rPr lang="en-US" i="1" kern="100">
                          <a:effectLst/>
                          <a:latin typeface="Cambria Math" panose="02040503050406030204" pitchFamily="18" charset="0"/>
                          <a:ea typeface="Arial" panose="020B0604020202020204" pitchFamily="34" charset="0"/>
                          <a:cs typeface="Times New Roman" panose="02020603050405020304" pitchFamily="18" charset="0"/>
                        </a:rPr>
                        <m:t>𝜖</m:t>
                      </m:r>
                      <m:r>
                        <a:rPr lang="en-US" i="1" kern="100">
                          <a:effectLst/>
                          <a:latin typeface="Cambria Math" panose="02040503050406030204" pitchFamily="18" charset="0"/>
                          <a:ea typeface="Arial" panose="020B0604020202020204" pitchFamily="34" charset="0"/>
                          <a:cs typeface="Times New Roman" panose="02020603050405020304" pitchFamily="18" charset="0"/>
                        </a:rPr>
                        <m:t>=</m:t>
                      </m:r>
                      <m:r>
                        <a:rPr lang="en-US" i="1" kern="100">
                          <a:effectLst/>
                          <a:latin typeface="Cambria Math" panose="02040503050406030204" pitchFamily="18" charset="0"/>
                          <a:ea typeface="Arial" panose="020B0604020202020204" pitchFamily="34" charset="0"/>
                          <a:cs typeface="Times New Roman" panose="02020603050405020304" pitchFamily="18" charset="0"/>
                        </a:rPr>
                        <m:t>𝜀𝜎</m:t>
                      </m:r>
                    </m:oMath>
                  </m:oMathPara>
                </a14:m>
                <a:endParaRPr lang="vi-VN"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Tỉ</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lệ</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của</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hàm</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giảm</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chấn</a:t>
                </a:r>
                <a:r>
                  <a:rPr lang="en-US" kern="100">
                    <a:effectLst/>
                    <a:latin typeface="Cambria Math" panose="02040503050406030204" pitchFamily="18" charset="0"/>
                    <a:ea typeface="Yu Mincho" panose="02020400000000000000" pitchFamily="18" charset="-128"/>
                    <a:cs typeface="Times New Roman" panose="02020603050405020304" pitchFamily="18" charset="0"/>
                  </a:rPr>
                  <a:t>:</a:t>
                </a:r>
                <a:endParaRPr lang="vi-VN"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Para xmlns:m="http://schemas.openxmlformats.org/officeDocument/2006/math">
                    <m:oMath>
                      <m:acc>
                        <m:accPr>
                          <m:chr m:val="̂"/>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i="1" kern="100">
                              <a:effectLst/>
                              <a:latin typeface="Cambria Math" panose="02040503050406030204" pitchFamily="18" charset="0"/>
                              <a:ea typeface="Arial" panose="020B0604020202020204" pitchFamily="34" charset="0"/>
                              <a:cs typeface="Times New Roman" panose="02020603050405020304" pitchFamily="18" charset="0"/>
                            </a:rPr>
                            <m:t>𝜁</m:t>
                          </m:r>
                        </m:e>
                      </m:acc>
                      <m:r>
                        <a:rPr lang="en-US" i="1" kern="100">
                          <a:effectLst/>
                          <a:latin typeface="Cambria Math" panose="02040503050406030204" pitchFamily="18" charset="0"/>
                          <a:ea typeface="Arial" panose="020B0604020202020204" pitchFamily="34" charset="0"/>
                          <a:cs typeface="Times New Roman" panose="02020603050405020304" pitchFamily="18" charset="0"/>
                        </a:rPr>
                        <m:t>(</m:t>
                      </m:r>
                      <m:r>
                        <a:rPr lang="en-US" i="1" kern="100">
                          <a:effectLst/>
                          <a:latin typeface="Cambria Math" panose="02040503050406030204" pitchFamily="18" charset="0"/>
                          <a:ea typeface="Arial" panose="020B0604020202020204" pitchFamily="34" charset="0"/>
                          <a:cs typeface="Times New Roman" panose="02020603050405020304" pitchFamily="18" charset="0"/>
                        </a:rPr>
                        <m:t>𝑥</m:t>
                      </m:r>
                      <m:r>
                        <a:rPr lang="en-US" i="1" kern="100">
                          <a:effectLst/>
                          <a:latin typeface="Cambria Math" panose="02040503050406030204" pitchFamily="18" charset="0"/>
                          <a:ea typeface="Arial" panose="020B0604020202020204" pitchFamily="34" charset="0"/>
                          <a:cs typeface="Times New Roman" panose="02020603050405020304" pitchFamily="18" charset="0"/>
                        </a:rPr>
                        <m:t>,</m:t>
                      </m:r>
                      <m:r>
                        <a:rPr lang="en-US" i="1" kern="100">
                          <a:effectLst/>
                          <a:latin typeface="Cambria Math" panose="02040503050406030204" pitchFamily="18" charset="0"/>
                          <a:ea typeface="Arial" panose="020B0604020202020204" pitchFamily="34" charset="0"/>
                          <a:cs typeface="Times New Roman" panose="02020603050405020304" pitchFamily="18" charset="0"/>
                        </a:rPr>
                        <m:t>𝑦</m:t>
                      </m:r>
                      <m:r>
                        <a:rPr lang="en-US" i="1" kern="100">
                          <a:effectLst/>
                          <a:latin typeface="Cambria Math" panose="02040503050406030204" pitchFamily="18" charset="0"/>
                          <a:ea typeface="Arial" panose="020B0604020202020204" pitchFamily="34" charset="0"/>
                          <a:cs typeface="Times New Roman" panose="02020603050405020304" pitchFamily="18" charset="0"/>
                        </a:rPr>
                        <m:t>)=</m:t>
                      </m:r>
                      <m:f>
                        <m:f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i="1" kern="100">
                              <a:effectLst/>
                              <a:latin typeface="Cambria Math" panose="02040503050406030204" pitchFamily="18" charset="0"/>
                              <a:ea typeface="Arial" panose="020B0604020202020204" pitchFamily="34" charset="0"/>
                              <a:cs typeface="Times New Roman" panose="02020603050405020304" pitchFamily="18" charset="0"/>
                            </a:rPr>
                            <m:t>1</m:t>
                          </m:r>
                        </m:num>
                        <m:den>
                          <m:r>
                            <a:rPr lang="en-US" i="1" kern="100">
                              <a:effectLst/>
                              <a:latin typeface="Cambria Math" panose="02040503050406030204" pitchFamily="18" charset="0"/>
                              <a:ea typeface="Arial" panose="020B0604020202020204" pitchFamily="34" charset="0"/>
                              <a:cs typeface="Times New Roman" panose="02020603050405020304" pitchFamily="18" charset="0"/>
                            </a:rPr>
                            <m:t>𝜖</m:t>
                          </m:r>
                        </m:den>
                      </m:f>
                      <m:r>
                        <a:rPr lang="en-US" i="1" kern="100">
                          <a:effectLst/>
                          <a:latin typeface="Cambria Math" panose="02040503050406030204" pitchFamily="18" charset="0"/>
                          <a:ea typeface="Arial" panose="020B0604020202020204" pitchFamily="34" charset="0"/>
                          <a:cs typeface="Times New Roman" panose="02020603050405020304" pitchFamily="18" charset="0"/>
                        </a:rPr>
                        <m:t>𝜁</m:t>
                      </m:r>
                      <m:d>
                        <m:d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dPr>
                        <m:e>
                          <m:r>
                            <a:rPr lang="en-US" i="1" kern="100">
                              <a:effectLst/>
                              <a:latin typeface="Cambria Math" panose="02040503050406030204" pitchFamily="18" charset="0"/>
                              <a:ea typeface="Arial" panose="020B0604020202020204" pitchFamily="34" charset="0"/>
                              <a:cs typeface="Times New Roman" panose="02020603050405020304" pitchFamily="18" charset="0"/>
                            </a:rPr>
                            <m:t>𝑥</m:t>
                          </m:r>
                          <m:r>
                            <a:rPr lang="en-US" i="1" kern="100">
                              <a:effectLst/>
                              <a:latin typeface="Cambria Math" panose="02040503050406030204" pitchFamily="18" charset="0"/>
                              <a:ea typeface="Arial" panose="020B0604020202020204" pitchFamily="34" charset="0"/>
                              <a:cs typeface="Times New Roman" panose="02020603050405020304" pitchFamily="18" charset="0"/>
                            </a:rPr>
                            <m:t>,</m:t>
                          </m:r>
                          <m:r>
                            <a:rPr lang="en-US" i="1" kern="100">
                              <a:effectLst/>
                              <a:latin typeface="Cambria Math" panose="02040503050406030204" pitchFamily="18" charset="0"/>
                              <a:ea typeface="Arial" panose="020B0604020202020204" pitchFamily="34" charset="0"/>
                              <a:cs typeface="Times New Roman" panose="02020603050405020304" pitchFamily="18" charset="0"/>
                            </a:rPr>
                            <m:t>𝑦</m:t>
                          </m:r>
                        </m:e>
                      </m:d>
                    </m:oMath>
                  </m:oMathPara>
                </a14:m>
                <a:endParaRPr lang="en-US"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Thay</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vào</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(4),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khai</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triển</a:t>
                </a:r>
                <a:r>
                  <a:rPr lang="en-US" kern="100">
                    <a:effectLst/>
                    <a:latin typeface="Cambria Math" panose="02040503050406030204" pitchFamily="18" charset="0"/>
                    <a:ea typeface="Yu Mincho" panose="02020400000000000000" pitchFamily="18" charset="-128"/>
                    <a:cs typeface="Times New Roman" panose="02020603050405020304" pitchFamily="18" charset="0"/>
                  </a:rPr>
                  <a:t> Taylor </a:t>
                </a:r>
                <a:r>
                  <a:rPr lang="en-US" kern="100" err="1">
                    <a:effectLst/>
                    <a:latin typeface="Cambria Math" panose="02040503050406030204" pitchFamily="18" charset="0"/>
                    <a:ea typeface="Yu Mincho" panose="02020400000000000000" pitchFamily="18" charset="-128"/>
                    <a:cs typeface="Times New Roman" panose="02020603050405020304" pitchFamily="18" charset="0"/>
                  </a:rPr>
                  <a:t>quanh</a:t>
                </a:r>
                <a:r>
                  <a:rPr lang="en-US" kern="100">
                    <a:effectLst/>
                    <a:latin typeface="Cambria Math" panose="02040503050406030204" pitchFamily="18" charset="0"/>
                    <a:ea typeface="Yu Mincho" panose="02020400000000000000" pitchFamily="18" charset="-128"/>
                    <a:cs typeface="Times New Roman" panose="02020603050405020304" pitchFamily="18" charset="0"/>
                  </a:rPr>
                  <a:t>(x0,y0) :</a:t>
                </a:r>
                <a:endParaRPr lang="vi-VN"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Para xmlns:m="http://schemas.openxmlformats.org/officeDocument/2006/math">
                    <m:oMath>
                      <m:acc>
                        <m:accPr>
                          <m:chr m:val="̂"/>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i="1" kern="100">
                              <a:effectLst/>
                              <a:latin typeface="Cambria Math" panose="02040503050406030204" pitchFamily="18" charset="0"/>
                              <a:ea typeface="Arial" panose="020B0604020202020204" pitchFamily="34" charset="0"/>
                              <a:cs typeface="Times New Roman" panose="02020603050405020304" pitchFamily="18" charset="0"/>
                            </a:rPr>
                            <m:t>𝜁</m:t>
                          </m:r>
                        </m:e>
                      </m:acc>
                      <m:d>
                        <m:d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dPr>
                        <m:e>
                          <m:r>
                            <a:rPr lang="en-US" i="1" kern="100">
                              <a:effectLst/>
                              <a:latin typeface="Cambria Math" panose="02040503050406030204" pitchFamily="18" charset="0"/>
                              <a:ea typeface="Arial" panose="020B0604020202020204" pitchFamily="34" charset="0"/>
                              <a:cs typeface="Times New Roman" panose="02020603050405020304" pitchFamily="18" charset="0"/>
                            </a:rPr>
                            <m:t>𝑥</m:t>
                          </m:r>
                          <m:r>
                            <a:rPr lang="en-US" i="1" kern="100">
                              <a:effectLst/>
                              <a:latin typeface="Cambria Math" panose="02040503050406030204" pitchFamily="18" charset="0"/>
                              <a:ea typeface="Arial" panose="020B0604020202020204" pitchFamily="34" charset="0"/>
                              <a:cs typeface="Times New Roman" panose="02020603050405020304" pitchFamily="18" charset="0"/>
                            </a:rPr>
                            <m:t>,</m:t>
                          </m:r>
                          <m:r>
                            <a:rPr lang="en-US" i="1" kern="100">
                              <a:effectLst/>
                              <a:latin typeface="Cambria Math" panose="02040503050406030204" pitchFamily="18" charset="0"/>
                              <a:ea typeface="Arial" panose="020B0604020202020204" pitchFamily="34" charset="0"/>
                              <a:cs typeface="Times New Roman" panose="02020603050405020304" pitchFamily="18" charset="0"/>
                            </a:rPr>
                            <m:t>𝑦</m:t>
                          </m:r>
                        </m:e>
                      </m:d>
                      <m:r>
                        <a:rPr lang="en-US" i="1" kern="100">
                          <a:effectLst/>
                          <a:latin typeface="Cambria Math" panose="02040503050406030204" pitchFamily="18" charset="0"/>
                          <a:ea typeface="Arial" panose="020B0604020202020204" pitchFamily="34" charset="0"/>
                          <a:cs typeface="Times New Roman" panose="02020603050405020304" pitchFamily="18" charset="0"/>
                        </a:rPr>
                        <m:t>=</m:t>
                      </m:r>
                      <m:nary>
                        <m:naryPr>
                          <m:chr m:val="∑"/>
                          <m:limLoc m:val="undOv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naryPr>
                        <m:sub>
                          <m:r>
                            <a:rPr lang="en-US" i="1" kern="100">
                              <a:effectLst/>
                              <a:latin typeface="Cambria Math" panose="02040503050406030204" pitchFamily="18" charset="0"/>
                              <a:ea typeface="Arial" panose="020B0604020202020204" pitchFamily="34" charset="0"/>
                              <a:cs typeface="Times New Roman" panose="02020603050405020304" pitchFamily="18" charset="0"/>
                            </a:rPr>
                            <m:t>𝑘</m:t>
                          </m:r>
                          <m:r>
                            <a:rPr lang="en-US" i="1" kern="100">
                              <a:effectLst/>
                              <a:latin typeface="Cambria Math" panose="02040503050406030204" pitchFamily="18" charset="0"/>
                              <a:ea typeface="Arial" panose="020B0604020202020204" pitchFamily="34" charset="0"/>
                              <a:cs typeface="Times New Roman" panose="02020603050405020304" pitchFamily="18" charset="0"/>
                            </a:rPr>
                            <m:t>=0</m:t>
                          </m:r>
                        </m:sub>
                        <m:sup>
                          <m:r>
                            <a:rPr lang="en-US" i="1" kern="100">
                              <a:effectLst/>
                              <a:latin typeface="Cambria Math" panose="02040503050406030204" pitchFamily="18" charset="0"/>
                              <a:ea typeface="Arial" panose="020B0604020202020204" pitchFamily="34" charset="0"/>
                              <a:cs typeface="Times New Roman" panose="02020603050405020304" pitchFamily="18" charset="0"/>
                            </a:rPr>
                            <m:t>∞</m:t>
                          </m:r>
                        </m:sup>
                        <m:e>
                          <m:sSup>
                            <m:sSup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i="1" kern="100">
                                  <a:effectLst/>
                                  <a:latin typeface="Cambria Math" panose="02040503050406030204" pitchFamily="18" charset="0"/>
                                  <a:ea typeface="Arial" panose="020B0604020202020204" pitchFamily="34" charset="0"/>
                                  <a:cs typeface="Times New Roman" panose="02020603050405020304" pitchFamily="18" charset="0"/>
                                </a:rPr>
                                <m:t>𝜖</m:t>
                              </m:r>
                            </m:e>
                            <m:sup>
                              <m:r>
                                <a:rPr lang="en-US" i="1" kern="100">
                                  <a:effectLst/>
                                  <a:latin typeface="Cambria Math" panose="02040503050406030204" pitchFamily="18" charset="0"/>
                                  <a:ea typeface="Arial" panose="020B0604020202020204" pitchFamily="34" charset="0"/>
                                  <a:cs typeface="Times New Roman" panose="02020603050405020304" pitchFamily="18" charset="0"/>
                                </a:rPr>
                                <m:t>𝑘</m:t>
                              </m:r>
                            </m:sup>
                          </m:sSup>
                          <m:sSup>
                            <m:sSupPr>
                              <m:ctrlPr>
                                <a:rPr lang="vi-VN" i="1" kern="100">
                                  <a:effectLst/>
                                  <a:latin typeface="Cambria Math" panose="02040503050406030204" pitchFamily="18" charset="0"/>
                                  <a:ea typeface="Arial" panose="020B0604020202020204" pitchFamily="34" charset="0"/>
                                  <a:cs typeface="Times New Roman" panose="02020603050405020304" pitchFamily="18" charset="0"/>
                                </a:rPr>
                              </m:ctrlPr>
                            </m:sSupPr>
                            <m:e>
                              <m:acc>
                                <m:accPr>
                                  <m:chr m:val="̂"/>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i="1" kern="100">
                                      <a:effectLst/>
                                      <a:latin typeface="Cambria Math" panose="02040503050406030204" pitchFamily="18" charset="0"/>
                                      <a:ea typeface="Arial" panose="020B0604020202020204" pitchFamily="34" charset="0"/>
                                      <a:cs typeface="Times New Roman" panose="02020603050405020304" pitchFamily="18" charset="0"/>
                                    </a:rPr>
                                    <m:t>𝜁</m:t>
                                  </m:r>
                                </m:e>
                              </m:acc>
                            </m:e>
                            <m:sup>
                              <m:r>
                                <a:rPr lang="en-US" i="1" kern="100">
                                  <a:effectLst/>
                                  <a:latin typeface="Cambria Math" panose="02040503050406030204" pitchFamily="18" charset="0"/>
                                  <a:ea typeface="Arial" panose="020B0604020202020204" pitchFamily="34" charset="0"/>
                                  <a:cs typeface="Times New Roman" panose="02020603050405020304" pitchFamily="18" charset="0"/>
                                </a:rPr>
                                <m:t>𝑘</m:t>
                              </m:r>
                            </m:sup>
                          </m:sSup>
                        </m:e>
                      </m:nary>
                    </m:oMath>
                  </m:oMathPara>
                </a14:m>
                <a:endParaRPr lang="vi-VN"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Para xmlns:m="http://schemas.openxmlformats.org/officeDocument/2006/math">
                    <m:oMath>
                      <m:r>
                        <a:rPr lang="en-US" i="1" kern="100">
                          <a:effectLst/>
                          <a:latin typeface="Cambria Math" panose="02040503050406030204" pitchFamily="18" charset="0"/>
                          <a:ea typeface="Yu Mincho" panose="02020400000000000000" pitchFamily="18" charset="-128"/>
                          <a:cs typeface="Times New Roman" panose="02020603050405020304" pitchFamily="18" charset="0"/>
                        </a:rPr>
                        <m:t>=</m:t>
                      </m:r>
                      <m:acc>
                        <m:accPr>
                          <m:chr m:val="̂"/>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i="1" kern="100">
                              <a:effectLst/>
                              <a:latin typeface="Cambria Math" panose="02040503050406030204" pitchFamily="18" charset="0"/>
                              <a:ea typeface="Arial" panose="020B0604020202020204" pitchFamily="34" charset="0"/>
                              <a:cs typeface="Times New Roman" panose="02020603050405020304" pitchFamily="18" charset="0"/>
                            </a:rPr>
                            <m:t>𝜁</m:t>
                          </m:r>
                        </m:e>
                      </m:acc>
                      <m:d>
                        <m:dPr>
                          <m:ctrlPr>
                            <a:rPr lang="vi-VN" i="1" kern="100">
                              <a:effectLst/>
                              <a:latin typeface="Cambria Math" panose="02040503050406030204" pitchFamily="18" charset="0"/>
                              <a:ea typeface="Arial" panose="020B0604020202020204" pitchFamily="34" charset="0"/>
                              <a:cs typeface="Times New Roman" panose="02020603050405020304" pitchFamily="18" charset="0"/>
                            </a:rPr>
                          </m:ctrlPr>
                        </m:dPr>
                        <m:e>
                          <m:sSub>
                            <m:sSub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i="1" kern="100">
                                  <a:effectLst/>
                                  <a:latin typeface="Cambria Math" panose="02040503050406030204" pitchFamily="18" charset="0"/>
                                  <a:ea typeface="Arial" panose="020B0604020202020204" pitchFamily="34" charset="0"/>
                                  <a:cs typeface="Times New Roman" panose="02020603050405020304" pitchFamily="18" charset="0"/>
                                </a:rPr>
                                <m:t>0</m:t>
                              </m:r>
                            </m:sub>
                          </m:sSub>
                          <m:r>
                            <a:rPr lang="en-US"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i="1" kern="100">
                                  <a:effectLst/>
                                  <a:latin typeface="Cambria Math" panose="02040503050406030204" pitchFamily="18" charset="0"/>
                                  <a:ea typeface="Arial" panose="020B0604020202020204" pitchFamily="34" charset="0"/>
                                  <a:cs typeface="Times New Roman" panose="02020603050405020304" pitchFamily="18" charset="0"/>
                                </a:rPr>
                                <m:t>𝑦</m:t>
                              </m:r>
                            </m:e>
                            <m:sub>
                              <m:r>
                                <a:rPr lang="en-US" i="1" kern="100">
                                  <a:effectLst/>
                                  <a:latin typeface="Cambria Math" panose="02040503050406030204" pitchFamily="18" charset="0"/>
                                  <a:ea typeface="Arial" panose="020B0604020202020204" pitchFamily="34" charset="0"/>
                                  <a:cs typeface="Times New Roman" panose="02020603050405020304" pitchFamily="18" charset="0"/>
                                </a:rPr>
                                <m:t>0</m:t>
                              </m:r>
                            </m:sub>
                          </m:sSub>
                        </m:e>
                      </m:d>
                      <m:r>
                        <a:rPr lang="en-US" i="1" kern="100">
                          <a:effectLst/>
                          <a:latin typeface="Cambria Math" panose="02040503050406030204" pitchFamily="18" charset="0"/>
                          <a:ea typeface="Arial" panose="020B0604020202020204" pitchFamily="34" charset="0"/>
                          <a:cs typeface="Times New Roman" panose="02020603050405020304" pitchFamily="18" charset="0"/>
                        </a:rPr>
                        <m:t>+</m:t>
                      </m:r>
                      <m:r>
                        <a:rPr lang="en-US" i="1" kern="100">
                          <a:effectLst/>
                          <a:latin typeface="Cambria Math" panose="02040503050406030204" pitchFamily="18" charset="0"/>
                          <a:ea typeface="Arial" panose="020B0604020202020204" pitchFamily="34" charset="0"/>
                          <a:cs typeface="Times New Roman" panose="02020603050405020304" pitchFamily="18" charset="0"/>
                        </a:rPr>
                        <m:t>𝜖</m:t>
                      </m:r>
                      <m:d>
                        <m:dPr>
                          <m:ctrlPr>
                            <a:rPr lang="vi-VN" i="1" kern="100">
                              <a:effectLst/>
                              <a:latin typeface="Cambria Math" panose="02040503050406030204" pitchFamily="18" charset="0"/>
                              <a:ea typeface="Arial" panose="020B0604020202020204" pitchFamily="34" charset="0"/>
                              <a:cs typeface="Times New Roman" panose="02020603050405020304" pitchFamily="18" charset="0"/>
                            </a:rPr>
                          </m:ctrlPr>
                        </m:dPr>
                        <m:e>
                          <m:sSub>
                            <m:sSub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i="1" kern="100">
                                  <a:effectLst/>
                                  <a:latin typeface="Cambria Math" panose="02040503050406030204" pitchFamily="18" charset="0"/>
                                  <a:ea typeface="Arial" panose="020B0604020202020204" pitchFamily="34" charset="0"/>
                                  <a:cs typeface="Times New Roman" panose="02020603050405020304" pitchFamily="18" charset="0"/>
                                </a:rPr>
                                <m:t>1</m:t>
                              </m:r>
                            </m:sub>
                          </m:sSub>
                          <m:f>
                            <m:f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i="1" kern="100">
                                  <a:effectLst/>
                                  <a:latin typeface="Cambria Math" panose="02040503050406030204" pitchFamily="18" charset="0"/>
                                  <a:ea typeface="Arial" panose="020B0604020202020204" pitchFamily="34" charset="0"/>
                                  <a:cs typeface="Times New Roman" panose="02020603050405020304" pitchFamily="18" charset="0"/>
                                </a:rPr>
                                <m:t>𝜕</m:t>
                              </m:r>
                              <m:acc>
                                <m:accPr>
                                  <m:chr m:val="̂"/>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i="1" kern="100">
                                      <a:effectLst/>
                                      <a:latin typeface="Cambria Math" panose="02040503050406030204" pitchFamily="18" charset="0"/>
                                      <a:ea typeface="Arial" panose="020B0604020202020204" pitchFamily="34" charset="0"/>
                                      <a:cs typeface="Times New Roman" panose="02020603050405020304" pitchFamily="18" charset="0"/>
                                    </a:rPr>
                                    <m:t>𝜁</m:t>
                                  </m:r>
                                </m:e>
                              </m:acc>
                              <m:d>
                                <m:dPr>
                                  <m:ctrlPr>
                                    <a:rPr lang="vi-VN" i="1" kern="100">
                                      <a:effectLst/>
                                      <a:latin typeface="Cambria Math" panose="02040503050406030204" pitchFamily="18" charset="0"/>
                                      <a:ea typeface="Arial" panose="020B0604020202020204" pitchFamily="34" charset="0"/>
                                      <a:cs typeface="Times New Roman" panose="02020603050405020304" pitchFamily="18" charset="0"/>
                                    </a:rPr>
                                  </m:ctrlPr>
                                </m:dPr>
                                <m:e>
                                  <m:sSub>
                                    <m:sSub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i="1" kern="100">
                                          <a:effectLst/>
                                          <a:latin typeface="Cambria Math" panose="02040503050406030204" pitchFamily="18" charset="0"/>
                                          <a:ea typeface="Arial" panose="020B0604020202020204" pitchFamily="34" charset="0"/>
                                          <a:cs typeface="Times New Roman" panose="02020603050405020304" pitchFamily="18" charset="0"/>
                                        </a:rPr>
                                        <m:t>0</m:t>
                                      </m:r>
                                    </m:sub>
                                  </m:sSub>
                                  <m:r>
                                    <a:rPr lang="en-US"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i="1" kern="100">
                                          <a:effectLst/>
                                          <a:latin typeface="Cambria Math" panose="02040503050406030204" pitchFamily="18" charset="0"/>
                                          <a:ea typeface="Arial" panose="020B0604020202020204" pitchFamily="34" charset="0"/>
                                          <a:cs typeface="Times New Roman" panose="02020603050405020304" pitchFamily="18" charset="0"/>
                                        </a:rPr>
                                        <m:t>𝑦</m:t>
                                      </m:r>
                                    </m:e>
                                    <m:sub>
                                      <m:r>
                                        <a:rPr lang="en-US" i="1" kern="100">
                                          <a:effectLst/>
                                          <a:latin typeface="Cambria Math" panose="02040503050406030204" pitchFamily="18" charset="0"/>
                                          <a:ea typeface="Arial" panose="020B0604020202020204" pitchFamily="34" charset="0"/>
                                          <a:cs typeface="Times New Roman" panose="02020603050405020304" pitchFamily="18" charset="0"/>
                                        </a:rPr>
                                        <m:t>0</m:t>
                                      </m:r>
                                    </m:sub>
                                  </m:sSub>
                                </m:e>
                              </m:d>
                            </m:num>
                            <m:den>
                              <m:r>
                                <a:rPr lang="en-US" i="1" kern="100">
                                  <a:effectLst/>
                                  <a:latin typeface="Cambria Math" panose="02040503050406030204" pitchFamily="18" charset="0"/>
                                  <a:ea typeface="Arial" panose="020B0604020202020204" pitchFamily="34" charset="0"/>
                                  <a:cs typeface="Times New Roman" panose="02020603050405020304" pitchFamily="18" charset="0"/>
                                </a:rPr>
                                <m:t>𝜕</m:t>
                              </m:r>
                              <m:r>
                                <a:rPr lang="en-US" i="1" kern="100">
                                  <a:effectLst/>
                                  <a:latin typeface="Cambria Math" panose="02040503050406030204" pitchFamily="18" charset="0"/>
                                  <a:ea typeface="Arial" panose="020B0604020202020204" pitchFamily="34" charset="0"/>
                                  <a:cs typeface="Times New Roman" panose="02020603050405020304" pitchFamily="18" charset="0"/>
                                </a:rPr>
                                <m:t>𝑥</m:t>
                              </m:r>
                            </m:den>
                          </m:f>
                          <m:r>
                            <a:rPr lang="en-US"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i="1" kern="100">
                                  <a:effectLst/>
                                  <a:latin typeface="Cambria Math" panose="02040503050406030204" pitchFamily="18" charset="0"/>
                                  <a:ea typeface="Arial" panose="020B0604020202020204" pitchFamily="34" charset="0"/>
                                  <a:cs typeface="Times New Roman" panose="02020603050405020304" pitchFamily="18" charset="0"/>
                                </a:rPr>
                                <m:t>𝑦</m:t>
                              </m:r>
                            </m:e>
                            <m:sub>
                              <m:r>
                                <a:rPr lang="en-US" i="1" kern="100">
                                  <a:effectLst/>
                                  <a:latin typeface="Cambria Math" panose="02040503050406030204" pitchFamily="18" charset="0"/>
                                  <a:ea typeface="Arial" panose="020B0604020202020204" pitchFamily="34" charset="0"/>
                                  <a:cs typeface="Times New Roman" panose="02020603050405020304" pitchFamily="18" charset="0"/>
                                </a:rPr>
                                <m:t>1</m:t>
                              </m:r>
                            </m:sub>
                          </m:sSub>
                          <m:f>
                            <m:f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i="1" kern="100">
                                  <a:effectLst/>
                                  <a:latin typeface="Cambria Math" panose="02040503050406030204" pitchFamily="18" charset="0"/>
                                  <a:ea typeface="Arial" panose="020B0604020202020204" pitchFamily="34" charset="0"/>
                                  <a:cs typeface="Times New Roman" panose="02020603050405020304" pitchFamily="18" charset="0"/>
                                </a:rPr>
                                <m:t>𝜕</m:t>
                              </m:r>
                              <m:acc>
                                <m:accPr>
                                  <m:chr m:val="̂"/>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i="1" kern="100">
                                      <a:effectLst/>
                                      <a:latin typeface="Cambria Math" panose="02040503050406030204" pitchFamily="18" charset="0"/>
                                      <a:ea typeface="Arial" panose="020B0604020202020204" pitchFamily="34" charset="0"/>
                                      <a:cs typeface="Times New Roman" panose="02020603050405020304" pitchFamily="18" charset="0"/>
                                    </a:rPr>
                                    <m:t>𝜁</m:t>
                                  </m:r>
                                </m:e>
                              </m:acc>
                              <m:d>
                                <m:dPr>
                                  <m:ctrlPr>
                                    <a:rPr lang="vi-VN" i="1" kern="100">
                                      <a:effectLst/>
                                      <a:latin typeface="Cambria Math" panose="02040503050406030204" pitchFamily="18" charset="0"/>
                                      <a:ea typeface="Arial" panose="020B0604020202020204" pitchFamily="34" charset="0"/>
                                      <a:cs typeface="Times New Roman" panose="02020603050405020304" pitchFamily="18" charset="0"/>
                                    </a:rPr>
                                  </m:ctrlPr>
                                </m:dPr>
                                <m:e>
                                  <m:sSub>
                                    <m:sSub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i="1" kern="100">
                                          <a:effectLst/>
                                          <a:latin typeface="Cambria Math" panose="02040503050406030204" pitchFamily="18" charset="0"/>
                                          <a:ea typeface="Arial" panose="020B0604020202020204" pitchFamily="34" charset="0"/>
                                          <a:cs typeface="Times New Roman" panose="02020603050405020304" pitchFamily="18" charset="0"/>
                                        </a:rPr>
                                        <m:t>0</m:t>
                                      </m:r>
                                    </m:sub>
                                  </m:sSub>
                                  <m:r>
                                    <a:rPr lang="en-US"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i="1" kern="100">
                                          <a:effectLst/>
                                          <a:latin typeface="Cambria Math" panose="02040503050406030204" pitchFamily="18" charset="0"/>
                                          <a:ea typeface="Arial" panose="020B0604020202020204" pitchFamily="34" charset="0"/>
                                          <a:cs typeface="Times New Roman" panose="02020603050405020304" pitchFamily="18" charset="0"/>
                                        </a:rPr>
                                        <m:t>𝑦</m:t>
                                      </m:r>
                                    </m:e>
                                    <m:sub>
                                      <m:r>
                                        <a:rPr lang="en-US" i="1" kern="100">
                                          <a:effectLst/>
                                          <a:latin typeface="Cambria Math" panose="02040503050406030204" pitchFamily="18" charset="0"/>
                                          <a:ea typeface="Arial" panose="020B0604020202020204" pitchFamily="34" charset="0"/>
                                          <a:cs typeface="Times New Roman" panose="02020603050405020304" pitchFamily="18" charset="0"/>
                                        </a:rPr>
                                        <m:t>0</m:t>
                                      </m:r>
                                    </m:sub>
                                  </m:sSub>
                                </m:e>
                              </m:d>
                            </m:num>
                            <m:den>
                              <m:r>
                                <a:rPr lang="en-US" i="1" kern="100">
                                  <a:effectLst/>
                                  <a:latin typeface="Cambria Math" panose="02040503050406030204" pitchFamily="18" charset="0"/>
                                  <a:ea typeface="Arial" panose="020B0604020202020204" pitchFamily="34" charset="0"/>
                                  <a:cs typeface="Times New Roman" panose="02020603050405020304" pitchFamily="18" charset="0"/>
                                </a:rPr>
                                <m:t>𝜕</m:t>
                              </m:r>
                              <m:r>
                                <a:rPr lang="en-US" i="1" kern="100">
                                  <a:effectLst/>
                                  <a:latin typeface="Cambria Math" panose="02040503050406030204" pitchFamily="18" charset="0"/>
                                  <a:ea typeface="Arial" panose="020B0604020202020204" pitchFamily="34" charset="0"/>
                                  <a:cs typeface="Times New Roman" panose="02020603050405020304" pitchFamily="18" charset="0"/>
                                </a:rPr>
                                <m:t>𝑦</m:t>
                              </m:r>
                            </m:den>
                          </m:f>
                        </m:e>
                      </m:d>
                    </m:oMath>
                  </m:oMathPara>
                </a14:m>
                <a:endParaRPr lang="vi-VN" kern="100">
                  <a:effectLst/>
                  <a:latin typeface="Arial" panose="020B0604020202020204" pitchFamily="34" charset="0"/>
                  <a:ea typeface="Arial" panose="020B0604020202020204" pitchFamily="34" charset="0"/>
                  <a:cs typeface="Times New Roman" panose="02020603050405020304" pitchFamily="18" charset="0"/>
                </a:endParaRPr>
              </a:p>
            </p:txBody>
          </p:sp>
        </mc:Choice>
        <mc:Fallback xmlns="">
          <p:sp>
            <p:nvSpPr>
              <p:cNvPr id="8" name="Hộp Văn bản 7">
                <a:extLst>
                  <a:ext uri="{FF2B5EF4-FFF2-40B4-BE49-F238E27FC236}">
                    <a16:creationId xmlns:a16="http://schemas.microsoft.com/office/drawing/2014/main" id="{A068BB34-99B6-1CB7-F6C1-7D266E42C97D}"/>
                  </a:ext>
                </a:extLst>
              </p:cNvPr>
              <p:cNvSpPr txBox="1">
                <a:spLocks noRot="1" noChangeAspect="1" noMove="1" noResize="1" noEditPoints="1" noAdjustHandles="1" noChangeArrowheads="1" noChangeShapeType="1" noTextEdit="1"/>
              </p:cNvSpPr>
              <p:nvPr/>
            </p:nvSpPr>
            <p:spPr>
              <a:xfrm>
                <a:off x="6057975" y="1775004"/>
                <a:ext cx="5793199" cy="5165901"/>
              </a:xfrm>
              <a:prstGeom prst="rect">
                <a:avLst/>
              </a:prstGeom>
              <a:blipFill>
                <a:blip r:embed="rId3"/>
                <a:stretch>
                  <a:fillRect l="-947" t="-354"/>
                </a:stretch>
              </a:blipFill>
            </p:spPr>
            <p:txBody>
              <a:bodyPr/>
              <a:lstStyle/>
              <a:p>
                <a:r>
                  <a:rPr lang="vi-VN">
                    <a:noFill/>
                  </a:rPr>
                  <a:t> </a:t>
                </a:r>
              </a:p>
            </p:txBody>
          </p:sp>
        </mc:Fallback>
      </mc:AlternateContent>
    </p:spTree>
    <p:extLst>
      <p:ext uri="{BB962C8B-B14F-4D97-AF65-F5344CB8AC3E}">
        <p14:creationId xmlns:p14="http://schemas.microsoft.com/office/powerpoint/2010/main" val="423482531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6C316-D028-2DF1-63AF-349421305382}"/>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9D456F39-3AEA-B700-55D0-AF896ED8F15D}"/>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7D1C3DFC-43B1-41B0-78E1-19E1C48AD3A9}"/>
              </a:ext>
            </a:extLst>
          </p:cNvPr>
          <p:cNvSpPr>
            <a:spLocks noGrp="1"/>
          </p:cNvSpPr>
          <p:nvPr>
            <p:ph type="sldNum" sz="quarter" idx="12"/>
          </p:nvPr>
        </p:nvSpPr>
        <p:spPr/>
        <p:txBody>
          <a:bodyPr/>
          <a:lstStyle/>
          <a:p>
            <a:fld id="{931DD963-FD40-4A6D-88A9-402A489E81DE}" type="slidenum">
              <a:rPr lang="en-US" smtClean="0"/>
              <a:t>82</a:t>
            </a:fld>
            <a:endParaRPr lang="en-US"/>
          </a:p>
        </p:txBody>
      </p:sp>
      <p:grpSp>
        <p:nvGrpSpPr>
          <p:cNvPr id="10" name="Group 9">
            <a:extLst>
              <a:ext uri="{FF2B5EF4-FFF2-40B4-BE49-F238E27FC236}">
                <a16:creationId xmlns:a16="http://schemas.microsoft.com/office/drawing/2014/main" id="{96E326BB-9185-19BB-83CD-B48FC5FBB26D}"/>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45C9F601-4CCE-3612-40BA-410978E8579F}"/>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A446BC19-9F92-F7B6-3C44-B416E44CFF3F}"/>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p:sp>
        <p:nvSpPr>
          <p:cNvPr id="5" name="TextBox 3">
            <a:extLst>
              <a:ext uri="{FF2B5EF4-FFF2-40B4-BE49-F238E27FC236}">
                <a16:creationId xmlns:a16="http://schemas.microsoft.com/office/drawing/2014/main" id="{4A7E64F3-2F73-A973-B856-2E951D302319}"/>
              </a:ext>
            </a:extLst>
          </p:cNvPr>
          <p:cNvSpPr txBox="1"/>
          <p:nvPr/>
        </p:nvSpPr>
        <p:spPr>
          <a:xfrm>
            <a:off x="413529" y="973021"/>
            <a:ext cx="4975264" cy="707886"/>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4.2. </a:t>
            </a:r>
            <a:r>
              <a:rPr lang="vi-VN" sz="2000" b="1">
                <a:solidFill>
                  <a:prstClr val="black"/>
                </a:solidFill>
                <a:latin typeface="Times New Roman" panose="02020603050405020304" pitchFamily="18" charset="0"/>
                <a:cs typeface="Times New Roman" panose="02020603050405020304" pitchFamily="18" charset="0"/>
              </a:rPr>
              <a:t>Lý giải về hài bậc 3 của 2 bộ dao động</a:t>
            </a:r>
          </a:p>
          <a:p>
            <a:pPr defTabSz="609585">
              <a:defRPr/>
            </a:pPr>
            <a:r>
              <a:rPr lang="vi-VN" sz="2000">
                <a:solidFill>
                  <a:prstClr val="black"/>
                </a:solidFill>
                <a:latin typeface="Times New Roman" panose="02020603050405020304" pitchFamily="18" charset="0"/>
                <a:cs typeface="Times New Roman" panose="02020603050405020304" pitchFamily="18" charset="0"/>
              </a:rPr>
              <a:t>4.2.1. Van </a:t>
            </a:r>
            <a:r>
              <a:rPr lang="vi-VN" sz="2000" err="1">
                <a:solidFill>
                  <a:prstClr val="black"/>
                </a:solidFill>
                <a:latin typeface="Times New Roman" panose="02020603050405020304" pitchFamily="18" charset="0"/>
                <a:cs typeface="Times New Roman" panose="02020603050405020304" pitchFamily="18" charset="0"/>
              </a:rPr>
              <a:t>der</a:t>
            </a:r>
            <a:r>
              <a:rPr lang="vi-VN" sz="2000">
                <a:solidFill>
                  <a:prstClr val="black"/>
                </a:solidFill>
                <a:latin typeface="Times New Roman" panose="02020603050405020304" pitchFamily="18" charset="0"/>
                <a:cs typeface="Times New Roman" panose="02020603050405020304" pitchFamily="18" charset="0"/>
              </a:rPr>
              <a:t> </a:t>
            </a:r>
            <a:r>
              <a:rPr lang="vi-VN" sz="2000" err="1">
                <a:solidFill>
                  <a:prstClr val="black"/>
                </a:solidFill>
                <a:latin typeface="Times New Roman" panose="02020603050405020304" pitchFamily="18" charset="0"/>
                <a:cs typeface="Times New Roman" panose="02020603050405020304" pitchFamily="18" charset="0"/>
              </a:rPr>
              <a:t>Pol</a:t>
            </a:r>
            <a:endParaRPr lang="en-US" sz="2000">
              <a:solidFill>
                <a:prstClr val="black"/>
              </a:solidFill>
              <a:latin typeface="Times New Roman" panose="02020603050405020304" pitchFamily="18" charset="0"/>
              <a:cs typeface="Times New Roman" panose="02020603050405020304" pitchFamily="18" charset="0"/>
            </a:endParaRPr>
          </a:p>
        </p:txBody>
      </p:sp>
      <p:cxnSp>
        <p:nvCxnSpPr>
          <p:cNvPr id="6" name="Đường nối Thẳng 5">
            <a:extLst>
              <a:ext uri="{FF2B5EF4-FFF2-40B4-BE49-F238E27FC236}">
                <a16:creationId xmlns:a16="http://schemas.microsoft.com/office/drawing/2014/main" id="{0630633B-2B66-454D-51C4-1C6F160677F7}"/>
              </a:ext>
            </a:extLst>
          </p:cNvPr>
          <p:cNvCxnSpPr/>
          <p:nvPr/>
        </p:nvCxnSpPr>
        <p:spPr>
          <a:xfrm>
            <a:off x="5868203" y="1560110"/>
            <a:ext cx="0" cy="5228716"/>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Hộp Văn bản 6">
                <a:extLst>
                  <a:ext uri="{FF2B5EF4-FFF2-40B4-BE49-F238E27FC236}">
                    <a16:creationId xmlns:a16="http://schemas.microsoft.com/office/drawing/2014/main" id="{CC546BC5-28CE-40D2-2081-955CD4EED5FC}"/>
                  </a:ext>
                </a:extLst>
              </p:cNvPr>
              <p:cNvSpPr txBox="1"/>
              <p:nvPr/>
            </p:nvSpPr>
            <p:spPr>
              <a:xfrm>
                <a:off x="277024" y="1667660"/>
                <a:ext cx="5558538" cy="4908267"/>
              </a:xfrm>
              <a:prstGeom prst="rect">
                <a:avLst/>
              </a:prstGeom>
              <a:noFill/>
            </p:spPr>
            <p:txBody>
              <a:bodyPr wrap="square">
                <a:spAutoFit/>
              </a:bodyPr>
              <a:lstStyle/>
              <a:p>
                <a:pPr>
                  <a:lnSpc>
                    <a:spcPct val="115000"/>
                  </a:lnSpc>
                  <a:spcAft>
                    <a:spcPts val="800"/>
                  </a:spcAft>
                </a:pPr>
                <a:r>
                  <a:rPr lang="en-US" sz="1800" kern="100" err="1">
                    <a:effectLst/>
                    <a:latin typeface="Cambria Math" panose="02040503050406030204" pitchFamily="18" charset="0"/>
                    <a:ea typeface="Yu Mincho" panose="02020400000000000000" pitchFamily="18" charset="-128"/>
                    <a:cs typeface="Times New Roman" panose="02020603050405020304" pitchFamily="18" charset="0"/>
                  </a:rPr>
                  <a:t>Cân</a:t>
                </a:r>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sz="1800" kern="100" err="1">
                    <a:effectLst/>
                    <a:latin typeface="Cambria Math" panose="02040503050406030204" pitchFamily="18" charset="0"/>
                    <a:ea typeface="Yu Mincho" panose="02020400000000000000" pitchFamily="18" charset="-128"/>
                    <a:cs typeface="Times New Roman" panose="02020603050405020304" pitchFamily="18" charset="0"/>
                  </a:rPr>
                  <a:t>bằng</a:t>
                </a:r>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sz="1800" kern="100" err="1">
                    <a:effectLst/>
                    <a:latin typeface="Cambria Math" panose="02040503050406030204" pitchFamily="18" charset="0"/>
                    <a:ea typeface="Yu Mincho" panose="02020400000000000000" pitchFamily="18" charset="-128"/>
                    <a:cs typeface="Times New Roman" panose="02020603050405020304" pitchFamily="18" charset="0"/>
                  </a:rPr>
                  <a:t>bậc</a:t>
                </a:r>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ta </a:t>
                </a:r>
                <a:r>
                  <a:rPr lang="en-US" sz="1800" kern="100" err="1">
                    <a:effectLst/>
                    <a:latin typeface="Cambria Math" panose="02040503050406030204" pitchFamily="18" charset="0"/>
                    <a:ea typeface="Yu Mincho" panose="02020400000000000000" pitchFamily="18" charset="-128"/>
                    <a:cs typeface="Times New Roman" panose="02020603050405020304" pitchFamily="18" charset="0"/>
                  </a:rPr>
                  <a:t>được</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 xmlns:m="http://schemas.openxmlformats.org/officeDocument/2006/math">
                    <m:acc>
                      <m:accPr>
                        <m:chr m:val="̂"/>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acc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sub>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0</m:t>
                            </m:r>
                          </m:sub>
                        </m:sSub>
                      </m:e>
                    </m:acc>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m:t>
                    </m:r>
                    <m:acc>
                      <m:accPr>
                        <m:chr m:val="̂"/>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acc>
                    <m:d>
                      <m:d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d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d>
                  </m:oMath>
                </a14:m>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a:t>
                </a:r>
                <a14:m>
                  <m:oMath xmlns:m="http://schemas.openxmlformats.org/officeDocument/2006/math">
                    <m:acc>
                      <m:accPr>
                        <m:chr m:val="̂"/>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acc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sub>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1</m:t>
                            </m:r>
                          </m:sub>
                        </m:sSub>
                      </m:e>
                    </m:acc>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acc>
                          <m:accPr>
                            <m:chr m:val="̂"/>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acc>
                        <m:d>
                          <m:d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d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d>
                      </m:num>
                      <m:den>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den>
                    </m:f>
                  </m:oMath>
                </a14:m>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(5)</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err="1">
                    <a:effectLst/>
                    <a:latin typeface="Cambria Math" panose="02040503050406030204" pitchFamily="18" charset="0"/>
                    <a:ea typeface="Yu Mincho" panose="02020400000000000000" pitchFamily="18" charset="-128"/>
                    <a:cs typeface="Times New Roman" panose="02020603050405020304" pitchFamily="18" charset="0"/>
                  </a:rPr>
                  <a:t>Vì</a:t>
                </a:r>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sz="1800" kern="100" err="1">
                    <a:effectLst/>
                    <a:latin typeface="Cambria Math" panose="02040503050406030204" pitchFamily="18" charset="0"/>
                    <a:ea typeface="Yu Mincho" panose="02020400000000000000" pitchFamily="18" charset="-128"/>
                    <a:cs typeface="Times New Roman" panose="02020603050405020304" pitchFamily="18" charset="0"/>
                  </a:rPr>
                  <a:t>đạo</a:t>
                </a:r>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sz="1800" kern="100" err="1">
                    <a:effectLst/>
                    <a:latin typeface="Cambria Math" panose="02040503050406030204" pitchFamily="18" charset="0"/>
                    <a:ea typeface="Yu Mincho" panose="02020400000000000000" pitchFamily="18" charset="-128"/>
                    <a:cs typeface="Times New Roman" panose="02020603050405020304" pitchFamily="18" charset="0"/>
                  </a:rPr>
                  <a:t>hàm</a:t>
                </a:r>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sz="1800" kern="100" err="1">
                    <a:effectLst/>
                    <a:latin typeface="Cambria Math" panose="02040503050406030204" pitchFamily="18" charset="0"/>
                    <a:ea typeface="Yu Mincho" panose="02020400000000000000" pitchFamily="18" charset="-128"/>
                    <a:cs typeface="Times New Roman" panose="02020603050405020304" pitchFamily="18" charset="0"/>
                  </a:rPr>
                  <a:t>theo</a:t>
                </a:r>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y </a:t>
                </a:r>
                <a:r>
                  <a:rPr lang="en-US" sz="1800" kern="100" err="1">
                    <a:effectLst/>
                    <a:latin typeface="Cambria Math" panose="02040503050406030204" pitchFamily="18" charset="0"/>
                    <a:ea typeface="Yu Mincho" panose="02020400000000000000" pitchFamily="18" charset="-128"/>
                    <a:cs typeface="Times New Roman" panose="02020603050405020304" pitchFamily="18" charset="0"/>
                  </a:rPr>
                  <a:t>bằng</a:t>
                </a:r>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0</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Theo p</a:t>
                </a:r>
                <a:r>
                  <a:rPr lang="vi-VN" sz="1800" kern="100">
                    <a:effectLst/>
                    <a:latin typeface="Cambria Math" panose="02040503050406030204" pitchFamily="18" charset="0"/>
                    <a:ea typeface="Yu Mincho" panose="02020400000000000000" pitchFamily="18" charset="-128"/>
                    <a:cs typeface="Times New Roman" panose="02020603050405020304" pitchFamily="18" charset="0"/>
                  </a:rPr>
                  <a:t>hương pháp </a:t>
                </a:r>
                <a:r>
                  <a:rPr lang="vi-VN" sz="1800" b="1" kern="100" err="1">
                    <a:effectLst/>
                    <a:latin typeface="Cambria Math" panose="02040503050406030204" pitchFamily="18" charset="0"/>
                    <a:ea typeface="Yu Mincho" panose="02020400000000000000" pitchFamily="18" charset="-128"/>
                    <a:cs typeface="Times New Roman" panose="02020603050405020304" pitchFamily="18" charset="0"/>
                  </a:rPr>
                  <a:t>Poincaré-Lindstedt</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 xmlns:m="http://schemas.openxmlformats.org/officeDocument/2006/math">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𝑒𝑞</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bPr>
                      <m:e>
                        <m:sSup>
                          <m:sSup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𝜖</m:t>
                            </m:r>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oMath>
                </a14:m>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(6)</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err="1">
                    <a:effectLst/>
                    <a:latin typeface="Cambria Math" panose="02040503050406030204" pitchFamily="18" charset="0"/>
                    <a:ea typeface="Yu Mincho" panose="02020400000000000000" pitchFamily="18" charset="-128"/>
                    <a:cs typeface="Times New Roman" panose="02020603050405020304" pitchFamily="18" charset="0"/>
                  </a:rPr>
                  <a:t>Ngoài</a:t>
                </a:r>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sz="1800" kern="100" err="1">
                    <a:effectLst/>
                    <a:latin typeface="Cambria Math" panose="02040503050406030204" pitchFamily="18" charset="0"/>
                    <a:ea typeface="Yu Mincho" panose="02020400000000000000" pitchFamily="18" charset="-128"/>
                    <a:cs typeface="Times New Roman" panose="02020603050405020304" pitchFamily="18" charset="0"/>
                  </a:rPr>
                  <a:t>ra</a:t>
                </a:r>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sz="1800" kern="100" err="1">
                    <a:effectLst/>
                    <a:latin typeface="Cambria Math" panose="02040503050406030204" pitchFamily="18" charset="0"/>
                    <a:ea typeface="Yu Mincho" panose="02020400000000000000" pitchFamily="18" charset="-128"/>
                    <a:cs typeface="Times New Roman" panose="02020603050405020304" pitchFamily="18" charset="0"/>
                  </a:rPr>
                  <a:t>nghiệm</a:t>
                </a:r>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x(t) </a:t>
                </a:r>
                <a:r>
                  <a:rPr lang="en-US" sz="1800" kern="100" err="1">
                    <a:effectLst/>
                    <a:latin typeface="Cambria Math" panose="02040503050406030204" pitchFamily="18" charset="0"/>
                    <a:ea typeface="Yu Mincho" panose="02020400000000000000" pitchFamily="18" charset="-128"/>
                    <a:cs typeface="Times New Roman" panose="02020603050405020304" pitchFamily="18" charset="0"/>
                  </a:rPr>
                  <a:t>cũng</a:t>
                </a:r>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sz="1800" kern="100" err="1">
                    <a:effectLst/>
                    <a:latin typeface="Cambria Math" panose="02040503050406030204" pitchFamily="18" charset="0"/>
                    <a:ea typeface="Yu Mincho" panose="02020400000000000000" pitchFamily="18" charset="-128"/>
                    <a:cs typeface="Times New Roman" panose="02020603050405020304" pitchFamily="18" charset="0"/>
                  </a:rPr>
                  <a:t>được</a:t>
                </a:r>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sz="1800" kern="100" err="1">
                    <a:effectLst/>
                    <a:latin typeface="Cambria Math" panose="02040503050406030204" pitchFamily="18" charset="0"/>
                    <a:ea typeface="Yu Mincho" panose="02020400000000000000" pitchFamily="18" charset="-128"/>
                    <a:cs typeface="Times New Roman" panose="02020603050405020304" pitchFamily="18" charset="0"/>
                  </a:rPr>
                  <a:t>khai</a:t>
                </a:r>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a:t>
                </a:r>
                <a:r>
                  <a:rPr lang="en-US" sz="1800" kern="100" err="1">
                    <a:effectLst/>
                    <a:latin typeface="Cambria Math" panose="02040503050406030204" pitchFamily="18" charset="0"/>
                    <a:ea typeface="Yu Mincho" panose="02020400000000000000" pitchFamily="18" charset="-128"/>
                    <a:cs typeface="Times New Roman" panose="02020603050405020304" pitchFamily="18" charset="0"/>
                  </a:rPr>
                  <a:t>triển</a:t>
                </a:r>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x(t) =</a:t>
                </a:r>
                <a14:m>
                  <m:oMath xmlns:m="http://schemas.openxmlformats.org/officeDocument/2006/math">
                    <m:sSub>
                      <m:sSubPr>
                        <m:ctrlP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ctrlPr>
                      </m:sSubPr>
                      <m:e>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𝑥</m:t>
                        </m:r>
                      </m:e>
                      <m:sub>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0</m:t>
                        </m:r>
                      </m:sub>
                    </m:sSub>
                    <m:d>
                      <m:dPr>
                        <m:ctrlP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ctrlPr>
                      </m:dPr>
                      <m:e>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𝑡</m:t>
                        </m:r>
                      </m:e>
                    </m:d>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m:t>
                    </m:r>
                    <m:sSub>
                      <m:sSubPr>
                        <m:ctrlP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ctrlPr>
                      </m:sSubPr>
                      <m:e>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𝜖</m:t>
                        </m:r>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𝑥</m:t>
                        </m:r>
                      </m:e>
                      <m:sub>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1</m:t>
                        </m:r>
                      </m:sub>
                    </m:sSub>
                    <m:d>
                      <m:dPr>
                        <m:ctrlP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ctrlPr>
                      </m:dPr>
                      <m:e>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𝑡</m:t>
                        </m:r>
                      </m:e>
                    </m:d>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m:t>
                    </m:r>
                    <m:sSub>
                      <m:sSubPr>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sSubPr>
                      <m:e>
                        <m:sSup>
                          <m:sSupPr>
                            <m:ctrlP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ctrlPr>
                          </m:sSupPr>
                          <m:e>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𝜖</m:t>
                            </m:r>
                          </m:e>
                          <m:sup>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2</m:t>
                            </m:r>
                          </m:sup>
                        </m:sSup>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𝑥</m:t>
                        </m:r>
                      </m:e>
                      <m:sub>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2</m:t>
                        </m:r>
                      </m:sub>
                    </m:sSub>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m:t>
                    </m:r>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𝑡</m:t>
                    </m:r>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m:t>
                    </m:r>
                  </m:oMath>
                </a14:m>
                <a:r>
                  <a:rPr lang="en-US" sz="1800" kern="100">
                    <a:effectLst/>
                    <a:latin typeface="Cambria Math" panose="02040503050406030204" pitchFamily="18" charset="0"/>
                    <a:ea typeface="Yu Mincho" panose="02020400000000000000" pitchFamily="18" charset="-128"/>
                    <a:cs typeface="Times New Roman" panose="02020603050405020304" pitchFamily="18" charset="0"/>
                  </a:rPr>
                  <a:t>+…                                 (7)</a:t>
                </a:r>
              </a:p>
              <a:p>
                <a:pPr>
                  <a:lnSpc>
                    <a:spcPct val="115000"/>
                  </a:lnSpc>
                  <a:spcAft>
                    <a:spcPts val="800"/>
                  </a:spcAft>
                </a:pPr>
                <a:r>
                  <a:rPr lang="en-US" sz="1800" kern="100" err="1">
                    <a:effectLst/>
                    <a:latin typeface="Arial" panose="020B0604020202020204" pitchFamily="34" charset="0"/>
                    <a:ea typeface="Arial" panose="020B0604020202020204" pitchFamily="34" charset="0"/>
                    <a:cs typeface="Times New Roman" panose="02020603050405020304" pitchFamily="18" charset="0"/>
                  </a:rPr>
                  <a:t>Thay</a:t>
                </a:r>
                <a:r>
                  <a:rPr lang="en-US" sz="1800" kern="100">
                    <a:effectLst/>
                    <a:latin typeface="Arial" panose="020B0604020202020204" pitchFamily="34" charset="0"/>
                    <a:ea typeface="Arial" panose="020B0604020202020204" pitchFamily="34" charset="0"/>
                    <a:cs typeface="Times New Roman" panose="02020603050405020304" pitchFamily="18" charset="0"/>
                  </a:rPr>
                  <a:t> (6) </a:t>
                </a:r>
                <a:r>
                  <a:rPr lang="en-US" sz="1800" kern="100" err="1">
                    <a:effectLst/>
                    <a:latin typeface="Arial" panose="020B0604020202020204" pitchFamily="34" charset="0"/>
                    <a:ea typeface="Arial" panose="020B0604020202020204" pitchFamily="34" charset="0"/>
                    <a:cs typeface="Times New Roman" panose="02020603050405020304" pitchFamily="18" charset="0"/>
                  </a:rPr>
                  <a:t>và</a:t>
                </a:r>
                <a:r>
                  <a:rPr lang="en-US" sz="1800" kern="100">
                    <a:effectLst/>
                    <a:latin typeface="Arial" panose="020B0604020202020204" pitchFamily="34" charset="0"/>
                    <a:ea typeface="Arial" panose="020B0604020202020204" pitchFamily="34" charset="0"/>
                    <a:cs typeface="Times New Roman" panose="02020603050405020304" pitchFamily="18" charset="0"/>
                  </a:rPr>
                  <a:t> (7) </a:t>
                </a:r>
                <a:r>
                  <a:rPr lang="en-US" sz="1800" kern="100" err="1">
                    <a:effectLst/>
                    <a:latin typeface="Arial" panose="020B0604020202020204" pitchFamily="34" charset="0"/>
                    <a:ea typeface="Arial" panose="020B0604020202020204" pitchFamily="34" charset="0"/>
                    <a:cs typeface="Times New Roman" panose="02020603050405020304" pitchFamily="18" charset="0"/>
                  </a:rPr>
                  <a:t>vào</a:t>
                </a:r>
                <a:r>
                  <a:rPr lang="en-US" sz="1800" kern="100">
                    <a:effectLst/>
                    <a:latin typeface="Arial" panose="020B0604020202020204" pitchFamily="34" charset="0"/>
                    <a:ea typeface="Arial" panose="020B0604020202020204" pitchFamily="34" charset="0"/>
                    <a:cs typeface="Times New Roman" panose="02020603050405020304" pitchFamily="18" charset="0"/>
                  </a:rPr>
                  <a:t> (3), </a:t>
                </a:r>
                <a:r>
                  <a:rPr lang="en-US" sz="1800" kern="100" err="1">
                    <a:effectLst/>
                    <a:latin typeface="Arial" panose="020B0604020202020204" pitchFamily="34" charset="0"/>
                    <a:ea typeface="Arial" panose="020B0604020202020204" pitchFamily="34" charset="0"/>
                    <a:cs typeface="Times New Roman" panose="02020603050405020304" pitchFamily="18" charset="0"/>
                  </a:rPr>
                  <a:t>cân</a:t>
                </a:r>
                <a:r>
                  <a:rPr lang="en-US" sz="1800" kern="100">
                    <a:effectLst/>
                    <a:latin typeface="Arial" panose="020B0604020202020204" pitchFamily="34" charset="0"/>
                    <a:ea typeface="Arial" panose="020B0604020202020204" pitchFamily="34" charset="0"/>
                    <a:cs typeface="Times New Roman" panose="02020603050405020304" pitchFamily="18" charset="0"/>
                  </a:rPr>
                  <a:t> </a:t>
                </a:r>
                <a:r>
                  <a:rPr lang="en-US" sz="1800" kern="100" err="1">
                    <a:effectLst/>
                    <a:latin typeface="Arial" panose="020B0604020202020204" pitchFamily="34" charset="0"/>
                    <a:ea typeface="Arial" panose="020B0604020202020204" pitchFamily="34" charset="0"/>
                    <a:cs typeface="Times New Roman" panose="02020603050405020304" pitchFamily="18" charset="0"/>
                  </a:rPr>
                  <a:t>bằng</a:t>
                </a:r>
                <a:r>
                  <a:rPr lang="en-US" sz="1800" kern="100">
                    <a:effectLst/>
                    <a:latin typeface="Arial" panose="020B0604020202020204" pitchFamily="34" charset="0"/>
                    <a:ea typeface="Arial" panose="020B0604020202020204" pitchFamily="34" charset="0"/>
                    <a:cs typeface="Times New Roman" panose="02020603050405020304" pitchFamily="18" charset="0"/>
                  </a:rPr>
                  <a:t> </a:t>
                </a:r>
                <a:r>
                  <a:rPr lang="en-US" sz="1800" kern="100" err="1">
                    <a:effectLst/>
                    <a:latin typeface="Arial" panose="020B0604020202020204" pitchFamily="34" charset="0"/>
                    <a:ea typeface="Arial" panose="020B0604020202020204" pitchFamily="34" charset="0"/>
                    <a:cs typeface="Times New Roman" panose="02020603050405020304" pitchFamily="18" charset="0"/>
                  </a:rPr>
                  <a:t>theo</a:t>
                </a:r>
                <a:r>
                  <a:rPr lang="en-US" sz="1800" kern="100">
                    <a:effectLst/>
                    <a:latin typeface="Arial" panose="020B0604020202020204" pitchFamily="34" charset="0"/>
                    <a:ea typeface="Arial" panose="020B0604020202020204" pitchFamily="34" charset="0"/>
                    <a:cs typeface="Times New Roman" panose="02020603050405020304" pitchFamily="18" charset="0"/>
                  </a:rPr>
                  <a:t> </a:t>
                </a:r>
                <a:r>
                  <a:rPr lang="en-US" sz="1800" kern="100" err="1">
                    <a:effectLst/>
                    <a:latin typeface="Arial" panose="020B0604020202020204" pitchFamily="34" charset="0"/>
                    <a:ea typeface="Arial" panose="020B0604020202020204" pitchFamily="34" charset="0"/>
                    <a:cs typeface="Times New Roman" panose="02020603050405020304" pitchFamily="18" charset="0"/>
                  </a:rPr>
                  <a:t>bậc</a:t>
                </a:r>
                <a:r>
                  <a:rPr lang="en-US" sz="1800" kern="100">
                    <a:effectLst/>
                    <a:latin typeface="Arial" panose="020B0604020202020204" pitchFamily="34" charset="0"/>
                    <a:ea typeface="Arial" panose="020B0604020202020204" pitchFamily="34" charset="0"/>
                    <a:cs typeface="Times New Roman" panose="02020603050405020304" pitchFamily="18" charset="0"/>
                  </a:rPr>
                  <a:t> </a:t>
                </a:r>
                <a:r>
                  <a:rPr lang="en-US" sz="1800" kern="100" err="1">
                    <a:effectLst/>
                    <a:latin typeface="Arial" panose="020B0604020202020204" pitchFamily="34" charset="0"/>
                    <a:ea typeface="Arial" panose="020B0604020202020204" pitchFamily="34" charset="0"/>
                    <a:cs typeface="Times New Roman" panose="02020603050405020304" pitchFamily="18" charset="0"/>
                  </a:rPr>
                  <a:t>của</a:t>
                </a:r>
                <a:r>
                  <a:rPr lang="en-US" sz="1800" kern="100">
                    <a:effectLst/>
                    <a:latin typeface="Arial" panose="020B0604020202020204" pitchFamily="34" charset="0"/>
                    <a:ea typeface="Arial" panose="020B0604020202020204" pitchFamily="34" charset="0"/>
                    <a:cs typeface="Times New Roman" panose="02020603050405020304" pitchFamily="18" charset="0"/>
                  </a:rPr>
                  <a:t> </a:t>
                </a:r>
                <a14:m>
                  <m:oMath xmlns:m="http://schemas.openxmlformats.org/officeDocument/2006/math">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𝜖</m:t>
                    </m:r>
                  </m:oMath>
                </a14:m>
                <a:r>
                  <a:rPr lang="en-US" sz="1800" kern="100">
                    <a:effectLst/>
                    <a:latin typeface="Arial" panose="020B0604020202020204" pitchFamily="34" charset="0"/>
                    <a:ea typeface="Yu Mincho" panose="02020400000000000000" pitchFamily="18" charset="-128"/>
                    <a:cs typeface="Times New Roman" panose="02020603050405020304" pitchFamily="18" charset="0"/>
                  </a:rPr>
                  <a:t> ta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được</a:t>
                </a:r>
                <a:endParaRPr lang="vi-VN" sz="18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 xmlns:m="http://schemas.openxmlformats.org/officeDocument/2006/math">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𝑂</m:t>
                    </m:r>
                    <m:d>
                      <m:d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d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e>
                    </m:d>
                    <m:r>
                      <a:rPr lang="en-US" sz="1800" i="1" kern="100">
                        <a:effectLst/>
                        <a:latin typeface="Cambria Math" panose="02040503050406030204" pitchFamily="18" charset="0"/>
                        <a:ea typeface="Arial" panose="020B0604020202020204" pitchFamily="34" charset="0"/>
                        <a:cs typeface="Times New Roman" panose="02020603050405020304" pitchFamily="18" charset="0"/>
                      </a:rPr>
                      <m:t>: </m:t>
                    </m:r>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oMath>
                </a14:m>
                <a:r>
                  <a:rPr lang="en-US" sz="1800" kern="100">
                    <a:effectLst/>
                    <a:latin typeface="Arial" panose="020B0604020202020204" pitchFamily="34" charset="0"/>
                    <a:ea typeface="Yu Mincho" panose="02020400000000000000" pitchFamily="18" charset="-128"/>
                    <a:cs typeface="Times New Roman" panose="02020603050405020304" pitchFamily="18" charset="0"/>
                  </a:rPr>
                  <a:t>                                                  (8)</a:t>
                </a:r>
                <a:endParaRPr lang="vi-VN" sz="18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 xmlns:m="http://schemas.openxmlformats.org/officeDocument/2006/math">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d>
                      <m:d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d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𝜖</m:t>
                        </m:r>
                      </m:e>
                    </m:d>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num>
                      <m:den>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den>
                    </m:f>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acc>
                      <m:accPr>
                        <m:chr m:val="̂"/>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acc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sub>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0</m:t>
                            </m:r>
                          </m:sub>
                        </m:sSub>
                      </m:e>
                    </m:acc>
                    <m:r>
                      <a:rPr lang="en-US" sz="1800" i="1" kern="100">
                        <a:effectLst/>
                        <a:latin typeface="Cambria Math" panose="02040503050406030204" pitchFamily="18" charset="0"/>
                        <a:ea typeface="Arial" panose="020B0604020202020204" pitchFamily="34" charset="0"/>
                        <a:cs typeface="Times New Roman" panose="02020603050405020304" pitchFamily="18" charset="0"/>
                      </a:rPr>
                      <m:t> </m:t>
                    </m:r>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oMath>
                </a14:m>
                <a:r>
                  <a:rPr lang="en-US" sz="1800" kern="100">
                    <a:effectLst/>
                    <a:latin typeface="Arial" panose="020B0604020202020204" pitchFamily="34" charset="0"/>
                    <a:ea typeface="Yu Mincho" panose="02020400000000000000" pitchFamily="18" charset="-128"/>
                    <a:cs typeface="Times New Roman" panose="02020603050405020304" pitchFamily="18" charset="0"/>
                  </a:rPr>
                  <a:t>                         (9)</a:t>
                </a:r>
                <a:endParaRPr lang="vi-VN" sz="1800" kern="100">
                  <a:effectLst/>
                  <a:latin typeface="Arial" panose="020B0604020202020204" pitchFamily="34" charset="0"/>
                  <a:ea typeface="Arial" panose="020B0604020202020204" pitchFamily="34" charset="0"/>
                  <a:cs typeface="Times New Roman" panose="02020603050405020304" pitchFamily="18" charset="0"/>
                </a:endParaRPr>
              </a:p>
            </p:txBody>
          </p:sp>
        </mc:Choice>
        <mc:Fallback xmlns="">
          <p:sp>
            <p:nvSpPr>
              <p:cNvPr id="7" name="Hộp Văn bản 6">
                <a:extLst>
                  <a:ext uri="{FF2B5EF4-FFF2-40B4-BE49-F238E27FC236}">
                    <a16:creationId xmlns:a16="http://schemas.microsoft.com/office/drawing/2014/main" id="{CC546BC5-28CE-40D2-2081-955CD4EED5FC}"/>
                  </a:ext>
                </a:extLst>
              </p:cNvPr>
              <p:cNvSpPr txBox="1">
                <a:spLocks noRot="1" noChangeAspect="1" noMove="1" noResize="1" noEditPoints="1" noAdjustHandles="1" noChangeArrowheads="1" noChangeShapeType="1" noTextEdit="1"/>
              </p:cNvSpPr>
              <p:nvPr/>
            </p:nvSpPr>
            <p:spPr>
              <a:xfrm>
                <a:off x="277024" y="1667660"/>
                <a:ext cx="5558538" cy="4908267"/>
              </a:xfrm>
              <a:prstGeom prst="rect">
                <a:avLst/>
              </a:prstGeom>
              <a:blipFill>
                <a:blip r:embed="rId2"/>
                <a:stretch>
                  <a:fillRect l="-877" t="-497" r="-65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FBC9D111-0C9E-99A9-CDF1-B5805CF4C7D6}"/>
                  </a:ext>
                </a:extLst>
              </p:cNvPr>
              <p:cNvSpPr txBox="1"/>
              <p:nvPr/>
            </p:nvSpPr>
            <p:spPr>
              <a:xfrm>
                <a:off x="5933486" y="1766915"/>
                <a:ext cx="6094378" cy="4054956"/>
              </a:xfrm>
              <a:prstGeom prst="rect">
                <a:avLst/>
              </a:prstGeom>
              <a:noFill/>
            </p:spPr>
            <p:txBody>
              <a:bodyPr wrap="square">
                <a:spAutoFit/>
              </a:bodyPr>
              <a:lstStyle/>
              <a:p>
                <a:pPr>
                  <a:lnSpc>
                    <a:spcPct val="115000"/>
                  </a:lnSpc>
                  <a:spcAft>
                    <a:spcPts val="800"/>
                  </a:spcAft>
                </a:pPr>
                <a14:m>
                  <m:oMath xmlns:m="http://schemas.openxmlformats.org/officeDocument/2006/math">
                    <m:r>
                      <a:rPr lang="en-US" sz="1800" i="1" kern="100" smtClean="0">
                        <a:effectLst/>
                        <a:latin typeface="Cambria Math" panose="02040503050406030204" pitchFamily="18" charset="0"/>
                        <a:ea typeface="Arial" panose="020B0604020202020204" pitchFamily="34" charset="0"/>
                        <a:cs typeface="Times New Roman" panose="02020603050405020304" pitchFamily="18" charset="0"/>
                      </a:rPr>
                      <m:t>0</m:t>
                    </m:r>
                    <m:d>
                      <m:d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dPr>
                      <m:e>
                        <m:sSup>
                          <m:sSup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𝜖</m:t>
                            </m:r>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p>
                        </m:sSup>
                      </m:e>
                    </m:d>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num>
                      <m:den>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den>
                    </m:f>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b>
                        </m:sSub>
                      </m:num>
                      <m:den>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den>
                    </m:f>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f>
                      <m:f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fPr>
                      <m:num>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p>
                        </m:sSup>
                      </m:num>
                      <m:den>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p>
                        </m:sSup>
                      </m:den>
                    </m:f>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acc>
                      <m:accPr>
                        <m:chr m:val="̂"/>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acc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sub>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0</m:t>
                            </m:r>
                          </m:sub>
                        </m:sSub>
                      </m:e>
                    </m:acc>
                    <m:r>
                      <a:rPr lang="en-US" sz="1800" i="1" kern="100">
                        <a:effectLst/>
                        <a:latin typeface="Cambria Math" panose="02040503050406030204" pitchFamily="18" charset="0"/>
                        <a:ea typeface="Arial" panose="020B0604020202020204" pitchFamily="34" charset="0"/>
                        <a:cs typeface="Times New Roman" panose="02020603050405020304" pitchFamily="18" charset="0"/>
                      </a:rPr>
                      <m:t> </m:t>
                    </m:r>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num>
                      <m:den>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den>
                    </m:f>
                    <m:acc>
                      <m:accPr>
                        <m:chr m:val="̂"/>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acc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sub>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0</m:t>
                            </m:r>
                          </m:sub>
                        </m:sSub>
                      </m:e>
                    </m:acc>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acc>
                      <m:accPr>
                        <m:chr m:val="̂"/>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acc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sub>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1</m:t>
                            </m:r>
                          </m:sub>
                        </m:sSub>
                      </m:e>
                    </m:acc>
                    <m:r>
                      <a:rPr lang="en-US" sz="1800" i="1" kern="100">
                        <a:effectLst/>
                        <a:latin typeface="Cambria Math" panose="02040503050406030204" pitchFamily="18" charset="0"/>
                        <a:ea typeface="Arial" panose="020B0604020202020204" pitchFamily="34" charset="0"/>
                        <a:cs typeface="Times New Roman" panose="02020603050405020304" pitchFamily="18" charset="0"/>
                      </a:rPr>
                      <m:t> </m:t>
                    </m:r>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oMath>
                </a14:m>
                <a:r>
                  <a:rPr lang="en-US" sz="1800" kern="100">
                    <a:effectLst/>
                    <a:latin typeface="Arial" panose="020B0604020202020204" pitchFamily="34" charset="0"/>
                    <a:ea typeface="Yu Mincho" panose="02020400000000000000" pitchFamily="18" charset="-128"/>
                    <a:cs typeface="Times New Roman" panose="02020603050405020304" pitchFamily="18" charset="0"/>
                  </a:rPr>
                  <a:t>                                                           (10)</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Nghiệm</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của</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(8)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là</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a:t>
                </a:r>
                <a14:m>
                  <m:oMath xmlns:m="http://schemas.openxmlformats.org/officeDocument/2006/math">
                    <m:sSub>
                      <m:sSubPr>
                        <m:ctrlP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ctrlPr>
                      </m:sSubPr>
                      <m:e>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𝑥</m:t>
                        </m:r>
                      </m:e>
                      <m:sub>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0</m:t>
                        </m:r>
                      </m:sub>
                    </m:sSub>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m:t>
                    </m:r>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𝑋</m:t>
                    </m:r>
                    <m:func>
                      <m:funcPr>
                        <m:ctrlPr>
                          <a:rPr lang="en-US" sz="1800" kern="100">
                            <a:effectLst/>
                            <a:latin typeface="Cambria Math" panose="02040503050406030204" pitchFamily="18" charset="0"/>
                            <a:ea typeface="Arial" panose="020B0604020202020204" pitchFamily="34" charset="0"/>
                            <a:cs typeface="Times New Roman" panose="02020603050405020304" pitchFamily="18" charset="0"/>
                          </a:rPr>
                        </m:ctrlPr>
                      </m:funcPr>
                      <m:fName>
                        <m:r>
                          <m:rPr>
                            <m:sty m:val="p"/>
                          </m:rPr>
                          <a:rPr lang="en-US" sz="1800" kern="100">
                            <a:effectLst/>
                            <a:latin typeface="Cambria Math" panose="02040503050406030204" pitchFamily="18" charset="0"/>
                            <a:ea typeface="Arial" panose="020B0604020202020204" pitchFamily="34" charset="0"/>
                            <a:cs typeface="Times New Roman" panose="02020603050405020304" pitchFamily="18" charset="0"/>
                          </a:rPr>
                          <m:t>cos</m:t>
                        </m:r>
                      </m:fName>
                      <m:e>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𝜏</m:t>
                        </m:r>
                      </m:e>
                    </m:func>
                  </m:oMath>
                </a14:m>
                <a:r>
                  <a:rPr lang="en-US" sz="1800" kern="100">
                    <a:effectLst/>
                    <a:latin typeface="Arial" panose="020B0604020202020204" pitchFamily="34" charset="0"/>
                    <a:ea typeface="Yu Mincho" panose="02020400000000000000" pitchFamily="18" charset="-128"/>
                    <a:cs typeface="Times New Roman" panose="02020603050405020304" pitchFamily="18" charset="0"/>
                  </a:rPr>
                  <a:t>,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bên</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cạnh</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đó</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a:t>
                </a:r>
                <a14:m>
                  <m:oMath xmlns:m="http://schemas.openxmlformats.org/officeDocument/2006/math">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oMath>
                </a14:m>
                <a:r>
                  <a:rPr lang="en-US" sz="1800" kern="100">
                    <a:effectLst/>
                    <a:latin typeface="Arial" panose="020B0604020202020204" pitchFamily="34" charset="0"/>
                    <a:ea typeface="Yu Mincho" panose="02020400000000000000" pitchFamily="18" charset="-128"/>
                    <a:cs typeface="Times New Roman" panose="02020603050405020304" pitchFamily="18" charset="0"/>
                  </a:rPr>
                  <a:t>.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Từ</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đây</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ta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rút</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gọn</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(9):</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 xmlns:m="http://schemas.openxmlformats.org/officeDocument/2006/math">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acc>
                      <m:accPr>
                        <m:chr m:val="̂"/>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acc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sub>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0</m:t>
                            </m:r>
                          </m:sub>
                        </m:sSub>
                      </m:e>
                    </m:acc>
                    <m:r>
                      <a:rPr lang="en-US" sz="1800" i="1" kern="100">
                        <a:effectLst/>
                        <a:latin typeface="Cambria Math" panose="02040503050406030204" pitchFamily="18" charset="0"/>
                        <a:ea typeface="Arial" panose="020B0604020202020204" pitchFamily="34" charset="0"/>
                        <a:cs typeface="Times New Roman" panose="02020603050405020304" pitchFamily="18" charset="0"/>
                      </a:rPr>
                      <m:t> </m:t>
                    </m:r>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𝑋</m:t>
                    </m:r>
                    <m:func>
                      <m:funcPr>
                        <m:ctrlPr>
                          <a:rPr lang="en-US" sz="1800" kern="100">
                            <a:effectLst/>
                            <a:latin typeface="Cambria Math" panose="02040503050406030204" pitchFamily="18" charset="0"/>
                            <a:ea typeface="Arial" panose="020B0604020202020204" pitchFamily="34" charset="0"/>
                            <a:cs typeface="Times New Roman" panose="02020603050405020304" pitchFamily="18" charset="0"/>
                          </a:rPr>
                        </m:ctrlPr>
                      </m:funcPr>
                      <m:fName>
                        <m:r>
                          <m:rPr>
                            <m:sty m:val="p"/>
                          </m:rPr>
                          <a:rPr lang="en-US" sz="1800" kern="100">
                            <a:effectLst/>
                            <a:latin typeface="Cambria Math" panose="02040503050406030204" pitchFamily="18" charset="0"/>
                            <a:ea typeface="Arial" panose="020B0604020202020204" pitchFamily="34" charset="0"/>
                            <a:cs typeface="Times New Roman" panose="02020603050405020304" pitchFamily="18" charset="0"/>
                          </a:rPr>
                          <m:t>sin</m:t>
                        </m:r>
                      </m:fName>
                      <m:e>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𝜏</m:t>
                        </m:r>
                      </m:e>
                    </m:func>
                  </m:oMath>
                </a14:m>
                <a:r>
                  <a:rPr lang="en-US" sz="1800" kern="100">
                    <a:effectLst/>
                    <a:latin typeface="Arial" panose="020B0604020202020204" pitchFamily="34" charset="0"/>
                    <a:ea typeface="Yu Mincho" panose="02020400000000000000" pitchFamily="18" charset="-128"/>
                    <a:cs typeface="Times New Roman" panose="02020603050405020304" pitchFamily="18" charset="0"/>
                  </a:rPr>
                  <a:t>                                                     (11)</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a:effectLst/>
                    <a:latin typeface="Arial" panose="020B0604020202020204" pitchFamily="34" charset="0"/>
                    <a:ea typeface="Yu Mincho" panose="02020400000000000000" pitchFamily="18" charset="-128"/>
                    <a:cs typeface="Times New Roman" panose="02020603050405020304" pitchFamily="18" charset="0"/>
                  </a:rPr>
                  <a:t>2)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Tính</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toán</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tỉ</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số</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hài</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bậc</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3</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Thay</a:t>
                </a:r>
                <a:r>
                  <a:rPr lang="vi-VN" sz="1800" kern="100">
                    <a:effectLst/>
                    <a:latin typeface="Arial" panose="020B0604020202020204" pitchFamily="34" charset="0"/>
                    <a:ea typeface="Yu Mincho" panose="02020400000000000000" pitchFamily="18" charset="-128"/>
                    <a:cs typeface="Times New Roman" panose="02020603050405020304" pitchFamily="18" charset="0"/>
                  </a:rPr>
                  <a:t> </a:t>
                </a:r>
                <a14:m>
                  <m:oMath xmlns:m="http://schemas.openxmlformats.org/officeDocument/2006/math">
                    <m:sSub>
                      <m:sSubPr>
                        <m:ctrlP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ctrlPr>
                      </m:sSubPr>
                      <m:e>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𝑥</m:t>
                        </m:r>
                      </m:e>
                      <m:sub>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0</m:t>
                        </m:r>
                      </m:sub>
                    </m:sSub>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m:t>
                    </m:r>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𝑋</m:t>
                    </m:r>
                    <m:func>
                      <m:funcPr>
                        <m:ctrlPr>
                          <a:rPr lang="en-US" sz="1800" kern="100">
                            <a:effectLst/>
                            <a:latin typeface="Cambria Math" panose="02040503050406030204" pitchFamily="18" charset="0"/>
                            <a:ea typeface="Arial" panose="020B0604020202020204" pitchFamily="34" charset="0"/>
                            <a:cs typeface="Times New Roman" panose="02020603050405020304" pitchFamily="18" charset="0"/>
                          </a:rPr>
                        </m:ctrlPr>
                      </m:funcPr>
                      <m:fName>
                        <m:r>
                          <m:rPr>
                            <m:sty m:val="p"/>
                          </m:rPr>
                          <a:rPr lang="en-US" sz="1800" kern="100">
                            <a:effectLst/>
                            <a:latin typeface="Cambria Math" panose="02040503050406030204" pitchFamily="18" charset="0"/>
                            <a:ea typeface="Arial" panose="020B0604020202020204" pitchFamily="34" charset="0"/>
                            <a:cs typeface="Times New Roman" panose="02020603050405020304" pitchFamily="18" charset="0"/>
                          </a:rPr>
                          <m:t>cos</m:t>
                        </m:r>
                      </m:fName>
                      <m:e>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𝜏</m:t>
                        </m:r>
                      </m:e>
                    </m:func>
                  </m:oMath>
                </a14:m>
                <a:r>
                  <a:rPr lang="en-US" sz="1800" kern="100">
                    <a:effectLst/>
                    <a:latin typeface="Arial" panose="020B0604020202020204" pitchFamily="34" charset="0"/>
                    <a:ea typeface="Yu Mincho" panose="02020400000000000000" pitchFamily="18" charset="-128"/>
                    <a:cs typeface="Times New Roman" panose="02020603050405020304" pitchFamily="18" charset="0"/>
                  </a:rPr>
                  <a:t>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và</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(2)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vào</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(11) ta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được</a:t>
                </a:r>
                <a:r>
                  <a:rPr lang="en-US" sz="1800" kern="100">
                    <a:effectLst/>
                    <a:latin typeface="Arial" panose="020B0604020202020204" pitchFamily="34" charset="0"/>
                    <a:ea typeface="Yu Mincho" panose="02020400000000000000" pitchFamily="18" charset="-128"/>
                    <a:cs typeface="Times New Roman" panose="02020603050405020304" pitchFamily="18" charset="0"/>
                  </a:rPr>
                  <a:t>:</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Para xmlns:m="http://schemas.openxmlformats.org/officeDocument/2006/math">
                    <m:oMath>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d>
                        <m:d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dPr>
                        <m:e>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3</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𝛼</m:t>
                              </m:r>
                            </m:num>
                            <m:den>
                              <m:r>
                                <a:rPr lang="en-US" sz="1800" i="1" kern="100">
                                  <a:effectLst/>
                                  <a:latin typeface="Cambria Math" panose="02040503050406030204" pitchFamily="18" charset="0"/>
                                  <a:ea typeface="Arial" panose="020B0604020202020204" pitchFamily="34" charset="0"/>
                                  <a:cs typeface="Times New Roman" panose="02020603050405020304" pitchFamily="18" charset="0"/>
                                </a:rPr>
                                <m:t>4</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𝜎</m:t>
                              </m:r>
                            </m:den>
                          </m:f>
                          <m:sSup>
                            <m:sSup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𝑋</m:t>
                              </m:r>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e>
                      </m:d>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𝑋</m:t>
                      </m:r>
                      <m:func>
                        <m:funcPr>
                          <m:ctrlPr>
                            <a:rPr lang="en-US" sz="1800" kern="100">
                              <a:effectLst/>
                              <a:latin typeface="Cambria Math" panose="02040503050406030204" pitchFamily="18" charset="0"/>
                              <a:ea typeface="Arial" panose="020B0604020202020204" pitchFamily="34" charset="0"/>
                              <a:cs typeface="Times New Roman" panose="02020603050405020304" pitchFamily="18" charset="0"/>
                            </a:rPr>
                          </m:ctrlPr>
                        </m:funcPr>
                        <m:fName>
                          <m:r>
                            <m:rPr>
                              <m:sty m:val="p"/>
                            </m:rPr>
                            <a:rPr lang="en-US" sz="1800" kern="100">
                              <a:effectLst/>
                              <a:latin typeface="Cambria Math" panose="02040503050406030204" pitchFamily="18" charset="0"/>
                              <a:ea typeface="Arial" panose="020B0604020202020204" pitchFamily="34" charset="0"/>
                              <a:cs typeface="Times New Roman" panose="02020603050405020304" pitchFamily="18" charset="0"/>
                            </a:rPr>
                            <m:t>sin</m:t>
                          </m:r>
                        </m:fName>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𝜏</m:t>
                          </m:r>
                        </m:e>
                      </m:func>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3</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𝛼</m:t>
                          </m:r>
                        </m:num>
                        <m:den>
                          <m:r>
                            <a:rPr lang="en-US" sz="1800" i="1" kern="100">
                              <a:effectLst/>
                              <a:latin typeface="Cambria Math" panose="02040503050406030204" pitchFamily="18" charset="0"/>
                              <a:ea typeface="Arial" panose="020B0604020202020204" pitchFamily="34" charset="0"/>
                              <a:cs typeface="Times New Roman" panose="02020603050405020304" pitchFamily="18" charset="0"/>
                            </a:rPr>
                            <m:t>4</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𝜎</m:t>
                          </m:r>
                        </m:den>
                      </m:f>
                      <m:sSup>
                        <m:sSup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𝑋</m:t>
                          </m:r>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3</m:t>
                          </m:r>
                        </m:sup>
                      </m:sSup>
                      <m:func>
                        <m:funcPr>
                          <m:ctrlPr>
                            <a:rPr lang="en-US" sz="1800" kern="100">
                              <a:effectLst/>
                              <a:latin typeface="Cambria Math" panose="02040503050406030204" pitchFamily="18" charset="0"/>
                              <a:ea typeface="Arial" panose="020B0604020202020204" pitchFamily="34" charset="0"/>
                              <a:cs typeface="Times New Roman" panose="02020603050405020304" pitchFamily="18" charset="0"/>
                            </a:rPr>
                          </m:ctrlPr>
                        </m:funcPr>
                        <m:fName>
                          <m:r>
                            <m:rPr>
                              <m:sty m:val="p"/>
                            </m:rPr>
                            <a:rPr lang="en-US" sz="1800" kern="100">
                              <a:effectLst/>
                              <a:latin typeface="Cambria Math" panose="02040503050406030204" pitchFamily="18" charset="0"/>
                              <a:ea typeface="Arial" panose="020B0604020202020204" pitchFamily="34" charset="0"/>
                              <a:cs typeface="Times New Roman" panose="02020603050405020304" pitchFamily="18" charset="0"/>
                            </a:rPr>
                            <m:t>sin</m:t>
                          </m:r>
                        </m:fName>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3</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𝜏</m:t>
                          </m:r>
                        </m:e>
                      </m:func>
                    </m:oMath>
                  </m:oMathPara>
                </a14:m>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p:txBody>
          </p:sp>
        </mc:Choice>
        <mc:Fallback xmlns="">
          <p:sp>
            <p:nvSpPr>
              <p:cNvPr id="8" name="Hộp Văn bản 7">
                <a:extLst>
                  <a:ext uri="{FF2B5EF4-FFF2-40B4-BE49-F238E27FC236}">
                    <a16:creationId xmlns:a16="http://schemas.microsoft.com/office/drawing/2014/main" id="{FBC9D111-0C9E-99A9-CDF1-B5805CF4C7D6}"/>
                  </a:ext>
                </a:extLst>
              </p:cNvPr>
              <p:cNvSpPr txBox="1">
                <a:spLocks noRot="1" noChangeAspect="1" noMove="1" noResize="1" noEditPoints="1" noAdjustHandles="1" noChangeArrowheads="1" noChangeShapeType="1" noTextEdit="1"/>
              </p:cNvSpPr>
              <p:nvPr/>
            </p:nvSpPr>
            <p:spPr>
              <a:xfrm>
                <a:off x="5933486" y="1766915"/>
                <a:ext cx="6094378" cy="4054956"/>
              </a:xfrm>
              <a:prstGeom prst="rect">
                <a:avLst/>
              </a:prstGeom>
              <a:blipFill>
                <a:blip r:embed="rId3"/>
                <a:stretch>
                  <a:fillRect l="-800" r="-900"/>
                </a:stretch>
              </a:blipFill>
            </p:spPr>
            <p:txBody>
              <a:bodyPr/>
              <a:lstStyle/>
              <a:p>
                <a:r>
                  <a:rPr lang="vi-VN">
                    <a:noFill/>
                  </a:rPr>
                  <a:t> </a:t>
                </a:r>
              </a:p>
            </p:txBody>
          </p:sp>
        </mc:Fallback>
      </mc:AlternateContent>
    </p:spTree>
    <p:extLst>
      <p:ext uri="{BB962C8B-B14F-4D97-AF65-F5344CB8AC3E}">
        <p14:creationId xmlns:p14="http://schemas.microsoft.com/office/powerpoint/2010/main" val="8165762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82D62-0821-CAFF-863D-90C52C3187B0}"/>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1713234-BAC0-754A-227C-44EBF77D2178}"/>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138350E3-8009-B513-791A-4D989D041692}"/>
              </a:ext>
            </a:extLst>
          </p:cNvPr>
          <p:cNvSpPr>
            <a:spLocks noGrp="1"/>
          </p:cNvSpPr>
          <p:nvPr>
            <p:ph type="sldNum" sz="quarter" idx="12"/>
          </p:nvPr>
        </p:nvSpPr>
        <p:spPr/>
        <p:txBody>
          <a:bodyPr/>
          <a:lstStyle/>
          <a:p>
            <a:fld id="{931DD963-FD40-4A6D-88A9-402A489E81DE}" type="slidenum">
              <a:rPr lang="en-US" smtClean="0"/>
              <a:t>83</a:t>
            </a:fld>
            <a:endParaRPr lang="en-US"/>
          </a:p>
        </p:txBody>
      </p:sp>
      <p:grpSp>
        <p:nvGrpSpPr>
          <p:cNvPr id="10" name="Group 9">
            <a:extLst>
              <a:ext uri="{FF2B5EF4-FFF2-40B4-BE49-F238E27FC236}">
                <a16:creationId xmlns:a16="http://schemas.microsoft.com/office/drawing/2014/main" id="{CB163DA4-07C8-6833-81E9-771A483FDB7F}"/>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2A7E7EE6-3425-487C-EC96-672D4B4692D8}"/>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D1A78F49-026F-6803-9A89-4E2F91DDD942}"/>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p:sp>
        <p:nvSpPr>
          <p:cNvPr id="4" name="TextBox 3">
            <a:extLst>
              <a:ext uri="{FF2B5EF4-FFF2-40B4-BE49-F238E27FC236}">
                <a16:creationId xmlns:a16="http://schemas.microsoft.com/office/drawing/2014/main" id="{C708C930-1DA2-5F66-50E3-BD72B85BCA6A}"/>
              </a:ext>
            </a:extLst>
          </p:cNvPr>
          <p:cNvSpPr txBox="1"/>
          <p:nvPr/>
        </p:nvSpPr>
        <p:spPr>
          <a:xfrm>
            <a:off x="413529" y="973021"/>
            <a:ext cx="4975264" cy="707886"/>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4.2. </a:t>
            </a:r>
            <a:r>
              <a:rPr lang="vi-VN" sz="2000" b="1">
                <a:solidFill>
                  <a:prstClr val="black"/>
                </a:solidFill>
                <a:latin typeface="Times New Roman" panose="02020603050405020304" pitchFamily="18" charset="0"/>
                <a:cs typeface="Times New Roman" panose="02020603050405020304" pitchFamily="18" charset="0"/>
              </a:rPr>
              <a:t>Lý giải về hài bậc 3 của 2 bộ dao động</a:t>
            </a:r>
          </a:p>
          <a:p>
            <a:pPr defTabSz="609585">
              <a:defRPr/>
            </a:pPr>
            <a:r>
              <a:rPr lang="en-US" sz="2000">
                <a:solidFill>
                  <a:prstClr val="black"/>
                </a:solidFill>
                <a:latin typeface="Times New Roman" panose="02020603050405020304" pitchFamily="18" charset="0"/>
                <a:cs typeface="Times New Roman" panose="02020603050405020304" pitchFamily="18" charset="0"/>
              </a:rPr>
              <a:t>4.2.2. </a:t>
            </a:r>
            <a:r>
              <a:rPr lang="vi-VN" sz="2000" err="1">
                <a:solidFill>
                  <a:prstClr val="black"/>
                </a:solidFill>
                <a:latin typeface="Times New Roman" panose="02020603050405020304" pitchFamily="18" charset="0"/>
                <a:cs typeface="Times New Roman" panose="02020603050405020304" pitchFamily="18" charset="0"/>
              </a:rPr>
              <a:t>Hopf</a:t>
            </a:r>
            <a:endParaRPr lang="en-US" sz="2000">
              <a:solidFill>
                <a:prstClr val="black"/>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Hộp Văn bản 4">
                <a:extLst>
                  <a:ext uri="{FF2B5EF4-FFF2-40B4-BE49-F238E27FC236}">
                    <a16:creationId xmlns:a16="http://schemas.microsoft.com/office/drawing/2014/main" id="{C7177143-76C4-8420-CE5D-3456635FC9AF}"/>
                  </a:ext>
                </a:extLst>
              </p:cNvPr>
              <p:cNvSpPr txBox="1"/>
              <p:nvPr/>
            </p:nvSpPr>
            <p:spPr>
              <a:xfrm>
                <a:off x="443345" y="2148112"/>
                <a:ext cx="5347855" cy="4382931"/>
              </a:xfrm>
              <a:prstGeom prst="rect">
                <a:avLst/>
              </a:prstGeom>
              <a:noFill/>
            </p:spPr>
            <p:txBody>
              <a:bodyPr wrap="square">
                <a:spAutoFit/>
              </a:bodyPr>
              <a:lstStyle/>
              <a:p>
                <a:pPr>
                  <a:lnSpc>
                    <a:spcPct val="115000"/>
                  </a:lnSpc>
                  <a:spcAft>
                    <a:spcPts val="800"/>
                  </a:spcAft>
                </a:pPr>
                <a:r>
                  <a:rPr lang="vi-VN" sz="1800" kern="100">
                    <a:effectLst/>
                    <a:latin typeface="Arial" panose="020B060402020202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d>
                      <m:d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d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e>
                    </m:d>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𝜀</m:t>
                        </m:r>
                      </m:num>
                      <m:den>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den>
                    </m:f>
                    <m:d>
                      <m:d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d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𝛼</m:t>
                        </m:r>
                        <m:sSup>
                          <m:sSup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𝜎</m:t>
                        </m:r>
                      </m:e>
                    </m:d>
                  </m:oMath>
                </a14:m>
                <a:r>
                  <a:rPr lang="en-US" sz="1800" kern="100">
                    <a:effectLst/>
                    <a:latin typeface="Arial" panose="020B0604020202020204" pitchFamily="34" charset="0"/>
                    <a:ea typeface="Times New Roman" panose="02020603050405020304" pitchFamily="18" charset="0"/>
                    <a:cs typeface="Times New Roman" panose="02020603050405020304" pitchFamily="18" charset="0"/>
                  </a:rPr>
                  <a:t>                         (2)</a:t>
                </a:r>
              </a:p>
              <a:p>
                <a:pPr>
                  <a:lnSpc>
                    <a:spcPct val="115000"/>
                  </a:lnSpc>
                  <a:spcAft>
                    <a:spcPts val="800"/>
                  </a:spcAft>
                </a:pP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Đặt</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𝜏</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𝑒𝑞</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𝑡</m:t>
                    </m:r>
                  </m:oMath>
                </a14:m>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để</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tiện</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phân</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tích</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𝑒𝑞</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 </m:t>
                    </m:r>
                  </m:oMath>
                </a14:m>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là</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tần</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số</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dao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động</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cân</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bằng</a:t>
                </a:r>
                <a:endParaRPr lang="vi-VN" sz="18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err="1">
                    <a:effectLst/>
                    <a:latin typeface="Arial" panose="020B0604020202020204" pitchFamily="34" charset="0"/>
                    <a:ea typeface="Arial" panose="020B0604020202020204" pitchFamily="34" charset="0"/>
                    <a:cs typeface="Times New Roman" panose="02020603050405020304" pitchFamily="18" charset="0"/>
                  </a:rPr>
                  <a:t>Từ</a:t>
                </a:r>
                <a:r>
                  <a:rPr lang="en-US" sz="1800" kern="100">
                    <a:effectLst/>
                    <a:latin typeface="Arial" panose="020B0604020202020204" pitchFamily="34" charset="0"/>
                    <a:ea typeface="Arial" panose="020B0604020202020204" pitchFamily="34" charset="0"/>
                    <a:cs typeface="Times New Roman" panose="02020603050405020304" pitchFamily="18" charset="0"/>
                  </a:rPr>
                  <a:t> </a:t>
                </a:r>
                <a:r>
                  <a:rPr lang="en-US" sz="1800" kern="100" err="1">
                    <a:effectLst/>
                    <a:latin typeface="Arial" panose="020B0604020202020204" pitchFamily="34" charset="0"/>
                    <a:ea typeface="Arial" panose="020B0604020202020204" pitchFamily="34" charset="0"/>
                    <a:cs typeface="Times New Roman" panose="02020603050405020304" pitchFamily="18" charset="0"/>
                  </a:rPr>
                  <a:t>đây</a:t>
                </a:r>
                <a:r>
                  <a:rPr lang="en-US" sz="1800" kern="100">
                    <a:effectLst/>
                    <a:latin typeface="Arial" panose="020B0604020202020204" pitchFamily="34" charset="0"/>
                    <a:ea typeface="Arial" panose="020B0604020202020204" pitchFamily="34" charset="0"/>
                    <a:cs typeface="Times New Roman" panose="02020603050405020304" pitchFamily="18" charset="0"/>
                  </a:rPr>
                  <a:t> </a:t>
                </a:r>
                <a:r>
                  <a:rPr lang="en-US" sz="1800" kern="100" err="1">
                    <a:effectLst/>
                    <a:latin typeface="Arial" panose="020B0604020202020204" pitchFamily="34" charset="0"/>
                    <a:ea typeface="Arial" panose="020B0604020202020204" pitchFamily="34" charset="0"/>
                    <a:cs typeface="Times New Roman" panose="02020603050405020304" pitchFamily="18" charset="0"/>
                  </a:rPr>
                  <a:t>đạo</a:t>
                </a:r>
                <a:r>
                  <a:rPr lang="en-US" sz="1800" kern="100">
                    <a:effectLst/>
                    <a:latin typeface="Arial" panose="020B0604020202020204" pitchFamily="34" charset="0"/>
                    <a:ea typeface="Arial" panose="020B0604020202020204" pitchFamily="34" charset="0"/>
                    <a:cs typeface="Times New Roman" panose="02020603050405020304" pitchFamily="18" charset="0"/>
                  </a:rPr>
                  <a:t> </a:t>
                </a:r>
                <a:r>
                  <a:rPr lang="en-US" sz="1800" kern="100" err="1">
                    <a:effectLst/>
                    <a:latin typeface="Arial" panose="020B0604020202020204" pitchFamily="34" charset="0"/>
                    <a:ea typeface="Arial" panose="020B0604020202020204" pitchFamily="34" charset="0"/>
                    <a:cs typeface="Times New Roman" panose="02020603050405020304" pitchFamily="18" charset="0"/>
                  </a:rPr>
                  <a:t>hàm</a:t>
                </a:r>
                <a:r>
                  <a:rPr lang="en-US" sz="1800" kern="100">
                    <a:effectLst/>
                    <a:latin typeface="Arial" panose="020B0604020202020204" pitchFamily="34" charset="0"/>
                    <a:ea typeface="Arial" panose="020B0604020202020204" pitchFamily="34" charset="0"/>
                    <a:cs typeface="Times New Roman" panose="02020603050405020304" pitchFamily="18" charset="0"/>
                  </a:rPr>
                  <a:t> </a:t>
                </a:r>
                <a:r>
                  <a:rPr lang="en-US" sz="1800" kern="100" err="1">
                    <a:effectLst/>
                    <a:latin typeface="Arial" panose="020B0604020202020204" pitchFamily="34" charset="0"/>
                    <a:ea typeface="Arial" panose="020B0604020202020204" pitchFamily="34" charset="0"/>
                    <a:cs typeface="Times New Roman" panose="02020603050405020304" pitchFamily="18" charset="0"/>
                  </a:rPr>
                  <a:t>bậc</a:t>
                </a:r>
                <a:r>
                  <a:rPr lang="en-US" sz="1800" kern="100">
                    <a:effectLst/>
                    <a:latin typeface="Arial" panose="020B0604020202020204" pitchFamily="34" charset="0"/>
                    <a:ea typeface="Arial" panose="020B0604020202020204" pitchFamily="34" charset="0"/>
                    <a:cs typeface="Times New Roman" panose="02020603050405020304" pitchFamily="18" charset="0"/>
                  </a:rPr>
                  <a:t> </a:t>
                </a:r>
                <a:r>
                  <a:rPr lang="en-US" sz="1800" kern="100" err="1">
                    <a:effectLst/>
                    <a:latin typeface="Arial" panose="020B0604020202020204" pitchFamily="34" charset="0"/>
                    <a:ea typeface="Arial" panose="020B0604020202020204" pitchFamily="34" charset="0"/>
                    <a:cs typeface="Times New Roman" panose="02020603050405020304" pitchFamily="18" charset="0"/>
                  </a:rPr>
                  <a:t>nhất</a:t>
                </a:r>
                <a:r>
                  <a:rPr lang="en-US" sz="1800" kern="100">
                    <a:effectLst/>
                    <a:latin typeface="Arial" panose="020B0604020202020204" pitchFamily="34" charset="0"/>
                    <a:ea typeface="Arial" panose="020B0604020202020204" pitchFamily="34" charset="0"/>
                    <a:cs typeface="Times New Roman" panose="02020603050405020304" pitchFamily="18" charset="0"/>
                  </a:rPr>
                  <a:t> </a:t>
                </a:r>
                <a:r>
                  <a:rPr lang="en-US" sz="1800" kern="100" err="1">
                    <a:effectLst/>
                    <a:latin typeface="Arial" panose="020B0604020202020204" pitchFamily="34" charset="0"/>
                    <a:ea typeface="Arial" panose="020B0604020202020204" pitchFamily="34" charset="0"/>
                    <a:cs typeface="Times New Roman" panose="02020603050405020304" pitchFamily="18" charset="0"/>
                  </a:rPr>
                  <a:t>và</a:t>
                </a:r>
                <a:r>
                  <a:rPr lang="en-US" sz="1800" kern="100">
                    <a:effectLst/>
                    <a:latin typeface="Arial" panose="020B0604020202020204" pitchFamily="34" charset="0"/>
                    <a:ea typeface="Arial" panose="020B0604020202020204" pitchFamily="34" charset="0"/>
                    <a:cs typeface="Times New Roman" panose="02020603050405020304" pitchFamily="18" charset="0"/>
                  </a:rPr>
                  <a:t> </a:t>
                </a:r>
                <a:r>
                  <a:rPr lang="en-US" sz="1800" kern="100" err="1">
                    <a:effectLst/>
                    <a:latin typeface="Arial" panose="020B0604020202020204" pitchFamily="34" charset="0"/>
                    <a:ea typeface="Arial" panose="020B0604020202020204" pitchFamily="34" charset="0"/>
                    <a:cs typeface="Times New Roman" panose="02020603050405020304" pitchFamily="18" charset="0"/>
                  </a:rPr>
                  <a:t>bậc</a:t>
                </a:r>
                <a:r>
                  <a:rPr lang="en-US" sz="1800" kern="100">
                    <a:effectLst/>
                    <a:latin typeface="Arial" panose="020B0604020202020204" pitchFamily="34" charset="0"/>
                    <a:ea typeface="Arial" panose="020B0604020202020204" pitchFamily="34" charset="0"/>
                    <a:cs typeface="Times New Roman" panose="02020603050405020304" pitchFamily="18" charset="0"/>
                  </a:rPr>
                  <a:t> </a:t>
                </a:r>
                <a:r>
                  <a:rPr lang="en-US" sz="1800" kern="100" err="1">
                    <a:effectLst/>
                    <a:latin typeface="Arial" panose="020B0604020202020204" pitchFamily="34" charset="0"/>
                    <a:ea typeface="Arial" panose="020B0604020202020204" pitchFamily="34" charset="0"/>
                    <a:cs typeface="Times New Roman" panose="02020603050405020304" pitchFamily="18" charset="0"/>
                  </a:rPr>
                  <a:t>hai</a:t>
                </a:r>
                <a:r>
                  <a:rPr lang="en-US" sz="1800" kern="100">
                    <a:effectLst/>
                    <a:latin typeface="Arial" panose="020B0604020202020204" pitchFamily="34" charset="0"/>
                    <a:ea typeface="Arial" panose="020B0604020202020204" pitchFamily="34" charset="0"/>
                    <a:cs typeface="Times New Roman" panose="02020603050405020304" pitchFamily="18" charset="0"/>
                  </a:rPr>
                  <a:t> </a:t>
                </a:r>
                <a:r>
                  <a:rPr lang="en-US" sz="1800" kern="100" err="1">
                    <a:effectLst/>
                    <a:latin typeface="Arial" panose="020B0604020202020204" pitchFamily="34" charset="0"/>
                    <a:ea typeface="Arial" panose="020B0604020202020204" pitchFamily="34" charset="0"/>
                    <a:cs typeface="Times New Roman" panose="02020603050405020304" pitchFamily="18" charset="0"/>
                  </a:rPr>
                  <a:t>theo</a:t>
                </a:r>
                <a: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1800" i="1" kern="100" smtClean="0">
                        <a:effectLst/>
                        <a:latin typeface="Cambria Math" panose="02040503050406030204" pitchFamily="18" charset="0"/>
                        <a:ea typeface="Times New Roman" panose="02020603050405020304" pitchFamily="18" charset="0"/>
                        <a:cs typeface="Times New Roman" panose="02020603050405020304" pitchFamily="18" charset="0"/>
                      </a:rPr>
                      <m:t>𝜏</m:t>
                    </m:r>
                  </m:oMath>
                </a14:m>
                <a: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kí</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hiệu</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là</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p>
                      <m:sSup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oMath>
                </a14:m>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và</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p>
                      <m:sSup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oMath>
                </a14:m>
                <a:endParaRPr lang="vi-VN" sz="18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Para xmlns:m="http://schemas.openxmlformats.org/officeDocument/2006/math">
                    <m:oMath>
                      <m:sSup>
                        <m:sSup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𝑑𝑥</m:t>
                          </m:r>
                        </m:num>
                        <m:den>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𝑑</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𝜏</m:t>
                          </m:r>
                        </m:den>
                      </m:f>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𝑑𝑡</m:t>
                          </m:r>
                        </m:num>
                        <m:den>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𝑑</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𝜏</m:t>
                          </m:r>
                        </m:den>
                      </m:f>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 . </m:t>
                      </m:r>
                      <m:f>
                        <m:f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𝑑𝑥</m:t>
                          </m:r>
                        </m:num>
                        <m:den>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𝑑𝑡</m:t>
                          </m:r>
                        </m:den>
                      </m:f>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𝑒𝑞</m:t>
                              </m:r>
                            </m:sub>
                          </m:sSub>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 </m:t>
                      </m:r>
                      <m:acc>
                        <m:accPr>
                          <m:chr m:val="̇"/>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acc>
                    </m:oMath>
                  </m:oMathPara>
                </a14:m>
                <a:endParaRPr lang="vi-VN" sz="18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Para xmlns:m="http://schemas.openxmlformats.org/officeDocument/2006/math">
                    <m:oMath>
                      <m:sSup>
                        <m:sSup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𝑒𝑞</m:t>
                              </m:r>
                            </m:sub>
                          </m:sSub>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 </m:t>
                      </m:r>
                      <m:acc>
                        <m:accPr>
                          <m:chr m:val="̈"/>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acc>
                    </m:oMath>
                  </m:oMathPara>
                </a14:m>
                <a:endParaRPr lang="vi-VN" sz="18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Thay</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vào</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(1) ta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được</a:t>
                </a:r>
                <a:endParaRPr lang="vi-VN" sz="18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Para xmlns:m="http://schemas.openxmlformats.org/officeDocument/2006/math">
                    <m:oMath>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𝑒𝑞</m:t>
                              </m:r>
                            </m:sub>
                          </m:sSub>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2</m:t>
                          </m:r>
                        </m:sup>
                      </m:sSup>
                      <m:sSup>
                        <m:sSup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+2</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d>
                        <m:d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d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e>
                      </m:d>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𝑒𝑞</m:t>
                          </m:r>
                        </m:sub>
                      </m:sSub>
                      <m:sSup>
                        <m:sSup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=0    </m:t>
                      </m:r>
                      <m:r>
                        <a:rPr lang="en-US" sz="1800" b="0" i="0" kern="100" smtClean="0">
                          <a:effectLst/>
                          <a:latin typeface="Cambria Math" panose="02040503050406030204" pitchFamily="18" charset="0"/>
                          <a:ea typeface="Arial" panose="020B0604020202020204" pitchFamily="34" charset="0"/>
                          <a:cs typeface="Times New Roman" panose="02020603050405020304" pitchFamily="18" charset="0"/>
                        </a:rPr>
                        <m:t>     (3)</m:t>
                      </m:r>
                    </m:oMath>
                  </m:oMathPara>
                </a14:m>
                <a:endParaRPr lang="vi-VN" sz="18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p:txBody>
          </p:sp>
        </mc:Choice>
        <mc:Fallback xmlns="">
          <p:sp>
            <p:nvSpPr>
              <p:cNvPr id="5" name="Hộp Văn bản 4">
                <a:extLst>
                  <a:ext uri="{FF2B5EF4-FFF2-40B4-BE49-F238E27FC236}">
                    <a16:creationId xmlns:a16="http://schemas.microsoft.com/office/drawing/2014/main" id="{C7177143-76C4-8420-CE5D-3456635FC9AF}"/>
                  </a:ext>
                </a:extLst>
              </p:cNvPr>
              <p:cNvSpPr txBox="1">
                <a:spLocks noRot="1" noChangeAspect="1" noMove="1" noResize="1" noEditPoints="1" noAdjustHandles="1" noChangeArrowheads="1" noChangeShapeType="1" noTextEdit="1"/>
              </p:cNvSpPr>
              <p:nvPr/>
            </p:nvSpPr>
            <p:spPr>
              <a:xfrm>
                <a:off x="443345" y="2148112"/>
                <a:ext cx="5347855" cy="4382931"/>
              </a:xfrm>
              <a:prstGeom prst="rect">
                <a:avLst/>
              </a:prstGeom>
              <a:blipFill>
                <a:blip r:embed="rId2"/>
                <a:stretch>
                  <a:fillRect l="-1026" r="-684"/>
                </a:stretch>
              </a:blipFill>
            </p:spPr>
            <p:txBody>
              <a:bodyPr/>
              <a:lstStyle/>
              <a:p>
                <a:r>
                  <a:rPr lang="vi-VN">
                    <a:noFill/>
                  </a:rPr>
                  <a:t> </a:t>
                </a:r>
              </a:p>
            </p:txBody>
          </p:sp>
        </mc:Fallback>
      </mc:AlternateContent>
      <p:sp>
        <p:nvSpPr>
          <p:cNvPr id="6" name="Hộp Văn bản 5">
            <a:extLst>
              <a:ext uri="{FF2B5EF4-FFF2-40B4-BE49-F238E27FC236}">
                <a16:creationId xmlns:a16="http://schemas.microsoft.com/office/drawing/2014/main" id="{CA234FAD-8B16-DE66-4F06-EBBD34C33781}"/>
              </a:ext>
            </a:extLst>
          </p:cNvPr>
          <p:cNvSpPr txBox="1"/>
          <p:nvPr/>
        </p:nvSpPr>
        <p:spPr>
          <a:xfrm>
            <a:off x="374948" y="1855091"/>
            <a:ext cx="5109816" cy="369332"/>
          </a:xfrm>
          <a:prstGeom prst="rect">
            <a:avLst/>
          </a:prstGeom>
          <a:noFill/>
        </p:spPr>
        <p:txBody>
          <a:bodyPr wrap="square">
            <a:spAutoFit/>
          </a:bodyPr>
          <a:lstStyle/>
          <a:p>
            <a:r>
              <a:rPr lang="vi-VN">
                <a:latin typeface="+mj-lt"/>
              </a:rPr>
              <a:t>- Xét từ hàm giảm chấn đã nói bên trên: </a:t>
            </a:r>
          </a:p>
        </p:txBody>
      </p:sp>
      <mc:AlternateContent xmlns:mc="http://schemas.openxmlformats.org/markup-compatibility/2006" xmlns:a14="http://schemas.microsoft.com/office/drawing/2010/main">
        <mc:Choice Requires="a14">
          <p:sp>
            <p:nvSpPr>
              <p:cNvPr id="7" name="Hộp Văn bản 6">
                <a:extLst>
                  <a:ext uri="{FF2B5EF4-FFF2-40B4-BE49-F238E27FC236}">
                    <a16:creationId xmlns:a16="http://schemas.microsoft.com/office/drawing/2014/main" id="{DFDA3F6B-CEDB-9F68-EE5C-489676828848}"/>
                  </a:ext>
                </a:extLst>
              </p:cNvPr>
              <p:cNvSpPr txBox="1"/>
              <p:nvPr/>
            </p:nvSpPr>
            <p:spPr>
              <a:xfrm>
                <a:off x="6096000" y="1512233"/>
                <a:ext cx="5928964" cy="5018810"/>
              </a:xfrm>
              <a:prstGeom prst="rect">
                <a:avLst/>
              </a:prstGeom>
              <a:noFill/>
            </p:spPr>
            <p:txBody>
              <a:bodyPr wrap="square">
                <a:spAutoFit/>
              </a:bodyPr>
              <a:lstStyle/>
              <a:p>
                <a:pPr>
                  <a:lnSpc>
                    <a:spcPct val="115000"/>
                  </a:lnSpc>
                  <a:spcAft>
                    <a:spcPts val="800"/>
                  </a:spcAft>
                </a:pP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Ta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biểu</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diễn</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tần</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số</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cân</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bằng</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dưới</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dạng</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chuỗi</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𝑒𝑞</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nary>
                      <m:naryPr>
                        <m:chr m:val="∑"/>
                        <m:limLoc m:val="undOv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naryPr>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𝑘</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e>
                        <m:sSup>
                          <m:sSup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𝜖</m:t>
                            </m:r>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𝑘</m:t>
                            </m:r>
                          </m:sup>
                        </m:sSup>
                        <m:sSup>
                          <m:sSup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𝑘</m:t>
                            </m:r>
                          </m:sup>
                        </m:sSup>
                      </m:e>
                    </m:nary>
                  </m:oMath>
                </a14:m>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(4)</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Trong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đó</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𝜖</m:t>
                    </m:r>
                  </m:oMath>
                </a14:m>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là</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tham</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số</a:t>
                </a:r>
                <a:r>
                  <a:rPr lang="vi-VN" sz="1800" kern="100">
                    <a:effectLst/>
                    <a:latin typeface="Cambria Math" panose="02040503050406030204" pitchFamily="18" charset="0"/>
                    <a:ea typeface="Times New Roman" panose="02020603050405020304" pitchFamily="18" charset="0"/>
                    <a:cs typeface="Times New Roman" panose="02020603050405020304" pitchFamily="18" charset="0"/>
                  </a:rPr>
                  <a:t> nhiễu loạn</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Para xmlns:m="http://schemas.openxmlformats.org/officeDocument/2006/math">
                    <m:oMath>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𝜖</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𝜀𝜎</m:t>
                      </m:r>
                    </m:oMath>
                  </m:oMathPara>
                </a14:m>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Tỉ</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lệ</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của</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hàm</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giảm</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chấn</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acc>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num>
                      <m:den>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𝜖</m:t>
                        </m:r>
                      </m:den>
                    </m:f>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d>
                      <m:d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d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e>
                    </m:d>
                  </m:oMath>
                </a14:m>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(5)</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Thay</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vào</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(4),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khai</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triển</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Taylor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quanh</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(x0,y0) :</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Para xmlns:m="http://schemas.openxmlformats.org/officeDocument/2006/math">
                    <m:oMath>
                      <m:acc>
                        <m:accPr>
                          <m:chr m:val="̂"/>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acc>
                      <m:d>
                        <m:d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d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e>
                      </m:d>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nary>
                        <m:naryPr>
                          <m:chr m:val="∑"/>
                          <m:limLoc m:val="undOv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naryPr>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𝑘</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e>
                          <m:sSup>
                            <m:sSup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𝜖</m:t>
                              </m:r>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𝑘</m:t>
                              </m:r>
                            </m:sup>
                          </m:sSup>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acc>
                                <m:accPr>
                                  <m:chr m:val="̂"/>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acc>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𝑘</m:t>
                              </m:r>
                            </m:sup>
                          </m:sSup>
                        </m:e>
                      </m:nary>
                    </m:oMath>
                  </m:oMathPara>
                </a14:m>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Para xmlns:m="http://schemas.openxmlformats.org/officeDocument/2006/math">
                    <m:oMath>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acc>
                      <m:d>
                        <m:d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d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d>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𝜖</m:t>
                      </m:r>
                      <m:d>
                        <m:d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d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acc>
                                <m:accPr>
                                  <m:chr m:val="̂"/>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acc>
                              <m:d>
                                <m:d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d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d>
                            </m:num>
                            <m:den>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den>
                          </m:f>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acc>
                                <m:accPr>
                                  <m:chr m:val="̂"/>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acc>
                              <m:d>
                                <m:d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d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d>
                            </m:num>
                            <m:den>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den>
                          </m:f>
                        </m:e>
                      </m:d>
                    </m:oMath>
                  </m:oMathPara>
                </a14:m>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p:txBody>
          </p:sp>
        </mc:Choice>
        <mc:Fallback xmlns="">
          <p:sp>
            <p:nvSpPr>
              <p:cNvPr id="7" name="Hộp Văn bản 6">
                <a:extLst>
                  <a:ext uri="{FF2B5EF4-FFF2-40B4-BE49-F238E27FC236}">
                    <a16:creationId xmlns:a16="http://schemas.microsoft.com/office/drawing/2014/main" id="{DFDA3F6B-CEDB-9F68-EE5C-489676828848}"/>
                  </a:ext>
                </a:extLst>
              </p:cNvPr>
              <p:cNvSpPr txBox="1">
                <a:spLocks noRot="1" noChangeAspect="1" noMove="1" noResize="1" noEditPoints="1" noAdjustHandles="1" noChangeArrowheads="1" noChangeShapeType="1" noTextEdit="1"/>
              </p:cNvSpPr>
              <p:nvPr/>
            </p:nvSpPr>
            <p:spPr>
              <a:xfrm>
                <a:off x="6096000" y="1512233"/>
                <a:ext cx="5928964" cy="5018810"/>
              </a:xfrm>
              <a:prstGeom prst="rect">
                <a:avLst/>
              </a:prstGeom>
              <a:blipFill>
                <a:blip r:embed="rId3"/>
                <a:stretch>
                  <a:fillRect l="-822" t="-365"/>
                </a:stretch>
              </a:blipFill>
            </p:spPr>
            <p:txBody>
              <a:bodyPr/>
              <a:lstStyle/>
              <a:p>
                <a:r>
                  <a:rPr lang="vi-VN">
                    <a:noFill/>
                  </a:rPr>
                  <a:t> </a:t>
                </a:r>
              </a:p>
            </p:txBody>
          </p:sp>
        </mc:Fallback>
      </mc:AlternateContent>
      <p:cxnSp>
        <p:nvCxnSpPr>
          <p:cNvPr id="8" name="Đường nối Thẳng 7">
            <a:extLst>
              <a:ext uri="{FF2B5EF4-FFF2-40B4-BE49-F238E27FC236}">
                <a16:creationId xmlns:a16="http://schemas.microsoft.com/office/drawing/2014/main" id="{2BF1621D-1BBF-6AE2-A44B-D24E2C515A7A}"/>
              </a:ext>
            </a:extLst>
          </p:cNvPr>
          <p:cNvCxnSpPr>
            <a:cxnSpLocks/>
          </p:cNvCxnSpPr>
          <p:nvPr/>
        </p:nvCxnSpPr>
        <p:spPr>
          <a:xfrm>
            <a:off x="5790382" y="1680907"/>
            <a:ext cx="0" cy="485013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65963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E3464-9CBE-1296-7017-45E788EADE8C}"/>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F105BBA-0067-89DF-97E1-381351456D8A}"/>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30AD9CCE-D56B-C707-4743-DC2C7B81547D}"/>
              </a:ext>
            </a:extLst>
          </p:cNvPr>
          <p:cNvSpPr>
            <a:spLocks noGrp="1"/>
          </p:cNvSpPr>
          <p:nvPr>
            <p:ph type="sldNum" sz="quarter" idx="12"/>
          </p:nvPr>
        </p:nvSpPr>
        <p:spPr/>
        <p:txBody>
          <a:bodyPr/>
          <a:lstStyle/>
          <a:p>
            <a:fld id="{931DD963-FD40-4A6D-88A9-402A489E81DE}" type="slidenum">
              <a:rPr lang="en-US" smtClean="0"/>
              <a:t>84</a:t>
            </a:fld>
            <a:endParaRPr lang="en-US"/>
          </a:p>
        </p:txBody>
      </p:sp>
      <p:grpSp>
        <p:nvGrpSpPr>
          <p:cNvPr id="10" name="Group 9">
            <a:extLst>
              <a:ext uri="{FF2B5EF4-FFF2-40B4-BE49-F238E27FC236}">
                <a16:creationId xmlns:a16="http://schemas.microsoft.com/office/drawing/2014/main" id="{6550A4A4-3F52-028A-8415-E49A512A0A26}"/>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8062BDFE-0584-2CBF-FBF2-F1EFC3F9BA54}"/>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0AA3BD06-6D2D-843D-6241-89C97942F0EA}"/>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p:sp>
        <p:nvSpPr>
          <p:cNvPr id="5" name="TextBox 3">
            <a:extLst>
              <a:ext uri="{FF2B5EF4-FFF2-40B4-BE49-F238E27FC236}">
                <a16:creationId xmlns:a16="http://schemas.microsoft.com/office/drawing/2014/main" id="{4E517F39-7C12-C7B9-EA59-36F196C4E15A}"/>
              </a:ext>
            </a:extLst>
          </p:cNvPr>
          <p:cNvSpPr txBox="1"/>
          <p:nvPr/>
        </p:nvSpPr>
        <p:spPr>
          <a:xfrm>
            <a:off x="413529" y="973021"/>
            <a:ext cx="4975264" cy="707886"/>
          </a:xfrm>
          <a:prstGeom prst="rect">
            <a:avLst/>
          </a:prstGeom>
          <a:noFill/>
        </p:spPr>
        <p:txBody>
          <a:bodyPr wrap="square" rtlCol="0">
            <a:spAutoFit/>
          </a:bodyPr>
          <a:lstStyle/>
          <a:p>
            <a:pPr defTabSz="609585">
              <a:defRPr/>
            </a:pPr>
            <a:r>
              <a:rPr lang="en-US" sz="2000" b="1">
                <a:solidFill>
                  <a:prstClr val="black"/>
                </a:solidFill>
                <a:latin typeface="Times New Roman" panose="02020603050405020304" pitchFamily="18" charset="0"/>
                <a:cs typeface="Times New Roman" panose="02020603050405020304" pitchFamily="18" charset="0"/>
              </a:rPr>
              <a:t>4.2. </a:t>
            </a:r>
            <a:r>
              <a:rPr lang="vi-VN" sz="2000" b="1">
                <a:solidFill>
                  <a:prstClr val="black"/>
                </a:solidFill>
                <a:latin typeface="Times New Roman" panose="02020603050405020304" pitchFamily="18" charset="0"/>
                <a:cs typeface="Times New Roman" panose="02020603050405020304" pitchFamily="18" charset="0"/>
              </a:rPr>
              <a:t>Lý giải về hài bậc 3 của 2 bộ dao động</a:t>
            </a:r>
          </a:p>
          <a:p>
            <a:pPr defTabSz="609585">
              <a:defRPr/>
            </a:pPr>
            <a:r>
              <a:rPr lang="en-US" sz="2000">
                <a:solidFill>
                  <a:prstClr val="black"/>
                </a:solidFill>
                <a:latin typeface="Times New Roman" panose="02020603050405020304" pitchFamily="18" charset="0"/>
                <a:cs typeface="Times New Roman" panose="02020603050405020304" pitchFamily="18" charset="0"/>
              </a:rPr>
              <a:t>4.2.2. </a:t>
            </a:r>
            <a:r>
              <a:rPr lang="vi-VN" sz="2000" err="1">
                <a:solidFill>
                  <a:prstClr val="black"/>
                </a:solidFill>
                <a:latin typeface="Times New Roman" panose="02020603050405020304" pitchFamily="18" charset="0"/>
                <a:cs typeface="Times New Roman" panose="02020603050405020304" pitchFamily="18" charset="0"/>
              </a:rPr>
              <a:t>Hopf</a:t>
            </a:r>
            <a:endParaRPr lang="en-US" sz="2000">
              <a:solidFill>
                <a:prstClr val="black"/>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Hộp Văn bản 5">
                <a:extLst>
                  <a:ext uri="{FF2B5EF4-FFF2-40B4-BE49-F238E27FC236}">
                    <a16:creationId xmlns:a16="http://schemas.microsoft.com/office/drawing/2014/main" id="{342984C9-D513-11D4-7960-4B33E3BA3E62}"/>
                  </a:ext>
                </a:extLst>
              </p:cNvPr>
              <p:cNvSpPr txBox="1"/>
              <p:nvPr/>
            </p:nvSpPr>
            <p:spPr>
              <a:xfrm>
                <a:off x="413529" y="1932367"/>
                <a:ext cx="5832150" cy="4589718"/>
              </a:xfrm>
              <a:prstGeom prst="rect">
                <a:avLst/>
              </a:prstGeom>
              <a:noFill/>
            </p:spPr>
            <p:txBody>
              <a:bodyPr wrap="square">
                <a:spAutoFit/>
              </a:bodyPr>
              <a:lstStyle/>
              <a:p>
                <a:pPr>
                  <a:lnSpc>
                    <a:spcPct val="115000"/>
                  </a:lnSpc>
                  <a:spcAft>
                    <a:spcPts val="800"/>
                  </a:spcAft>
                </a:pP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Cân</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bằng</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bậc</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ta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được</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 xmlns:m="http://schemas.openxmlformats.org/officeDocument/2006/math">
                    <m:acc>
                      <m:accPr>
                        <m:chr m:val="̂"/>
                        <m:ctrlP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e>
                    </m:acc>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acc>
                    <m:d>
                      <m:d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d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d>
                  </m:oMath>
                </a14:m>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acc>
                      <m:accPr>
                        <m:chr m:val="̂"/>
                        <m:ctrlP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e>
                    </m:acc>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acc>
                          <m:accPr>
                            <m:chr m:val="̂"/>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acc>
                        <m:d>
                          <m:d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d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d>
                      </m:num>
                      <m:den>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den>
                    </m:f>
                  </m:oMath>
                </a14:m>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(6)</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Vì</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đạo</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hàm</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theo</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y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bằng</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0</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Theo p</a:t>
                </a:r>
                <a:r>
                  <a:rPr lang="vi-VN" sz="1800" kern="100">
                    <a:effectLst/>
                    <a:latin typeface="Cambria Math" panose="02040503050406030204" pitchFamily="18" charset="0"/>
                    <a:ea typeface="Times New Roman" panose="02020603050405020304" pitchFamily="18" charset="0"/>
                    <a:cs typeface="Times New Roman" panose="02020603050405020304" pitchFamily="18" charset="0"/>
                  </a:rPr>
                  <a:t>hương pháp </a:t>
                </a:r>
                <a:r>
                  <a:rPr lang="vi-VN" sz="1800" b="1" kern="100" err="1">
                    <a:effectLst/>
                    <a:latin typeface="Cambria Math" panose="02040503050406030204" pitchFamily="18" charset="0"/>
                    <a:ea typeface="Times New Roman" panose="02020603050405020304" pitchFamily="18" charset="0"/>
                    <a:cs typeface="Times New Roman" panose="02020603050405020304" pitchFamily="18" charset="0"/>
                  </a:rPr>
                  <a:t>Poincaré-Lindstedt</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 xmlns:m="http://schemas.openxmlformats.org/officeDocument/2006/math">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𝑒𝑞</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bPr>
                      <m:e>
                        <m:sSup>
                          <m:sSup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𝜖</m:t>
                            </m:r>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oMath>
                </a14:m>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(7)</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Ngoài</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ra</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nghiệm</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x(t)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cũng</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được</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khai</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1800" kern="100" err="1">
                    <a:effectLst/>
                    <a:latin typeface="Cambria Math" panose="02040503050406030204" pitchFamily="18" charset="0"/>
                    <a:ea typeface="Times New Roman" panose="02020603050405020304" pitchFamily="18" charset="0"/>
                    <a:cs typeface="Times New Roman" panose="02020603050405020304" pitchFamily="18" charset="0"/>
                  </a:rPr>
                  <a:t>triển</a:t>
                </a: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x(t) =</a:t>
                </a:r>
                <a14:m>
                  <m:oMath xmlns:m="http://schemas.openxmlformats.org/officeDocument/2006/math">
                    <m:sSub>
                      <m:sSub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d>
                      <m:d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𝜖</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sSup>
                          <m:sSup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𝜖</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𝑡</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a:t>+…                                    (8)</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kern="100" err="1">
                    <a:effectLst/>
                    <a:latin typeface="Cambria" panose="02040503050406030204" pitchFamily="18" charset="0"/>
                    <a:ea typeface="Cambria" panose="02040503050406030204" pitchFamily="18" charset="0"/>
                    <a:cs typeface="Times New Roman" panose="02020603050405020304" pitchFamily="18" charset="0"/>
                  </a:rPr>
                  <a:t>Thay</a:t>
                </a:r>
                <a:r>
                  <a:rPr lang="en-US" kern="100">
                    <a:effectLst/>
                    <a:latin typeface="Cambria" panose="02040503050406030204" pitchFamily="18" charset="0"/>
                    <a:ea typeface="Cambria" panose="02040503050406030204" pitchFamily="18" charset="0"/>
                    <a:cs typeface="Times New Roman" panose="02020603050405020304" pitchFamily="18" charset="0"/>
                  </a:rPr>
                  <a:t> (6) </a:t>
                </a:r>
                <a:r>
                  <a:rPr lang="en-US" kern="100" err="1">
                    <a:effectLst/>
                    <a:latin typeface="Cambria" panose="02040503050406030204" pitchFamily="18" charset="0"/>
                    <a:ea typeface="Cambria" panose="02040503050406030204" pitchFamily="18" charset="0"/>
                    <a:cs typeface="Times New Roman" panose="02020603050405020304" pitchFamily="18" charset="0"/>
                  </a:rPr>
                  <a:t>và</a:t>
                </a:r>
                <a:r>
                  <a:rPr lang="en-US" kern="100">
                    <a:effectLst/>
                    <a:latin typeface="Cambria" panose="02040503050406030204" pitchFamily="18" charset="0"/>
                    <a:ea typeface="Cambria" panose="02040503050406030204" pitchFamily="18" charset="0"/>
                    <a:cs typeface="Times New Roman" panose="02020603050405020304" pitchFamily="18" charset="0"/>
                  </a:rPr>
                  <a:t> (7) </a:t>
                </a:r>
                <a:r>
                  <a:rPr lang="en-US" kern="100" err="1">
                    <a:effectLst/>
                    <a:latin typeface="Cambria" panose="02040503050406030204" pitchFamily="18" charset="0"/>
                    <a:ea typeface="Cambria" panose="02040503050406030204" pitchFamily="18" charset="0"/>
                    <a:cs typeface="Times New Roman" panose="02020603050405020304" pitchFamily="18" charset="0"/>
                  </a:rPr>
                  <a:t>vào</a:t>
                </a:r>
                <a:r>
                  <a:rPr lang="en-US" kern="100">
                    <a:effectLst/>
                    <a:latin typeface="Cambria" panose="02040503050406030204" pitchFamily="18" charset="0"/>
                    <a:ea typeface="Cambria" panose="02040503050406030204" pitchFamily="18" charset="0"/>
                    <a:cs typeface="Times New Roman" panose="02020603050405020304" pitchFamily="18" charset="0"/>
                  </a:rPr>
                  <a:t> (3), </a:t>
                </a:r>
                <a:r>
                  <a:rPr lang="en-US" kern="100" err="1">
                    <a:effectLst/>
                    <a:latin typeface="Cambria" panose="02040503050406030204" pitchFamily="18" charset="0"/>
                    <a:ea typeface="Cambria" panose="02040503050406030204" pitchFamily="18" charset="0"/>
                    <a:cs typeface="Times New Roman" panose="02020603050405020304" pitchFamily="18" charset="0"/>
                  </a:rPr>
                  <a:t>cân</a:t>
                </a:r>
                <a:r>
                  <a:rPr lang="en-US" kern="100">
                    <a:effectLst/>
                    <a:latin typeface="Cambria" panose="02040503050406030204" pitchFamily="18" charset="0"/>
                    <a:ea typeface="Cambria" panose="02040503050406030204" pitchFamily="18" charset="0"/>
                    <a:cs typeface="Times New Roman" panose="02020603050405020304" pitchFamily="18" charset="0"/>
                  </a:rPr>
                  <a:t> </a:t>
                </a:r>
                <a:r>
                  <a:rPr lang="en-US" kern="100" err="1">
                    <a:effectLst/>
                    <a:latin typeface="Cambria" panose="02040503050406030204" pitchFamily="18" charset="0"/>
                    <a:ea typeface="Cambria" panose="02040503050406030204" pitchFamily="18" charset="0"/>
                    <a:cs typeface="Times New Roman" panose="02020603050405020304" pitchFamily="18" charset="0"/>
                  </a:rPr>
                  <a:t>bằng</a:t>
                </a:r>
                <a:r>
                  <a:rPr lang="en-US" kern="100">
                    <a:effectLst/>
                    <a:latin typeface="Cambria" panose="02040503050406030204" pitchFamily="18" charset="0"/>
                    <a:ea typeface="Cambria" panose="02040503050406030204" pitchFamily="18" charset="0"/>
                    <a:cs typeface="Times New Roman" panose="02020603050405020304" pitchFamily="18" charset="0"/>
                  </a:rPr>
                  <a:t> </a:t>
                </a:r>
                <a:r>
                  <a:rPr lang="en-US" kern="100" err="1">
                    <a:effectLst/>
                    <a:latin typeface="Cambria" panose="02040503050406030204" pitchFamily="18" charset="0"/>
                    <a:ea typeface="Cambria" panose="02040503050406030204" pitchFamily="18" charset="0"/>
                    <a:cs typeface="Times New Roman" panose="02020603050405020304" pitchFamily="18" charset="0"/>
                  </a:rPr>
                  <a:t>theo</a:t>
                </a:r>
                <a:r>
                  <a:rPr lang="en-US" kern="100">
                    <a:effectLst/>
                    <a:latin typeface="Cambria" panose="02040503050406030204" pitchFamily="18" charset="0"/>
                    <a:ea typeface="Cambria" panose="02040503050406030204" pitchFamily="18" charset="0"/>
                    <a:cs typeface="Times New Roman" panose="02020603050405020304" pitchFamily="18" charset="0"/>
                  </a:rPr>
                  <a:t> </a:t>
                </a:r>
                <a:r>
                  <a:rPr lang="en-US" kern="100" err="1">
                    <a:effectLst/>
                    <a:latin typeface="Cambria" panose="02040503050406030204" pitchFamily="18" charset="0"/>
                    <a:ea typeface="Cambria" panose="02040503050406030204" pitchFamily="18" charset="0"/>
                    <a:cs typeface="Times New Roman" panose="02020603050405020304" pitchFamily="18" charset="0"/>
                  </a:rPr>
                  <a:t>bậc</a:t>
                </a:r>
                <a:r>
                  <a:rPr lang="en-US" kern="100">
                    <a:effectLst/>
                    <a:latin typeface="Cambria" panose="02040503050406030204" pitchFamily="18" charset="0"/>
                    <a:ea typeface="Cambria" panose="02040503050406030204" pitchFamily="18" charset="0"/>
                    <a:cs typeface="Times New Roman" panose="02020603050405020304" pitchFamily="18" charset="0"/>
                  </a:rPr>
                  <a:t> </a:t>
                </a:r>
                <a:r>
                  <a:rPr lang="en-US" kern="100" err="1">
                    <a:effectLst/>
                    <a:latin typeface="Cambria" panose="02040503050406030204" pitchFamily="18" charset="0"/>
                    <a:ea typeface="Cambria" panose="02040503050406030204" pitchFamily="18" charset="0"/>
                    <a:cs typeface="Times New Roman" panose="02020603050405020304" pitchFamily="18" charset="0"/>
                  </a:rPr>
                  <a:t>của</a:t>
                </a:r>
                <a:r>
                  <a:rPr lang="en-US" kern="100">
                    <a:effectLst/>
                    <a:latin typeface="Cambria" panose="02040503050406030204" pitchFamily="18" charset="0"/>
                    <a:ea typeface="Cambria" panose="02040503050406030204" pitchFamily="18" charset="0"/>
                    <a:cs typeface="Times New Roman" panose="02020603050405020304" pitchFamily="18" charset="0"/>
                  </a:rPr>
                  <a:t> </a:t>
                </a:r>
                <a14:m>
                  <m:oMath xmlns:m="http://schemas.openxmlformats.org/officeDocument/2006/math">
                    <m:r>
                      <a:rPr lang="en-US" i="1" kern="100">
                        <a:effectLst/>
                        <a:latin typeface="Cambria Math" panose="02040503050406030204" pitchFamily="18" charset="0"/>
                        <a:ea typeface="Cambria Math" panose="02040503050406030204" pitchFamily="18" charset="0"/>
                        <a:cs typeface="Times New Roman" panose="02020603050405020304" pitchFamily="18" charset="0"/>
                      </a:rPr>
                      <m:t>𝜖</m:t>
                    </m:r>
                  </m:oMath>
                </a14:m>
                <a:r>
                  <a:rPr lang="en-US" kern="100">
                    <a:effectLst/>
                    <a:latin typeface="Cambria" panose="02040503050406030204" pitchFamily="18" charset="0"/>
                    <a:ea typeface="Cambria" panose="02040503050406030204" pitchFamily="18" charset="0"/>
                    <a:cs typeface="Times New Roman" panose="02020603050405020304" pitchFamily="18" charset="0"/>
                  </a:rPr>
                  <a:t> ta </a:t>
                </a:r>
                <a:r>
                  <a:rPr lang="en-US" kern="100" err="1">
                    <a:effectLst/>
                    <a:latin typeface="Cambria" panose="02040503050406030204" pitchFamily="18" charset="0"/>
                    <a:ea typeface="Cambria" panose="02040503050406030204" pitchFamily="18" charset="0"/>
                    <a:cs typeface="Times New Roman" panose="02020603050405020304" pitchFamily="18" charset="0"/>
                  </a:rPr>
                  <a:t>được</a:t>
                </a:r>
                <a:endParaRPr lang="vi-VN" kern="100">
                  <a:effectLst/>
                  <a:latin typeface="Cambria" panose="02040503050406030204" pitchFamily="18" charset="0"/>
                  <a:ea typeface="Cambria" panose="02040503050406030204" pitchFamily="18" charset="0"/>
                  <a:cs typeface="Times New Roman" panose="02020603050405020304" pitchFamily="18" charset="0"/>
                </a:endParaRPr>
              </a:p>
              <a:p>
                <a:pPr>
                  <a:lnSpc>
                    <a:spcPct val="115000"/>
                  </a:lnSpc>
                  <a:spcAft>
                    <a:spcPts val="800"/>
                  </a:spcAft>
                </a:pPr>
                <a14:m>
                  <m:oMath xmlns:m="http://schemas.openxmlformats.org/officeDocument/2006/math">
                    <m:r>
                      <a:rPr lang="en-US" sz="1800" i="1" kern="100" smtClean="0">
                        <a:effectLst/>
                        <a:latin typeface="Cambria Math" panose="02040503050406030204" pitchFamily="18" charset="0"/>
                        <a:ea typeface="Arial" panose="020B0604020202020204" pitchFamily="34" charset="0"/>
                        <a:cs typeface="Times New Roman" panose="02020603050405020304" pitchFamily="18" charset="0"/>
                      </a:rPr>
                      <m:t>𝑂</m:t>
                    </m:r>
                    <m:d>
                      <m:d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d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e>
                    </m:d>
                    <m:r>
                      <a:rPr lang="en-US" sz="1800" i="1" kern="100">
                        <a:effectLst/>
                        <a:latin typeface="Cambria Math" panose="02040503050406030204" pitchFamily="18" charset="0"/>
                        <a:ea typeface="Arial" panose="020B0604020202020204" pitchFamily="34" charset="0"/>
                        <a:cs typeface="Times New Roman" panose="02020603050405020304" pitchFamily="18" charset="0"/>
                      </a:rPr>
                      <m:t>: </m:t>
                    </m:r>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oMath>
                </a14:m>
                <a:r>
                  <a:rPr lang="en-US" sz="1800" kern="100">
                    <a:effectLst/>
                    <a:latin typeface="Arial" panose="020B0604020202020204" pitchFamily="34" charset="0"/>
                    <a:ea typeface="Times New Roman" panose="02020603050405020304" pitchFamily="18" charset="0"/>
                    <a:cs typeface="Times New Roman" panose="02020603050405020304" pitchFamily="18" charset="0"/>
                  </a:rPr>
                  <a:t>                                                     (9)</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 xmlns:m="http://schemas.openxmlformats.org/officeDocument/2006/math">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d>
                      <m:d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d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𝜖</m:t>
                        </m:r>
                      </m:e>
                    </m:d>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num>
                      <m:den>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den>
                    </m:f>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acc>
                      <m:accPr>
                        <m:chr m:val="̂"/>
                        <m:ctrlP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e>
                    </m:acc>
                    <m:r>
                      <a:rPr lang="en-US" sz="1800" i="1" kern="100">
                        <a:effectLst/>
                        <a:latin typeface="Cambria Math" panose="02040503050406030204" pitchFamily="18" charset="0"/>
                        <a:ea typeface="Arial" panose="020B0604020202020204" pitchFamily="34" charset="0"/>
                        <a:cs typeface="Times New Roman" panose="02020603050405020304" pitchFamily="18" charset="0"/>
                      </a:rPr>
                      <m:t> </m:t>
                    </m:r>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oMath>
                </a14:m>
                <a:r>
                  <a:rPr lang="en-US" sz="1800" kern="100">
                    <a:effectLst/>
                    <a:latin typeface="Arial" panose="020B0604020202020204" pitchFamily="34" charset="0"/>
                    <a:ea typeface="Times New Roman" panose="02020603050405020304" pitchFamily="18" charset="0"/>
                    <a:cs typeface="Times New Roman" panose="02020603050405020304" pitchFamily="18" charset="0"/>
                  </a:rPr>
                  <a:t>                          (10)</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p:txBody>
          </p:sp>
        </mc:Choice>
        <mc:Fallback xmlns="">
          <p:sp>
            <p:nvSpPr>
              <p:cNvPr id="6" name="Hộp Văn bản 5">
                <a:extLst>
                  <a:ext uri="{FF2B5EF4-FFF2-40B4-BE49-F238E27FC236}">
                    <a16:creationId xmlns:a16="http://schemas.microsoft.com/office/drawing/2014/main" id="{342984C9-D513-11D4-7960-4B33E3BA3E62}"/>
                  </a:ext>
                </a:extLst>
              </p:cNvPr>
              <p:cNvSpPr txBox="1">
                <a:spLocks noRot="1" noChangeAspect="1" noMove="1" noResize="1" noEditPoints="1" noAdjustHandles="1" noChangeArrowheads="1" noChangeShapeType="1" noTextEdit="1"/>
              </p:cNvSpPr>
              <p:nvPr/>
            </p:nvSpPr>
            <p:spPr>
              <a:xfrm>
                <a:off x="413529" y="1932367"/>
                <a:ext cx="5832150" cy="4589718"/>
              </a:xfrm>
              <a:prstGeom prst="rect">
                <a:avLst/>
              </a:prstGeom>
              <a:blipFill>
                <a:blip r:embed="rId2"/>
                <a:stretch>
                  <a:fillRect l="-940" t="-53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 name="Hộp Văn bản 6">
                <a:extLst>
                  <a:ext uri="{FF2B5EF4-FFF2-40B4-BE49-F238E27FC236}">
                    <a16:creationId xmlns:a16="http://schemas.microsoft.com/office/drawing/2014/main" id="{216C5DAD-82E7-EAC3-A48E-0E20B9BDF90D}"/>
                  </a:ext>
                </a:extLst>
              </p:cNvPr>
              <p:cNvSpPr txBox="1"/>
              <p:nvPr/>
            </p:nvSpPr>
            <p:spPr>
              <a:xfrm>
                <a:off x="6291759" y="1737441"/>
                <a:ext cx="5751544" cy="4773038"/>
              </a:xfrm>
              <a:prstGeom prst="rect">
                <a:avLst/>
              </a:prstGeom>
              <a:noFill/>
            </p:spPr>
            <p:txBody>
              <a:bodyPr wrap="square">
                <a:spAutoFit/>
              </a:bodyPr>
              <a:lstStyle/>
              <a:p>
                <a:pPr>
                  <a:lnSpc>
                    <a:spcPct val="115000"/>
                  </a:lnSpc>
                  <a:spcAft>
                    <a:spcPts val="800"/>
                  </a:spcAft>
                </a:pP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Nghiệm</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của</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(9)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là</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𝑋</m:t>
                    </m:r>
                    <m:func>
                      <m:funcPr>
                        <m:ctrlPr>
                          <a:rPr lang="en-US" sz="1800" kern="100">
                            <a:effectLst/>
                            <a:latin typeface="Cambria Math" panose="02040503050406030204" pitchFamily="18" charset="0"/>
                            <a:ea typeface="Arial" panose="020B0604020202020204" pitchFamily="34" charset="0"/>
                            <a:cs typeface="Times New Roman" panose="02020603050405020304" pitchFamily="18" charset="0"/>
                          </a:rPr>
                        </m:ctrlPr>
                      </m:funcPr>
                      <m:fName>
                        <m:r>
                          <m:rPr>
                            <m:sty m:val="p"/>
                          </m:rPr>
                          <a:rPr lang="en-US" sz="1800" kern="100">
                            <a:effectLst/>
                            <a:latin typeface="Cambria Math" panose="02040503050406030204" pitchFamily="18" charset="0"/>
                            <a:ea typeface="Arial" panose="020B0604020202020204" pitchFamily="34" charset="0"/>
                            <a:cs typeface="Times New Roman" panose="02020603050405020304" pitchFamily="18" charset="0"/>
                          </a:rPr>
                          <m:t>cos</m:t>
                        </m:r>
                      </m:fName>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𝜏</m:t>
                        </m:r>
                      </m:e>
                    </m:func>
                  </m:oMath>
                </a14:m>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bên</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cạnh</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đó</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𝜔</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oMath>
                </a14:m>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Từ</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đây</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ta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rút</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gọn</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(10) </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 xmlns:m="http://schemas.openxmlformats.org/officeDocument/2006/math">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acc>
                      <m:accPr>
                        <m:chr m:val="̂"/>
                        <m:ctrlP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e>
                    </m:acc>
                    <m:r>
                      <a:rPr lang="en-US" sz="1800" i="1" kern="100">
                        <a:effectLst/>
                        <a:latin typeface="Cambria Math" panose="02040503050406030204" pitchFamily="18" charset="0"/>
                        <a:ea typeface="Arial" panose="020B0604020202020204" pitchFamily="34" charset="0"/>
                        <a:cs typeface="Times New Roman" panose="02020603050405020304" pitchFamily="18" charset="0"/>
                      </a:rPr>
                      <m:t> </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𝑋</m:t>
                    </m:r>
                    <m:func>
                      <m:funcPr>
                        <m:ctrlPr>
                          <a:rPr lang="en-US" sz="1800" kern="100">
                            <a:effectLst/>
                            <a:latin typeface="Cambria Math" panose="02040503050406030204" pitchFamily="18" charset="0"/>
                            <a:ea typeface="Arial" panose="020B0604020202020204" pitchFamily="34" charset="0"/>
                            <a:cs typeface="Times New Roman" panose="02020603050405020304" pitchFamily="18" charset="0"/>
                          </a:rPr>
                        </m:ctrlPr>
                      </m:funcPr>
                      <m:fName>
                        <m:r>
                          <m:rPr>
                            <m:sty m:val="p"/>
                          </m:rPr>
                          <a:rPr lang="en-US" sz="1800" kern="100">
                            <a:effectLst/>
                            <a:latin typeface="Cambria Math" panose="02040503050406030204" pitchFamily="18" charset="0"/>
                            <a:ea typeface="Arial" panose="020B0604020202020204" pitchFamily="34" charset="0"/>
                            <a:cs typeface="Times New Roman" panose="02020603050405020304" pitchFamily="18" charset="0"/>
                          </a:rPr>
                          <m:t>sin</m:t>
                        </m:r>
                      </m:fName>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𝜏</m:t>
                        </m:r>
                      </m:e>
                    </m:func>
                  </m:oMath>
                </a14:m>
                <a:r>
                  <a:rPr lang="en-US" sz="1800" kern="100">
                    <a:effectLst/>
                    <a:latin typeface="Arial" panose="020B0604020202020204" pitchFamily="34" charset="0"/>
                    <a:ea typeface="Times New Roman" panose="02020603050405020304" pitchFamily="18" charset="0"/>
                    <a:cs typeface="Times New Roman" panose="02020603050405020304" pitchFamily="18" charset="0"/>
                  </a:rPr>
                  <a:t>                                                (12)</a:t>
                </a:r>
                <a:endParaRPr lang="en-US" sz="1400" kern="100">
                  <a:latin typeface="Arial" panose="020B0604020202020204" pitchFamily="34" charset="0"/>
                  <a:ea typeface="Times New Roman" panose="02020603050405020304" pitchFamily="18" charset="0"/>
                  <a:cs typeface="Times New Roman" panose="02020603050405020304" pitchFamily="18" charset="0"/>
                </a:endParaRPr>
              </a:p>
              <a:p>
                <a:pPr>
                  <a:lnSpc>
                    <a:spcPct val="115000"/>
                  </a:lnSpc>
                  <a:spcAft>
                    <a:spcPts val="800"/>
                  </a:spcAft>
                </a:pP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Tính</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toán</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tỉ</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số</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hài</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bậc</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3</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Từ</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(2)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và</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(5) ta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có</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 xmlns:m="http://schemas.openxmlformats.org/officeDocument/2006/math">
                    <m:acc>
                      <m:accPr>
                        <m:chr m:val="̂"/>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acc>
                    <m:d>
                      <m:d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d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e>
                    </m:d>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num>
                      <m:den>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den>
                    </m:f>
                    <m:d>
                      <m:d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dPr>
                      <m:e>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𝛼</m:t>
                            </m:r>
                          </m:num>
                          <m:den>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𝜎</m:t>
                            </m:r>
                          </m:den>
                        </m:f>
                        <m:sSup>
                          <m:sSup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e>
                    </m:d>
                  </m:oMath>
                </a14:m>
                <a:r>
                  <a:rPr lang="en-US" sz="1800" kern="100">
                    <a:effectLst/>
                    <a:latin typeface="Arial" panose="020B0604020202020204" pitchFamily="34" charset="0"/>
                    <a:ea typeface="Times New Roman" panose="02020603050405020304" pitchFamily="18" charset="0"/>
                    <a:cs typeface="Times New Roman" panose="02020603050405020304" pitchFamily="18" charset="0"/>
                  </a:rPr>
                  <a:t>                                      (13)</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Thay</a:t>
                </a:r>
                <a:r>
                  <a:rPr lang="vi-VN" sz="1800" kern="100">
                    <a:effectLst/>
                    <a:latin typeface="Arial" panose="020B060402020202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𝑋</m:t>
                    </m:r>
                    <m:func>
                      <m:funcPr>
                        <m:ctrlPr>
                          <a:rPr lang="en-US" sz="1800" kern="100">
                            <a:effectLst/>
                            <a:latin typeface="Cambria Math" panose="02040503050406030204" pitchFamily="18" charset="0"/>
                            <a:ea typeface="Arial" panose="020B0604020202020204" pitchFamily="34" charset="0"/>
                            <a:cs typeface="Times New Roman" panose="02020603050405020304" pitchFamily="18" charset="0"/>
                          </a:rPr>
                        </m:ctrlPr>
                      </m:funcPr>
                      <m:fName>
                        <m:r>
                          <m:rPr>
                            <m:sty m:val="p"/>
                          </m:rPr>
                          <a:rPr lang="en-US" sz="1800" kern="100">
                            <a:effectLst/>
                            <a:latin typeface="Cambria Math" panose="02040503050406030204" pitchFamily="18" charset="0"/>
                            <a:ea typeface="Arial" panose="020B0604020202020204" pitchFamily="34" charset="0"/>
                            <a:cs typeface="Times New Roman" panose="02020603050405020304" pitchFamily="18" charset="0"/>
                          </a:rPr>
                          <m:t>cos</m:t>
                        </m:r>
                      </m:fName>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𝜏</m:t>
                        </m:r>
                      </m:e>
                    </m:func>
                  </m:oMath>
                </a14:m>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và</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𝑋</m:t>
                    </m:r>
                    <m:func>
                      <m:funcPr>
                        <m:ctrlPr>
                          <a:rPr lang="en-US" sz="1800" kern="100">
                            <a:effectLst/>
                            <a:latin typeface="Cambria Math" panose="02040503050406030204" pitchFamily="18" charset="0"/>
                            <a:ea typeface="Arial" panose="020B0604020202020204" pitchFamily="34" charset="0"/>
                            <a:cs typeface="Times New Roman" panose="02020603050405020304" pitchFamily="18" charset="0"/>
                          </a:rPr>
                        </m:ctrlPr>
                      </m:funcPr>
                      <m:fName>
                        <m:r>
                          <m:rPr>
                            <m:sty m:val="p"/>
                          </m:rPr>
                          <a:rPr lang="en-US" sz="1800" kern="100">
                            <a:effectLst/>
                            <a:latin typeface="Cambria Math" panose="02040503050406030204" pitchFamily="18" charset="0"/>
                            <a:ea typeface="Arial" panose="020B0604020202020204" pitchFamily="34" charset="0"/>
                            <a:cs typeface="Times New Roman" panose="02020603050405020304" pitchFamily="18" charset="0"/>
                          </a:rPr>
                          <m:t>sin</m:t>
                        </m:r>
                      </m:fName>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𝜏</m:t>
                        </m:r>
                      </m:e>
                    </m:func>
                  </m:oMath>
                </a14:m>
                <a:r>
                  <a:rPr lang="en-US" sz="1800" kern="100">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vào</a:t>
                </a:r>
                <a:r>
                  <a:rPr lang="en-US" sz="1800" kern="100">
                    <a:effectLst/>
                    <a:latin typeface="Arial" panose="020B0604020202020204" pitchFamily="34" charset="0"/>
                    <a:ea typeface="Times New Roman" panose="02020603050405020304" pitchFamily="18" charset="0"/>
                    <a:cs typeface="Times New Roman" panose="02020603050405020304" pitchFamily="18" charset="0"/>
                  </a:rPr>
                  <a:t> ta </a:t>
                </a:r>
                <a:r>
                  <a:rPr lang="en-US" sz="1800" kern="100" err="1">
                    <a:effectLst/>
                    <a:latin typeface="Arial" panose="020B0604020202020204" pitchFamily="34" charset="0"/>
                    <a:ea typeface="Times New Roman" panose="02020603050405020304" pitchFamily="18" charset="0"/>
                    <a:cs typeface="Times New Roman" panose="02020603050405020304" pitchFamily="18" charset="0"/>
                  </a:rPr>
                  <a:t>được</a:t>
                </a:r>
                <a:endParaRPr lang="vi-VN" sz="1400" kern="100">
                  <a:effectLst/>
                  <a:latin typeface="Arial" panose="020B0604020202020204" pitchFamily="34" charset="0"/>
                  <a:ea typeface="Arial" panose="020B0604020202020204" pitchFamily="34" charset="0"/>
                  <a:cs typeface="Times New Roman" panose="02020603050405020304" pitchFamily="18" charset="0"/>
                </a:endParaRPr>
              </a:p>
              <a:p>
                <a:pPr>
                  <a:lnSpc>
                    <a:spcPct val="115000"/>
                  </a:lnSpc>
                  <a:spcAft>
                    <a:spcPts val="800"/>
                  </a:spcAft>
                </a:pPr>
                <a14:m>
                  <m:oMath xmlns:m="http://schemas.openxmlformats.org/officeDocument/2006/math">
                    <m:acc>
                      <m:accPr>
                        <m:chr m:val="̂"/>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acc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acc>
                    <m:d>
                      <m:d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d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𝑦</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0</m:t>
                            </m:r>
                          </m:sub>
                        </m:sSub>
                      </m:e>
                    </m:d>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acc>
                      <m:accPr>
                        <m:chr m:val="̂"/>
                        <m:ctrlPr>
                          <a:rPr lang="vi-VN" sz="1800" i="1" kern="100">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𝜁</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e>
                    </m:acc>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num>
                      <m:den>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den>
                    </m:f>
                    <m:d>
                      <m:d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dPr>
                      <m:e>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𝛼</m:t>
                            </m:r>
                          </m:num>
                          <m:den>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𝜎</m:t>
                            </m:r>
                          </m:den>
                        </m:f>
                        <m:sSup>
                          <m:sSup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𝑋</m:t>
                            </m:r>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e>
                    </m:d>
                  </m:oMath>
                </a14:m>
                <a:r>
                  <a:rPr lang="en-US" sz="1800" kern="100">
                    <a:effectLst/>
                    <a:latin typeface="Arial" panose="020B0604020202020204" pitchFamily="34" charset="0"/>
                    <a:ea typeface="Times New Roman" panose="02020603050405020304" pitchFamily="18" charset="0"/>
                    <a:cs typeface="Times New Roman" panose="02020603050405020304" pitchFamily="18" charset="0"/>
                  </a:rPr>
                  <a:t>                                    (14)</a:t>
                </a:r>
              </a:p>
              <a:p>
                <a:pPr marL="0" marR="0">
                  <a:lnSpc>
                    <a:spcPct val="115000"/>
                  </a:lnSpc>
                  <a:spcAft>
                    <a:spcPts val="800"/>
                  </a:spcAft>
                </a:pPr>
                <a:r>
                  <a:rPr lang="en-US" sz="1800" kern="100">
                    <a:effectLst/>
                    <a:latin typeface="Arial" panose="020B0604020202020204" pitchFamily="34" charset="0"/>
                    <a:ea typeface="Yu Mincho" panose="02020400000000000000" pitchFamily="18" charset="-128"/>
                    <a:cs typeface="Times New Roman" panose="02020603050405020304" pitchFamily="18" charset="0"/>
                  </a:rPr>
                  <a:t>(10)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trở</a:t>
                </a:r>
                <a:r>
                  <a:rPr lang="en-US" sz="1800" kern="100">
                    <a:effectLst/>
                    <a:latin typeface="Arial" panose="020B0604020202020204" pitchFamily="34" charset="0"/>
                    <a:ea typeface="Yu Mincho" panose="02020400000000000000" pitchFamily="18" charset="-128"/>
                    <a:cs typeface="Times New Roman" panose="02020603050405020304" pitchFamily="18" charset="0"/>
                  </a:rPr>
                  <a:t> </a:t>
                </a:r>
                <a:r>
                  <a:rPr lang="en-US" sz="1800" kern="100" err="1">
                    <a:effectLst/>
                    <a:latin typeface="Arial" panose="020B0604020202020204" pitchFamily="34" charset="0"/>
                    <a:ea typeface="Yu Mincho" panose="02020400000000000000" pitchFamily="18" charset="-128"/>
                    <a:cs typeface="Times New Roman" panose="02020603050405020304" pitchFamily="18" charset="0"/>
                  </a:rPr>
                  <a:t>thành</a:t>
                </a:r>
                <a:endParaRPr lang="vi-VN" sz="1800" kern="100">
                  <a:effectLst/>
                  <a:latin typeface="Arial" panose="020B0604020202020204" pitchFamily="34" charset="0"/>
                  <a:ea typeface="Arial" panose="020B0604020202020204" pitchFamily="34" charset="0"/>
                  <a:cs typeface="Times New Roman" panose="02020603050405020304" pitchFamily="18" charset="0"/>
                </a:endParaRPr>
              </a:p>
              <a:p>
                <a:pPr marL="0" marR="0">
                  <a:lnSpc>
                    <a:spcPct val="115000"/>
                  </a:lnSpc>
                  <a:spcAft>
                    <a:spcPts val="800"/>
                  </a:spcAft>
                </a:pPr>
                <a14:m>
                  <m:oMathPara xmlns:m="http://schemas.openxmlformats.org/officeDocument/2006/math">
                    <m:oMath>
                      <m:sSup>
                        <m:sSup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sSupPr>
                        <m:e>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up>
                      </m:s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b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𝑥</m:t>
                          </m:r>
                        </m:e>
                        <m: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1</m:t>
                          </m:r>
                        </m:sub>
                      </m:sSub>
                      <m:r>
                        <a:rPr lang="en-US" sz="1800" i="1" kern="100">
                          <a:effectLst/>
                          <a:latin typeface="Cambria Math" panose="02040503050406030204" pitchFamily="18" charset="0"/>
                          <a:ea typeface="Arial" panose="020B0604020202020204" pitchFamily="34" charset="0"/>
                          <a:cs typeface="Times New Roman" panose="02020603050405020304" pitchFamily="18" charset="0"/>
                        </a:rPr>
                        <m:t>=</m:t>
                      </m:r>
                      <m:d>
                        <m:dPr>
                          <m:ctrlPr>
                            <a:rPr lang="vi-VN" sz="1800" i="1" kern="100">
                              <a:effectLst/>
                              <a:latin typeface="Cambria Math" panose="02040503050406030204" pitchFamily="18" charset="0"/>
                              <a:ea typeface="Arial" panose="020B0604020202020204" pitchFamily="34" charset="0"/>
                              <a:cs typeface="Times New Roman" panose="02020603050405020304" pitchFamily="18" charset="0"/>
                            </a:rPr>
                          </m:ctrlPr>
                        </m:dPr>
                        <m:e>
                          <m:f>
                            <m:f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fPr>
                            <m:num>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𝛼</m:t>
                              </m:r>
                            </m:num>
                            <m:den>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𝜎</m:t>
                              </m:r>
                            </m:den>
                          </m:f>
                          <m:sSup>
                            <m:sSupPr>
                              <m:ctrlPr>
                                <a:rPr lang="en-US" sz="1800" i="1" kern="100">
                                  <a:effectLst/>
                                  <a:latin typeface="Cambria Math" panose="02040503050406030204" pitchFamily="18" charset="0"/>
                                  <a:ea typeface="Arial" panose="020B0604020202020204" pitchFamily="34" charset="0"/>
                                  <a:cs typeface="Times New Roman" panose="02020603050405020304" pitchFamily="18" charset="0"/>
                                </a:rPr>
                              </m:ctrlPr>
                            </m:sSupPr>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𝑋</m:t>
                              </m:r>
                            </m:e>
                            <m:sup>
                              <m:r>
                                <a:rPr lang="en-US" sz="1800" i="1" kern="100">
                                  <a:effectLst/>
                                  <a:latin typeface="Cambria Math" panose="02040503050406030204" pitchFamily="18" charset="0"/>
                                  <a:ea typeface="Arial" panose="020B0604020202020204" pitchFamily="34" charset="0"/>
                                  <a:cs typeface="Times New Roman" panose="02020603050405020304" pitchFamily="18" charset="0"/>
                                </a:rPr>
                                <m:t>2</m:t>
                              </m:r>
                            </m:sup>
                          </m:sSup>
                          <m:r>
                            <a:rPr lang="en-US" sz="1800" i="1" kern="100">
                              <a:effectLst/>
                              <a:latin typeface="Cambria Math" panose="02040503050406030204" pitchFamily="18" charset="0"/>
                              <a:ea typeface="Yu Mincho" panose="02020400000000000000" pitchFamily="18" charset="-128"/>
                              <a:cs typeface="Times New Roman" panose="02020603050405020304" pitchFamily="18" charset="0"/>
                            </a:rPr>
                            <m:t>−1</m:t>
                          </m:r>
                        </m:e>
                      </m:d>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𝑋</m:t>
                      </m:r>
                      <m:func>
                        <m:funcPr>
                          <m:ctrlPr>
                            <a:rPr lang="en-US" sz="1800" kern="100">
                              <a:effectLst/>
                              <a:latin typeface="Cambria Math" panose="02040503050406030204" pitchFamily="18" charset="0"/>
                              <a:ea typeface="Arial" panose="020B0604020202020204" pitchFamily="34" charset="0"/>
                              <a:cs typeface="Times New Roman" panose="02020603050405020304" pitchFamily="18" charset="0"/>
                            </a:rPr>
                          </m:ctrlPr>
                        </m:funcPr>
                        <m:fName>
                          <m:r>
                            <m:rPr>
                              <m:sty m:val="p"/>
                            </m:rPr>
                            <a:rPr lang="en-US" sz="1800" kern="100">
                              <a:effectLst/>
                              <a:latin typeface="Cambria Math" panose="02040503050406030204" pitchFamily="18" charset="0"/>
                              <a:ea typeface="Arial" panose="020B0604020202020204" pitchFamily="34" charset="0"/>
                              <a:cs typeface="Times New Roman" panose="02020603050405020304" pitchFamily="18" charset="0"/>
                            </a:rPr>
                            <m:t>sin</m:t>
                          </m:r>
                        </m:fName>
                        <m:e>
                          <m:r>
                            <a:rPr lang="en-US" sz="1800" i="1" kern="100">
                              <a:effectLst/>
                              <a:latin typeface="Cambria Math" panose="02040503050406030204" pitchFamily="18" charset="0"/>
                              <a:ea typeface="Arial" panose="020B0604020202020204" pitchFamily="34" charset="0"/>
                              <a:cs typeface="Times New Roman" panose="02020603050405020304" pitchFamily="18" charset="0"/>
                            </a:rPr>
                            <m:t>𝜏</m:t>
                          </m:r>
                        </m:e>
                      </m:func>
                    </m:oMath>
                  </m:oMathPara>
                </a14:m>
                <a:endParaRPr lang="vi-VN" sz="1800" kern="100">
                  <a:effectLst/>
                  <a:latin typeface="Arial" panose="020B0604020202020204" pitchFamily="34" charset="0"/>
                  <a:ea typeface="Arial" panose="020B0604020202020204" pitchFamily="34" charset="0"/>
                  <a:cs typeface="Times New Roman" panose="02020603050405020304" pitchFamily="18" charset="0"/>
                </a:endParaRPr>
              </a:p>
            </p:txBody>
          </p:sp>
        </mc:Choice>
        <mc:Fallback xmlns="">
          <p:sp>
            <p:nvSpPr>
              <p:cNvPr id="7" name="Hộp Văn bản 6">
                <a:extLst>
                  <a:ext uri="{FF2B5EF4-FFF2-40B4-BE49-F238E27FC236}">
                    <a16:creationId xmlns:a16="http://schemas.microsoft.com/office/drawing/2014/main" id="{216C5DAD-82E7-EAC3-A48E-0E20B9BDF90D}"/>
                  </a:ext>
                </a:extLst>
              </p:cNvPr>
              <p:cNvSpPr txBox="1">
                <a:spLocks noRot="1" noChangeAspect="1" noMove="1" noResize="1" noEditPoints="1" noAdjustHandles="1" noChangeArrowheads="1" noChangeShapeType="1" noTextEdit="1"/>
              </p:cNvSpPr>
              <p:nvPr/>
            </p:nvSpPr>
            <p:spPr>
              <a:xfrm>
                <a:off x="6291759" y="1737441"/>
                <a:ext cx="5751544" cy="4773038"/>
              </a:xfrm>
              <a:prstGeom prst="rect">
                <a:avLst/>
              </a:prstGeom>
              <a:blipFill>
                <a:blip r:embed="rId3"/>
                <a:stretch>
                  <a:fillRect l="-847" t="-255" r="-847"/>
                </a:stretch>
              </a:blipFill>
            </p:spPr>
            <p:txBody>
              <a:bodyPr/>
              <a:lstStyle/>
              <a:p>
                <a:r>
                  <a:rPr lang="vi-VN">
                    <a:noFill/>
                  </a:rPr>
                  <a:t> </a:t>
                </a:r>
              </a:p>
            </p:txBody>
          </p:sp>
        </mc:Fallback>
      </mc:AlternateContent>
      <p:cxnSp>
        <p:nvCxnSpPr>
          <p:cNvPr id="8" name="Đường nối Thẳng 7">
            <a:extLst>
              <a:ext uri="{FF2B5EF4-FFF2-40B4-BE49-F238E27FC236}">
                <a16:creationId xmlns:a16="http://schemas.microsoft.com/office/drawing/2014/main" id="{96CF2B4D-2962-B910-79C1-EDF98B149B39}"/>
              </a:ext>
            </a:extLst>
          </p:cNvPr>
          <p:cNvCxnSpPr/>
          <p:nvPr/>
        </p:nvCxnSpPr>
        <p:spPr>
          <a:xfrm>
            <a:off x="6245679" y="1430221"/>
            <a:ext cx="0" cy="522871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04478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D8D83-382F-6A8D-59F9-309C031FBA9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7549022-E51A-F386-D3CF-8565553434E5}"/>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60719453-2371-D3ED-A79B-CDD3E6F19C53}"/>
              </a:ext>
            </a:extLst>
          </p:cNvPr>
          <p:cNvSpPr>
            <a:spLocks noGrp="1"/>
          </p:cNvSpPr>
          <p:nvPr>
            <p:ph type="sldNum" sz="quarter" idx="12"/>
          </p:nvPr>
        </p:nvSpPr>
        <p:spPr/>
        <p:txBody>
          <a:bodyPr/>
          <a:lstStyle/>
          <a:p>
            <a:fld id="{931DD963-FD40-4A6D-88A9-402A489E81DE}" type="slidenum">
              <a:rPr lang="en-US" smtClean="0"/>
              <a:t>85</a:t>
            </a:fld>
            <a:endParaRPr lang="en-US"/>
          </a:p>
        </p:txBody>
      </p:sp>
      <p:grpSp>
        <p:nvGrpSpPr>
          <p:cNvPr id="10" name="Group 9">
            <a:extLst>
              <a:ext uri="{FF2B5EF4-FFF2-40B4-BE49-F238E27FC236}">
                <a16:creationId xmlns:a16="http://schemas.microsoft.com/office/drawing/2014/main" id="{2A007AD0-14B2-1D31-CA55-7614CDFFB525}"/>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F16D1718-C4E4-A2CA-30E7-5FC5355DB0E0}"/>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4193AC17-E05E-3A8F-9F37-DF469A2FC51F}"/>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p:sp>
        <p:nvSpPr>
          <p:cNvPr id="11" name="Hộp Văn bản 10">
            <a:extLst>
              <a:ext uri="{FF2B5EF4-FFF2-40B4-BE49-F238E27FC236}">
                <a16:creationId xmlns:a16="http://schemas.microsoft.com/office/drawing/2014/main" id="{648F0EC6-5250-DD92-919E-10AD5F3DC95F}"/>
              </a:ext>
            </a:extLst>
          </p:cNvPr>
          <p:cNvSpPr txBox="1"/>
          <p:nvPr/>
        </p:nvSpPr>
        <p:spPr>
          <a:xfrm>
            <a:off x="298310" y="959583"/>
            <a:ext cx="11595379" cy="400110"/>
          </a:xfrm>
          <a:prstGeom prst="rect">
            <a:avLst/>
          </a:prstGeom>
          <a:noFill/>
        </p:spPr>
        <p:txBody>
          <a:bodyPr wrap="square">
            <a:spAutoFit/>
          </a:bodyPr>
          <a:lstStyle/>
          <a:p>
            <a:r>
              <a:rPr lang="vi-VN" sz="2000" b="1">
                <a:latin typeface="Times New Roman" panose="02020603050405020304" pitchFamily="18" charset="0"/>
                <a:cs typeface="Times New Roman" panose="02020603050405020304" pitchFamily="18" charset="0"/>
              </a:rPr>
              <a:t>4.3. Kết luận chung:</a:t>
            </a:r>
          </a:p>
        </p:txBody>
      </p:sp>
      <mc:AlternateContent xmlns:mc="http://schemas.openxmlformats.org/markup-compatibility/2006" xmlns:a14="http://schemas.microsoft.com/office/drawing/2010/main">
        <mc:Choice Requires="a14">
          <p:graphicFrame>
            <p:nvGraphicFramePr>
              <p:cNvPr id="14" name="Bảng 13">
                <a:extLst>
                  <a:ext uri="{FF2B5EF4-FFF2-40B4-BE49-F238E27FC236}">
                    <a16:creationId xmlns:a16="http://schemas.microsoft.com/office/drawing/2014/main" id="{77ED929C-0A2D-3DC1-D1AF-192A6BE92A65}"/>
                  </a:ext>
                </a:extLst>
              </p:cNvPr>
              <p:cNvGraphicFramePr>
                <a:graphicFrameLocks noGrp="1"/>
              </p:cNvGraphicFramePr>
              <p:nvPr>
                <p:extLst>
                  <p:ext uri="{D42A27DB-BD31-4B8C-83A1-F6EECF244321}">
                    <p14:modId xmlns:p14="http://schemas.microsoft.com/office/powerpoint/2010/main" val="264693784"/>
                  </p:ext>
                </p:extLst>
              </p:nvPr>
            </p:nvGraphicFramePr>
            <p:xfrm>
              <a:off x="710354" y="1640539"/>
              <a:ext cx="10771290" cy="2553255"/>
            </p:xfrm>
            <a:graphic>
              <a:graphicData uri="http://schemas.openxmlformats.org/drawingml/2006/table">
                <a:tbl>
                  <a:tblPr firstRow="1" bandRow="1">
                    <a:tableStyleId>{5C22544A-7EE6-4342-B048-85BDC9FD1C3A}</a:tableStyleId>
                  </a:tblPr>
                  <a:tblGrid>
                    <a:gridCol w="5385645">
                      <a:extLst>
                        <a:ext uri="{9D8B030D-6E8A-4147-A177-3AD203B41FA5}">
                          <a16:colId xmlns:a16="http://schemas.microsoft.com/office/drawing/2014/main" val="4097034144"/>
                        </a:ext>
                      </a:extLst>
                    </a:gridCol>
                    <a:gridCol w="5385645">
                      <a:extLst>
                        <a:ext uri="{9D8B030D-6E8A-4147-A177-3AD203B41FA5}">
                          <a16:colId xmlns:a16="http://schemas.microsoft.com/office/drawing/2014/main" val="3312662096"/>
                        </a:ext>
                      </a:extLst>
                    </a:gridCol>
                  </a:tblGrid>
                  <a:tr h="354860">
                    <a:tc>
                      <a:txBody>
                        <a:bodyPr/>
                        <a:lstStyle/>
                        <a:p>
                          <a:endParaRPr lang="vi-VN"/>
                        </a:p>
                      </a:txBody>
                      <a:tcPr/>
                    </a:tc>
                    <a:tc>
                      <a:txBody>
                        <a:bodyPr/>
                        <a:lstStyle/>
                        <a:p>
                          <a:endParaRPr lang="vi-VN"/>
                        </a:p>
                      </a:txBody>
                      <a:tcPr/>
                    </a:tc>
                    <a:extLst>
                      <a:ext uri="{0D108BD9-81ED-4DB2-BD59-A6C34878D82A}">
                        <a16:rowId xmlns:a16="http://schemas.microsoft.com/office/drawing/2014/main" val="2226909552"/>
                      </a:ext>
                    </a:extLst>
                  </a:tr>
                  <a:tr h="2187495">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vi-VN">
                              <a:latin typeface="Times New Roman" panose="02020603050405020304" pitchFamily="18" charset="0"/>
                              <a:cs typeface="Times New Roman" panose="02020603050405020304" pitchFamily="18" charset="0"/>
                            </a:rPr>
                            <a:t>Van </a:t>
                          </a:r>
                          <a:r>
                            <a:rPr lang="vi-VN" err="1">
                              <a:latin typeface="Times New Roman" panose="02020603050405020304" pitchFamily="18" charset="0"/>
                              <a:cs typeface="Times New Roman" panose="02020603050405020304" pitchFamily="18" charset="0"/>
                            </a:rPr>
                            <a:t>der</a:t>
                          </a:r>
                          <a:r>
                            <a:rPr lang="vi-VN">
                              <a:latin typeface="Times New Roman" panose="02020603050405020304" pitchFamily="18" charset="0"/>
                              <a:cs typeface="Times New Roman" panose="02020603050405020304" pitchFamily="18" charset="0"/>
                            </a:rPr>
                            <a:t> </a:t>
                          </a:r>
                          <a:r>
                            <a:rPr lang="vi-VN" err="1">
                              <a:latin typeface="Times New Roman" panose="02020603050405020304" pitchFamily="18" charset="0"/>
                              <a:cs typeface="Times New Roman" panose="02020603050405020304" pitchFamily="18" charset="0"/>
                            </a:rPr>
                            <a:t>Pol</a:t>
                          </a:r>
                          <a:r>
                            <a:rPr lang="vi-VN">
                              <a:latin typeface="Times New Roman" panose="02020603050405020304" pitchFamily="18" charset="0"/>
                              <a:cs typeface="Times New Roman" panose="02020603050405020304" pitchFamily="18" charset="0"/>
                            </a:rPr>
                            <a:t> có mối ràng buộc ở việc điều chỉnh chỉ số </a:t>
                          </a:r>
                          <a14:m>
                            <m:oMath xmlns:m="http://schemas.openxmlformats.org/officeDocument/2006/math">
                              <m:r>
                                <a:rPr lang="vi-VN" i="1" smtClean="0">
                                  <a:latin typeface="Cambria Math" panose="02040503050406030204" pitchFamily="18" charset="0"/>
                                  <a:ea typeface="Cambria Math" panose="02040503050406030204" pitchFamily="18" charset="0"/>
                                  <a:cs typeface="Times New Roman" panose="02020603050405020304" pitchFamily="18" charset="0"/>
                                </a:rPr>
                                <m:t>𝜀</m:t>
                              </m:r>
                            </m:oMath>
                          </a14:m>
                          <a:r>
                            <a:rPr lang="vi-VN">
                              <a:latin typeface="Times New Roman" panose="02020603050405020304" pitchFamily="18" charset="0"/>
                              <a:cs typeface="Times New Roman" panose="02020603050405020304" pitchFamily="18" charset="0"/>
                            </a:rPr>
                            <a:t> và </a:t>
                          </a:r>
                          <a14:m>
                            <m:oMath xmlns:m="http://schemas.openxmlformats.org/officeDocument/2006/math">
                              <m:r>
                                <a:rPr lang="vi-VN" i="1" smtClean="0">
                                  <a:latin typeface="Cambria Math" panose="02040503050406030204" pitchFamily="18" charset="0"/>
                                  <a:ea typeface="Cambria Math" panose="02040503050406030204" pitchFamily="18" charset="0"/>
                                  <a:cs typeface="Times New Roman" panose="02020603050405020304" pitchFamily="18" charset="0"/>
                                </a:rPr>
                                <m:t>𝜎</m:t>
                              </m:r>
                              <m:r>
                                <a:rPr lang="vi-VN" b="0" i="0" smtClean="0">
                                  <a:latin typeface="Cambria Math" panose="02040503050406030204" pitchFamily="18" charset="0"/>
                                  <a:ea typeface="Cambria Math" panose="02040503050406030204" pitchFamily="18" charset="0"/>
                                  <a:cs typeface="Times New Roman" panose="02020603050405020304" pitchFamily="18" charset="0"/>
                                </a:rPr>
                                <m:t> </m:t>
                              </m:r>
                              <m:r>
                                <a:rPr lang="vi-VN" i="1">
                                  <a:latin typeface="Cambria Math" panose="02040503050406030204" pitchFamily="18" charset="0"/>
                                  <a:ea typeface="Cambria Math" panose="02040503050406030204" pitchFamily="18" charset="0"/>
                                  <a:cs typeface="Times New Roman" panose="02020603050405020304" pitchFamily="18" charset="0"/>
                                </a:rPr>
                                <m:t>để</m:t>
                              </m:r>
                              <m:r>
                                <a:rPr lang="vi-VN" b="0" i="0" smtClean="0">
                                  <a:latin typeface="Cambria Math" panose="02040503050406030204" pitchFamily="18" charset="0"/>
                                  <a:ea typeface="Cambria Math" panose="02040503050406030204" pitchFamily="18" charset="0"/>
                                  <a:cs typeface="Times New Roman" panose="02020603050405020304" pitchFamily="18" charset="0"/>
                                </a:rPr>
                                <m:t> </m:t>
                              </m:r>
                              <m:r>
                                <a:rPr lang="vi-VN" i="1">
                                  <a:latin typeface="Cambria Math" panose="02040503050406030204" pitchFamily="18" charset="0"/>
                                  <a:ea typeface="Cambria Math" panose="02040503050406030204" pitchFamily="18" charset="0"/>
                                  <a:cs typeface="Times New Roman" panose="02020603050405020304" pitchFamily="18" charset="0"/>
                                </a:rPr>
                                <m:t>đả</m:t>
                              </m:r>
                              <m:r>
                                <m:rPr>
                                  <m:sty m:val="p"/>
                                </m:rPr>
                                <a:rPr lang="vi-VN" i="1">
                                  <a:latin typeface="Cambria Math" panose="02040503050406030204" pitchFamily="18" charset="0"/>
                                  <a:ea typeface="Cambria Math" panose="02040503050406030204" pitchFamily="18" charset="0"/>
                                  <a:cs typeface="Times New Roman" panose="02020603050405020304" pitchFamily="18" charset="0"/>
                                </a:rPr>
                                <m:t>m</m:t>
                              </m:r>
                              <m:r>
                                <a:rPr lang="vi-VN" b="0" i="0"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vi-VN" i="1">
                                  <a:latin typeface="Cambria Math" panose="02040503050406030204" pitchFamily="18" charset="0"/>
                                  <a:ea typeface="Cambria Math" panose="02040503050406030204" pitchFamily="18" charset="0"/>
                                  <a:cs typeface="Times New Roman" panose="02020603050405020304" pitchFamily="18" charset="0"/>
                                </a:rPr>
                                <m:t>b</m:t>
                              </m:r>
                              <m:r>
                                <a:rPr lang="vi-VN" i="1">
                                  <a:latin typeface="Cambria Math" panose="02040503050406030204" pitchFamily="18" charset="0"/>
                                  <a:ea typeface="Cambria Math" panose="02040503050406030204" pitchFamily="18" charset="0"/>
                                  <a:cs typeface="Times New Roman" panose="02020603050405020304" pitchFamily="18" charset="0"/>
                                </a:rPr>
                                <m:t>ả</m:t>
                              </m:r>
                              <m:r>
                                <m:rPr>
                                  <m:sty m:val="p"/>
                                </m:rPr>
                                <a:rPr lang="vi-VN" i="1">
                                  <a:latin typeface="Cambria Math" panose="02040503050406030204" pitchFamily="18" charset="0"/>
                                  <a:ea typeface="Cambria Math" panose="02040503050406030204" pitchFamily="18" charset="0"/>
                                  <a:cs typeface="Times New Roman" panose="02020603050405020304" pitchFamily="18" charset="0"/>
                                </a:rPr>
                                <m:t>o</m:t>
                              </m:r>
                              <m:r>
                                <a:rPr lang="vi-VN" b="0" i="0"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vi-VN" i="1">
                                  <a:latin typeface="Cambria Math" panose="02040503050406030204" pitchFamily="18" charset="0"/>
                                  <a:ea typeface="Cambria Math" panose="02040503050406030204" pitchFamily="18" charset="0"/>
                                  <a:cs typeface="Times New Roman" panose="02020603050405020304" pitchFamily="18" charset="0"/>
                                </a:rPr>
                                <m:t>th</m:t>
                              </m:r>
                              <m:r>
                                <a:rPr lang="vi-VN" i="1">
                                  <a:latin typeface="Cambria Math" panose="02040503050406030204" pitchFamily="18" charset="0"/>
                                  <a:ea typeface="Cambria Math" panose="02040503050406030204" pitchFamily="18" charset="0"/>
                                  <a:cs typeface="Times New Roman" panose="02020603050405020304" pitchFamily="18" charset="0"/>
                                </a:rPr>
                                <m:t>ờ</m:t>
                              </m:r>
                              <m:r>
                                <m:rPr>
                                  <m:sty m:val="p"/>
                                </m:rPr>
                                <a:rPr lang="vi-VN" i="1">
                                  <a:latin typeface="Cambria Math" panose="02040503050406030204" pitchFamily="18" charset="0"/>
                                  <a:ea typeface="Cambria Math" panose="02040503050406030204" pitchFamily="18" charset="0"/>
                                  <a:cs typeface="Times New Roman" panose="02020603050405020304" pitchFamily="18" charset="0"/>
                                </a:rPr>
                                <m:t>i</m:t>
                              </m:r>
                              <m:r>
                                <a:rPr lang="vi-VN" b="0" i="0"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vi-VN" i="1">
                                  <a:latin typeface="Cambria Math" panose="02040503050406030204" pitchFamily="18" charset="0"/>
                                  <a:ea typeface="Cambria Math" panose="02040503050406030204" pitchFamily="18" charset="0"/>
                                  <a:cs typeface="Times New Roman" panose="02020603050405020304" pitchFamily="18" charset="0"/>
                                </a:rPr>
                                <m:t>gian</m:t>
                              </m:r>
                              <m:r>
                                <a:rPr lang="vi-VN" b="0" i="0" smtClean="0">
                                  <a:latin typeface="Cambria Math" panose="02040503050406030204" pitchFamily="18" charset="0"/>
                                  <a:ea typeface="Cambria Math" panose="02040503050406030204" pitchFamily="18" charset="0"/>
                                  <a:cs typeface="Times New Roman" panose="02020603050405020304" pitchFamily="18" charset="0"/>
                                </a:rPr>
                                <m:t> </m:t>
                              </m:r>
                              <m:r>
                                <a:rPr lang="vi-VN" i="1">
                                  <a:latin typeface="Cambria Math" panose="02040503050406030204" pitchFamily="18" charset="0"/>
                                  <a:ea typeface="Cambria Math" panose="02040503050406030204" pitchFamily="18" charset="0"/>
                                  <a:cs typeface="Times New Roman" panose="02020603050405020304" pitchFamily="18" charset="0"/>
                                </a:rPr>
                                <m:t>đá</m:t>
                              </m:r>
                              <m:r>
                                <m:rPr>
                                  <m:sty m:val="p"/>
                                </m:rPr>
                                <a:rPr lang="vi-VN" i="1">
                                  <a:latin typeface="Cambria Math" panose="02040503050406030204" pitchFamily="18" charset="0"/>
                                  <a:ea typeface="Cambria Math" panose="02040503050406030204" pitchFamily="18" charset="0"/>
                                  <a:cs typeface="Times New Roman" panose="02020603050405020304" pitchFamily="18" charset="0"/>
                                </a:rPr>
                                <m:t>p</m:t>
                              </m:r>
                              <m:r>
                                <a:rPr lang="vi-VN" b="0" i="0" smtClean="0">
                                  <a:latin typeface="Cambria Math" panose="02040503050406030204" pitchFamily="18" charset="0"/>
                                  <a:ea typeface="Cambria Math" panose="02040503050406030204" pitchFamily="18" charset="0"/>
                                  <a:cs typeface="Times New Roman" panose="02020603050405020304" pitchFamily="18" charset="0"/>
                                </a:rPr>
                                <m:t> </m:t>
                              </m:r>
                              <m:r>
                                <a:rPr lang="vi-VN" i="1">
                                  <a:latin typeface="Cambria Math" panose="02040503050406030204" pitchFamily="18" charset="0"/>
                                  <a:ea typeface="Cambria Math" panose="02040503050406030204" pitchFamily="18" charset="0"/>
                                  <a:cs typeface="Times New Roman" panose="02020603050405020304" pitchFamily="18" charset="0"/>
                                </a:rPr>
                                <m:t>ứ</m:t>
                              </m:r>
                              <m:r>
                                <m:rPr>
                                  <m:sty m:val="p"/>
                                </m:rPr>
                                <a:rPr lang="vi-VN" i="1">
                                  <a:latin typeface="Cambria Math" panose="02040503050406030204" pitchFamily="18" charset="0"/>
                                  <a:ea typeface="Cambria Math" panose="02040503050406030204" pitchFamily="18" charset="0"/>
                                  <a:cs typeface="Times New Roman" panose="02020603050405020304" pitchFamily="18" charset="0"/>
                                </a:rPr>
                                <m:t>ng</m:t>
                              </m:r>
                              <m:r>
                                <a:rPr lang="vi-VN" b="0" i="0"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vi-VN" i="1">
                                  <a:latin typeface="Cambria Math" panose="02040503050406030204" pitchFamily="18" charset="0"/>
                                  <a:ea typeface="Cambria Math" panose="02040503050406030204" pitchFamily="18" charset="0"/>
                                  <a:cs typeface="Times New Roman" panose="02020603050405020304" pitchFamily="18" charset="0"/>
                                </a:rPr>
                                <m:t>th</m:t>
                              </m:r>
                              <m:r>
                                <a:rPr lang="vi-VN" i="1">
                                  <a:latin typeface="Cambria Math" panose="02040503050406030204" pitchFamily="18" charset="0"/>
                                  <a:ea typeface="Cambria Math" panose="02040503050406030204" pitchFamily="18" charset="0"/>
                                  <a:cs typeface="Times New Roman" panose="02020603050405020304" pitchFamily="18" charset="0"/>
                                </a:rPr>
                                <m:t>ấ</m:t>
                              </m:r>
                              <m:r>
                                <m:rPr>
                                  <m:sty m:val="p"/>
                                </m:rPr>
                                <a:rPr lang="vi-VN" i="1">
                                  <a:latin typeface="Cambria Math" panose="02040503050406030204" pitchFamily="18" charset="0"/>
                                  <a:ea typeface="Cambria Math" panose="02040503050406030204" pitchFamily="18" charset="0"/>
                                  <a:cs typeface="Times New Roman" panose="02020603050405020304" pitchFamily="18" charset="0"/>
                                </a:rPr>
                                <m:t>p</m:t>
                              </m:r>
                              <m:r>
                                <a:rPr lang="vi-VN" b="0" i="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vi-VN">
                              <a:latin typeface="Times New Roman" panose="02020603050405020304" pitchFamily="18" charset="0"/>
                              <a:cs typeface="Times New Roman" panose="02020603050405020304" pitchFamily="18" charset="0"/>
                            </a:rPr>
                            <a:t> tuy vậy 2 chỉ số này cần nhỏ để đảm bảo các điều kiện về dao động và sóng hài =&gt; thời gian đáp ứng của Van </a:t>
                          </a:r>
                          <a:r>
                            <a:rPr lang="vi-VN" err="1">
                              <a:latin typeface="Times New Roman" panose="02020603050405020304" pitchFamily="18" charset="0"/>
                              <a:cs typeface="Times New Roman" panose="02020603050405020304" pitchFamily="18" charset="0"/>
                            </a:rPr>
                            <a:t>der</a:t>
                          </a:r>
                          <a:r>
                            <a:rPr lang="vi-VN">
                              <a:latin typeface="Times New Roman" panose="02020603050405020304" pitchFamily="18" charset="0"/>
                              <a:cs typeface="Times New Roman" panose="02020603050405020304" pitchFamily="18" charset="0"/>
                            </a:rPr>
                            <a:t> </a:t>
                          </a:r>
                          <a:r>
                            <a:rPr lang="vi-VN" err="1">
                              <a:latin typeface="Times New Roman" panose="02020603050405020304" pitchFamily="18" charset="0"/>
                              <a:cs typeface="Times New Roman" panose="02020603050405020304" pitchFamily="18" charset="0"/>
                            </a:rPr>
                            <a:t>pol</a:t>
                          </a:r>
                          <a:r>
                            <a:rPr lang="vi-VN">
                              <a:latin typeface="Times New Roman" panose="02020603050405020304" pitchFamily="18" charset="0"/>
                              <a:cs typeface="Times New Roman" panose="02020603050405020304" pitchFamily="18" charset="0"/>
                            </a:rPr>
                            <a:t> chậm hơn.</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vi-VN">
                              <a:latin typeface="Times New Roman" panose="02020603050405020304" pitchFamily="18" charset="0"/>
                              <a:cs typeface="Times New Roman" panose="02020603050405020304" pitchFamily="18" charset="0"/>
                            </a:rPr>
                            <a:t>Van </a:t>
                          </a:r>
                          <a:r>
                            <a:rPr lang="vi-VN" err="1">
                              <a:latin typeface="Times New Roman" panose="02020603050405020304" pitchFamily="18" charset="0"/>
                              <a:cs typeface="Times New Roman" panose="02020603050405020304" pitchFamily="18" charset="0"/>
                            </a:rPr>
                            <a:t>der</a:t>
                          </a:r>
                          <a:r>
                            <a:rPr lang="vi-VN">
                              <a:latin typeface="Times New Roman" panose="02020603050405020304" pitchFamily="18" charset="0"/>
                              <a:cs typeface="Times New Roman" panose="02020603050405020304" pitchFamily="18" charset="0"/>
                            </a:rPr>
                            <a:t> </a:t>
                          </a:r>
                          <a:r>
                            <a:rPr lang="vi-VN" err="1">
                              <a:latin typeface="Times New Roman" panose="02020603050405020304" pitchFamily="18" charset="0"/>
                              <a:cs typeface="Times New Roman" panose="02020603050405020304" pitchFamily="18" charset="0"/>
                            </a:rPr>
                            <a:t>Pol</a:t>
                          </a:r>
                          <a:r>
                            <a:rPr lang="vi-VN">
                              <a:latin typeface="Times New Roman" panose="02020603050405020304" pitchFamily="18" charset="0"/>
                              <a:cs typeface="Times New Roman" panose="02020603050405020304" pitchFamily="18" charset="0"/>
                            </a:rPr>
                            <a:t> có tồn tại sóng hài bậc 3.</a:t>
                          </a:r>
                        </a:p>
                      </a:txBody>
                      <a:tcPr/>
                    </a:tc>
                    <a:tc>
                      <a:txBody>
                        <a:bodyPr/>
                        <a:lstStyle/>
                        <a:p>
                          <a:pPr marL="285750" indent="-285750">
                            <a:buFontTx/>
                            <a:buChar char="-"/>
                          </a:pPr>
                          <a:r>
                            <a:rPr lang="vi-VN" err="1">
                              <a:latin typeface="Times New Roman" panose="02020603050405020304" pitchFamily="18" charset="0"/>
                              <a:cs typeface="Times New Roman" panose="02020603050405020304" pitchFamily="18" charset="0"/>
                            </a:rPr>
                            <a:t>Hopf</a:t>
                          </a:r>
                          <a:r>
                            <a:rPr lang="vi-VN">
                              <a:latin typeface="Times New Roman" panose="02020603050405020304" pitchFamily="18" charset="0"/>
                              <a:cs typeface="Times New Roman" panose="02020603050405020304" pitchFamily="18" charset="0"/>
                            </a:rPr>
                            <a:t> có thời gian đáp ứng phụ thuộc vào chỉ số </a:t>
                          </a:r>
                          <a14:m>
                            <m:oMath xmlns:m="http://schemas.openxmlformats.org/officeDocument/2006/math">
                              <m:r>
                                <a:rPr lang="vi-VN" i="1" smtClean="0">
                                  <a:latin typeface="Cambria Math" panose="02040503050406030204" pitchFamily="18" charset="0"/>
                                  <a:ea typeface="Cambria Math" panose="02040503050406030204" pitchFamily="18" charset="0"/>
                                  <a:cs typeface="Times New Roman" panose="02020603050405020304" pitchFamily="18" charset="0"/>
                                </a:rPr>
                                <m:t>𝜇</m:t>
                              </m:r>
                            </m:oMath>
                          </a14:m>
                          <a:r>
                            <a:rPr lang="vi-VN">
                              <a:latin typeface="Times New Roman" panose="02020603050405020304" pitchFamily="18" charset="0"/>
                              <a:cs typeface="Times New Roman" panose="02020603050405020304" pitchFamily="18" charset="0"/>
                            </a:rPr>
                            <a:t>, về cơ bản chỉ số này không có ảnh hưởng đến dao động</a:t>
                          </a:r>
                          <a:r>
                            <a:rPr lang="vi-VN" baseline="0">
                              <a:latin typeface="Times New Roman" panose="02020603050405020304" pitchFamily="18" charset="0"/>
                              <a:cs typeface="Times New Roman" panose="02020603050405020304" pitchFamily="18" charset="0"/>
                            </a:rPr>
                            <a:t> và sóng hài nên có thể tùy chỉnh, nên thời </a:t>
                          </a:r>
                          <a:r>
                            <a:rPr lang="vi-VN">
                              <a:latin typeface="Times New Roman" panose="02020603050405020304" pitchFamily="18" charset="0"/>
                              <a:cs typeface="Times New Roman" panose="02020603050405020304" pitchFamily="18" charset="0"/>
                            </a:rPr>
                            <a:t>gian đáp ứng nhanh hơn so với Van </a:t>
                          </a:r>
                          <a:r>
                            <a:rPr lang="vi-VN" err="1">
                              <a:latin typeface="Times New Roman" panose="02020603050405020304" pitchFamily="18" charset="0"/>
                              <a:cs typeface="Times New Roman" panose="02020603050405020304" pitchFamily="18" charset="0"/>
                            </a:rPr>
                            <a:t>der</a:t>
                          </a:r>
                          <a:r>
                            <a:rPr lang="vi-VN">
                              <a:latin typeface="Times New Roman" panose="02020603050405020304" pitchFamily="18" charset="0"/>
                              <a:cs typeface="Times New Roman" panose="02020603050405020304" pitchFamily="18" charset="0"/>
                            </a:rPr>
                            <a:t> </a:t>
                          </a:r>
                          <a:r>
                            <a:rPr lang="vi-VN" err="1">
                              <a:latin typeface="Times New Roman" panose="02020603050405020304" pitchFamily="18" charset="0"/>
                              <a:cs typeface="Times New Roman" panose="02020603050405020304" pitchFamily="18" charset="0"/>
                            </a:rPr>
                            <a:t>Pol</a:t>
                          </a:r>
                          <a:r>
                            <a:rPr lang="vi-VN">
                              <a:latin typeface="Times New Roman" panose="02020603050405020304" pitchFamily="18" charset="0"/>
                              <a:cs typeface="Times New Roman" panose="02020603050405020304" pitchFamily="18" charset="0"/>
                            </a:rPr>
                            <a:t>.</a:t>
                          </a:r>
                        </a:p>
                        <a:p>
                          <a:pPr marL="285750" indent="-285750">
                            <a:buFontTx/>
                            <a:buChar char="-"/>
                          </a:pPr>
                          <a:endParaRPr lang="vi-VN">
                            <a:latin typeface="Times New Roman" panose="02020603050405020304" pitchFamily="18" charset="0"/>
                            <a:cs typeface="Times New Roman" panose="02020603050405020304" pitchFamily="18" charset="0"/>
                          </a:endParaRPr>
                        </a:p>
                        <a:p>
                          <a:pPr marL="285750" indent="-285750">
                            <a:buFontTx/>
                            <a:buChar char="-"/>
                          </a:pPr>
                          <a:r>
                            <a:rPr lang="vi-VN" err="1">
                              <a:latin typeface="Times New Roman" panose="02020603050405020304" pitchFamily="18" charset="0"/>
                              <a:cs typeface="Times New Roman" panose="02020603050405020304" pitchFamily="18" charset="0"/>
                            </a:rPr>
                            <a:t>Hopf</a:t>
                          </a:r>
                          <a:r>
                            <a:rPr lang="vi-VN">
                              <a:latin typeface="Times New Roman" panose="02020603050405020304" pitchFamily="18" charset="0"/>
                              <a:cs typeface="Times New Roman" panose="02020603050405020304" pitchFamily="18" charset="0"/>
                            </a:rPr>
                            <a:t> không tồn tại sóng hài bậc 3</a:t>
                          </a:r>
                          <a:endParaRPr lang="vi-VN"/>
                        </a:p>
                      </a:txBody>
                      <a:tcPr/>
                    </a:tc>
                    <a:extLst>
                      <a:ext uri="{0D108BD9-81ED-4DB2-BD59-A6C34878D82A}">
                        <a16:rowId xmlns:a16="http://schemas.microsoft.com/office/drawing/2014/main" val="1430145982"/>
                      </a:ext>
                    </a:extLst>
                  </a:tr>
                </a:tbl>
              </a:graphicData>
            </a:graphic>
          </p:graphicFrame>
        </mc:Choice>
        <mc:Fallback xmlns="">
          <p:graphicFrame>
            <p:nvGraphicFramePr>
              <p:cNvPr id="14" name="Bảng 13">
                <a:extLst>
                  <a:ext uri="{FF2B5EF4-FFF2-40B4-BE49-F238E27FC236}">
                    <a16:creationId xmlns:a16="http://schemas.microsoft.com/office/drawing/2014/main" id="{77ED929C-0A2D-3DC1-D1AF-192A6BE92A65}"/>
                  </a:ext>
                </a:extLst>
              </p:cNvPr>
              <p:cNvGraphicFramePr>
                <a:graphicFrameLocks noGrp="1"/>
              </p:cNvGraphicFramePr>
              <p:nvPr>
                <p:extLst>
                  <p:ext uri="{D42A27DB-BD31-4B8C-83A1-F6EECF244321}">
                    <p14:modId xmlns:p14="http://schemas.microsoft.com/office/powerpoint/2010/main" val="264693784"/>
                  </p:ext>
                </p:extLst>
              </p:nvPr>
            </p:nvGraphicFramePr>
            <p:xfrm>
              <a:off x="710354" y="1640539"/>
              <a:ext cx="10771290" cy="2553255"/>
            </p:xfrm>
            <a:graphic>
              <a:graphicData uri="http://schemas.openxmlformats.org/drawingml/2006/table">
                <a:tbl>
                  <a:tblPr firstRow="1" bandRow="1">
                    <a:tableStyleId>{5C22544A-7EE6-4342-B048-85BDC9FD1C3A}</a:tableStyleId>
                  </a:tblPr>
                  <a:tblGrid>
                    <a:gridCol w="5385645">
                      <a:extLst>
                        <a:ext uri="{9D8B030D-6E8A-4147-A177-3AD203B41FA5}">
                          <a16:colId xmlns:a16="http://schemas.microsoft.com/office/drawing/2014/main" val="4097034144"/>
                        </a:ext>
                      </a:extLst>
                    </a:gridCol>
                    <a:gridCol w="5385645">
                      <a:extLst>
                        <a:ext uri="{9D8B030D-6E8A-4147-A177-3AD203B41FA5}">
                          <a16:colId xmlns:a16="http://schemas.microsoft.com/office/drawing/2014/main" val="3312662096"/>
                        </a:ext>
                      </a:extLst>
                    </a:gridCol>
                  </a:tblGrid>
                  <a:tr h="365760">
                    <a:tc>
                      <a:txBody>
                        <a:bodyPr/>
                        <a:lstStyle/>
                        <a:p>
                          <a:endParaRPr lang="vi-VN" dirty="0"/>
                        </a:p>
                      </a:txBody>
                      <a:tcPr/>
                    </a:tc>
                    <a:tc>
                      <a:txBody>
                        <a:bodyPr/>
                        <a:lstStyle/>
                        <a:p>
                          <a:endParaRPr lang="vi-VN"/>
                        </a:p>
                      </a:txBody>
                      <a:tcPr/>
                    </a:tc>
                    <a:extLst>
                      <a:ext uri="{0D108BD9-81ED-4DB2-BD59-A6C34878D82A}">
                        <a16:rowId xmlns:a16="http://schemas.microsoft.com/office/drawing/2014/main" val="2226909552"/>
                      </a:ext>
                    </a:extLst>
                  </a:tr>
                  <a:tr h="2187495">
                    <a:tc>
                      <a:txBody>
                        <a:bodyPr/>
                        <a:lstStyle/>
                        <a:p>
                          <a:endParaRPr lang="vi-VN"/>
                        </a:p>
                      </a:txBody>
                      <a:tcPr>
                        <a:blipFill>
                          <a:blip r:embed="rId2"/>
                          <a:stretch>
                            <a:fillRect l="-113" t="-16992" r="-100452" b="-836"/>
                          </a:stretch>
                        </a:blipFill>
                      </a:tcPr>
                    </a:tc>
                    <a:tc>
                      <a:txBody>
                        <a:bodyPr/>
                        <a:lstStyle/>
                        <a:p>
                          <a:endParaRPr lang="vi-VN"/>
                        </a:p>
                      </a:txBody>
                      <a:tcPr>
                        <a:blipFill>
                          <a:blip r:embed="rId2"/>
                          <a:stretch>
                            <a:fillRect l="-100113" t="-16992" r="-452" b="-836"/>
                          </a:stretch>
                        </a:blipFill>
                      </a:tcPr>
                    </a:tc>
                    <a:extLst>
                      <a:ext uri="{0D108BD9-81ED-4DB2-BD59-A6C34878D82A}">
                        <a16:rowId xmlns:a16="http://schemas.microsoft.com/office/drawing/2014/main" val="1430145982"/>
                      </a:ext>
                    </a:extLst>
                  </a:tr>
                </a:tbl>
              </a:graphicData>
            </a:graphic>
          </p:graphicFrame>
        </mc:Fallback>
      </mc:AlternateContent>
    </p:spTree>
    <p:extLst>
      <p:ext uri="{BB962C8B-B14F-4D97-AF65-F5344CB8AC3E}">
        <p14:creationId xmlns:p14="http://schemas.microsoft.com/office/powerpoint/2010/main" val="61290833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0C774-A67C-45D5-9C35-0929C2969A8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A2B4F0E-ECF2-BF4F-CAA8-925A95DDC63C}"/>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589A4E3E-6F79-96C8-C5FE-1CBAF25B3FAC}"/>
              </a:ext>
            </a:extLst>
          </p:cNvPr>
          <p:cNvSpPr>
            <a:spLocks noGrp="1"/>
          </p:cNvSpPr>
          <p:nvPr>
            <p:ph type="sldNum" sz="quarter" idx="12"/>
          </p:nvPr>
        </p:nvSpPr>
        <p:spPr/>
        <p:txBody>
          <a:bodyPr/>
          <a:lstStyle/>
          <a:p>
            <a:fld id="{931DD963-FD40-4A6D-88A9-402A489E81DE}" type="slidenum">
              <a:rPr lang="en-US" smtClean="0"/>
              <a:t>86</a:t>
            </a:fld>
            <a:endParaRPr lang="en-US"/>
          </a:p>
        </p:txBody>
      </p:sp>
      <p:grpSp>
        <p:nvGrpSpPr>
          <p:cNvPr id="10" name="Group 9">
            <a:extLst>
              <a:ext uri="{FF2B5EF4-FFF2-40B4-BE49-F238E27FC236}">
                <a16:creationId xmlns:a16="http://schemas.microsoft.com/office/drawing/2014/main" id="{2B538738-4242-EC49-A4A0-A36C8D973180}"/>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0BBE8FEC-7A22-5631-F0B2-7A43FD9DB30E}"/>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633AFC40-DD90-86A6-44FC-9C3E23A18DDE}"/>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p:sp>
        <p:nvSpPr>
          <p:cNvPr id="7" name="Hộp Văn bản 6">
            <a:extLst>
              <a:ext uri="{FF2B5EF4-FFF2-40B4-BE49-F238E27FC236}">
                <a16:creationId xmlns:a16="http://schemas.microsoft.com/office/drawing/2014/main" id="{D7769FDE-4162-D281-E6EB-6160D074C6D3}"/>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4.4. </a:t>
            </a:r>
            <a:r>
              <a:rPr lang="vi-VN" sz="2000" b="1">
                <a:solidFill>
                  <a:prstClr val="black"/>
                </a:solidFill>
                <a:latin typeface="Times New Roman" panose="02020603050405020304" pitchFamily="18" charset="0"/>
                <a:cs typeface="Times New Roman" panose="02020603050405020304" pitchFamily="18" charset="0"/>
              </a:rPr>
              <a:t>Mô phỏng kiểm chứng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8" name="Table 13">
                <a:extLst>
                  <a:ext uri="{FF2B5EF4-FFF2-40B4-BE49-F238E27FC236}">
                    <a16:creationId xmlns:a16="http://schemas.microsoft.com/office/drawing/2014/main" id="{78749BB2-EF7E-5F91-F331-E90AABDA7D71}"/>
                  </a:ext>
                </a:extLst>
              </p:cNvPr>
              <p:cNvGraphicFramePr>
                <a:graphicFrameLocks noGrp="1"/>
              </p:cNvGraphicFramePr>
              <p:nvPr>
                <p:extLst>
                  <p:ext uri="{D42A27DB-BD31-4B8C-83A1-F6EECF244321}">
                    <p14:modId xmlns:p14="http://schemas.microsoft.com/office/powerpoint/2010/main" val="1825939763"/>
                  </p:ext>
                </p:extLst>
              </p:nvPr>
            </p:nvGraphicFramePr>
            <p:xfrm>
              <a:off x="1342089" y="1333504"/>
              <a:ext cx="9708532" cy="5258592"/>
            </p:xfrm>
            <a:graphic>
              <a:graphicData uri="http://schemas.openxmlformats.org/drawingml/2006/table">
                <a:tbl>
                  <a:tblPr firstRow="1" bandRow="1">
                    <a:tableStyleId>{7DF18680-E054-41AD-8BC1-D1AEF772440D}</a:tableStyleId>
                  </a:tblPr>
                  <a:tblGrid>
                    <a:gridCol w="3226918">
                      <a:extLst>
                        <a:ext uri="{9D8B030D-6E8A-4147-A177-3AD203B41FA5}">
                          <a16:colId xmlns:a16="http://schemas.microsoft.com/office/drawing/2014/main" val="54882281"/>
                        </a:ext>
                      </a:extLst>
                    </a:gridCol>
                    <a:gridCol w="3867453">
                      <a:extLst>
                        <a:ext uri="{9D8B030D-6E8A-4147-A177-3AD203B41FA5}">
                          <a16:colId xmlns:a16="http://schemas.microsoft.com/office/drawing/2014/main" val="2411394353"/>
                        </a:ext>
                      </a:extLst>
                    </a:gridCol>
                    <a:gridCol w="2614161">
                      <a:extLst>
                        <a:ext uri="{9D8B030D-6E8A-4147-A177-3AD203B41FA5}">
                          <a16:colId xmlns:a16="http://schemas.microsoft.com/office/drawing/2014/main" val="1907597949"/>
                        </a:ext>
                      </a:extLst>
                    </a:gridCol>
                  </a:tblGrid>
                  <a:tr h="401579">
                    <a:tc>
                      <a:txBody>
                        <a:bodyPr/>
                        <a:lstStyle/>
                        <a:p>
                          <a:pPr marL="0" marR="0" indent="0" algn="ctr">
                            <a:lnSpc>
                              <a:spcPct val="150000"/>
                            </a:lnSpc>
                            <a:spcBef>
                              <a:spcPts val="300"/>
                            </a:spcBef>
                            <a:spcAft>
                              <a:spcPts val="25"/>
                            </a:spcAft>
                          </a:pPr>
                          <a:r>
                            <a:rPr lang="en-US" sz="1800" kern="0" err="1">
                              <a:solidFill>
                                <a:srgbClr val="000000"/>
                              </a:solidFill>
                              <a:effectLst/>
                              <a:latin typeface="Times New Roman" panose="02020603050405020304" pitchFamily="18" charset="0"/>
                              <a:ea typeface="Times New Roman" panose="02020603050405020304" pitchFamily="18" charset="0"/>
                            </a:rPr>
                            <a:t>Kí</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hiệu</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60000"/>
                            <a:lumOff val="40000"/>
                          </a:schemeClr>
                        </a:solidFill>
                      </a:tcPr>
                    </a:tc>
                    <a:tc>
                      <a:txBody>
                        <a:bodyPr/>
                        <a:lstStyle/>
                        <a:p>
                          <a:pPr marL="0" marR="0" indent="0" algn="ctr">
                            <a:lnSpc>
                              <a:spcPct val="150000"/>
                            </a:lnSpc>
                            <a:spcBef>
                              <a:spcPts val="300"/>
                            </a:spcBef>
                            <a:spcAft>
                              <a:spcPts val="25"/>
                            </a:spcAft>
                          </a:pPr>
                          <a:r>
                            <a:rPr lang="en-US" sz="1800" kern="0" err="1">
                              <a:solidFill>
                                <a:srgbClr val="000000"/>
                              </a:solidFill>
                              <a:effectLst/>
                              <a:latin typeface="Times New Roman" panose="02020603050405020304" pitchFamily="18" charset="0"/>
                              <a:ea typeface="Times New Roman" panose="02020603050405020304" pitchFamily="18" charset="0"/>
                            </a:rPr>
                            <a:t>Tham</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số</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60000"/>
                            <a:lumOff val="40000"/>
                          </a:schemeClr>
                        </a:solidFill>
                      </a:tcPr>
                    </a:tc>
                    <a:tc>
                      <a:txBody>
                        <a:bodyPr/>
                        <a:lstStyle/>
                        <a:p>
                          <a:pPr marL="0" marR="0" indent="0" algn="ctr">
                            <a:lnSpc>
                              <a:spcPct val="150000"/>
                            </a:lnSpc>
                            <a:spcBef>
                              <a:spcPts val="300"/>
                            </a:spcBef>
                            <a:spcAft>
                              <a:spcPts val="25"/>
                            </a:spcAft>
                          </a:pPr>
                          <a:r>
                            <a:rPr lang="en-US" sz="1800" kern="0" err="1">
                              <a:solidFill>
                                <a:srgbClr val="000000"/>
                              </a:solidFill>
                              <a:effectLst/>
                              <a:latin typeface="Times New Roman" panose="02020603050405020304" pitchFamily="18" charset="0"/>
                              <a:ea typeface="Times New Roman" panose="02020603050405020304" pitchFamily="18" charset="0"/>
                            </a:rPr>
                            <a:t>Giá</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trị</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60000"/>
                            <a:lumOff val="40000"/>
                          </a:schemeClr>
                        </a:solidFill>
                      </a:tcPr>
                    </a:tc>
                    <a:extLst>
                      <a:ext uri="{0D108BD9-81ED-4DB2-BD59-A6C34878D82A}">
                        <a16:rowId xmlns:a16="http://schemas.microsoft.com/office/drawing/2014/main" val="24198130"/>
                      </a:ext>
                    </a:extLst>
                  </a:tr>
                  <a:tr h="405921">
                    <a:tc>
                      <a:txBody>
                        <a:bodyPr/>
                        <a:lstStyle/>
                        <a:p>
                          <a:pPr marL="0" marR="0" indent="0" algn="ctr">
                            <a:lnSpc>
                              <a:spcPct val="150000"/>
                            </a:lnSpc>
                            <a:spcBef>
                              <a:spcPts val="300"/>
                            </a:spcBef>
                            <a:spcAft>
                              <a:spcPts val="25"/>
                            </a:spcAft>
                          </a:pPr>
                          <a14:m>
                            <m:oMathPara xmlns:m="http://schemas.openxmlformats.org/officeDocument/2006/math">
                              <m:oMath>
                                <m:sSub>
                                  <m:sSubPr>
                                    <m:ctrlPr>
                                      <a:rPr lang="en-US" sz="1800" i="1" kern="100">
                                        <a:solidFill>
                                          <a:srgbClr val="000000"/>
                                        </a:solidFill>
                                        <a:effectLst/>
                                        <a:latin typeface="Cambria Math" panose="02040503050406030204" pitchFamily="18" charset="0"/>
                                        <a:ea typeface="Times New Roman" panose="02020603050405020304" pitchFamily="18" charset="0"/>
                                      </a:rPr>
                                    </m:ctrlPr>
                                  </m:sSubPr>
                                  <m:e>
                                    <m:acc>
                                      <m:accPr>
                                        <m:chr m:val="̅"/>
                                        <m:ctrlPr>
                                          <a:rPr lang="en-US" sz="1800" i="1" kern="0">
                                            <a:solidFill>
                                              <a:srgbClr val="000000"/>
                                            </a:solidFill>
                                            <a:effectLst/>
                                            <a:latin typeface="Cambria Math" panose="02040503050406030204" pitchFamily="18" charset="0"/>
                                            <a:ea typeface="Times New Roman" panose="02020603050405020304" pitchFamily="18" charset="0"/>
                                          </a:rPr>
                                        </m:ctrlPr>
                                      </m:accPr>
                                      <m:e>
                                        <m:r>
                                          <a:rPr lang="en-US" sz="1800" i="1" kern="0">
                                            <a:solidFill>
                                              <a:srgbClr val="000000"/>
                                            </a:solidFill>
                                            <a:effectLst/>
                                            <a:latin typeface="Cambria Math" panose="02040503050406030204" pitchFamily="18" charset="0"/>
                                            <a:ea typeface="Times New Roman" panose="02020603050405020304" pitchFamily="18" charset="0"/>
                                          </a:rPr>
                                          <m:t>𝑉</m:t>
                                        </m:r>
                                      </m:e>
                                    </m:acc>
                                  </m:e>
                                  <m:sub>
                                    <m:r>
                                      <a:rPr lang="en-US" sz="1800" i="1" kern="0">
                                        <a:solidFill>
                                          <a:srgbClr val="000000"/>
                                        </a:solidFill>
                                        <a:effectLst/>
                                        <a:latin typeface="Cambria Math" panose="02040503050406030204" pitchFamily="18" charset="0"/>
                                        <a:ea typeface="Times New Roman" panose="02020603050405020304" pitchFamily="18" charset="0"/>
                                      </a:rPr>
                                      <m:t>𝑜𝑐</m:t>
                                    </m:r>
                                  </m:sub>
                                </m:sSub>
                              </m:oMath>
                            </m:oMathPara>
                          </a14:m>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1800" kern="0" err="1">
                              <a:solidFill>
                                <a:srgbClr val="000000"/>
                              </a:solidFill>
                              <a:effectLst/>
                              <a:latin typeface="Times New Roman" panose="02020603050405020304" pitchFamily="18" charset="0"/>
                              <a:ea typeface="Times New Roman" panose="02020603050405020304" pitchFamily="18" charset="0"/>
                            </a:rPr>
                            <a:t>Điện</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áp</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hở</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mạch</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1800" kern="0">
                              <a:solidFill>
                                <a:srgbClr val="000000"/>
                              </a:solidFill>
                              <a:effectLst/>
                              <a:latin typeface="Times New Roman" panose="02020603050405020304" pitchFamily="18" charset="0"/>
                              <a:ea typeface="Times New Roman" panose="02020603050405020304" pitchFamily="18" charset="0"/>
                            </a:rPr>
                            <a:t>225</a:t>
                          </a:r>
                          <a:r>
                            <a:rPr lang="en-US" sz="1800" kern="0">
                              <a:solidFill>
                                <a:srgbClr val="000000"/>
                              </a:solidFill>
                              <a:effectLst/>
                              <a:latin typeface="Times New Roman" panose="02020603050405020304" pitchFamily="18" charset="0"/>
                              <a:ea typeface="Times New Roman" panose="02020603050405020304" pitchFamily="18" charset="0"/>
                            </a:rPr>
                            <a:t>V</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291768572"/>
                      </a:ext>
                    </a:extLst>
                  </a:tr>
                  <a:tr h="416933">
                    <a:tc>
                      <a:txBody>
                        <a:bodyPr/>
                        <a:lstStyle/>
                        <a:p>
                          <a:pPr marL="0" marR="0" indent="0" algn="ctr">
                            <a:lnSpc>
                              <a:spcPct val="150000"/>
                            </a:lnSpc>
                            <a:spcBef>
                              <a:spcPts val="300"/>
                            </a:spcBef>
                            <a:spcAft>
                              <a:spcPts val="25"/>
                            </a:spcAft>
                          </a:pPr>
                          <a14:m>
                            <m:oMathPara xmlns:m="http://schemas.openxmlformats.org/officeDocument/2006/math">
                              <m:oMath>
                                <m:sSub>
                                  <m:sSubPr>
                                    <m:ctrlPr>
                                      <a:rPr lang="en-US" sz="1800" i="1" kern="100">
                                        <a:solidFill>
                                          <a:srgbClr val="000000"/>
                                        </a:solidFill>
                                        <a:effectLst/>
                                        <a:latin typeface="Cambria Math" panose="02040503050406030204" pitchFamily="18" charset="0"/>
                                        <a:ea typeface="Yu Mincho" panose="02020400000000000000" pitchFamily="18" charset="-128"/>
                                      </a:rPr>
                                    </m:ctrlPr>
                                  </m:sSubPr>
                                  <m:e>
                                    <m:acc>
                                      <m:accPr>
                                        <m:chr m:val="̅"/>
                                        <m:ctrlPr>
                                          <a:rPr lang="en-US" sz="1800" i="1" kern="0">
                                            <a:solidFill>
                                              <a:srgbClr val="000000"/>
                                            </a:solidFill>
                                            <a:effectLst/>
                                            <a:latin typeface="Cambria Math" panose="02040503050406030204" pitchFamily="18" charset="0"/>
                                            <a:ea typeface="Yu Mincho" panose="02020400000000000000" pitchFamily="18" charset="-128"/>
                                          </a:rPr>
                                        </m:ctrlPr>
                                      </m:accPr>
                                      <m:e>
                                        <m:r>
                                          <a:rPr lang="en-US" sz="1800" i="1" kern="0">
                                            <a:solidFill>
                                              <a:srgbClr val="000000"/>
                                            </a:solidFill>
                                            <a:effectLst/>
                                            <a:latin typeface="Cambria Math" panose="02040503050406030204" pitchFamily="18" charset="0"/>
                                            <a:ea typeface="Yu Mincho" panose="02020400000000000000" pitchFamily="18" charset="-128"/>
                                          </a:rPr>
                                          <m:t>𝑃</m:t>
                                        </m:r>
                                      </m:e>
                                    </m:acc>
                                  </m:e>
                                  <m:sub>
                                    <m:r>
                                      <a:rPr lang="en-US" sz="1800" i="1" kern="0">
                                        <a:solidFill>
                                          <a:srgbClr val="000000"/>
                                        </a:solidFill>
                                        <a:effectLst/>
                                        <a:latin typeface="Cambria Math" panose="02040503050406030204" pitchFamily="18" charset="0"/>
                                        <a:ea typeface="Yu Mincho" panose="02020400000000000000" pitchFamily="18" charset="-128"/>
                                      </a:rPr>
                                      <m:t>𝑟𝑎𝑡𝑒</m:t>
                                    </m:r>
                                  </m:sub>
                                </m:sSub>
                              </m:oMath>
                            </m:oMathPara>
                          </a14:m>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1800" kern="0">
                              <a:solidFill>
                                <a:srgbClr val="000000"/>
                              </a:solidFill>
                              <a:effectLst/>
                              <a:latin typeface="Times New Roman" panose="02020603050405020304" pitchFamily="18" charset="0"/>
                              <a:ea typeface="Times New Roman" panose="02020603050405020304" pitchFamily="18" charset="0"/>
                            </a:rPr>
                            <a:t>Công suất tác dụng định mức</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1800" kern="0">
                              <a:solidFill>
                                <a:srgbClr val="000000"/>
                              </a:solidFill>
                              <a:effectLst/>
                              <a:latin typeface="Times New Roman" panose="02020603050405020304" pitchFamily="18" charset="0"/>
                              <a:ea typeface="Times New Roman" panose="02020603050405020304" pitchFamily="18" charset="0"/>
                            </a:rPr>
                            <a:t>750W</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656964966"/>
                      </a:ext>
                    </a:extLst>
                  </a:tr>
                  <a:tr h="406951">
                    <a:tc>
                      <a:txBody>
                        <a:bodyPr/>
                        <a:lstStyle/>
                        <a:p>
                          <a:pPr marL="0" marR="0" indent="0" algn="ctr">
                            <a:lnSpc>
                              <a:spcPct val="150000"/>
                            </a:lnSpc>
                            <a:spcBef>
                              <a:spcPts val="300"/>
                            </a:spcBef>
                            <a:spcAft>
                              <a:spcPts val="25"/>
                            </a:spcAft>
                          </a:pPr>
                          <a14:m>
                            <m:oMathPara xmlns:m="http://schemas.openxmlformats.org/officeDocument/2006/math">
                              <m:oMath>
                                <m:sSub>
                                  <m:sSubPr>
                                    <m:ctrlPr>
                                      <a:rPr lang="en-US" sz="1800" i="1" kern="100">
                                        <a:solidFill>
                                          <a:srgbClr val="000000"/>
                                        </a:solidFill>
                                        <a:effectLst/>
                                        <a:latin typeface="Cambria Math" panose="02040503050406030204" pitchFamily="18" charset="0"/>
                                        <a:ea typeface="Yu Mincho" panose="02020400000000000000" pitchFamily="18" charset="-128"/>
                                      </a:rPr>
                                    </m:ctrlPr>
                                  </m:sSubPr>
                                  <m:e>
                                    <m:acc>
                                      <m:accPr>
                                        <m:chr m:val="̅"/>
                                        <m:ctrlPr>
                                          <a:rPr lang="en-US" sz="1800" i="1" kern="0">
                                            <a:solidFill>
                                              <a:srgbClr val="000000"/>
                                            </a:solidFill>
                                            <a:effectLst/>
                                            <a:latin typeface="Cambria Math" panose="02040503050406030204" pitchFamily="18" charset="0"/>
                                            <a:ea typeface="Yu Mincho" panose="02020400000000000000" pitchFamily="18" charset="-128"/>
                                          </a:rPr>
                                        </m:ctrlPr>
                                      </m:accPr>
                                      <m:e>
                                        <m:r>
                                          <a:rPr lang="en-US" sz="1800" i="1" kern="0">
                                            <a:solidFill>
                                              <a:srgbClr val="000000"/>
                                            </a:solidFill>
                                            <a:effectLst/>
                                            <a:latin typeface="Cambria Math" panose="02040503050406030204" pitchFamily="18" charset="0"/>
                                            <a:ea typeface="Yu Mincho" panose="02020400000000000000" pitchFamily="18" charset="-128"/>
                                          </a:rPr>
                                          <m:t>𝑉</m:t>
                                        </m:r>
                                      </m:e>
                                    </m:acc>
                                  </m:e>
                                  <m:sub>
                                    <m:r>
                                      <a:rPr lang="en-US" sz="1800" i="1" kern="0">
                                        <a:solidFill>
                                          <a:srgbClr val="000000"/>
                                        </a:solidFill>
                                        <a:effectLst/>
                                        <a:latin typeface="Cambria Math" panose="02040503050406030204" pitchFamily="18" charset="0"/>
                                        <a:ea typeface="Yu Mincho" panose="02020400000000000000" pitchFamily="18" charset="-128"/>
                                      </a:rPr>
                                      <m:t>𝑚𝑖𝑛</m:t>
                                    </m:r>
                                  </m:sub>
                                </m:sSub>
                              </m:oMath>
                            </m:oMathPara>
                          </a14:m>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1800" kern="0">
                              <a:solidFill>
                                <a:srgbClr val="000000"/>
                              </a:solidFill>
                              <a:effectLst/>
                              <a:latin typeface="Times New Roman" panose="02020603050405020304" pitchFamily="18" charset="0"/>
                              <a:ea typeface="Times New Roman" panose="02020603050405020304" pitchFamily="18" charset="0"/>
                            </a:rPr>
                            <a:t>Điện áp tại công suất định mức</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1800" kern="0">
                              <a:solidFill>
                                <a:srgbClr val="000000"/>
                              </a:solidFill>
                              <a:effectLst/>
                              <a:latin typeface="Times New Roman" panose="02020603050405020304" pitchFamily="18" charset="0"/>
                              <a:ea typeface="Times New Roman" panose="02020603050405020304" pitchFamily="18" charset="0"/>
                            </a:rPr>
                            <a:t>220</a:t>
                          </a:r>
                          <a:r>
                            <a:rPr lang="en-US" sz="1800" kern="0">
                              <a:solidFill>
                                <a:srgbClr val="000000"/>
                              </a:solidFill>
                              <a:effectLst/>
                              <a:latin typeface="Times New Roman" panose="02020603050405020304" pitchFamily="18" charset="0"/>
                              <a:ea typeface="Times New Roman" panose="02020603050405020304" pitchFamily="18" charset="0"/>
                            </a:rPr>
                            <a:t>V</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4047085"/>
                      </a:ext>
                    </a:extLst>
                  </a:tr>
                  <a:tr h="443122">
                    <a:tc>
                      <a:txBody>
                        <a:bodyPr/>
                        <a:lstStyle/>
                        <a:p>
                          <a:pPr marL="0" marR="0" indent="0" algn="ctr">
                            <a:lnSpc>
                              <a:spcPct val="150000"/>
                            </a:lnSpc>
                            <a:spcBef>
                              <a:spcPts val="300"/>
                            </a:spcBef>
                            <a:spcAft>
                              <a:spcPts val="25"/>
                            </a:spcAft>
                          </a:pPr>
                          <a14:m>
                            <m:oMathPara xmlns:m="http://schemas.openxmlformats.org/officeDocument/2006/math">
                              <m:oMath>
                                <m:sSub>
                                  <m:sSubPr>
                                    <m:ctrlPr>
                                      <a:rPr lang="en-US" sz="1800" i="1" kern="100">
                                        <a:solidFill>
                                          <a:srgbClr val="000000"/>
                                        </a:solidFill>
                                        <a:effectLst/>
                                        <a:latin typeface="Cambria Math" panose="02040503050406030204" pitchFamily="18" charset="0"/>
                                        <a:ea typeface="Yu Mincho" panose="02020400000000000000" pitchFamily="18" charset="-128"/>
                                      </a:rPr>
                                    </m:ctrlPr>
                                  </m:sSubPr>
                                  <m:e>
                                    <m:acc>
                                      <m:accPr>
                                        <m:chr m:val="̅"/>
                                        <m:ctrlPr>
                                          <a:rPr lang="en-US" sz="1800" i="1" kern="0">
                                            <a:solidFill>
                                              <a:srgbClr val="000000"/>
                                            </a:solidFill>
                                            <a:effectLst/>
                                            <a:latin typeface="Cambria Math" panose="02040503050406030204" pitchFamily="18" charset="0"/>
                                            <a:ea typeface="Yu Mincho" panose="02020400000000000000" pitchFamily="18" charset="-128"/>
                                          </a:rPr>
                                        </m:ctrlPr>
                                      </m:accPr>
                                      <m:e>
                                        <m:r>
                                          <a:rPr lang="en-US" sz="1800" i="1" kern="0">
                                            <a:solidFill>
                                              <a:srgbClr val="000000"/>
                                            </a:solidFill>
                                            <a:effectLst/>
                                            <a:latin typeface="Cambria Math" panose="02040503050406030204" pitchFamily="18" charset="0"/>
                                            <a:ea typeface="Yu Mincho" panose="02020400000000000000" pitchFamily="18" charset="-128"/>
                                          </a:rPr>
                                          <m:t>𝑄</m:t>
                                        </m:r>
                                      </m:e>
                                    </m:acc>
                                  </m:e>
                                  <m:sub>
                                    <m:r>
                                      <a:rPr lang="en-US" sz="1800" i="1" kern="0">
                                        <a:solidFill>
                                          <a:srgbClr val="000000"/>
                                        </a:solidFill>
                                        <a:effectLst/>
                                        <a:latin typeface="Cambria Math" panose="02040503050406030204" pitchFamily="18" charset="0"/>
                                        <a:ea typeface="Yu Mincho" panose="02020400000000000000" pitchFamily="18" charset="-128"/>
                                      </a:rPr>
                                      <m:t>𝑟𝑎𝑡𝑒</m:t>
                                    </m:r>
                                  </m:sub>
                                </m:sSub>
                              </m:oMath>
                            </m:oMathPara>
                          </a14:m>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1800" kern="0">
                              <a:solidFill>
                                <a:srgbClr val="000000"/>
                              </a:solidFill>
                              <a:effectLst/>
                              <a:latin typeface="Times New Roman" panose="02020603050405020304" pitchFamily="18" charset="0"/>
                              <a:ea typeface="Times New Roman" panose="02020603050405020304" pitchFamily="18" charset="0"/>
                            </a:rPr>
                            <a:t>Công suất phản kháng định mức</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1800" kern="0">
                              <a:solidFill>
                                <a:srgbClr val="000000"/>
                              </a:solidFill>
                              <a:effectLst/>
                              <a:latin typeface="Times New Roman" panose="02020603050405020304" pitchFamily="18" charset="0"/>
                              <a:ea typeface="Times New Roman" panose="02020603050405020304" pitchFamily="18" charset="0"/>
                            </a:rPr>
                            <a:t>750W</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40009177"/>
                      </a:ext>
                    </a:extLst>
                  </a:tr>
                  <a:tr h="351458">
                    <a:tc>
                      <a:txBody>
                        <a:bodyPr/>
                        <a:lstStyle/>
                        <a:p>
                          <a:pPr marL="0" marR="0" indent="0" algn="ctr">
                            <a:lnSpc>
                              <a:spcPct val="150000"/>
                            </a:lnSpc>
                            <a:spcBef>
                              <a:spcPts val="300"/>
                            </a:spcBef>
                            <a:spcAft>
                              <a:spcPts val="25"/>
                            </a:spcAft>
                          </a:pPr>
                          <a14:m>
                            <m:oMathPara xmlns:m="http://schemas.openxmlformats.org/officeDocument/2006/math">
                              <m:oMath>
                                <m:sSup>
                                  <m:sSupPr>
                                    <m:ctrlPr>
                                      <a:rPr lang="en-US" sz="1800" i="1" kern="0">
                                        <a:solidFill>
                                          <a:srgbClr val="000000"/>
                                        </a:solidFill>
                                        <a:effectLst/>
                                        <a:latin typeface="Cambria Math" panose="02040503050406030204" pitchFamily="18" charset="0"/>
                                        <a:ea typeface="Yu Mincho" panose="02020400000000000000" pitchFamily="18" charset="-128"/>
                                      </a:rPr>
                                    </m:ctrlPr>
                                  </m:sSupPr>
                                  <m:e>
                                    <m:r>
                                      <a:rPr lang="en-US" sz="1800" i="1" kern="0">
                                        <a:solidFill>
                                          <a:srgbClr val="000000"/>
                                        </a:solidFill>
                                        <a:effectLst/>
                                        <a:latin typeface="Cambria Math" panose="02040503050406030204" pitchFamily="18" charset="0"/>
                                        <a:ea typeface="Yu Mincho" panose="02020400000000000000" pitchFamily="18" charset="-128"/>
                                      </a:rPr>
                                      <m:t>𝜔</m:t>
                                    </m:r>
                                  </m:e>
                                  <m:sup>
                                    <m:r>
                                      <a:rPr lang="en-US" sz="1800" i="1" kern="0">
                                        <a:solidFill>
                                          <a:srgbClr val="000000"/>
                                        </a:solidFill>
                                        <a:effectLst/>
                                        <a:latin typeface="Cambria Math" panose="02040503050406030204" pitchFamily="18" charset="0"/>
                                        <a:ea typeface="Yu Mincho" panose="02020400000000000000" pitchFamily="18" charset="-128"/>
                                      </a:rPr>
                                      <m:t>∗</m:t>
                                    </m:r>
                                  </m:sup>
                                </m:sSup>
                              </m:oMath>
                            </m:oMathPara>
                          </a14:m>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1800" kern="0" err="1">
                              <a:solidFill>
                                <a:srgbClr val="000000"/>
                              </a:solidFill>
                              <a:effectLst/>
                              <a:latin typeface="Times New Roman" panose="02020603050405020304" pitchFamily="18" charset="0"/>
                              <a:ea typeface="Times New Roman" panose="02020603050405020304" pitchFamily="18" charset="0"/>
                            </a:rPr>
                            <a:t>Tần</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số</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đặt</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1800" kern="0">
                              <a:solidFill>
                                <a:srgbClr val="000000"/>
                              </a:solidFill>
                              <a:effectLst/>
                              <a:latin typeface="Times New Roman" panose="02020603050405020304" pitchFamily="18" charset="0"/>
                              <a:ea typeface="Times New Roman" panose="02020603050405020304" pitchFamily="18" charset="0"/>
                            </a:rPr>
                            <a:t>100</a:t>
                          </a:r>
                          <a14:m>
                            <m:oMath xmlns:m="http://schemas.openxmlformats.org/officeDocument/2006/math">
                              <m:r>
                                <a:rPr lang="en-US" sz="1800" i="1" kern="0">
                                  <a:solidFill>
                                    <a:srgbClr val="000000"/>
                                  </a:solidFill>
                                  <a:effectLst/>
                                  <a:latin typeface="Cambria Math" panose="02040503050406030204" pitchFamily="18" charset="0"/>
                                  <a:ea typeface="Times New Roman" panose="02020603050405020304" pitchFamily="18" charset="0"/>
                                </a:rPr>
                                <m:t>𝜋</m:t>
                              </m:r>
                            </m:oMath>
                          </a14:m>
                          <a:r>
                            <a:rPr lang="en-US" sz="1800" kern="0">
                              <a:solidFill>
                                <a:srgbClr val="000000"/>
                              </a:solidFill>
                              <a:effectLst/>
                              <a:latin typeface="Times New Roman" panose="02020603050405020304" pitchFamily="18" charset="0"/>
                              <a:ea typeface="Times New Roman" panose="02020603050405020304" pitchFamily="18" charset="0"/>
                            </a:rPr>
                            <a:t> rad/s</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36226698"/>
                      </a:ext>
                    </a:extLst>
                  </a:tr>
                  <a:tr h="405921">
                    <a:tc>
                      <a:txBody>
                        <a:bodyPr/>
                        <a:lstStyle/>
                        <a:p>
                          <a:pPr marL="0" marR="0" indent="0" algn="ctr">
                            <a:lnSpc>
                              <a:spcPct val="150000"/>
                            </a:lnSpc>
                            <a:spcBef>
                              <a:spcPts val="300"/>
                            </a:spcBef>
                            <a:spcAft>
                              <a:spcPts val="25"/>
                            </a:spcAft>
                          </a:pPr>
                          <a14:m>
                            <m:oMathPara xmlns:m="http://schemas.openxmlformats.org/officeDocument/2006/math">
                              <m:oMath>
                                <m:sSub>
                                  <m:sSubPr>
                                    <m:ctrlPr>
                                      <a:rPr lang="en-US" sz="1800" i="1" kern="100">
                                        <a:solidFill>
                                          <a:srgbClr val="000000"/>
                                        </a:solidFill>
                                        <a:effectLst/>
                                        <a:latin typeface="Cambria Math" panose="02040503050406030204" pitchFamily="18" charset="0"/>
                                        <a:ea typeface="Times New Roman" panose="02020603050405020304" pitchFamily="18" charset="0"/>
                                      </a:rPr>
                                    </m:ctrlPr>
                                  </m:sSubPr>
                                  <m:e>
                                    <m:d>
                                      <m:dPr>
                                        <m:begChr m:val="|"/>
                                        <m:endChr m:val="|"/>
                                        <m:ctrlPr>
                                          <a:rPr lang="vi-VN" sz="1800" i="1" kern="0">
                                            <a:solidFill>
                                              <a:srgbClr val="000000"/>
                                            </a:solidFill>
                                            <a:effectLst/>
                                            <a:latin typeface="Cambria Math" panose="02040503050406030204" pitchFamily="18" charset="0"/>
                                            <a:ea typeface="Times New Roman" panose="02020603050405020304" pitchFamily="18" charset="0"/>
                                          </a:rPr>
                                        </m:ctrlPr>
                                      </m:dPr>
                                      <m:e>
                                        <m:r>
                                          <a:rPr lang="vi-VN" sz="1800" i="1" kern="0">
                                            <a:solidFill>
                                              <a:srgbClr val="000000"/>
                                            </a:solidFill>
                                            <a:effectLst/>
                                            <a:latin typeface="Cambria Math" panose="02040503050406030204" pitchFamily="18" charset="0"/>
                                            <a:ea typeface="Times New Roman" panose="02020603050405020304" pitchFamily="18" charset="0"/>
                                          </a:rPr>
                                          <m:t>∆</m:t>
                                        </m:r>
                                        <m:r>
                                          <a:rPr lang="vi-VN" sz="1800" i="1" kern="0">
                                            <a:solidFill>
                                              <a:srgbClr val="000000"/>
                                            </a:solidFill>
                                            <a:effectLst/>
                                            <a:latin typeface="Cambria Math" panose="02040503050406030204" pitchFamily="18" charset="0"/>
                                            <a:ea typeface="Times New Roman" panose="02020603050405020304" pitchFamily="18" charset="0"/>
                                          </a:rPr>
                                          <m:t>𝜔</m:t>
                                        </m:r>
                                      </m:e>
                                    </m:d>
                                  </m:e>
                                  <m:sub>
                                    <m:r>
                                      <a:rPr lang="vi-VN" sz="1800" i="1" kern="0">
                                        <a:solidFill>
                                          <a:srgbClr val="000000"/>
                                        </a:solidFill>
                                        <a:effectLst/>
                                        <a:latin typeface="Cambria Math" panose="02040503050406030204" pitchFamily="18" charset="0"/>
                                        <a:ea typeface="Times New Roman" panose="02020603050405020304" pitchFamily="18" charset="0"/>
                                      </a:rPr>
                                      <m:t>𝑚𝑎𝑥</m:t>
                                    </m:r>
                                  </m:sub>
                                </m:sSub>
                              </m:oMath>
                            </m:oMathPara>
                          </a14:m>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1800" kern="0">
                              <a:solidFill>
                                <a:srgbClr val="000000"/>
                              </a:solidFill>
                              <a:effectLst/>
                              <a:latin typeface="Times New Roman" panose="02020603050405020304" pitchFamily="18" charset="0"/>
                              <a:ea typeface="Times New Roman" panose="02020603050405020304" pitchFamily="18" charset="0"/>
                            </a:rPr>
                            <a:t>Độ lệch tần số tối đa</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14:m>
                            <m:oMathPara xmlns:m="http://schemas.openxmlformats.org/officeDocument/2006/math">
                              <m:oMath>
                                <m:r>
                                  <a:rPr lang="en-US" sz="1800" i="1" kern="0">
                                    <a:solidFill>
                                      <a:srgbClr val="000000"/>
                                    </a:solidFill>
                                    <a:effectLst/>
                                    <a:latin typeface="Cambria Math" panose="02040503050406030204" pitchFamily="18" charset="0"/>
                                    <a:ea typeface="Times New Roman" panose="02020603050405020304" pitchFamily="18" charset="0"/>
                                  </a:rPr>
                                  <m:t>𝜋</m:t>
                                </m:r>
                                <m:r>
                                  <a:rPr lang="en-US" sz="1800" i="1" kern="0">
                                    <a:solidFill>
                                      <a:srgbClr val="000000"/>
                                    </a:solidFill>
                                    <a:effectLst/>
                                    <a:latin typeface="Cambria Math" panose="02040503050406030204" pitchFamily="18" charset="0"/>
                                    <a:ea typeface="Times New Roman" panose="02020603050405020304" pitchFamily="18" charset="0"/>
                                  </a:rPr>
                                  <m:t> </m:t>
                                </m:r>
                                <m:r>
                                  <a:rPr lang="en-US" sz="1800" i="1" kern="0">
                                    <a:solidFill>
                                      <a:srgbClr val="000000"/>
                                    </a:solidFill>
                                    <a:effectLst/>
                                    <a:latin typeface="Cambria Math" panose="02040503050406030204" pitchFamily="18" charset="0"/>
                                    <a:ea typeface="Times New Roman" panose="02020603050405020304" pitchFamily="18" charset="0"/>
                                  </a:rPr>
                                  <m:t>𝑟𝑎𝑑</m:t>
                                </m:r>
                                <m:r>
                                  <a:rPr lang="en-US" sz="1800" i="1" kern="0">
                                    <a:solidFill>
                                      <a:srgbClr val="000000"/>
                                    </a:solidFill>
                                    <a:effectLst/>
                                    <a:latin typeface="Cambria Math" panose="02040503050406030204" pitchFamily="18" charset="0"/>
                                    <a:ea typeface="Times New Roman" panose="02020603050405020304" pitchFamily="18" charset="0"/>
                                  </a:rPr>
                                  <m:t>/</m:t>
                                </m:r>
                                <m:r>
                                  <a:rPr lang="en-US" sz="1800" i="1" kern="0">
                                    <a:solidFill>
                                      <a:srgbClr val="000000"/>
                                    </a:solidFill>
                                    <a:effectLst/>
                                    <a:latin typeface="Cambria Math" panose="02040503050406030204" pitchFamily="18" charset="0"/>
                                    <a:ea typeface="Times New Roman" panose="02020603050405020304" pitchFamily="18" charset="0"/>
                                  </a:rPr>
                                  <m:t>𝑠</m:t>
                                </m:r>
                              </m:oMath>
                            </m:oMathPara>
                          </a14:m>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85743980"/>
                      </a:ext>
                    </a:extLst>
                  </a:tr>
                  <a:tr h="407370">
                    <a:tc>
                      <a:txBody>
                        <a:bodyPr/>
                        <a:lstStyle/>
                        <a:p>
                          <a:pPr marL="0" marR="0" indent="0" algn="ctr">
                            <a:lnSpc>
                              <a:spcPct val="150000"/>
                            </a:lnSpc>
                            <a:spcBef>
                              <a:spcPts val="300"/>
                            </a:spcBef>
                            <a:spcAft>
                              <a:spcPts val="25"/>
                            </a:spcAft>
                          </a:pPr>
                          <a14:m>
                            <m:oMathPara xmlns:m="http://schemas.openxmlformats.org/officeDocument/2006/math">
                              <m:oMath>
                                <m:sSubSup>
                                  <m:sSubSupPr>
                                    <m:ctrlPr>
                                      <a:rPr lang="en-US" sz="1800" i="1" kern="0">
                                        <a:solidFill>
                                          <a:srgbClr val="000000"/>
                                        </a:solidFill>
                                        <a:effectLst/>
                                        <a:latin typeface="Cambria Math" panose="02040503050406030204" pitchFamily="18" charset="0"/>
                                        <a:ea typeface="Times New Roman" panose="02020603050405020304" pitchFamily="18" charset="0"/>
                                      </a:rPr>
                                    </m:ctrlPr>
                                  </m:sSubSupPr>
                                  <m:e>
                                    <m:r>
                                      <a:rPr lang="en-US" sz="1800" i="1" kern="0">
                                        <a:solidFill>
                                          <a:srgbClr val="000000"/>
                                        </a:solidFill>
                                        <a:effectLst/>
                                        <a:latin typeface="Cambria Math" panose="02040503050406030204" pitchFamily="18" charset="0"/>
                                        <a:ea typeface="Times New Roman" panose="02020603050405020304" pitchFamily="18" charset="0"/>
                                      </a:rPr>
                                      <m:t>𝑡</m:t>
                                    </m:r>
                                  </m:e>
                                  <m:sub>
                                    <m:r>
                                      <a:rPr lang="en-US" sz="1800" i="1" kern="0">
                                        <a:solidFill>
                                          <a:srgbClr val="000000"/>
                                        </a:solidFill>
                                        <a:effectLst/>
                                        <a:latin typeface="Cambria Math" panose="02040503050406030204" pitchFamily="18" charset="0"/>
                                        <a:ea typeface="Times New Roman" panose="02020603050405020304" pitchFamily="18" charset="0"/>
                                      </a:rPr>
                                      <m:t>𝑟𝑖𝑠𝑒</m:t>
                                    </m:r>
                                  </m:sub>
                                  <m:sup>
                                    <m:r>
                                      <a:rPr lang="en-US" sz="1800" i="1" kern="0">
                                        <a:solidFill>
                                          <a:srgbClr val="000000"/>
                                        </a:solidFill>
                                        <a:effectLst/>
                                        <a:latin typeface="Cambria Math" panose="02040503050406030204" pitchFamily="18" charset="0"/>
                                        <a:ea typeface="Times New Roman" panose="02020603050405020304" pitchFamily="18" charset="0"/>
                                      </a:rPr>
                                      <m:t>𝑚𝑎𝑥</m:t>
                                    </m:r>
                                  </m:sup>
                                </m:sSubSup>
                              </m:oMath>
                            </m:oMathPara>
                          </a14:m>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1800" kern="0" err="1">
                              <a:solidFill>
                                <a:srgbClr val="000000"/>
                              </a:solidFill>
                              <a:effectLst/>
                              <a:latin typeface="Times New Roman" panose="02020603050405020304" pitchFamily="18" charset="0"/>
                              <a:ea typeface="Times New Roman" panose="02020603050405020304" pitchFamily="18" charset="0"/>
                            </a:rPr>
                            <a:t>Thời</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gian</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đáp</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ứng</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1800" kern="0" err="1">
                              <a:solidFill>
                                <a:srgbClr val="000000"/>
                              </a:solidFill>
                              <a:effectLst/>
                              <a:latin typeface="Times New Roman" panose="02020603050405020304" pitchFamily="18" charset="0"/>
                              <a:ea typeface="Times New Roman" panose="02020603050405020304" pitchFamily="18" charset="0"/>
                            </a:rPr>
                            <a:t>0.2s</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354518911"/>
                      </a:ext>
                    </a:extLst>
                  </a:tr>
                  <a:tr h="380430">
                    <a:tc>
                      <a:txBody>
                        <a:bodyPr/>
                        <a:lstStyle/>
                        <a:p>
                          <a:pPr marL="0" marR="0" indent="0" algn="ctr">
                            <a:lnSpc>
                              <a:spcPct val="150000"/>
                            </a:lnSpc>
                            <a:spcBef>
                              <a:spcPts val="300"/>
                            </a:spcBef>
                            <a:spcAft>
                              <a:spcPts val="25"/>
                            </a:spcAft>
                          </a:pPr>
                          <a14:m>
                            <m:oMathPara xmlns:m="http://schemas.openxmlformats.org/officeDocument/2006/math">
                              <m:oMath>
                                <m:sSubSup>
                                  <m:sSubSupPr>
                                    <m:ctrlPr>
                                      <a:rPr lang="vi-VN" sz="1800" i="1" kern="0">
                                        <a:solidFill>
                                          <a:srgbClr val="000000"/>
                                        </a:solidFill>
                                        <a:effectLst/>
                                        <a:latin typeface="Cambria Math" panose="02040503050406030204" pitchFamily="18" charset="0"/>
                                        <a:ea typeface="Times New Roman" panose="02020603050405020304" pitchFamily="18" charset="0"/>
                                      </a:rPr>
                                    </m:ctrlPr>
                                  </m:sSubSupPr>
                                  <m:e>
                                    <m:r>
                                      <a:rPr lang="vi-VN" sz="1800" i="1" kern="0">
                                        <a:solidFill>
                                          <a:srgbClr val="000000"/>
                                        </a:solidFill>
                                        <a:effectLst/>
                                        <a:latin typeface="Cambria Math" panose="02040503050406030204" pitchFamily="18" charset="0"/>
                                        <a:ea typeface="Times New Roman" panose="02020603050405020304" pitchFamily="18" charset="0"/>
                                      </a:rPr>
                                      <m:t>𝛿</m:t>
                                    </m:r>
                                  </m:e>
                                  <m:sub>
                                    <m:r>
                                      <a:rPr lang="en-US" sz="1800" i="1" kern="0">
                                        <a:solidFill>
                                          <a:srgbClr val="000000"/>
                                        </a:solidFill>
                                        <a:effectLst/>
                                        <a:latin typeface="Cambria Math" panose="02040503050406030204" pitchFamily="18" charset="0"/>
                                        <a:ea typeface="Times New Roman" panose="02020603050405020304" pitchFamily="18" charset="0"/>
                                      </a:rPr>
                                      <m:t>3:1</m:t>
                                    </m:r>
                                  </m:sub>
                                  <m:sup>
                                    <m:r>
                                      <a:rPr lang="en-US" sz="1800" i="1" kern="0">
                                        <a:solidFill>
                                          <a:srgbClr val="000000"/>
                                        </a:solidFill>
                                        <a:effectLst/>
                                        <a:latin typeface="Cambria Math" panose="02040503050406030204" pitchFamily="18" charset="0"/>
                                        <a:ea typeface="Times New Roman" panose="02020603050405020304" pitchFamily="18" charset="0"/>
                                      </a:rPr>
                                      <m:t>𝑚𝑎𝑥</m:t>
                                    </m:r>
                                  </m:sup>
                                </m:sSubSup>
                              </m:oMath>
                            </m:oMathPara>
                          </a14:m>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1800" kern="0">
                              <a:solidFill>
                                <a:srgbClr val="000000"/>
                              </a:solidFill>
                              <a:effectLst/>
                              <a:latin typeface="Times New Roman" panose="02020603050405020304" pitchFamily="18" charset="0"/>
                              <a:ea typeface="Times New Roman" panose="02020603050405020304" pitchFamily="18" charset="0"/>
                            </a:rPr>
                            <a:t>Tỉ lệ song hài bậc ba với bậc nhất</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1800" kern="0">
                              <a:solidFill>
                                <a:srgbClr val="000000"/>
                              </a:solidFill>
                              <a:effectLst/>
                              <a:latin typeface="Times New Roman" panose="02020603050405020304" pitchFamily="18" charset="0"/>
                              <a:ea typeface="Times New Roman" panose="02020603050405020304" pitchFamily="18" charset="0"/>
                            </a:rPr>
                            <a:t>2%</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60987794"/>
                      </a:ext>
                    </a:extLst>
                  </a:tr>
                  <a:tr h="763277">
                    <a:tc>
                      <a:txBody>
                        <a:bodyPr/>
                        <a:lstStyle/>
                        <a:p>
                          <a:pPr marL="0" marR="0" indent="0" algn="ctr">
                            <a:lnSpc>
                              <a:spcPct val="150000"/>
                            </a:lnSpc>
                            <a:spcBef>
                              <a:spcPts val="300"/>
                            </a:spcBef>
                            <a:spcAft>
                              <a:spcPts val="25"/>
                            </a:spcAft>
                          </a:pPr>
                          <a14:m>
                            <m:oMathPara xmlns:m="http://schemas.openxmlformats.org/officeDocument/2006/math">
                              <m:oMath>
                                <m:r>
                                  <a:rPr lang="en-US" sz="1800" i="1" kern="0">
                                    <a:solidFill>
                                      <a:srgbClr val="000000"/>
                                    </a:solidFill>
                                    <a:effectLst/>
                                    <a:latin typeface="Cambria Math" panose="02040503050406030204" pitchFamily="18" charset="0"/>
                                    <a:ea typeface="Yu Mincho" panose="02020400000000000000" pitchFamily="18" charset="-128"/>
                                  </a:rPr>
                                  <m:t>𝑐𝑜𝑠</m:t>
                                </m:r>
                                <m:r>
                                  <a:rPr lang="en-US" sz="1800" i="1" kern="0">
                                    <a:solidFill>
                                      <a:srgbClr val="000000"/>
                                    </a:solidFill>
                                    <a:effectLst/>
                                    <a:latin typeface="Cambria Math" panose="02040503050406030204" pitchFamily="18" charset="0"/>
                                    <a:ea typeface="Yu Mincho" panose="02020400000000000000" pitchFamily="18" charset="-128"/>
                                  </a:rPr>
                                  <m:t>𝜑</m:t>
                                </m:r>
                              </m:oMath>
                            </m:oMathPara>
                          </a14:m>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1800" kern="0" err="1">
                              <a:solidFill>
                                <a:srgbClr val="000000"/>
                              </a:solidFill>
                              <a:effectLst/>
                              <a:latin typeface="Times New Roman" panose="02020603050405020304" pitchFamily="18" charset="0"/>
                              <a:ea typeface="Times New Roman" panose="02020603050405020304" pitchFamily="18" charset="0"/>
                            </a:rPr>
                            <a:t>Hệ</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số</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công</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suất</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của</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mạch</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nghịch</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lưu</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1800" kern="0">
                              <a:solidFill>
                                <a:srgbClr val="000000"/>
                              </a:solidFill>
                              <a:effectLst/>
                              <a:latin typeface="Times New Roman" panose="02020603050405020304" pitchFamily="18" charset="0"/>
                              <a:ea typeface="Times New Roman" panose="02020603050405020304" pitchFamily="18" charset="0"/>
                            </a:rPr>
                            <a:t>1</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2568994"/>
                      </a:ext>
                    </a:extLst>
                  </a:tr>
                  <a:tr h="763277">
                    <a:tc>
                      <a:txBody>
                        <a:bodyPr/>
                        <a:lstStyle/>
                        <a:p>
                          <a:pPr marL="0" marR="0" indent="0" algn="ctr">
                            <a:lnSpc>
                              <a:spcPct val="150000"/>
                            </a:lnSpc>
                            <a:spcBef>
                              <a:spcPts val="300"/>
                            </a:spcBef>
                            <a:spcAft>
                              <a:spcPts val="25"/>
                            </a:spcAft>
                          </a:pPr>
                          <a14:m>
                            <m:oMathPara xmlns:m="http://schemas.openxmlformats.org/officeDocument/2006/math">
                              <m:oMath>
                                <m:sSub>
                                  <m:sSubPr>
                                    <m:ctrlPr>
                                      <a:rPr lang="vi-VN" sz="1800" i="1" kern="100" smtClean="0">
                                        <a:solidFill>
                                          <a:srgbClr val="000000"/>
                                        </a:solidFill>
                                        <a:effectLst/>
                                        <a:latin typeface="Cambria Math" panose="02040503050406030204" pitchFamily="18" charset="0"/>
                                      </a:rPr>
                                    </m:ctrlPr>
                                  </m:sSubPr>
                                  <m:e>
                                    <m:r>
                                      <a:rPr lang="vi-VN" sz="1800" i="1" kern="100" smtClean="0">
                                        <a:solidFill>
                                          <a:srgbClr val="000000"/>
                                        </a:solidFill>
                                        <a:effectLst/>
                                        <a:latin typeface="Cambria Math" panose="02040503050406030204" pitchFamily="18" charset="0"/>
                                      </a:rPr>
                                      <m:t>𝑉</m:t>
                                    </m:r>
                                  </m:e>
                                  <m:sub>
                                    <m:r>
                                      <a:rPr lang="vi-VN" sz="1800" i="1" kern="100" smtClean="0">
                                        <a:solidFill>
                                          <a:srgbClr val="000000"/>
                                        </a:solidFill>
                                        <a:effectLst/>
                                        <a:latin typeface="Cambria Math" panose="02040503050406030204" pitchFamily="18" charset="0"/>
                                      </a:rPr>
                                      <m:t>𝐷𝐶</m:t>
                                    </m:r>
                                  </m:sub>
                                </m:sSub>
                              </m:oMath>
                            </m:oMathPara>
                          </a14:m>
                          <a:endParaRPr lang="en-US" sz="1800" i="1"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1800" kern="100">
                              <a:solidFill>
                                <a:srgbClr val="000000"/>
                              </a:solidFill>
                              <a:effectLst/>
                              <a:latin typeface="Times New Roman" panose="02020603050405020304" pitchFamily="18" charset="0"/>
                              <a:ea typeface="Times New Roman" panose="02020603050405020304" pitchFamily="18" charset="0"/>
                            </a:rPr>
                            <a:t>Điện áp đầu vào mạch nghịch lưu </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1800" kern="100">
                              <a:solidFill>
                                <a:srgbClr val="000000"/>
                              </a:solidFill>
                              <a:effectLst/>
                              <a:latin typeface="Times New Roman" panose="02020603050405020304" pitchFamily="18" charset="0"/>
                              <a:ea typeface="Times New Roman" panose="02020603050405020304" pitchFamily="18" charset="0"/>
                            </a:rPr>
                            <a:t>400 V</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604709544"/>
                      </a:ext>
                    </a:extLst>
                  </a:tr>
                </a:tbl>
              </a:graphicData>
            </a:graphic>
          </p:graphicFrame>
        </mc:Choice>
        <mc:Fallback xmlns="">
          <p:graphicFrame>
            <p:nvGraphicFramePr>
              <p:cNvPr id="8" name="Table 13">
                <a:extLst>
                  <a:ext uri="{FF2B5EF4-FFF2-40B4-BE49-F238E27FC236}">
                    <a16:creationId xmlns:a16="http://schemas.microsoft.com/office/drawing/2014/main" id="{78749BB2-EF7E-5F91-F331-E90AABDA7D71}"/>
                  </a:ext>
                </a:extLst>
              </p:cNvPr>
              <p:cNvGraphicFramePr>
                <a:graphicFrameLocks noGrp="1"/>
              </p:cNvGraphicFramePr>
              <p:nvPr>
                <p:extLst>
                  <p:ext uri="{D42A27DB-BD31-4B8C-83A1-F6EECF244321}">
                    <p14:modId xmlns:p14="http://schemas.microsoft.com/office/powerpoint/2010/main" val="1825939763"/>
                  </p:ext>
                </p:extLst>
              </p:nvPr>
            </p:nvGraphicFramePr>
            <p:xfrm>
              <a:off x="1342089" y="1333504"/>
              <a:ext cx="9708532" cy="5258592"/>
            </p:xfrm>
            <a:graphic>
              <a:graphicData uri="http://schemas.openxmlformats.org/drawingml/2006/table">
                <a:tbl>
                  <a:tblPr firstRow="1" bandRow="1">
                    <a:tableStyleId>{7DF18680-E054-41AD-8BC1-D1AEF772440D}</a:tableStyleId>
                  </a:tblPr>
                  <a:tblGrid>
                    <a:gridCol w="3226918">
                      <a:extLst>
                        <a:ext uri="{9D8B030D-6E8A-4147-A177-3AD203B41FA5}">
                          <a16:colId xmlns:a16="http://schemas.microsoft.com/office/drawing/2014/main" val="54882281"/>
                        </a:ext>
                      </a:extLst>
                    </a:gridCol>
                    <a:gridCol w="3867453">
                      <a:extLst>
                        <a:ext uri="{9D8B030D-6E8A-4147-A177-3AD203B41FA5}">
                          <a16:colId xmlns:a16="http://schemas.microsoft.com/office/drawing/2014/main" val="2411394353"/>
                        </a:ext>
                      </a:extLst>
                    </a:gridCol>
                    <a:gridCol w="2614161">
                      <a:extLst>
                        <a:ext uri="{9D8B030D-6E8A-4147-A177-3AD203B41FA5}">
                          <a16:colId xmlns:a16="http://schemas.microsoft.com/office/drawing/2014/main" val="1907597949"/>
                        </a:ext>
                      </a:extLst>
                    </a:gridCol>
                  </a:tblGrid>
                  <a:tr h="401579">
                    <a:tc>
                      <a:txBody>
                        <a:bodyPr/>
                        <a:lstStyle/>
                        <a:p>
                          <a:pPr marL="0" marR="0" indent="0" algn="ctr">
                            <a:lnSpc>
                              <a:spcPct val="150000"/>
                            </a:lnSpc>
                            <a:spcBef>
                              <a:spcPts val="300"/>
                            </a:spcBef>
                            <a:spcAft>
                              <a:spcPts val="25"/>
                            </a:spcAft>
                          </a:pPr>
                          <a:r>
                            <a:rPr lang="en-US" sz="1800" kern="0" dirty="0" err="1">
                              <a:solidFill>
                                <a:srgbClr val="000000"/>
                              </a:solidFill>
                              <a:effectLst/>
                              <a:latin typeface="Times New Roman" panose="02020603050405020304" pitchFamily="18" charset="0"/>
                              <a:ea typeface="Times New Roman" panose="02020603050405020304" pitchFamily="18" charset="0"/>
                            </a:rPr>
                            <a:t>Kí</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hiệu</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60000"/>
                            <a:lumOff val="40000"/>
                          </a:schemeClr>
                        </a:solidFill>
                      </a:tcPr>
                    </a:tc>
                    <a:tc>
                      <a:txBody>
                        <a:bodyPr/>
                        <a:lstStyle/>
                        <a:p>
                          <a:pPr marL="0" marR="0" indent="0" algn="ctr">
                            <a:lnSpc>
                              <a:spcPct val="150000"/>
                            </a:lnSpc>
                            <a:spcBef>
                              <a:spcPts val="300"/>
                            </a:spcBef>
                            <a:spcAft>
                              <a:spcPts val="25"/>
                            </a:spcAft>
                          </a:pPr>
                          <a:r>
                            <a:rPr lang="en-US" sz="1800" kern="0" dirty="0" err="1">
                              <a:solidFill>
                                <a:srgbClr val="000000"/>
                              </a:solidFill>
                              <a:effectLst/>
                              <a:latin typeface="Times New Roman" panose="02020603050405020304" pitchFamily="18" charset="0"/>
                              <a:ea typeface="Times New Roman" panose="02020603050405020304" pitchFamily="18" charset="0"/>
                            </a:rPr>
                            <a:t>Tham</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số</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60000"/>
                            <a:lumOff val="40000"/>
                          </a:schemeClr>
                        </a:solidFill>
                      </a:tcPr>
                    </a:tc>
                    <a:tc>
                      <a:txBody>
                        <a:bodyPr/>
                        <a:lstStyle/>
                        <a:p>
                          <a:pPr marL="0" marR="0" indent="0" algn="ctr">
                            <a:lnSpc>
                              <a:spcPct val="150000"/>
                            </a:lnSpc>
                            <a:spcBef>
                              <a:spcPts val="300"/>
                            </a:spcBef>
                            <a:spcAft>
                              <a:spcPts val="25"/>
                            </a:spcAft>
                          </a:pPr>
                          <a:r>
                            <a:rPr lang="en-US" sz="1800" kern="0" dirty="0" err="1">
                              <a:solidFill>
                                <a:srgbClr val="000000"/>
                              </a:solidFill>
                              <a:effectLst/>
                              <a:latin typeface="Times New Roman" panose="02020603050405020304" pitchFamily="18" charset="0"/>
                              <a:ea typeface="Times New Roman" panose="02020603050405020304" pitchFamily="18" charset="0"/>
                            </a:rPr>
                            <a:t>Giá</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trị</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60000"/>
                            <a:lumOff val="40000"/>
                          </a:schemeClr>
                        </a:solidFill>
                      </a:tcPr>
                    </a:tc>
                    <a:extLst>
                      <a:ext uri="{0D108BD9-81ED-4DB2-BD59-A6C34878D82A}">
                        <a16:rowId xmlns:a16="http://schemas.microsoft.com/office/drawing/2014/main" val="24198130"/>
                      </a:ext>
                    </a:extLst>
                  </a:tr>
                  <a:tr h="411480">
                    <a:tc>
                      <a:txBody>
                        <a:bodyPr/>
                        <a:lstStyle/>
                        <a:p>
                          <a:endParaRPr lang="vi-VN"/>
                        </a:p>
                      </a:txBody>
                      <a:tcPr marL="68580" marR="68580" marT="0" marB="0">
                        <a:blipFill>
                          <a:blip r:embed="rId2"/>
                          <a:stretch>
                            <a:fillRect l="-189" t="-98529" r="-201890" b="-1076471"/>
                          </a:stretch>
                        </a:blipFill>
                      </a:tcPr>
                    </a:tc>
                    <a:tc>
                      <a:txBody>
                        <a:bodyPr/>
                        <a:lstStyle/>
                        <a:p>
                          <a:pPr marL="0" marR="0" indent="0" algn="ctr">
                            <a:lnSpc>
                              <a:spcPct val="150000"/>
                            </a:lnSpc>
                            <a:spcBef>
                              <a:spcPts val="300"/>
                            </a:spcBef>
                            <a:spcAft>
                              <a:spcPts val="25"/>
                            </a:spcAft>
                          </a:pPr>
                          <a:r>
                            <a:rPr lang="en-US" sz="1800" kern="0" dirty="0" err="1">
                              <a:solidFill>
                                <a:srgbClr val="000000"/>
                              </a:solidFill>
                              <a:effectLst/>
                              <a:latin typeface="Times New Roman" panose="02020603050405020304" pitchFamily="18" charset="0"/>
                              <a:ea typeface="Times New Roman" panose="02020603050405020304" pitchFamily="18" charset="0"/>
                            </a:rPr>
                            <a:t>Điện</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áp</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hở</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mạch</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1800" kern="0" dirty="0">
                              <a:solidFill>
                                <a:srgbClr val="000000"/>
                              </a:solidFill>
                              <a:effectLst/>
                              <a:latin typeface="Times New Roman" panose="02020603050405020304" pitchFamily="18" charset="0"/>
                              <a:ea typeface="Times New Roman" panose="02020603050405020304" pitchFamily="18" charset="0"/>
                            </a:rPr>
                            <a:t>225</a:t>
                          </a:r>
                          <a:r>
                            <a:rPr lang="en-US" sz="1800" kern="0" dirty="0">
                              <a:solidFill>
                                <a:srgbClr val="000000"/>
                              </a:solidFill>
                              <a:effectLst/>
                              <a:latin typeface="Times New Roman" panose="02020603050405020304" pitchFamily="18" charset="0"/>
                              <a:ea typeface="Times New Roman" panose="02020603050405020304" pitchFamily="18" charset="0"/>
                            </a:rPr>
                            <a:t>V</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291768572"/>
                      </a:ext>
                    </a:extLst>
                  </a:tr>
                  <a:tr h="416933">
                    <a:tc>
                      <a:txBody>
                        <a:bodyPr/>
                        <a:lstStyle/>
                        <a:p>
                          <a:endParaRPr lang="vi-VN"/>
                        </a:p>
                      </a:txBody>
                      <a:tcPr marL="68580" marR="68580" marT="0" marB="0">
                        <a:blipFill>
                          <a:blip r:embed="rId2"/>
                          <a:stretch>
                            <a:fillRect l="-189" t="-198529" r="-201890" b="-976471"/>
                          </a:stretch>
                        </a:blipFill>
                      </a:tcPr>
                    </a:tc>
                    <a:tc>
                      <a:txBody>
                        <a:bodyPr/>
                        <a:lstStyle/>
                        <a:p>
                          <a:pPr marL="0" marR="0" indent="0" algn="ctr">
                            <a:lnSpc>
                              <a:spcPct val="150000"/>
                            </a:lnSpc>
                            <a:spcBef>
                              <a:spcPts val="300"/>
                            </a:spcBef>
                            <a:spcAft>
                              <a:spcPts val="25"/>
                            </a:spcAft>
                          </a:pPr>
                          <a:r>
                            <a:rPr lang="vi-VN" sz="1800" kern="0" dirty="0">
                              <a:solidFill>
                                <a:srgbClr val="000000"/>
                              </a:solidFill>
                              <a:effectLst/>
                              <a:latin typeface="Times New Roman" panose="02020603050405020304" pitchFamily="18" charset="0"/>
                              <a:ea typeface="Times New Roman" panose="02020603050405020304" pitchFamily="18" charset="0"/>
                            </a:rPr>
                            <a:t>Công suất tác dụng định mức</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1800" kern="0" dirty="0">
                              <a:solidFill>
                                <a:srgbClr val="000000"/>
                              </a:solidFill>
                              <a:effectLst/>
                              <a:latin typeface="Times New Roman" panose="02020603050405020304" pitchFamily="18" charset="0"/>
                              <a:ea typeface="Times New Roman" panose="02020603050405020304" pitchFamily="18" charset="0"/>
                            </a:rPr>
                            <a:t>750W</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656964966"/>
                      </a:ext>
                    </a:extLst>
                  </a:tr>
                  <a:tr h="411480">
                    <a:tc>
                      <a:txBody>
                        <a:bodyPr/>
                        <a:lstStyle/>
                        <a:p>
                          <a:endParaRPr lang="vi-VN"/>
                        </a:p>
                      </a:txBody>
                      <a:tcPr marL="68580" marR="68580" marT="0" marB="0">
                        <a:blipFill>
                          <a:blip r:embed="rId2"/>
                          <a:stretch>
                            <a:fillRect l="-189" t="-298529" r="-201890" b="-876471"/>
                          </a:stretch>
                        </a:blipFill>
                      </a:tcPr>
                    </a:tc>
                    <a:tc>
                      <a:txBody>
                        <a:bodyPr/>
                        <a:lstStyle/>
                        <a:p>
                          <a:pPr marL="0" marR="0" indent="0" algn="ctr">
                            <a:lnSpc>
                              <a:spcPct val="150000"/>
                            </a:lnSpc>
                            <a:spcBef>
                              <a:spcPts val="300"/>
                            </a:spcBef>
                            <a:spcAft>
                              <a:spcPts val="25"/>
                            </a:spcAft>
                          </a:pPr>
                          <a:r>
                            <a:rPr lang="vi-VN" sz="1800" kern="0" dirty="0">
                              <a:solidFill>
                                <a:srgbClr val="000000"/>
                              </a:solidFill>
                              <a:effectLst/>
                              <a:latin typeface="Times New Roman" panose="02020603050405020304" pitchFamily="18" charset="0"/>
                              <a:ea typeface="Times New Roman" panose="02020603050405020304" pitchFamily="18" charset="0"/>
                            </a:rPr>
                            <a:t>Điện áp tại công suất định mức</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1800" kern="0" dirty="0">
                              <a:solidFill>
                                <a:srgbClr val="000000"/>
                              </a:solidFill>
                              <a:effectLst/>
                              <a:latin typeface="Times New Roman" panose="02020603050405020304" pitchFamily="18" charset="0"/>
                              <a:ea typeface="Times New Roman" panose="02020603050405020304" pitchFamily="18" charset="0"/>
                            </a:rPr>
                            <a:t>220</a:t>
                          </a:r>
                          <a:r>
                            <a:rPr lang="en-US" sz="1800" kern="0" dirty="0">
                              <a:solidFill>
                                <a:srgbClr val="000000"/>
                              </a:solidFill>
                              <a:effectLst/>
                              <a:latin typeface="Times New Roman" panose="02020603050405020304" pitchFamily="18" charset="0"/>
                              <a:ea typeface="Times New Roman" panose="02020603050405020304" pitchFamily="18" charset="0"/>
                            </a:rPr>
                            <a:t>V</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4047085"/>
                      </a:ext>
                    </a:extLst>
                  </a:tr>
                  <a:tr h="443122">
                    <a:tc>
                      <a:txBody>
                        <a:bodyPr/>
                        <a:lstStyle/>
                        <a:p>
                          <a:endParaRPr lang="vi-VN"/>
                        </a:p>
                      </a:txBody>
                      <a:tcPr marL="68580" marR="68580" marT="0" marB="0">
                        <a:blipFill>
                          <a:blip r:embed="rId2"/>
                          <a:stretch>
                            <a:fillRect l="-189" t="-371233" r="-201890" b="-716438"/>
                          </a:stretch>
                        </a:blipFill>
                      </a:tcPr>
                    </a:tc>
                    <a:tc>
                      <a:txBody>
                        <a:bodyPr/>
                        <a:lstStyle/>
                        <a:p>
                          <a:pPr marL="0" marR="0" indent="0" algn="ctr">
                            <a:lnSpc>
                              <a:spcPct val="150000"/>
                            </a:lnSpc>
                            <a:spcBef>
                              <a:spcPts val="300"/>
                            </a:spcBef>
                            <a:spcAft>
                              <a:spcPts val="25"/>
                            </a:spcAft>
                          </a:pPr>
                          <a:r>
                            <a:rPr lang="vi-VN" sz="1800" kern="0" dirty="0">
                              <a:solidFill>
                                <a:srgbClr val="000000"/>
                              </a:solidFill>
                              <a:effectLst/>
                              <a:latin typeface="Times New Roman" panose="02020603050405020304" pitchFamily="18" charset="0"/>
                              <a:ea typeface="Times New Roman" panose="02020603050405020304" pitchFamily="18" charset="0"/>
                            </a:rPr>
                            <a:t>Công suất phản kháng định mức</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1800" kern="0" dirty="0">
                              <a:solidFill>
                                <a:srgbClr val="000000"/>
                              </a:solidFill>
                              <a:effectLst/>
                              <a:latin typeface="Times New Roman" panose="02020603050405020304" pitchFamily="18" charset="0"/>
                              <a:ea typeface="Times New Roman" panose="02020603050405020304" pitchFamily="18" charset="0"/>
                            </a:rPr>
                            <a:t>750W</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40009177"/>
                      </a:ext>
                    </a:extLst>
                  </a:tr>
                  <a:tr h="411480">
                    <a:tc>
                      <a:txBody>
                        <a:bodyPr/>
                        <a:lstStyle/>
                        <a:p>
                          <a:endParaRPr lang="vi-VN"/>
                        </a:p>
                      </a:txBody>
                      <a:tcPr marL="68580" marR="68580" marT="0" marB="0">
                        <a:blipFill>
                          <a:blip r:embed="rId2"/>
                          <a:stretch>
                            <a:fillRect l="-189" t="-513433" r="-201890" b="-680597"/>
                          </a:stretch>
                        </a:blipFill>
                      </a:tcPr>
                    </a:tc>
                    <a:tc>
                      <a:txBody>
                        <a:bodyPr/>
                        <a:lstStyle/>
                        <a:p>
                          <a:pPr marL="0" marR="0" indent="0" algn="ctr">
                            <a:lnSpc>
                              <a:spcPct val="150000"/>
                            </a:lnSpc>
                            <a:spcBef>
                              <a:spcPts val="300"/>
                            </a:spcBef>
                            <a:spcAft>
                              <a:spcPts val="25"/>
                            </a:spcAft>
                          </a:pPr>
                          <a:r>
                            <a:rPr lang="en-US" sz="1800" kern="0" dirty="0" err="1">
                              <a:solidFill>
                                <a:srgbClr val="000000"/>
                              </a:solidFill>
                              <a:effectLst/>
                              <a:latin typeface="Times New Roman" panose="02020603050405020304" pitchFamily="18" charset="0"/>
                              <a:ea typeface="Times New Roman" panose="02020603050405020304" pitchFamily="18" charset="0"/>
                            </a:rPr>
                            <a:t>Tần</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số</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đặt</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2"/>
                          <a:stretch>
                            <a:fillRect l="-271562" t="-513433" r="-932" b="-680597"/>
                          </a:stretch>
                        </a:blipFill>
                      </a:tcPr>
                    </a:tc>
                    <a:extLst>
                      <a:ext uri="{0D108BD9-81ED-4DB2-BD59-A6C34878D82A}">
                        <a16:rowId xmlns:a16="http://schemas.microsoft.com/office/drawing/2014/main" val="3536226698"/>
                      </a:ext>
                    </a:extLst>
                  </a:tr>
                  <a:tr h="411480">
                    <a:tc>
                      <a:txBody>
                        <a:bodyPr/>
                        <a:lstStyle/>
                        <a:p>
                          <a:endParaRPr lang="vi-VN"/>
                        </a:p>
                      </a:txBody>
                      <a:tcPr marL="68580" marR="68580" marT="0" marB="0">
                        <a:blipFill>
                          <a:blip r:embed="rId2"/>
                          <a:stretch>
                            <a:fillRect l="-189" t="-604412" r="-201890" b="-570588"/>
                          </a:stretch>
                        </a:blipFill>
                      </a:tcPr>
                    </a:tc>
                    <a:tc>
                      <a:txBody>
                        <a:bodyPr/>
                        <a:lstStyle/>
                        <a:p>
                          <a:pPr marL="0" marR="0" indent="0" algn="ctr">
                            <a:lnSpc>
                              <a:spcPct val="150000"/>
                            </a:lnSpc>
                            <a:spcBef>
                              <a:spcPts val="300"/>
                            </a:spcBef>
                            <a:spcAft>
                              <a:spcPts val="25"/>
                            </a:spcAft>
                          </a:pPr>
                          <a:r>
                            <a:rPr lang="vi-VN" sz="1800" kern="0" dirty="0">
                              <a:solidFill>
                                <a:srgbClr val="000000"/>
                              </a:solidFill>
                              <a:effectLst/>
                              <a:latin typeface="Times New Roman" panose="02020603050405020304" pitchFamily="18" charset="0"/>
                              <a:ea typeface="Times New Roman" panose="02020603050405020304" pitchFamily="18" charset="0"/>
                            </a:rPr>
                            <a:t>Độ lệch tần số tối đa</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2"/>
                          <a:stretch>
                            <a:fillRect l="-271562" t="-604412" r="-932" b="-570588"/>
                          </a:stretch>
                        </a:blipFill>
                      </a:tcPr>
                    </a:tc>
                    <a:extLst>
                      <a:ext uri="{0D108BD9-81ED-4DB2-BD59-A6C34878D82A}">
                        <a16:rowId xmlns:a16="http://schemas.microsoft.com/office/drawing/2014/main" val="2585743980"/>
                      </a:ext>
                    </a:extLst>
                  </a:tr>
                  <a:tr h="413004">
                    <a:tc>
                      <a:txBody>
                        <a:bodyPr/>
                        <a:lstStyle/>
                        <a:p>
                          <a:endParaRPr lang="vi-VN"/>
                        </a:p>
                      </a:txBody>
                      <a:tcPr marL="68580" marR="68580" marT="0" marB="0">
                        <a:blipFill>
                          <a:blip r:embed="rId2"/>
                          <a:stretch>
                            <a:fillRect l="-189" t="-704412" r="-201890" b="-470588"/>
                          </a:stretch>
                        </a:blipFill>
                      </a:tcPr>
                    </a:tc>
                    <a:tc>
                      <a:txBody>
                        <a:bodyPr/>
                        <a:lstStyle/>
                        <a:p>
                          <a:pPr marL="0" marR="0" indent="0" algn="ctr">
                            <a:lnSpc>
                              <a:spcPct val="150000"/>
                            </a:lnSpc>
                            <a:spcBef>
                              <a:spcPts val="300"/>
                            </a:spcBef>
                            <a:spcAft>
                              <a:spcPts val="25"/>
                            </a:spcAft>
                          </a:pPr>
                          <a:r>
                            <a:rPr lang="en-US" sz="1800" kern="0" dirty="0" err="1">
                              <a:solidFill>
                                <a:srgbClr val="000000"/>
                              </a:solidFill>
                              <a:effectLst/>
                              <a:latin typeface="Times New Roman" panose="02020603050405020304" pitchFamily="18" charset="0"/>
                              <a:ea typeface="Times New Roman" panose="02020603050405020304" pitchFamily="18" charset="0"/>
                            </a:rPr>
                            <a:t>Thời</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gian</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đáp</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ứng</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1800" kern="0" dirty="0" err="1">
                              <a:solidFill>
                                <a:srgbClr val="000000"/>
                              </a:solidFill>
                              <a:effectLst/>
                              <a:latin typeface="Times New Roman" panose="02020603050405020304" pitchFamily="18" charset="0"/>
                              <a:ea typeface="Times New Roman" panose="02020603050405020304" pitchFamily="18" charset="0"/>
                            </a:rPr>
                            <a:t>0.2s</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354518911"/>
                      </a:ext>
                    </a:extLst>
                  </a:tr>
                  <a:tr h="411480">
                    <a:tc>
                      <a:txBody>
                        <a:bodyPr/>
                        <a:lstStyle/>
                        <a:p>
                          <a:endParaRPr lang="vi-VN"/>
                        </a:p>
                      </a:txBody>
                      <a:tcPr marL="68580" marR="68580" marT="0" marB="0">
                        <a:blipFill>
                          <a:blip r:embed="rId2"/>
                          <a:stretch>
                            <a:fillRect l="-189" t="-816418" r="-201890" b="-377612"/>
                          </a:stretch>
                        </a:blipFill>
                      </a:tcPr>
                    </a:tc>
                    <a:tc>
                      <a:txBody>
                        <a:bodyPr/>
                        <a:lstStyle/>
                        <a:p>
                          <a:pPr marL="0" marR="0" indent="0" algn="ctr">
                            <a:lnSpc>
                              <a:spcPct val="150000"/>
                            </a:lnSpc>
                            <a:spcBef>
                              <a:spcPts val="300"/>
                            </a:spcBef>
                            <a:spcAft>
                              <a:spcPts val="25"/>
                            </a:spcAft>
                          </a:pPr>
                          <a:r>
                            <a:rPr lang="vi-VN" sz="1800" kern="0" dirty="0">
                              <a:solidFill>
                                <a:srgbClr val="000000"/>
                              </a:solidFill>
                              <a:effectLst/>
                              <a:latin typeface="Times New Roman" panose="02020603050405020304" pitchFamily="18" charset="0"/>
                              <a:ea typeface="Times New Roman" panose="02020603050405020304" pitchFamily="18" charset="0"/>
                            </a:rPr>
                            <a:t>Tỉ lệ song hài bậc ba với bậc nhất</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1800" kern="0" dirty="0">
                              <a:solidFill>
                                <a:srgbClr val="000000"/>
                              </a:solidFill>
                              <a:effectLst/>
                              <a:latin typeface="Times New Roman" panose="02020603050405020304" pitchFamily="18" charset="0"/>
                              <a:ea typeface="Times New Roman" panose="02020603050405020304" pitchFamily="18" charset="0"/>
                            </a:rPr>
                            <a:t>2%</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60987794"/>
                      </a:ext>
                    </a:extLst>
                  </a:tr>
                  <a:tr h="763277">
                    <a:tc>
                      <a:txBody>
                        <a:bodyPr/>
                        <a:lstStyle/>
                        <a:p>
                          <a:endParaRPr lang="vi-VN"/>
                        </a:p>
                      </a:txBody>
                      <a:tcPr marL="68580" marR="68580" marT="0" marB="0">
                        <a:blipFill>
                          <a:blip r:embed="rId2"/>
                          <a:stretch>
                            <a:fillRect l="-189" t="-487302" r="-201890" b="-100794"/>
                          </a:stretch>
                        </a:blipFill>
                      </a:tcPr>
                    </a:tc>
                    <a:tc>
                      <a:txBody>
                        <a:bodyPr/>
                        <a:lstStyle/>
                        <a:p>
                          <a:pPr marL="0" marR="0" indent="0" algn="ctr">
                            <a:lnSpc>
                              <a:spcPct val="150000"/>
                            </a:lnSpc>
                            <a:spcBef>
                              <a:spcPts val="300"/>
                            </a:spcBef>
                            <a:spcAft>
                              <a:spcPts val="25"/>
                            </a:spcAft>
                          </a:pPr>
                          <a:r>
                            <a:rPr lang="en-US" sz="1800" kern="0" dirty="0" err="1">
                              <a:solidFill>
                                <a:srgbClr val="000000"/>
                              </a:solidFill>
                              <a:effectLst/>
                              <a:latin typeface="Times New Roman" panose="02020603050405020304" pitchFamily="18" charset="0"/>
                              <a:ea typeface="Times New Roman" panose="02020603050405020304" pitchFamily="18" charset="0"/>
                            </a:rPr>
                            <a:t>Hệ</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số</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công</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suất</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của</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mạch</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nghịch</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lưu</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1800" kern="0" dirty="0">
                              <a:solidFill>
                                <a:srgbClr val="000000"/>
                              </a:solidFill>
                              <a:effectLst/>
                              <a:latin typeface="Times New Roman" panose="02020603050405020304" pitchFamily="18" charset="0"/>
                              <a:ea typeface="Times New Roman" panose="02020603050405020304" pitchFamily="18" charset="0"/>
                            </a:rPr>
                            <a:t>1</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2568994"/>
                      </a:ext>
                    </a:extLst>
                  </a:tr>
                  <a:tr h="763277">
                    <a:tc>
                      <a:txBody>
                        <a:bodyPr/>
                        <a:lstStyle/>
                        <a:p>
                          <a:endParaRPr lang="vi-VN"/>
                        </a:p>
                      </a:txBody>
                      <a:tcPr marL="68580" marR="68580" marT="0" marB="0">
                        <a:blipFill>
                          <a:blip r:embed="rId2"/>
                          <a:stretch>
                            <a:fillRect l="-189" t="-592000" r="-201890" b="-1600"/>
                          </a:stretch>
                        </a:blipFill>
                      </a:tcPr>
                    </a:tc>
                    <a:tc>
                      <a:txBody>
                        <a:bodyPr/>
                        <a:lstStyle/>
                        <a:p>
                          <a:pPr marL="0" marR="0" indent="0" algn="ctr">
                            <a:lnSpc>
                              <a:spcPct val="150000"/>
                            </a:lnSpc>
                            <a:spcBef>
                              <a:spcPts val="300"/>
                            </a:spcBef>
                            <a:spcAft>
                              <a:spcPts val="25"/>
                            </a:spcAft>
                          </a:pPr>
                          <a:r>
                            <a:rPr lang="vi-VN" sz="1800" kern="100" dirty="0">
                              <a:solidFill>
                                <a:srgbClr val="000000"/>
                              </a:solidFill>
                              <a:effectLst/>
                              <a:latin typeface="Times New Roman" panose="02020603050405020304" pitchFamily="18" charset="0"/>
                              <a:ea typeface="Times New Roman" panose="02020603050405020304" pitchFamily="18" charset="0"/>
                            </a:rPr>
                            <a:t>Điện áp đầu vào mạch nghịch lưu </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1800" kern="100" dirty="0">
                              <a:solidFill>
                                <a:srgbClr val="000000"/>
                              </a:solidFill>
                              <a:effectLst/>
                              <a:latin typeface="Times New Roman" panose="02020603050405020304" pitchFamily="18" charset="0"/>
                              <a:ea typeface="Times New Roman" panose="02020603050405020304" pitchFamily="18" charset="0"/>
                            </a:rPr>
                            <a:t>400 V</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604709544"/>
                      </a:ext>
                    </a:extLst>
                  </a:tr>
                </a:tbl>
              </a:graphicData>
            </a:graphic>
          </p:graphicFrame>
        </mc:Fallback>
      </mc:AlternateContent>
    </p:spTree>
    <p:extLst>
      <p:ext uri="{BB962C8B-B14F-4D97-AF65-F5344CB8AC3E}">
        <p14:creationId xmlns:p14="http://schemas.microsoft.com/office/powerpoint/2010/main" val="256326811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15085-DFD8-AC3E-3382-92A42AB051C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99426AB-E8B1-9B30-397A-033FD4628842}"/>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32049D47-DBDA-3467-1A99-091A24F94DC6}"/>
              </a:ext>
            </a:extLst>
          </p:cNvPr>
          <p:cNvSpPr>
            <a:spLocks noGrp="1"/>
          </p:cNvSpPr>
          <p:nvPr>
            <p:ph type="sldNum" sz="quarter" idx="12"/>
          </p:nvPr>
        </p:nvSpPr>
        <p:spPr/>
        <p:txBody>
          <a:bodyPr/>
          <a:lstStyle/>
          <a:p>
            <a:fld id="{931DD963-FD40-4A6D-88A9-402A489E81DE}" type="slidenum">
              <a:rPr lang="en-US" smtClean="0"/>
              <a:t>87</a:t>
            </a:fld>
            <a:endParaRPr lang="en-US"/>
          </a:p>
        </p:txBody>
      </p:sp>
      <p:grpSp>
        <p:nvGrpSpPr>
          <p:cNvPr id="10" name="Group 9">
            <a:extLst>
              <a:ext uri="{FF2B5EF4-FFF2-40B4-BE49-F238E27FC236}">
                <a16:creationId xmlns:a16="http://schemas.microsoft.com/office/drawing/2014/main" id="{E1C961B9-E0F9-EF28-B044-C728B499AF47}"/>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089CCA2F-E98B-DCA4-2C40-2FEBBD2AEBB4}"/>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4D1461A2-558B-457A-A264-FE2D1F8058B7}"/>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p:sp>
        <p:nvSpPr>
          <p:cNvPr id="7" name="Hộp Văn bản 6">
            <a:extLst>
              <a:ext uri="{FF2B5EF4-FFF2-40B4-BE49-F238E27FC236}">
                <a16:creationId xmlns:a16="http://schemas.microsoft.com/office/drawing/2014/main" id="{26888578-4893-B3FF-C609-BE97F8413208}"/>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4.4. </a:t>
            </a:r>
            <a:r>
              <a:rPr lang="vi-VN" sz="2000" b="1">
                <a:solidFill>
                  <a:prstClr val="black"/>
                </a:solidFill>
                <a:latin typeface="Times New Roman" panose="02020603050405020304" pitchFamily="18" charset="0"/>
                <a:cs typeface="Times New Roman" panose="02020603050405020304" pitchFamily="18" charset="0"/>
              </a:rPr>
              <a:t>Mô phỏng kiểm chứng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8" name="Picture 8">
            <a:extLst>
              <a:ext uri="{FF2B5EF4-FFF2-40B4-BE49-F238E27FC236}">
                <a16:creationId xmlns:a16="http://schemas.microsoft.com/office/drawing/2014/main" id="{8993CC4D-4D8B-662A-CCAA-CC01EE8D9F07}"/>
              </a:ext>
            </a:extLst>
          </p:cNvPr>
          <p:cNvPicPr>
            <a:picLocks noChangeAspect="1"/>
          </p:cNvPicPr>
          <p:nvPr/>
        </p:nvPicPr>
        <p:blipFill>
          <a:blip r:embed="rId2"/>
          <a:stretch>
            <a:fillRect/>
          </a:stretch>
        </p:blipFill>
        <p:spPr>
          <a:xfrm>
            <a:off x="1190255" y="1812683"/>
            <a:ext cx="9390532" cy="4621107"/>
          </a:xfrm>
          <a:prstGeom prst="rect">
            <a:avLst/>
          </a:prstGeom>
        </p:spPr>
      </p:pic>
      <p:sp>
        <p:nvSpPr>
          <p:cNvPr id="9" name="TextBox 7">
            <a:extLst>
              <a:ext uri="{FF2B5EF4-FFF2-40B4-BE49-F238E27FC236}">
                <a16:creationId xmlns:a16="http://schemas.microsoft.com/office/drawing/2014/main" id="{D6B3F757-88ED-D219-7D2A-C34DBDCE7D24}"/>
              </a:ext>
            </a:extLst>
          </p:cNvPr>
          <p:cNvSpPr txBox="1"/>
          <p:nvPr/>
        </p:nvSpPr>
        <p:spPr>
          <a:xfrm>
            <a:off x="413529" y="1323953"/>
            <a:ext cx="9437199" cy="400110"/>
          </a:xfrm>
          <a:prstGeom prst="rect">
            <a:avLst/>
          </a:prstGeom>
          <a:noFill/>
        </p:spPr>
        <p:txBody>
          <a:bodyPr wrap="none" rtlCol="0">
            <a:spAutoFit/>
          </a:bodyPr>
          <a:lstStyle/>
          <a:p>
            <a:r>
              <a:rPr lang="vi-VN" sz="2000">
                <a:latin typeface="Times New Roman" panose="02020603050405020304" pitchFamily="18" charset="0"/>
                <a:cs typeface="Times New Roman" panose="02020603050405020304" pitchFamily="18" charset="0"/>
              </a:rPr>
              <a:t>Kịch bản 1: Hai bộ </a:t>
            </a:r>
            <a:r>
              <a:rPr lang="vi-VN" sz="2000" err="1">
                <a:latin typeface="Times New Roman" panose="02020603050405020304" pitchFamily="18" charset="0"/>
                <a:cs typeface="Times New Roman" panose="02020603050405020304" pitchFamily="18" charset="0"/>
              </a:rPr>
              <a:t>Inverter</a:t>
            </a:r>
            <a:r>
              <a:rPr lang="vi-VN" sz="2000">
                <a:latin typeface="Times New Roman" panose="02020603050405020304" pitchFamily="18" charset="0"/>
                <a:cs typeface="Times New Roman" panose="02020603050405020304" pitchFamily="18" charset="0"/>
              </a:rPr>
              <a:t> với tải tuyến tính công suất 750(W), tỉ lệ chia sẻ công suất 1:1</a:t>
            </a:r>
          </a:p>
        </p:txBody>
      </p:sp>
    </p:spTree>
    <p:extLst>
      <p:ext uri="{BB962C8B-B14F-4D97-AF65-F5344CB8AC3E}">
        <p14:creationId xmlns:p14="http://schemas.microsoft.com/office/powerpoint/2010/main" val="31862655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8ECEA-5AA3-66D6-6E55-E470912FF49F}"/>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EE6ACDC-9D46-00CF-B68A-0ABC471C1F15}"/>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8E2BB2F8-B4BB-DC07-157D-CF2069CEC9BF}"/>
              </a:ext>
            </a:extLst>
          </p:cNvPr>
          <p:cNvSpPr>
            <a:spLocks noGrp="1"/>
          </p:cNvSpPr>
          <p:nvPr>
            <p:ph type="sldNum" sz="quarter" idx="12"/>
          </p:nvPr>
        </p:nvSpPr>
        <p:spPr/>
        <p:txBody>
          <a:bodyPr/>
          <a:lstStyle/>
          <a:p>
            <a:fld id="{931DD963-FD40-4A6D-88A9-402A489E81DE}" type="slidenum">
              <a:rPr lang="en-US" smtClean="0"/>
              <a:t>88</a:t>
            </a:fld>
            <a:endParaRPr lang="en-US"/>
          </a:p>
        </p:txBody>
      </p:sp>
      <p:grpSp>
        <p:nvGrpSpPr>
          <p:cNvPr id="10" name="Group 9">
            <a:extLst>
              <a:ext uri="{FF2B5EF4-FFF2-40B4-BE49-F238E27FC236}">
                <a16:creationId xmlns:a16="http://schemas.microsoft.com/office/drawing/2014/main" id="{455C7ACB-CAA9-BBAF-1089-4CEC9295B528}"/>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E71ABF2D-5358-2A05-B613-46741CC4169A}"/>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389942C0-4670-CE37-0266-C99235A2DE4A}"/>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p:sp>
        <p:nvSpPr>
          <p:cNvPr id="7" name="Hộp Văn bản 6">
            <a:extLst>
              <a:ext uri="{FF2B5EF4-FFF2-40B4-BE49-F238E27FC236}">
                <a16:creationId xmlns:a16="http://schemas.microsoft.com/office/drawing/2014/main" id="{6A87945E-2403-8892-6C26-92FD0DE7D56C}"/>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4.4. </a:t>
            </a:r>
            <a:r>
              <a:rPr lang="vi-VN" sz="2000" b="1">
                <a:solidFill>
                  <a:prstClr val="black"/>
                </a:solidFill>
                <a:latin typeface="Times New Roman" panose="02020603050405020304" pitchFamily="18" charset="0"/>
                <a:cs typeface="Times New Roman" panose="02020603050405020304" pitchFamily="18" charset="0"/>
              </a:rPr>
              <a:t>Mô phỏng kiểm chứng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 name="TextBox 5">
            <a:extLst>
              <a:ext uri="{FF2B5EF4-FFF2-40B4-BE49-F238E27FC236}">
                <a16:creationId xmlns:a16="http://schemas.microsoft.com/office/drawing/2014/main" id="{6844288C-6426-1E36-E7D6-F0FF40ABCEF6}"/>
              </a:ext>
            </a:extLst>
          </p:cNvPr>
          <p:cNvSpPr txBox="1"/>
          <p:nvPr/>
        </p:nvSpPr>
        <p:spPr>
          <a:xfrm>
            <a:off x="413529" y="1334986"/>
            <a:ext cx="5582872" cy="504625"/>
          </a:xfrm>
          <a:prstGeom prst="rect">
            <a:avLst/>
          </a:prstGeom>
          <a:noFill/>
        </p:spPr>
        <p:txBody>
          <a:bodyPr wrap="square">
            <a:spAutoFit/>
          </a:bodyPr>
          <a:lstStyle/>
          <a:p>
            <a:pPr marL="205740" marR="0" indent="-6350" algn="just">
              <a:lnSpc>
                <a:spcPct val="150000"/>
              </a:lnSpc>
              <a:spcBef>
                <a:spcPts val="200"/>
              </a:spcBef>
              <a:spcAft>
                <a:spcPts val="0"/>
              </a:spcAft>
            </a:pPr>
            <a:r>
              <a:rPr lang="vi-VN" sz="2000" b="1" kern="100">
                <a:solidFill>
                  <a:srgbClr val="000000"/>
                </a:solidFill>
                <a:effectLst/>
                <a:latin typeface="Times New Roman" panose="02020603050405020304" pitchFamily="18" charset="0"/>
                <a:ea typeface="Yu Gothic Light" panose="020B0300000000000000" pitchFamily="34" charset="-128"/>
                <a:cs typeface="Times New Roman" panose="02020603050405020304" pitchFamily="18" charset="0"/>
              </a:rPr>
              <a:t>Tham số bộ VOC </a:t>
            </a:r>
            <a:endParaRPr lang="en-US" sz="2000" b="1" kern="100">
              <a:solidFill>
                <a:srgbClr val="1F3763"/>
              </a:solidFill>
              <a:effectLst/>
              <a:latin typeface="Calibri Light" panose="020F0302020204030204" pitchFamily="34" charset="0"/>
              <a:ea typeface="Yu Gothic Light" panose="020B0300000000000000" pitchFamily="34" charset="-128"/>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D2884EA3-7C99-F88B-99A0-1565B0145C0C}"/>
                  </a:ext>
                </a:extLst>
              </p:cNvPr>
              <p:cNvGraphicFramePr>
                <a:graphicFrameLocks noGrp="1"/>
              </p:cNvGraphicFramePr>
              <p:nvPr/>
            </p:nvGraphicFramePr>
            <p:xfrm>
              <a:off x="1459148" y="2003897"/>
              <a:ext cx="9105088" cy="4456504"/>
            </p:xfrm>
            <a:graphic>
              <a:graphicData uri="http://schemas.openxmlformats.org/drawingml/2006/table">
                <a:tbl>
                  <a:tblPr firstRow="1" bandRow="1">
                    <a:tableStyleId>{7DF18680-E054-41AD-8BC1-D1AEF772440D}</a:tableStyleId>
                  </a:tblPr>
                  <a:tblGrid>
                    <a:gridCol w="1410512">
                      <a:extLst>
                        <a:ext uri="{9D8B030D-6E8A-4147-A177-3AD203B41FA5}">
                          <a16:colId xmlns:a16="http://schemas.microsoft.com/office/drawing/2014/main" val="2099080480"/>
                        </a:ext>
                      </a:extLst>
                    </a:gridCol>
                    <a:gridCol w="3356042">
                      <a:extLst>
                        <a:ext uri="{9D8B030D-6E8A-4147-A177-3AD203B41FA5}">
                          <a16:colId xmlns:a16="http://schemas.microsoft.com/office/drawing/2014/main" val="3807464349"/>
                        </a:ext>
                      </a:extLst>
                    </a:gridCol>
                    <a:gridCol w="2062262">
                      <a:extLst>
                        <a:ext uri="{9D8B030D-6E8A-4147-A177-3AD203B41FA5}">
                          <a16:colId xmlns:a16="http://schemas.microsoft.com/office/drawing/2014/main" val="2047883326"/>
                        </a:ext>
                      </a:extLst>
                    </a:gridCol>
                    <a:gridCol w="2276272">
                      <a:extLst>
                        <a:ext uri="{9D8B030D-6E8A-4147-A177-3AD203B41FA5}">
                          <a16:colId xmlns:a16="http://schemas.microsoft.com/office/drawing/2014/main" val="2230794826"/>
                        </a:ext>
                      </a:extLst>
                    </a:gridCol>
                  </a:tblGrid>
                  <a:tr h="521436">
                    <a:tc>
                      <a:txBody>
                        <a:bodyPr/>
                        <a:lstStyle/>
                        <a:p>
                          <a:pPr marL="205740" marR="0" indent="-6350" algn="just">
                            <a:lnSpc>
                              <a:spcPct val="150000"/>
                            </a:lnSpc>
                            <a:spcBef>
                              <a:spcPts val="300"/>
                            </a:spcBef>
                            <a:spcAft>
                              <a:spcPts val="25"/>
                            </a:spcAft>
                          </a:pPr>
                          <a:r>
                            <a:rPr lang="en-US" sz="2000" b="1" kern="0" err="1">
                              <a:solidFill>
                                <a:srgbClr val="000000"/>
                              </a:solidFill>
                              <a:effectLst/>
                              <a:latin typeface="Times New Roman" panose="02020603050405020304" pitchFamily="18" charset="0"/>
                              <a:ea typeface="Times New Roman" panose="02020603050405020304" pitchFamily="18" charset="0"/>
                            </a:rPr>
                            <a:t>Kí</a:t>
                          </a:r>
                          <a:r>
                            <a:rPr lang="en-US" sz="2000" b="1" kern="0">
                              <a:solidFill>
                                <a:srgbClr val="000000"/>
                              </a:solidFill>
                              <a:effectLst/>
                              <a:latin typeface="Times New Roman" panose="02020603050405020304" pitchFamily="18" charset="0"/>
                              <a:ea typeface="Times New Roman" panose="02020603050405020304" pitchFamily="18" charset="0"/>
                            </a:rPr>
                            <a:t> </a:t>
                          </a:r>
                          <a:r>
                            <a:rPr lang="en-US" sz="2000" b="1" kern="0" err="1">
                              <a:solidFill>
                                <a:srgbClr val="000000"/>
                              </a:solidFill>
                              <a:effectLst/>
                              <a:latin typeface="Times New Roman" panose="02020603050405020304" pitchFamily="18" charset="0"/>
                              <a:ea typeface="Times New Roman" panose="02020603050405020304" pitchFamily="18" charset="0"/>
                            </a:rPr>
                            <a:t>hiệu</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err="1">
                              <a:solidFill>
                                <a:srgbClr val="000000"/>
                              </a:solidFill>
                              <a:effectLst/>
                              <a:latin typeface="Times New Roman" panose="02020603050405020304" pitchFamily="18" charset="0"/>
                              <a:ea typeface="Times New Roman" panose="02020603050405020304" pitchFamily="18" charset="0"/>
                            </a:rPr>
                            <a:t>Tham</a:t>
                          </a:r>
                          <a:r>
                            <a:rPr lang="en-US" sz="2000" b="1" kern="0">
                              <a:solidFill>
                                <a:srgbClr val="000000"/>
                              </a:solidFill>
                              <a:effectLst/>
                              <a:latin typeface="Times New Roman" panose="02020603050405020304" pitchFamily="18" charset="0"/>
                              <a:ea typeface="Times New Roman" panose="02020603050405020304" pitchFamily="18" charset="0"/>
                            </a:rPr>
                            <a:t> </a:t>
                          </a:r>
                          <a:r>
                            <a:rPr lang="en-US" sz="2000" b="1" kern="0" err="1">
                              <a:solidFill>
                                <a:srgbClr val="000000"/>
                              </a:solidFill>
                              <a:effectLst/>
                              <a:latin typeface="Times New Roman" panose="02020603050405020304" pitchFamily="18" charset="0"/>
                              <a:ea typeface="Times New Roman" panose="02020603050405020304" pitchFamily="18" charset="0"/>
                            </a:rPr>
                            <a:t>số</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a:solidFill>
                                <a:srgbClr val="000000"/>
                              </a:solidFill>
                              <a:effectLst/>
                              <a:latin typeface="Times New Roman" panose="02020603050405020304" pitchFamily="18" charset="0"/>
                              <a:ea typeface="Times New Roman" panose="02020603050405020304" pitchFamily="18" charset="0"/>
                            </a:rPr>
                            <a:t>Inverter 1</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a:solidFill>
                                <a:srgbClr val="000000"/>
                              </a:solidFill>
                              <a:effectLst/>
                              <a:latin typeface="Times New Roman" panose="02020603050405020304" pitchFamily="18" charset="0"/>
                              <a:ea typeface="Times New Roman" panose="02020603050405020304" pitchFamily="18" charset="0"/>
                            </a:rPr>
                            <a:t>Inverter 2</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extLst>
                      <a:ext uri="{0D108BD9-81ED-4DB2-BD59-A6C34878D82A}">
                        <a16:rowId xmlns:a16="http://schemas.microsoft.com/office/drawing/2014/main" val="1667104164"/>
                      </a:ext>
                    </a:extLst>
                  </a:tr>
                  <a:tr h="521436">
                    <a:tc>
                      <a:txBody>
                        <a:bodyPr/>
                        <a:lstStyle/>
                        <a:p>
                          <a:pPr marL="205740" marR="0" indent="-6350" algn="ctr">
                            <a:lnSpc>
                              <a:spcPct val="150000"/>
                            </a:lnSpc>
                            <a:spcBef>
                              <a:spcPts val="300"/>
                            </a:spcBef>
                            <a:spcAft>
                              <a:spcPts val="25"/>
                            </a:spcAft>
                          </a:pPr>
                          <a:r>
                            <a:rPr lang="en-US" sz="2000" kern="100">
                              <a:solidFill>
                                <a:srgbClr val="000000"/>
                              </a:solidFill>
                              <a:effectLst/>
                              <a:ea typeface="Times New Roman" panose="02020603050405020304" pitchFamily="18" charset="0"/>
                            </a:rPr>
                            <a:t> </a:t>
                          </a:r>
                          <a14:m>
                            <m:oMath xmlns:m="http://schemas.openxmlformats.org/officeDocument/2006/math">
                              <m:sSub>
                                <m:sSubPr>
                                  <m:ctrlPr>
                                    <a:rPr lang="vi-VN" sz="2000" b="1" i="1" kern="0">
                                      <a:solidFill>
                                        <a:srgbClr val="000000"/>
                                      </a:solidFill>
                                      <a:effectLst/>
                                      <a:latin typeface="Cambria Math" panose="02040503050406030204" pitchFamily="18" charset="0"/>
                                      <a:ea typeface="Times New Roman" panose="02020603050405020304" pitchFamily="18" charset="0"/>
                                    </a:rPr>
                                  </m:ctrlPr>
                                </m:sSubPr>
                                <m:e>
                                  <m:r>
                                    <a:rPr lang="vi-VN" sz="2000" b="1" i="1" kern="0">
                                      <a:solidFill>
                                        <a:srgbClr val="000000"/>
                                      </a:solidFill>
                                      <a:effectLst/>
                                      <a:latin typeface="Cambria Math" panose="02040503050406030204" pitchFamily="18" charset="0"/>
                                      <a:ea typeface="Times New Roman" panose="02020603050405020304" pitchFamily="18" charset="0"/>
                                    </a:rPr>
                                    <m:t>𝒌</m:t>
                                  </m:r>
                                </m:e>
                                <m:sub>
                                  <m:r>
                                    <a:rPr lang="vi-VN" sz="2000" b="1" i="1" kern="0">
                                      <a:solidFill>
                                        <a:srgbClr val="000000"/>
                                      </a:solidFill>
                                      <a:effectLst/>
                                      <a:latin typeface="Cambria Math" panose="02040503050406030204" pitchFamily="18" charset="0"/>
                                      <a:ea typeface="Times New Roman" panose="02020603050405020304" pitchFamily="18" charset="0"/>
                                    </a:rPr>
                                    <m:t>𝒗</m:t>
                                  </m:r>
                                </m:sub>
                              </m:sSub>
                            </m:oMath>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err="1">
                              <a:solidFill>
                                <a:srgbClr val="000000"/>
                              </a:solidFill>
                              <a:effectLst/>
                              <a:latin typeface="Times New Roman" panose="02020603050405020304" pitchFamily="18" charset="0"/>
                              <a:ea typeface="Times New Roman" panose="02020603050405020304" pitchFamily="18" charset="0"/>
                            </a:rPr>
                            <a:t>Hệ</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số</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căn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chỉnh</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điện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áp</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0">
                              <a:solidFill>
                                <a:srgbClr val="000000"/>
                              </a:solidFill>
                              <a:effectLst/>
                              <a:latin typeface="Cambria Math" panose="02040503050406030204" pitchFamily="18" charset="0"/>
                              <a:ea typeface="Times New Roman" panose="02020603050405020304" pitchFamily="18" charset="0"/>
                            </a:rPr>
                            <a:t>225</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0">
                              <a:solidFill>
                                <a:srgbClr val="000000"/>
                              </a:solidFill>
                              <a:effectLst/>
                              <a:latin typeface="Cambria Math" panose="02040503050406030204" pitchFamily="18" charset="0"/>
                              <a:ea typeface="Times New Roman" panose="02020603050405020304" pitchFamily="18" charset="0"/>
                            </a:rPr>
                            <a:t>225</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37835341"/>
                      </a:ext>
                    </a:extLst>
                  </a:tr>
                  <a:tr h="664832">
                    <a:tc>
                      <a:txBody>
                        <a:bodyPr/>
                        <a:lstStyle/>
                        <a:p>
                          <a:pPr marL="205740" marR="0" indent="-6350" algn="ctr">
                            <a:lnSpc>
                              <a:spcPct val="150000"/>
                            </a:lnSpc>
                            <a:spcBef>
                              <a:spcPts val="300"/>
                            </a:spcBef>
                            <a:spcAft>
                              <a:spcPts val="25"/>
                            </a:spcAft>
                          </a:pPr>
                          <a14:m>
                            <m:oMathPara xmlns:m="http://schemas.openxmlformats.org/officeDocument/2006/math">
                              <m:oMath>
                                <m:sSub>
                                  <m:sSubPr>
                                    <m:ctrlPr>
                                      <a:rPr lang="vi-VN" sz="2000" b="1" i="1" kern="0">
                                        <a:solidFill>
                                          <a:srgbClr val="000000"/>
                                        </a:solidFill>
                                        <a:effectLst/>
                                        <a:latin typeface="Cambria Math" panose="02040503050406030204" pitchFamily="18" charset="0"/>
                                        <a:ea typeface="Times New Roman" panose="02020603050405020304" pitchFamily="18" charset="0"/>
                                      </a:rPr>
                                    </m:ctrlPr>
                                  </m:sSubPr>
                                  <m:e>
                                    <m:r>
                                      <a:rPr lang="vi-VN" sz="2000" b="1" i="1" kern="0">
                                        <a:solidFill>
                                          <a:srgbClr val="000000"/>
                                        </a:solidFill>
                                        <a:effectLst/>
                                        <a:latin typeface="Cambria Math" panose="02040503050406030204" pitchFamily="18" charset="0"/>
                                        <a:ea typeface="Times New Roman" panose="02020603050405020304" pitchFamily="18" charset="0"/>
                                      </a:rPr>
                                      <m:t>𝒌</m:t>
                                    </m:r>
                                  </m:e>
                                  <m:sub>
                                    <m:r>
                                      <a:rPr lang="en-US" sz="2000" i="1" kern="0">
                                        <a:solidFill>
                                          <a:srgbClr val="000000"/>
                                        </a:solidFill>
                                        <a:effectLst/>
                                        <a:latin typeface="Cambria Math" panose="02040503050406030204" pitchFamily="18" charset="0"/>
                                        <a:ea typeface="Times New Roman" panose="02020603050405020304" pitchFamily="18" charset="0"/>
                                      </a:rPr>
                                      <m:t>𝑖</m:t>
                                    </m:r>
                                  </m:sub>
                                </m:sSub>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err="1">
                              <a:solidFill>
                                <a:srgbClr val="000000"/>
                              </a:solidFill>
                              <a:effectLst/>
                              <a:latin typeface="Times New Roman" panose="02020603050405020304" pitchFamily="18" charset="0"/>
                              <a:ea typeface="Times New Roman" panose="02020603050405020304" pitchFamily="18" charset="0"/>
                            </a:rPr>
                            <a:t>Hệ</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số</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căn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chỉnh</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dòng</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điện</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100">
                              <a:solidFill>
                                <a:srgbClr val="000000"/>
                              </a:solidFill>
                              <a:effectLst/>
                              <a:ea typeface="Times New Roman" panose="02020603050405020304" pitchFamily="18" charset="0"/>
                            </a:rPr>
                            <a:t>0.293</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2000" i="1" kern="100" smtClean="0">
                                  <a:solidFill>
                                    <a:srgbClr val="000000"/>
                                  </a:solidFill>
                                  <a:effectLst/>
                                  <a:latin typeface="Cambria Math" panose="02040503050406030204" pitchFamily="18" charset="0"/>
                                  <a:ea typeface="Times New Roman" panose="02020603050405020304" pitchFamily="18" charset="0"/>
                                </a:rPr>
                                <m:t>0</m:t>
                              </m:r>
                            </m:oMath>
                          </a14:m>
                          <a:r>
                            <a:rPr lang="vi-VN" sz="2000" kern="100">
                              <a:solidFill>
                                <a:srgbClr val="000000"/>
                              </a:solidFill>
                              <a:effectLst/>
                              <a:latin typeface="Times New Roman" panose="02020603050405020304" pitchFamily="18" charset="0"/>
                              <a:ea typeface="Times New Roman" panose="02020603050405020304" pitchFamily="18" charset="0"/>
                            </a:rPr>
                            <a:t>.293</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41384075"/>
                      </a:ext>
                    </a:extLst>
                  </a:tr>
                  <a:tr h="664832">
                    <a:tc>
                      <a:txBody>
                        <a:bodyPr/>
                        <a:lstStyle/>
                        <a:p>
                          <a:pPr marL="205740" marR="0" indent="-6350" algn="ctr">
                            <a:lnSpc>
                              <a:spcPct val="150000"/>
                            </a:lnSpc>
                            <a:spcBef>
                              <a:spcPts val="300"/>
                            </a:spcBef>
                            <a:spcAft>
                              <a:spcPts val="25"/>
                            </a:spcAft>
                          </a:pPr>
                          <a14:m>
                            <m:oMathPara xmlns:m="http://schemas.openxmlformats.org/officeDocument/2006/math">
                              <m:oMath>
                                <m:r>
                                  <a:rPr lang="en-US" sz="2000" b="1" i="1" kern="0">
                                    <a:solidFill>
                                      <a:srgbClr val="000000"/>
                                    </a:solidFill>
                                    <a:effectLst/>
                                    <a:latin typeface="Cambria Math" panose="02040503050406030204" pitchFamily="18" charset="0"/>
                                    <a:ea typeface="Yu Mincho" panose="02020400000000000000" pitchFamily="18" charset="-128"/>
                                  </a:rPr>
                                  <m:t>𝜶</m:t>
                                </m:r>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Hệ số nguồn dòng phụ thuộc</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2000" i="1" kern="100" smtClean="0">
                                  <a:solidFill>
                                    <a:srgbClr val="000000"/>
                                  </a:solidFill>
                                  <a:effectLst/>
                                  <a:latin typeface="Cambria Math" panose="02040503050406030204" pitchFamily="18" charset="0"/>
                                  <a:ea typeface="Times New Roman" panose="02020603050405020304" pitchFamily="18" charset="0"/>
                                </a:rPr>
                                <m:t>15</m:t>
                              </m:r>
                            </m:oMath>
                          </a14:m>
                          <a:r>
                            <a:rPr lang="vi-VN" sz="2000" kern="100">
                              <a:solidFill>
                                <a:srgbClr val="000000"/>
                              </a:solidFill>
                              <a:effectLst/>
                              <a:latin typeface="Times New Roman" panose="02020603050405020304" pitchFamily="18" charset="0"/>
                              <a:ea typeface="Times New Roman" panose="02020603050405020304" pitchFamily="18" charset="0"/>
                            </a:rPr>
                            <a:t>.51</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2000" i="1" kern="100" smtClean="0">
                                  <a:solidFill>
                                    <a:srgbClr val="000000"/>
                                  </a:solidFill>
                                  <a:effectLst/>
                                  <a:latin typeface="Cambria Math" panose="02040503050406030204" pitchFamily="18" charset="0"/>
                                  <a:ea typeface="Times New Roman" panose="02020603050405020304" pitchFamily="18" charset="0"/>
                                </a:rPr>
                                <m:t>15</m:t>
                              </m:r>
                            </m:oMath>
                          </a14:m>
                          <a:r>
                            <a:rPr lang="vi-VN" sz="2000" kern="100">
                              <a:solidFill>
                                <a:srgbClr val="000000"/>
                              </a:solidFill>
                              <a:effectLst/>
                              <a:latin typeface="Times New Roman" panose="02020603050405020304" pitchFamily="18" charset="0"/>
                              <a:ea typeface="Times New Roman" panose="02020603050405020304" pitchFamily="18" charset="0"/>
                            </a:rPr>
                            <a:t>.51</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603328144"/>
                      </a:ext>
                    </a:extLst>
                  </a:tr>
                  <a:tr h="750548">
                    <a:tc>
                      <a:txBody>
                        <a:bodyPr/>
                        <a:lstStyle/>
                        <a:p>
                          <a:pPr marL="205740" marR="0" indent="-6350" algn="ctr">
                            <a:lnSpc>
                              <a:spcPct val="150000"/>
                            </a:lnSpc>
                            <a:spcBef>
                              <a:spcPts val="300"/>
                            </a:spcBef>
                            <a:spcAft>
                              <a:spcPts val="25"/>
                            </a:spcAft>
                          </a:pPr>
                          <a14:m>
                            <m:oMathPara xmlns:m="http://schemas.openxmlformats.org/officeDocument/2006/math">
                              <m:oMath>
                                <m:r>
                                  <a:rPr lang="en-US" sz="2000" b="1" i="1" kern="0">
                                    <a:solidFill>
                                      <a:srgbClr val="000000"/>
                                    </a:solidFill>
                                    <a:effectLst/>
                                    <a:latin typeface="Cambria Math" panose="02040503050406030204" pitchFamily="18" charset="0"/>
                                    <a:ea typeface="Times New Roman" panose="02020603050405020304" pitchFamily="18" charset="0"/>
                                  </a:rPr>
                                  <m:t>𝝈</m:t>
                                </m:r>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err="1">
                              <a:solidFill>
                                <a:srgbClr val="000000"/>
                              </a:solidFill>
                              <a:effectLst/>
                              <a:latin typeface="Times New Roman" panose="02020603050405020304" pitchFamily="18" charset="0"/>
                              <a:ea typeface="Times New Roman" panose="02020603050405020304" pitchFamily="18" charset="0"/>
                            </a:rPr>
                            <a:t>Điện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dẫn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bộ</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dao</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động</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ảo</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2000" i="1" kern="0" smtClean="0">
                                  <a:solidFill>
                                    <a:srgbClr val="000000"/>
                                  </a:solidFill>
                                  <a:effectLst/>
                                  <a:latin typeface="Cambria Math" panose="02040503050406030204" pitchFamily="18" charset="0"/>
                                  <a:ea typeface="Times New Roman" panose="02020603050405020304" pitchFamily="18" charset="0"/>
                                </a:rPr>
                                <m:t>23</m:t>
                              </m:r>
                            </m:oMath>
                          </a14:m>
                          <a:r>
                            <a:rPr lang="vi-VN" sz="2000" kern="0">
                              <a:solidFill>
                                <a:srgbClr val="000000"/>
                              </a:solidFill>
                              <a:effectLst/>
                              <a:latin typeface="Cambria Math" panose="02040503050406030204" pitchFamily="18" charset="0"/>
                              <a:ea typeface="Times New Roman" panose="02020603050405020304" pitchFamily="18" charset="0"/>
                            </a:rPr>
                            <a:t>.27</a:t>
                          </a:r>
                          <a:r>
                            <a:rPr lang="en-US" sz="2000" kern="0">
                              <a:solidFill>
                                <a:srgbClr val="000000"/>
                              </a:solidFill>
                              <a:effectLst/>
                              <a:latin typeface="Cambria Math" panose="02040503050406030204" pitchFamily="18" charset="0"/>
                              <a:ea typeface="Times New Roman" panose="02020603050405020304" pitchFamily="18" charset="0"/>
                            </a:rPr>
                            <a:t>(</a:t>
                          </a:r>
                          <a14:m>
                            <m:oMath xmlns:m="http://schemas.openxmlformats.org/officeDocument/2006/math">
                              <m:sSup>
                                <m:sSupPr>
                                  <m:ctrlPr>
                                    <a:rPr lang="en-US" sz="2000" u="sng" kern="0">
                                      <a:solidFill>
                                        <a:srgbClr val="000000"/>
                                      </a:solidFill>
                                      <a:effectLst/>
                                      <a:latin typeface="Cambria Math" panose="02040503050406030204" pitchFamily="18" charset="0"/>
                                      <a:ea typeface="Times New Roman" panose="02020603050405020304" pitchFamily="18" charset="0"/>
                                      <a:cs typeface="Arial" panose="020B0604020202020204" pitchFamily="34" charset="0"/>
                                      <a:hlinkClick r:id="rId2"/>
                                    </a:rPr>
                                  </m:ctrlPr>
                                </m:sSupPr>
                                <m:e>
                                  <m:r>
                                    <m:rPr>
                                      <m:sty m:val="p"/>
                                    </m:rPr>
                                    <a:rPr lang="en-US" sz="2000" u="sng" kern="0">
                                      <a:solidFill>
                                        <a:srgbClr val="000000"/>
                                      </a:solidFill>
                                      <a:effectLst/>
                                      <a:latin typeface="Cambria Math" panose="02040503050406030204" pitchFamily="18" charset="0"/>
                                      <a:ea typeface="Times New Roman" panose="02020603050405020304" pitchFamily="18" charset="0"/>
                                      <a:cs typeface="Arial" panose="020B0604020202020204" pitchFamily="34" charset="0"/>
                                      <a:hlinkClick r:id="rId2"/>
                                    </a:rPr>
                                    <m:t>Ω</m:t>
                                  </m:r>
                                </m:e>
                                <m:sup>
                                  <m:r>
                                    <a:rPr lang="en-US" sz="2000" i="1" kern="0">
                                      <a:solidFill>
                                        <a:srgbClr val="000000"/>
                                      </a:solidFill>
                                      <a:effectLst/>
                                      <a:latin typeface="Cambria Math" panose="02040503050406030204" pitchFamily="18" charset="0"/>
                                      <a:ea typeface="Yu Mincho" panose="02020400000000000000" pitchFamily="18" charset="-128"/>
                                    </a:rPr>
                                    <m:t>−1</m:t>
                                  </m:r>
                                </m:sup>
                              </m:sSup>
                              <m:r>
                                <a:rPr lang="en-US" sz="2000" i="1" kern="0">
                                  <a:solidFill>
                                    <a:srgbClr val="000000"/>
                                  </a:solidFill>
                                  <a:effectLst/>
                                  <a:latin typeface="Cambria Math" panose="02040503050406030204" pitchFamily="18" charset="0"/>
                                  <a:ea typeface="Yu Mincho" panose="02020400000000000000" pitchFamily="18" charset="-128"/>
                                </a:rPr>
                                <m:t>)</m:t>
                              </m:r>
                            </m:oMath>
                          </a14:m>
                          <a:endParaRPr lang="en-US" sz="2000" kern="100">
                            <a:solidFill>
                              <a:srgbClr val="000000"/>
                            </a:solidFill>
                            <a:effectLst/>
                            <a:latin typeface="Times New Roman" panose="02020603050405020304" pitchFamily="18" charset="0"/>
                            <a:ea typeface="Times New Roman" panose="02020603050405020304" pitchFamily="18" charset="0"/>
                          </a:endParaRPr>
                        </a:p>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 </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2000" i="1" kern="0" smtClean="0">
                                  <a:solidFill>
                                    <a:srgbClr val="000000"/>
                                  </a:solidFill>
                                  <a:effectLst/>
                                  <a:latin typeface="Cambria Math" panose="02040503050406030204" pitchFamily="18" charset="0"/>
                                  <a:ea typeface="Times New Roman" panose="02020603050405020304" pitchFamily="18" charset="0"/>
                                </a:rPr>
                                <m:t>23</m:t>
                              </m:r>
                            </m:oMath>
                          </a14:m>
                          <a:r>
                            <a:rPr lang="vi-VN" sz="2000" kern="0">
                              <a:solidFill>
                                <a:srgbClr val="000000"/>
                              </a:solidFill>
                              <a:effectLst/>
                              <a:latin typeface="Cambria Math" panose="02040503050406030204" pitchFamily="18" charset="0"/>
                              <a:ea typeface="Times New Roman" panose="02020603050405020304" pitchFamily="18" charset="0"/>
                            </a:rPr>
                            <a:t>,27</a:t>
                          </a:r>
                          <a:r>
                            <a:rPr lang="en-US" sz="2000" kern="0">
                              <a:solidFill>
                                <a:srgbClr val="000000"/>
                              </a:solidFill>
                              <a:effectLst/>
                              <a:latin typeface="Cambria Math" panose="02040503050406030204" pitchFamily="18" charset="0"/>
                              <a:ea typeface="Times New Roman" panose="02020603050405020304" pitchFamily="18" charset="0"/>
                            </a:rPr>
                            <a:t>(</a:t>
                          </a:r>
                          <a14:m>
                            <m:oMath xmlns:m="http://schemas.openxmlformats.org/officeDocument/2006/math">
                              <m:sSup>
                                <m:sSupPr>
                                  <m:ctrlPr>
                                    <a:rPr lang="en-US" sz="2000" u="sng" kern="0">
                                      <a:solidFill>
                                        <a:srgbClr val="000000"/>
                                      </a:solidFill>
                                      <a:effectLst/>
                                      <a:latin typeface="Cambria Math" panose="02040503050406030204" pitchFamily="18" charset="0"/>
                                      <a:ea typeface="Times New Roman" panose="02020603050405020304" pitchFamily="18" charset="0"/>
                                      <a:cs typeface="Arial" panose="020B0604020202020204" pitchFamily="34" charset="0"/>
                                      <a:hlinkClick r:id="rId2"/>
                                    </a:rPr>
                                  </m:ctrlPr>
                                </m:sSupPr>
                                <m:e>
                                  <m:r>
                                    <m:rPr>
                                      <m:sty m:val="p"/>
                                    </m:rPr>
                                    <a:rPr lang="en-US" sz="2000" u="sng" kern="0">
                                      <a:solidFill>
                                        <a:srgbClr val="000000"/>
                                      </a:solidFill>
                                      <a:effectLst/>
                                      <a:latin typeface="Cambria Math" panose="02040503050406030204" pitchFamily="18" charset="0"/>
                                      <a:ea typeface="Times New Roman" panose="02020603050405020304" pitchFamily="18" charset="0"/>
                                      <a:cs typeface="Arial" panose="020B0604020202020204" pitchFamily="34" charset="0"/>
                                      <a:hlinkClick r:id="rId2"/>
                                    </a:rPr>
                                    <m:t>Ω</m:t>
                                  </m:r>
                                </m:e>
                                <m:sup>
                                  <m:r>
                                    <a:rPr lang="en-US" sz="2000" i="1" kern="0">
                                      <a:solidFill>
                                        <a:srgbClr val="000000"/>
                                      </a:solidFill>
                                      <a:effectLst/>
                                      <a:latin typeface="Cambria Math" panose="02040503050406030204" pitchFamily="18" charset="0"/>
                                      <a:ea typeface="Yu Mincho" panose="02020400000000000000" pitchFamily="18" charset="-128"/>
                                    </a:rPr>
                                    <m:t>−1</m:t>
                                  </m:r>
                                </m:sup>
                              </m:sSup>
                              <m:r>
                                <a:rPr lang="en-US" sz="2000" i="1" kern="0">
                                  <a:solidFill>
                                    <a:srgbClr val="000000"/>
                                  </a:solidFill>
                                  <a:effectLst/>
                                  <a:latin typeface="Cambria Math" panose="02040503050406030204" pitchFamily="18" charset="0"/>
                                  <a:ea typeface="Yu Mincho" panose="02020400000000000000" pitchFamily="18" charset="-128"/>
                                </a:rPr>
                                <m:t>)</m:t>
                              </m:r>
                            </m:oMath>
                          </a14:m>
                          <a:endParaRPr lang="en-US" sz="2000" kern="100">
                            <a:solidFill>
                              <a:srgbClr val="000000"/>
                            </a:solidFill>
                            <a:effectLst/>
                            <a:latin typeface="Times New Roman" panose="02020603050405020304" pitchFamily="18" charset="0"/>
                            <a:ea typeface="Times New Roman" panose="02020603050405020304" pitchFamily="18" charset="0"/>
                          </a:endParaRPr>
                        </a:p>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 </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96320218"/>
                      </a:ext>
                    </a:extLst>
                  </a:tr>
                  <a:tr h="664832">
                    <a:tc>
                      <a:txBody>
                        <a:bodyPr/>
                        <a:lstStyle/>
                        <a:p>
                          <a:pPr marL="205740" marR="0" indent="-6350" algn="ctr">
                            <a:lnSpc>
                              <a:spcPct val="150000"/>
                            </a:lnSpc>
                            <a:spcBef>
                              <a:spcPts val="300"/>
                            </a:spcBef>
                            <a:spcAft>
                              <a:spcPts val="25"/>
                            </a:spcAft>
                          </a:pPr>
                          <a:r>
                            <a:rPr lang="en-US" sz="2000" b="1" kern="0">
                              <a:solidFill>
                                <a:srgbClr val="000000"/>
                              </a:solidFill>
                              <a:effectLst/>
                              <a:latin typeface="Times New Roman" panose="02020603050405020304" pitchFamily="18" charset="0"/>
                              <a:ea typeface="Times New Roman" panose="02020603050405020304" pitchFamily="18" charset="0"/>
                            </a:rPr>
                            <a:t>L</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Điện cảm bộ dao động ảo</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Para xmlns:m="http://schemas.openxmlformats.org/officeDocument/2006/math">
                              <m:oMath>
                                <m:r>
                                  <a:rPr lang="vi-VN" sz="2000" i="1" kern="1200" smtClean="0">
                                    <a:solidFill>
                                      <a:srgbClr val="000000"/>
                                    </a:solidFill>
                                    <a:effectLst/>
                                    <a:latin typeface="Cambria Math" panose="02040503050406030204" pitchFamily="18" charset="0"/>
                                    <a:ea typeface="Times New Roman" panose="02020603050405020304" pitchFamily="18" charset="0"/>
                                  </a:rPr>
                                  <m:t>2</m:t>
                                </m:r>
                                <m:r>
                                  <a:rPr lang="vi-VN" sz="2000" b="0" i="1" kern="1200" smtClean="0">
                                    <a:solidFill>
                                      <a:srgbClr val="000000"/>
                                    </a:solidFill>
                                    <a:effectLst/>
                                    <a:latin typeface="Cambria Math" panose="02040503050406030204" pitchFamily="18" charset="0"/>
                                    <a:ea typeface="Times New Roman" panose="02020603050405020304" pitchFamily="18" charset="0"/>
                                  </a:rPr>
                                  <m:t>,03</m:t>
                                </m:r>
                                <m:r>
                                  <a:rPr lang="en-US" sz="2000" i="1" kern="1200">
                                    <a:solidFill>
                                      <a:srgbClr val="000000"/>
                                    </a:solidFill>
                                    <a:effectLst/>
                                    <a:latin typeface="Cambria Math" panose="02040503050406030204" pitchFamily="18" charset="0"/>
                                    <a:ea typeface="Times New Roman" panose="02020603050405020304" pitchFamily="18" charset="0"/>
                                  </a:rPr>
                                  <m:t>. </m:t>
                                </m:r>
                                <m:sSup>
                                  <m:sSupPr>
                                    <m:ctrlPr>
                                      <a:rPr lang="en-US" sz="2000" i="1" kern="0">
                                        <a:solidFill>
                                          <a:srgbClr val="000000"/>
                                        </a:solidFill>
                                        <a:effectLst/>
                                        <a:latin typeface="Cambria Math" panose="02040503050406030204" pitchFamily="18" charset="0"/>
                                        <a:ea typeface="Yu Mincho" panose="02020400000000000000" pitchFamily="18" charset="-128"/>
                                      </a:rPr>
                                    </m:ctrlPr>
                                  </m:sSupPr>
                                  <m:e>
                                    <m:r>
                                      <a:rPr lang="en-US" sz="2000" i="1" kern="0">
                                        <a:solidFill>
                                          <a:srgbClr val="000000"/>
                                        </a:solidFill>
                                        <a:effectLst/>
                                        <a:latin typeface="Cambria Math" panose="02040503050406030204" pitchFamily="18" charset="0"/>
                                        <a:ea typeface="Yu Mincho" panose="02020400000000000000" pitchFamily="18" charset="-128"/>
                                      </a:rPr>
                                      <m:t>10</m:t>
                                    </m:r>
                                  </m:e>
                                  <m:sup>
                                    <m:r>
                                      <a:rPr lang="en-US" sz="2000" i="1" kern="0">
                                        <a:solidFill>
                                          <a:srgbClr val="000000"/>
                                        </a:solidFill>
                                        <a:effectLst/>
                                        <a:latin typeface="Cambria Math" panose="02040503050406030204" pitchFamily="18" charset="0"/>
                                        <a:ea typeface="Yu Mincho" panose="02020400000000000000" pitchFamily="18" charset="-128"/>
                                      </a:rPr>
                                      <m:t>−5</m:t>
                                    </m:r>
                                  </m:sup>
                                </m:sSup>
                                <m:r>
                                  <a:rPr lang="en-US" sz="2000" i="1" kern="0">
                                    <a:solidFill>
                                      <a:srgbClr val="000000"/>
                                    </a:solidFill>
                                    <a:effectLst/>
                                    <a:latin typeface="Cambria Math" panose="02040503050406030204" pitchFamily="18" charset="0"/>
                                    <a:ea typeface="Yu Mincho" panose="02020400000000000000" pitchFamily="18" charset="-128"/>
                                  </a:rPr>
                                  <m:t> (</m:t>
                                </m:r>
                                <m:r>
                                  <a:rPr lang="en-US" sz="2000" i="1" kern="0">
                                    <a:solidFill>
                                      <a:srgbClr val="000000"/>
                                    </a:solidFill>
                                    <a:effectLst/>
                                    <a:latin typeface="Cambria Math" panose="02040503050406030204" pitchFamily="18" charset="0"/>
                                    <a:ea typeface="Yu Mincho" panose="02020400000000000000" pitchFamily="18" charset="-128"/>
                                  </a:rPr>
                                  <m:t>𝐻</m:t>
                                </m:r>
                                <m:r>
                                  <a:rPr lang="en-US" sz="2000" i="1" kern="0">
                                    <a:solidFill>
                                      <a:srgbClr val="000000"/>
                                    </a:solidFill>
                                    <a:effectLst/>
                                    <a:latin typeface="Cambria Math" panose="02040503050406030204" pitchFamily="18" charset="0"/>
                                    <a:ea typeface="Yu Mincho" panose="02020400000000000000" pitchFamily="18" charset="-128"/>
                                  </a:rPr>
                                  <m:t>)</m:t>
                                </m:r>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Para xmlns:m="http://schemas.openxmlformats.org/officeDocument/2006/math">
                              <m:oMath>
                                <m:r>
                                  <a:rPr lang="vi-VN" sz="2000" i="1" kern="1200" smtClean="0">
                                    <a:solidFill>
                                      <a:srgbClr val="000000"/>
                                    </a:solidFill>
                                    <a:effectLst/>
                                    <a:latin typeface="Cambria Math" panose="02040503050406030204" pitchFamily="18" charset="0"/>
                                    <a:ea typeface="Times New Roman" panose="02020603050405020304" pitchFamily="18" charset="0"/>
                                  </a:rPr>
                                  <m:t>2</m:t>
                                </m:r>
                                <m:r>
                                  <a:rPr lang="vi-VN" sz="2000" b="0" i="1" kern="1200" smtClean="0">
                                    <a:solidFill>
                                      <a:srgbClr val="000000"/>
                                    </a:solidFill>
                                    <a:effectLst/>
                                    <a:latin typeface="Cambria Math" panose="02040503050406030204" pitchFamily="18" charset="0"/>
                                    <a:ea typeface="Times New Roman" panose="02020603050405020304" pitchFamily="18" charset="0"/>
                                  </a:rPr>
                                  <m:t>,03</m:t>
                                </m:r>
                                <m:r>
                                  <a:rPr lang="en-US" sz="2000" i="1" kern="1200">
                                    <a:solidFill>
                                      <a:srgbClr val="000000"/>
                                    </a:solidFill>
                                    <a:effectLst/>
                                    <a:latin typeface="Cambria Math" panose="02040503050406030204" pitchFamily="18" charset="0"/>
                                    <a:ea typeface="Times New Roman" panose="02020603050405020304" pitchFamily="18" charset="0"/>
                                  </a:rPr>
                                  <m:t>. </m:t>
                                </m:r>
                                <m:sSup>
                                  <m:sSupPr>
                                    <m:ctrlPr>
                                      <a:rPr lang="en-US" sz="2000" i="1" kern="0">
                                        <a:solidFill>
                                          <a:srgbClr val="000000"/>
                                        </a:solidFill>
                                        <a:effectLst/>
                                        <a:latin typeface="Cambria Math" panose="02040503050406030204" pitchFamily="18" charset="0"/>
                                        <a:ea typeface="Yu Mincho" panose="02020400000000000000" pitchFamily="18" charset="-128"/>
                                      </a:rPr>
                                    </m:ctrlPr>
                                  </m:sSupPr>
                                  <m:e>
                                    <m:r>
                                      <a:rPr lang="en-US" sz="2000" i="1" kern="0">
                                        <a:solidFill>
                                          <a:srgbClr val="000000"/>
                                        </a:solidFill>
                                        <a:effectLst/>
                                        <a:latin typeface="Cambria Math" panose="02040503050406030204" pitchFamily="18" charset="0"/>
                                        <a:ea typeface="Yu Mincho" panose="02020400000000000000" pitchFamily="18" charset="-128"/>
                                      </a:rPr>
                                      <m:t>10</m:t>
                                    </m:r>
                                  </m:e>
                                  <m:sup>
                                    <m:r>
                                      <a:rPr lang="en-US" sz="2000" i="1" kern="0">
                                        <a:solidFill>
                                          <a:srgbClr val="000000"/>
                                        </a:solidFill>
                                        <a:effectLst/>
                                        <a:latin typeface="Cambria Math" panose="02040503050406030204" pitchFamily="18" charset="0"/>
                                        <a:ea typeface="Yu Mincho" panose="02020400000000000000" pitchFamily="18" charset="-128"/>
                                      </a:rPr>
                                      <m:t>−5</m:t>
                                    </m:r>
                                  </m:sup>
                                </m:sSup>
                                <m:r>
                                  <a:rPr lang="en-US" sz="2000" i="1" kern="0">
                                    <a:solidFill>
                                      <a:srgbClr val="000000"/>
                                    </a:solidFill>
                                    <a:effectLst/>
                                    <a:latin typeface="Cambria Math" panose="02040503050406030204" pitchFamily="18" charset="0"/>
                                    <a:ea typeface="Yu Mincho" panose="02020400000000000000" pitchFamily="18" charset="-128"/>
                                  </a:rPr>
                                  <m:t> (</m:t>
                                </m:r>
                                <m:r>
                                  <a:rPr lang="en-US" sz="2000" i="1" kern="0">
                                    <a:solidFill>
                                      <a:srgbClr val="000000"/>
                                    </a:solidFill>
                                    <a:effectLst/>
                                    <a:latin typeface="Cambria Math" panose="02040503050406030204" pitchFamily="18" charset="0"/>
                                    <a:ea typeface="Yu Mincho" panose="02020400000000000000" pitchFamily="18" charset="-128"/>
                                  </a:rPr>
                                  <m:t>𝐻</m:t>
                                </m:r>
                                <m:r>
                                  <a:rPr lang="en-US" sz="2000" i="1" kern="0">
                                    <a:solidFill>
                                      <a:srgbClr val="000000"/>
                                    </a:solidFill>
                                    <a:effectLst/>
                                    <a:latin typeface="Cambria Math" panose="02040503050406030204" pitchFamily="18" charset="0"/>
                                    <a:ea typeface="Yu Mincho" panose="02020400000000000000" pitchFamily="18" charset="-128"/>
                                  </a:rPr>
                                  <m:t>)</m:t>
                                </m:r>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30702622"/>
                      </a:ext>
                    </a:extLst>
                  </a:tr>
                  <a:tr h="521436">
                    <a:tc>
                      <a:txBody>
                        <a:bodyPr/>
                        <a:lstStyle/>
                        <a:p>
                          <a:pPr marL="205740" marR="0" indent="-6350" algn="ctr">
                            <a:lnSpc>
                              <a:spcPct val="150000"/>
                            </a:lnSpc>
                            <a:spcBef>
                              <a:spcPts val="300"/>
                            </a:spcBef>
                            <a:spcAft>
                              <a:spcPts val="25"/>
                            </a:spcAft>
                          </a:pPr>
                          <a:r>
                            <a:rPr lang="en-US" sz="2000" b="1" kern="0">
                              <a:solidFill>
                                <a:srgbClr val="000000"/>
                              </a:solidFill>
                              <a:effectLst/>
                              <a:latin typeface="Times New Roman" panose="02020603050405020304" pitchFamily="18" charset="0"/>
                              <a:ea typeface="Times New Roman" panose="02020603050405020304" pitchFamily="18" charset="0"/>
                            </a:rPr>
                            <a:t>C</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Tụ điện bộ dao động ảo</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1200">
                              <a:solidFill>
                                <a:srgbClr val="000000"/>
                              </a:solidFill>
                              <a:effectLst/>
                              <a:latin typeface="Times New Roman" panose="02020603050405020304" pitchFamily="18" charset="0"/>
                              <a:ea typeface="Times New Roman" panose="02020603050405020304" pitchFamily="18" charset="0"/>
                            </a:rPr>
                            <a:t>0,</a:t>
                          </a:r>
                          <a:r>
                            <a:rPr lang="vi-VN" sz="2000" kern="1200">
                              <a:solidFill>
                                <a:srgbClr val="000000"/>
                              </a:solidFill>
                              <a:effectLst/>
                              <a:latin typeface="Times New Roman" panose="02020603050405020304" pitchFamily="18" charset="0"/>
                              <a:ea typeface="Times New Roman" panose="02020603050405020304" pitchFamily="18" charset="0"/>
                            </a:rPr>
                            <a:t>5</a:t>
                          </a:r>
                          <a:r>
                            <a:rPr lang="en-US" sz="2000" kern="1200">
                              <a:solidFill>
                                <a:srgbClr val="000000"/>
                              </a:solidFill>
                              <a:effectLst/>
                              <a:latin typeface="Times New Roman" panose="02020603050405020304" pitchFamily="18" charset="0"/>
                              <a:ea typeface="Times New Roman" panose="02020603050405020304" pitchFamily="18" charset="0"/>
                            </a:rPr>
                            <a:t>(F)</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1200">
                              <a:solidFill>
                                <a:srgbClr val="000000"/>
                              </a:solidFill>
                              <a:effectLst/>
                              <a:latin typeface="Times New Roman" panose="02020603050405020304" pitchFamily="18" charset="0"/>
                              <a:ea typeface="Times New Roman" panose="02020603050405020304" pitchFamily="18" charset="0"/>
                            </a:rPr>
                            <a:t>0,</a:t>
                          </a:r>
                          <a:r>
                            <a:rPr lang="vi-VN" sz="2000" kern="1200">
                              <a:solidFill>
                                <a:srgbClr val="000000"/>
                              </a:solidFill>
                              <a:effectLst/>
                              <a:latin typeface="Times New Roman" panose="02020603050405020304" pitchFamily="18" charset="0"/>
                              <a:ea typeface="Times New Roman" panose="02020603050405020304" pitchFamily="18" charset="0"/>
                            </a:rPr>
                            <a:t>5</a:t>
                          </a:r>
                          <a:r>
                            <a:rPr lang="en-US" sz="2000" kern="1200">
                              <a:solidFill>
                                <a:srgbClr val="000000"/>
                              </a:solidFill>
                              <a:effectLst/>
                              <a:latin typeface="Times New Roman" panose="02020603050405020304" pitchFamily="18" charset="0"/>
                              <a:ea typeface="Times New Roman" panose="02020603050405020304" pitchFamily="18" charset="0"/>
                            </a:rPr>
                            <a:t>(F)</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84395447"/>
                      </a:ext>
                    </a:extLst>
                  </a:tr>
                </a:tbl>
              </a:graphicData>
            </a:graphic>
          </p:graphicFrame>
        </mc:Choice>
        <mc:Fallback xmlns="">
          <p:graphicFrame>
            <p:nvGraphicFramePr>
              <p:cNvPr id="5" name="Table 4">
                <a:extLst>
                  <a:ext uri="{FF2B5EF4-FFF2-40B4-BE49-F238E27FC236}">
                    <a16:creationId xmlns:a16="http://schemas.microsoft.com/office/drawing/2014/main" id="{D2884EA3-7C99-F88B-99A0-1565B0145C0C}"/>
                  </a:ext>
                </a:extLst>
              </p:cNvPr>
              <p:cNvGraphicFramePr>
                <a:graphicFrameLocks noGrp="1"/>
              </p:cNvGraphicFramePr>
              <p:nvPr/>
            </p:nvGraphicFramePr>
            <p:xfrm>
              <a:off x="1459148" y="2003897"/>
              <a:ext cx="9105088" cy="4456504"/>
            </p:xfrm>
            <a:graphic>
              <a:graphicData uri="http://schemas.openxmlformats.org/drawingml/2006/table">
                <a:tbl>
                  <a:tblPr firstRow="1" bandRow="1">
                    <a:tableStyleId>{7DF18680-E054-41AD-8BC1-D1AEF772440D}</a:tableStyleId>
                  </a:tblPr>
                  <a:tblGrid>
                    <a:gridCol w="1410512">
                      <a:extLst>
                        <a:ext uri="{9D8B030D-6E8A-4147-A177-3AD203B41FA5}">
                          <a16:colId xmlns:a16="http://schemas.microsoft.com/office/drawing/2014/main" val="2099080480"/>
                        </a:ext>
                      </a:extLst>
                    </a:gridCol>
                    <a:gridCol w="3356042">
                      <a:extLst>
                        <a:ext uri="{9D8B030D-6E8A-4147-A177-3AD203B41FA5}">
                          <a16:colId xmlns:a16="http://schemas.microsoft.com/office/drawing/2014/main" val="3807464349"/>
                        </a:ext>
                      </a:extLst>
                    </a:gridCol>
                    <a:gridCol w="2062262">
                      <a:extLst>
                        <a:ext uri="{9D8B030D-6E8A-4147-A177-3AD203B41FA5}">
                          <a16:colId xmlns:a16="http://schemas.microsoft.com/office/drawing/2014/main" val="2047883326"/>
                        </a:ext>
                      </a:extLst>
                    </a:gridCol>
                    <a:gridCol w="2276272">
                      <a:extLst>
                        <a:ext uri="{9D8B030D-6E8A-4147-A177-3AD203B41FA5}">
                          <a16:colId xmlns:a16="http://schemas.microsoft.com/office/drawing/2014/main" val="2230794826"/>
                        </a:ext>
                      </a:extLst>
                    </a:gridCol>
                  </a:tblGrid>
                  <a:tr h="521436">
                    <a:tc>
                      <a:txBody>
                        <a:bodyPr/>
                        <a:lstStyle/>
                        <a:p>
                          <a:pPr marL="205740" marR="0" indent="-6350" algn="just">
                            <a:lnSpc>
                              <a:spcPct val="150000"/>
                            </a:lnSpc>
                            <a:spcBef>
                              <a:spcPts val="300"/>
                            </a:spcBef>
                            <a:spcAft>
                              <a:spcPts val="25"/>
                            </a:spcAft>
                          </a:pPr>
                          <a:r>
                            <a:rPr lang="en-US" sz="2000" b="1" kern="0" dirty="0" err="1">
                              <a:solidFill>
                                <a:srgbClr val="000000"/>
                              </a:solidFill>
                              <a:effectLst/>
                              <a:latin typeface="Times New Roman" panose="02020603050405020304" pitchFamily="18" charset="0"/>
                              <a:ea typeface="Times New Roman" panose="02020603050405020304" pitchFamily="18" charset="0"/>
                            </a:rPr>
                            <a:t>Kí</a:t>
                          </a:r>
                          <a:r>
                            <a:rPr lang="en-US" sz="2000" b="1" kern="0" dirty="0">
                              <a:solidFill>
                                <a:srgbClr val="000000"/>
                              </a:solidFill>
                              <a:effectLst/>
                              <a:latin typeface="Times New Roman" panose="02020603050405020304" pitchFamily="18" charset="0"/>
                              <a:ea typeface="Times New Roman" panose="02020603050405020304" pitchFamily="18" charset="0"/>
                            </a:rPr>
                            <a:t> </a:t>
                          </a:r>
                          <a:r>
                            <a:rPr lang="en-US" sz="2000" b="1" kern="0" dirty="0" err="1">
                              <a:solidFill>
                                <a:srgbClr val="000000"/>
                              </a:solidFill>
                              <a:effectLst/>
                              <a:latin typeface="Times New Roman" panose="02020603050405020304" pitchFamily="18" charset="0"/>
                              <a:ea typeface="Times New Roman" panose="02020603050405020304" pitchFamily="18" charset="0"/>
                            </a:rPr>
                            <a:t>hiệu</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dirty="0" err="1">
                              <a:solidFill>
                                <a:srgbClr val="000000"/>
                              </a:solidFill>
                              <a:effectLst/>
                              <a:latin typeface="Times New Roman" panose="02020603050405020304" pitchFamily="18" charset="0"/>
                              <a:ea typeface="Times New Roman" panose="02020603050405020304" pitchFamily="18" charset="0"/>
                            </a:rPr>
                            <a:t>Tham</a:t>
                          </a:r>
                          <a:r>
                            <a:rPr lang="en-US" sz="2000" b="1" kern="0" dirty="0">
                              <a:solidFill>
                                <a:srgbClr val="000000"/>
                              </a:solidFill>
                              <a:effectLst/>
                              <a:latin typeface="Times New Roman" panose="02020603050405020304" pitchFamily="18" charset="0"/>
                              <a:ea typeface="Times New Roman" panose="02020603050405020304" pitchFamily="18" charset="0"/>
                            </a:rPr>
                            <a:t> </a:t>
                          </a:r>
                          <a:r>
                            <a:rPr lang="en-US" sz="2000" b="1" kern="0" dirty="0" err="1">
                              <a:solidFill>
                                <a:srgbClr val="000000"/>
                              </a:solidFill>
                              <a:effectLst/>
                              <a:latin typeface="Times New Roman" panose="02020603050405020304" pitchFamily="18" charset="0"/>
                              <a:ea typeface="Times New Roman" panose="02020603050405020304" pitchFamily="18" charset="0"/>
                            </a:rPr>
                            <a:t>số</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dirty="0">
                              <a:solidFill>
                                <a:srgbClr val="000000"/>
                              </a:solidFill>
                              <a:effectLst/>
                              <a:latin typeface="Times New Roman" panose="02020603050405020304" pitchFamily="18" charset="0"/>
                              <a:ea typeface="Times New Roman" panose="02020603050405020304" pitchFamily="18" charset="0"/>
                            </a:rPr>
                            <a:t>Inverter 1</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dirty="0">
                              <a:solidFill>
                                <a:srgbClr val="000000"/>
                              </a:solidFill>
                              <a:effectLst/>
                              <a:latin typeface="Times New Roman" panose="02020603050405020304" pitchFamily="18" charset="0"/>
                              <a:ea typeface="Times New Roman" panose="02020603050405020304" pitchFamily="18" charset="0"/>
                            </a:rPr>
                            <a:t>Inverter 2</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extLst>
                      <a:ext uri="{0D108BD9-81ED-4DB2-BD59-A6C34878D82A}">
                        <a16:rowId xmlns:a16="http://schemas.microsoft.com/office/drawing/2014/main" val="1667104164"/>
                      </a:ext>
                    </a:extLst>
                  </a:tr>
                  <a:tr h="521436">
                    <a:tc>
                      <a:txBody>
                        <a:bodyPr/>
                        <a:lstStyle/>
                        <a:p>
                          <a:endParaRPr lang="vi-VN"/>
                        </a:p>
                      </a:txBody>
                      <a:tcPr marL="68580" marR="68580" marT="0" marB="0">
                        <a:blipFill>
                          <a:blip r:embed="rId3"/>
                          <a:stretch>
                            <a:fillRect l="-433" t="-102353" r="-548918" b="-667059"/>
                          </a:stretch>
                        </a:blipFill>
                      </a:tcPr>
                    </a:tc>
                    <a:tc>
                      <a:txBody>
                        <a:bodyPr/>
                        <a:lstStyle/>
                        <a:p>
                          <a:pPr marL="205740" marR="0" indent="-6350" algn="ctr">
                            <a:lnSpc>
                              <a:spcPct val="150000"/>
                            </a:lnSpc>
                            <a:spcBef>
                              <a:spcPts val="300"/>
                            </a:spcBef>
                            <a:spcAft>
                              <a:spcPts val="25"/>
                            </a:spcAft>
                          </a:pPr>
                          <a:r>
                            <a:rPr lang="en-US" sz="2000" kern="0" dirty="0" err="1">
                              <a:solidFill>
                                <a:srgbClr val="000000"/>
                              </a:solidFill>
                              <a:effectLst/>
                              <a:latin typeface="Times New Roman" panose="02020603050405020304" pitchFamily="18" charset="0"/>
                              <a:ea typeface="Times New Roman" panose="02020603050405020304" pitchFamily="18" charset="0"/>
                            </a:rPr>
                            <a:t>Hệ</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số</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căn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chỉnh</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điện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áp</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0" dirty="0">
                              <a:solidFill>
                                <a:srgbClr val="000000"/>
                              </a:solidFill>
                              <a:effectLst/>
                              <a:latin typeface="Cambria Math" panose="02040503050406030204" pitchFamily="18" charset="0"/>
                              <a:ea typeface="Times New Roman" panose="02020603050405020304" pitchFamily="18" charset="0"/>
                            </a:rPr>
                            <a:t>225</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0" dirty="0">
                              <a:solidFill>
                                <a:srgbClr val="000000"/>
                              </a:solidFill>
                              <a:effectLst/>
                              <a:latin typeface="Cambria Math" panose="02040503050406030204" pitchFamily="18" charset="0"/>
                              <a:ea typeface="Times New Roman" panose="02020603050405020304" pitchFamily="18" charset="0"/>
                            </a:rPr>
                            <a:t>225</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37835341"/>
                      </a:ext>
                    </a:extLst>
                  </a:tr>
                  <a:tr h="664832">
                    <a:tc>
                      <a:txBody>
                        <a:bodyPr/>
                        <a:lstStyle/>
                        <a:p>
                          <a:endParaRPr lang="vi-VN"/>
                        </a:p>
                      </a:txBody>
                      <a:tcPr marL="68580" marR="68580" marT="0" marB="0">
                        <a:blipFill>
                          <a:blip r:embed="rId3"/>
                          <a:stretch>
                            <a:fillRect l="-433" t="-157798" r="-548918" b="-420183"/>
                          </a:stretch>
                        </a:blipFill>
                      </a:tcPr>
                    </a:tc>
                    <a:tc>
                      <a:txBody>
                        <a:bodyPr/>
                        <a:lstStyle/>
                        <a:p>
                          <a:pPr marL="205740" marR="0" indent="-6350" algn="ctr">
                            <a:lnSpc>
                              <a:spcPct val="150000"/>
                            </a:lnSpc>
                            <a:spcBef>
                              <a:spcPts val="300"/>
                            </a:spcBef>
                            <a:spcAft>
                              <a:spcPts val="25"/>
                            </a:spcAft>
                          </a:pPr>
                          <a:r>
                            <a:rPr lang="en-US" sz="2000" kern="0" dirty="0" err="1">
                              <a:solidFill>
                                <a:srgbClr val="000000"/>
                              </a:solidFill>
                              <a:effectLst/>
                              <a:latin typeface="Times New Roman" panose="02020603050405020304" pitchFamily="18" charset="0"/>
                              <a:ea typeface="Times New Roman" panose="02020603050405020304" pitchFamily="18" charset="0"/>
                            </a:rPr>
                            <a:t>Hệ</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số</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căn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chỉnh</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dòng</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điện</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100" dirty="0">
                              <a:solidFill>
                                <a:srgbClr val="000000"/>
                              </a:solidFill>
                              <a:effectLst/>
                              <a:ea typeface="Times New Roman" panose="02020603050405020304" pitchFamily="18" charset="0"/>
                            </a:rPr>
                            <a:t>0.293</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3"/>
                          <a:stretch>
                            <a:fillRect l="-300804" t="-157798" r="-1340" b="-420183"/>
                          </a:stretch>
                        </a:blipFill>
                      </a:tcPr>
                    </a:tc>
                    <a:extLst>
                      <a:ext uri="{0D108BD9-81ED-4DB2-BD59-A6C34878D82A}">
                        <a16:rowId xmlns:a16="http://schemas.microsoft.com/office/drawing/2014/main" val="1041384075"/>
                      </a:ext>
                    </a:extLst>
                  </a:tr>
                  <a:tr h="664832">
                    <a:tc>
                      <a:txBody>
                        <a:bodyPr/>
                        <a:lstStyle/>
                        <a:p>
                          <a:endParaRPr lang="vi-VN"/>
                        </a:p>
                      </a:txBody>
                      <a:tcPr marL="68580" marR="68580" marT="0" marB="0">
                        <a:blipFill>
                          <a:blip r:embed="rId3"/>
                          <a:stretch>
                            <a:fillRect l="-433" t="-255455" r="-548918" b="-316364"/>
                          </a:stretch>
                        </a:blipFill>
                      </a:tcPr>
                    </a:tc>
                    <a:tc>
                      <a:txBody>
                        <a:bodyPr/>
                        <a:lstStyle/>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Hệ số nguồn dòng phụ thuộc</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3"/>
                          <a:stretch>
                            <a:fillRect l="-230973" t="-255455" r="-111504" b="-316364"/>
                          </a:stretch>
                        </a:blipFill>
                      </a:tcPr>
                    </a:tc>
                    <a:tc>
                      <a:txBody>
                        <a:bodyPr/>
                        <a:lstStyle/>
                        <a:p>
                          <a:endParaRPr lang="vi-VN"/>
                        </a:p>
                      </a:txBody>
                      <a:tcPr marL="68580" marR="68580" marT="0" marB="0">
                        <a:blipFill>
                          <a:blip r:embed="rId3"/>
                          <a:stretch>
                            <a:fillRect l="-300804" t="-255455" r="-1340" b="-316364"/>
                          </a:stretch>
                        </a:blipFill>
                      </a:tcPr>
                    </a:tc>
                    <a:extLst>
                      <a:ext uri="{0D108BD9-81ED-4DB2-BD59-A6C34878D82A}">
                        <a16:rowId xmlns:a16="http://schemas.microsoft.com/office/drawing/2014/main" val="603328144"/>
                      </a:ext>
                    </a:extLst>
                  </a:tr>
                  <a:tr h="897700">
                    <a:tc>
                      <a:txBody>
                        <a:bodyPr/>
                        <a:lstStyle/>
                        <a:p>
                          <a:endParaRPr lang="vi-VN"/>
                        </a:p>
                      </a:txBody>
                      <a:tcPr marL="68580" marR="68580" marT="0" marB="0">
                        <a:blipFill>
                          <a:blip r:embed="rId3"/>
                          <a:stretch>
                            <a:fillRect l="-433" t="-265986" r="-548918" b="-136735"/>
                          </a:stretch>
                        </a:blipFill>
                      </a:tcPr>
                    </a:tc>
                    <a:tc>
                      <a:txBody>
                        <a:bodyPr/>
                        <a:lstStyle/>
                        <a:p>
                          <a:pPr marL="205740" marR="0" indent="-6350" algn="ctr">
                            <a:lnSpc>
                              <a:spcPct val="150000"/>
                            </a:lnSpc>
                            <a:spcBef>
                              <a:spcPts val="300"/>
                            </a:spcBef>
                            <a:spcAft>
                              <a:spcPts val="25"/>
                            </a:spcAft>
                          </a:pPr>
                          <a:r>
                            <a:rPr lang="en-US" sz="2000" kern="0" dirty="0" err="1">
                              <a:solidFill>
                                <a:srgbClr val="000000"/>
                              </a:solidFill>
                              <a:effectLst/>
                              <a:latin typeface="Times New Roman" panose="02020603050405020304" pitchFamily="18" charset="0"/>
                              <a:ea typeface="Times New Roman" panose="02020603050405020304" pitchFamily="18" charset="0"/>
                            </a:rPr>
                            <a:t>Điện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dẫn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bộ</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dao</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động</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ảo</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3"/>
                          <a:stretch>
                            <a:fillRect l="-230973" t="-265986" r="-111504" b="-136735"/>
                          </a:stretch>
                        </a:blipFill>
                      </a:tcPr>
                    </a:tc>
                    <a:tc>
                      <a:txBody>
                        <a:bodyPr/>
                        <a:lstStyle/>
                        <a:p>
                          <a:endParaRPr lang="vi-VN"/>
                        </a:p>
                      </a:txBody>
                      <a:tcPr marL="68580" marR="68580" marT="0" marB="0">
                        <a:blipFill>
                          <a:blip r:embed="rId3"/>
                          <a:stretch>
                            <a:fillRect l="-300804" t="-265986" r="-1340" b="-136735"/>
                          </a:stretch>
                        </a:blipFill>
                      </a:tcPr>
                    </a:tc>
                    <a:extLst>
                      <a:ext uri="{0D108BD9-81ED-4DB2-BD59-A6C34878D82A}">
                        <a16:rowId xmlns:a16="http://schemas.microsoft.com/office/drawing/2014/main" val="196320218"/>
                      </a:ext>
                    </a:extLst>
                  </a:tr>
                  <a:tr h="664832">
                    <a:tc>
                      <a:txBody>
                        <a:bodyPr/>
                        <a:lstStyle/>
                        <a:p>
                          <a:pPr marL="205740" marR="0" indent="-6350" algn="ctr">
                            <a:lnSpc>
                              <a:spcPct val="150000"/>
                            </a:lnSpc>
                            <a:spcBef>
                              <a:spcPts val="300"/>
                            </a:spcBef>
                            <a:spcAft>
                              <a:spcPts val="25"/>
                            </a:spcAft>
                          </a:pPr>
                          <a:r>
                            <a:rPr lang="en-US" sz="2000" b="1" kern="0" dirty="0">
                              <a:solidFill>
                                <a:srgbClr val="000000"/>
                              </a:solidFill>
                              <a:effectLst/>
                              <a:latin typeface="Times New Roman" panose="02020603050405020304" pitchFamily="18" charset="0"/>
                              <a:ea typeface="Times New Roman" panose="02020603050405020304" pitchFamily="18" charset="0"/>
                            </a:rPr>
                            <a:t>L</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Điện cảm bộ dao động ảo</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3"/>
                          <a:stretch>
                            <a:fillRect l="-230973" t="-493578" r="-111504" b="-84404"/>
                          </a:stretch>
                        </a:blipFill>
                      </a:tcPr>
                    </a:tc>
                    <a:tc>
                      <a:txBody>
                        <a:bodyPr/>
                        <a:lstStyle/>
                        <a:p>
                          <a:endParaRPr lang="vi-VN"/>
                        </a:p>
                      </a:txBody>
                      <a:tcPr marL="68580" marR="68580" marT="0" marB="0">
                        <a:blipFill>
                          <a:blip r:embed="rId3"/>
                          <a:stretch>
                            <a:fillRect l="-300804" t="-493578" r="-1340" b="-84404"/>
                          </a:stretch>
                        </a:blipFill>
                      </a:tcPr>
                    </a:tc>
                    <a:extLst>
                      <a:ext uri="{0D108BD9-81ED-4DB2-BD59-A6C34878D82A}">
                        <a16:rowId xmlns:a16="http://schemas.microsoft.com/office/drawing/2014/main" val="3530702622"/>
                      </a:ext>
                    </a:extLst>
                  </a:tr>
                  <a:tr h="521436">
                    <a:tc>
                      <a:txBody>
                        <a:bodyPr/>
                        <a:lstStyle/>
                        <a:p>
                          <a:pPr marL="205740" marR="0" indent="-6350" algn="ctr">
                            <a:lnSpc>
                              <a:spcPct val="150000"/>
                            </a:lnSpc>
                            <a:spcBef>
                              <a:spcPts val="300"/>
                            </a:spcBef>
                            <a:spcAft>
                              <a:spcPts val="25"/>
                            </a:spcAft>
                          </a:pPr>
                          <a:r>
                            <a:rPr lang="en-US" sz="2000" b="1" kern="0">
                              <a:solidFill>
                                <a:srgbClr val="000000"/>
                              </a:solidFill>
                              <a:effectLst/>
                              <a:latin typeface="Times New Roman" panose="02020603050405020304" pitchFamily="18" charset="0"/>
                              <a:ea typeface="Times New Roman" panose="02020603050405020304" pitchFamily="18" charset="0"/>
                            </a:rPr>
                            <a:t>C</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Tụ điện bộ dao động ảo</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1200" dirty="0">
                              <a:solidFill>
                                <a:srgbClr val="000000"/>
                              </a:solidFill>
                              <a:effectLst/>
                              <a:latin typeface="Times New Roman" panose="02020603050405020304" pitchFamily="18" charset="0"/>
                              <a:ea typeface="Times New Roman" panose="02020603050405020304" pitchFamily="18" charset="0"/>
                            </a:rPr>
                            <a:t>0,</a:t>
                          </a:r>
                          <a:r>
                            <a:rPr lang="vi-VN" sz="2000" kern="1200" dirty="0">
                              <a:solidFill>
                                <a:srgbClr val="000000"/>
                              </a:solidFill>
                              <a:effectLst/>
                              <a:latin typeface="Times New Roman" panose="02020603050405020304" pitchFamily="18" charset="0"/>
                              <a:ea typeface="Times New Roman" panose="02020603050405020304" pitchFamily="18" charset="0"/>
                            </a:rPr>
                            <a:t>5</a:t>
                          </a:r>
                          <a:r>
                            <a:rPr lang="en-US" sz="2000" kern="1200" dirty="0">
                              <a:solidFill>
                                <a:srgbClr val="000000"/>
                              </a:solidFill>
                              <a:effectLst/>
                              <a:latin typeface="Times New Roman" panose="02020603050405020304" pitchFamily="18" charset="0"/>
                              <a:ea typeface="Times New Roman" panose="02020603050405020304" pitchFamily="18" charset="0"/>
                            </a:rPr>
                            <a:t>(F)</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1200" dirty="0">
                              <a:solidFill>
                                <a:srgbClr val="000000"/>
                              </a:solidFill>
                              <a:effectLst/>
                              <a:latin typeface="Times New Roman" panose="02020603050405020304" pitchFamily="18" charset="0"/>
                              <a:ea typeface="Times New Roman" panose="02020603050405020304" pitchFamily="18" charset="0"/>
                            </a:rPr>
                            <a:t>0,</a:t>
                          </a:r>
                          <a:r>
                            <a:rPr lang="vi-VN" sz="2000" kern="1200" dirty="0">
                              <a:solidFill>
                                <a:srgbClr val="000000"/>
                              </a:solidFill>
                              <a:effectLst/>
                              <a:latin typeface="Times New Roman" panose="02020603050405020304" pitchFamily="18" charset="0"/>
                              <a:ea typeface="Times New Roman" panose="02020603050405020304" pitchFamily="18" charset="0"/>
                            </a:rPr>
                            <a:t>5</a:t>
                          </a:r>
                          <a:r>
                            <a:rPr lang="en-US" sz="2000" kern="1200" dirty="0">
                              <a:solidFill>
                                <a:srgbClr val="000000"/>
                              </a:solidFill>
                              <a:effectLst/>
                              <a:latin typeface="Times New Roman" panose="02020603050405020304" pitchFamily="18" charset="0"/>
                              <a:ea typeface="Times New Roman" panose="02020603050405020304" pitchFamily="18" charset="0"/>
                            </a:rPr>
                            <a:t>(F)</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84395447"/>
                      </a:ext>
                    </a:extLst>
                  </a:tr>
                </a:tbl>
              </a:graphicData>
            </a:graphic>
          </p:graphicFrame>
        </mc:Fallback>
      </mc:AlternateContent>
    </p:spTree>
    <p:extLst>
      <p:ext uri="{BB962C8B-B14F-4D97-AF65-F5344CB8AC3E}">
        <p14:creationId xmlns:p14="http://schemas.microsoft.com/office/powerpoint/2010/main" val="387862323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EFE50-DE85-992B-7BCC-DA8896E7C84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7BD138C-3E85-117A-2688-8F08C409AFE2}"/>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C89CC082-4256-F143-CEF7-59568A569EC9}"/>
              </a:ext>
            </a:extLst>
          </p:cNvPr>
          <p:cNvSpPr>
            <a:spLocks noGrp="1"/>
          </p:cNvSpPr>
          <p:nvPr>
            <p:ph type="sldNum" sz="quarter" idx="12"/>
          </p:nvPr>
        </p:nvSpPr>
        <p:spPr/>
        <p:txBody>
          <a:bodyPr/>
          <a:lstStyle/>
          <a:p>
            <a:fld id="{931DD963-FD40-4A6D-88A9-402A489E81DE}" type="slidenum">
              <a:rPr lang="en-US" smtClean="0"/>
              <a:t>89</a:t>
            </a:fld>
            <a:endParaRPr lang="en-US"/>
          </a:p>
        </p:txBody>
      </p:sp>
      <p:grpSp>
        <p:nvGrpSpPr>
          <p:cNvPr id="10" name="Group 9">
            <a:extLst>
              <a:ext uri="{FF2B5EF4-FFF2-40B4-BE49-F238E27FC236}">
                <a16:creationId xmlns:a16="http://schemas.microsoft.com/office/drawing/2014/main" id="{E7AFEFB5-FEEA-368F-DB1D-96E5B97FF9EF}"/>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368F7C73-22C6-38EC-21EE-11DB73674F7B}"/>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2764125C-AD62-C6D7-622A-4A4E2DBCACC6}"/>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p:sp>
        <p:nvSpPr>
          <p:cNvPr id="7" name="Hộp Văn bản 6">
            <a:extLst>
              <a:ext uri="{FF2B5EF4-FFF2-40B4-BE49-F238E27FC236}">
                <a16:creationId xmlns:a16="http://schemas.microsoft.com/office/drawing/2014/main" id="{95D3831F-6F0C-62B5-9F39-14E8A127D807}"/>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4.4. </a:t>
            </a:r>
            <a:r>
              <a:rPr lang="vi-VN" sz="2000" b="1">
                <a:solidFill>
                  <a:prstClr val="black"/>
                </a:solidFill>
                <a:latin typeface="Times New Roman" panose="02020603050405020304" pitchFamily="18" charset="0"/>
                <a:cs typeface="Times New Roman" panose="02020603050405020304" pitchFamily="18" charset="0"/>
              </a:rPr>
              <a:t>Mô phỏng kiểm chứng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 name="TextBox 12">
            <a:extLst>
              <a:ext uri="{FF2B5EF4-FFF2-40B4-BE49-F238E27FC236}">
                <a16:creationId xmlns:a16="http://schemas.microsoft.com/office/drawing/2014/main" id="{65726E46-7FCF-6E40-3DE2-527A2665F13D}"/>
              </a:ext>
            </a:extLst>
          </p:cNvPr>
          <p:cNvSpPr txBox="1"/>
          <p:nvPr/>
        </p:nvSpPr>
        <p:spPr>
          <a:xfrm>
            <a:off x="3239825" y="5718888"/>
            <a:ext cx="5843879" cy="400110"/>
          </a:xfrm>
          <a:prstGeom prst="rect">
            <a:avLst/>
          </a:prstGeom>
          <a:noFill/>
        </p:spPr>
        <p:txBody>
          <a:bodyPr wrap="square" rtlCol="0">
            <a:spAutoFit/>
          </a:bodyPr>
          <a:lstStyle/>
          <a:p>
            <a:r>
              <a:rPr lang="vi-VN" sz="2000">
                <a:latin typeface="Times New Roman" panose="02020603050405020304" pitchFamily="18" charset="0"/>
                <a:cs typeface="Times New Roman" panose="02020603050405020304" pitchFamily="18" charset="0"/>
              </a:rPr>
              <a:t>Hình ảnh kết quả điện áp và phổ sóng hài điện áp ra</a:t>
            </a:r>
            <a:endParaRPr lang="en-US" sz="2000">
              <a:latin typeface="Times New Roman" panose="02020603050405020304" pitchFamily="18" charset="0"/>
              <a:cs typeface="Times New Roman" panose="02020603050405020304" pitchFamily="18" charset="0"/>
            </a:endParaRPr>
          </a:p>
        </p:txBody>
      </p:sp>
      <p:pic>
        <p:nvPicPr>
          <p:cNvPr id="5" name="Picture 5">
            <a:extLst>
              <a:ext uri="{FF2B5EF4-FFF2-40B4-BE49-F238E27FC236}">
                <a16:creationId xmlns:a16="http://schemas.microsoft.com/office/drawing/2014/main" id="{D9146192-209E-0327-3CFB-FE6AB1AD2597}"/>
              </a:ext>
            </a:extLst>
          </p:cNvPr>
          <p:cNvPicPr>
            <a:picLocks noChangeAspect="1"/>
          </p:cNvPicPr>
          <p:nvPr/>
        </p:nvPicPr>
        <p:blipFill>
          <a:blip r:embed="rId2"/>
          <a:stretch>
            <a:fillRect/>
          </a:stretch>
        </p:blipFill>
        <p:spPr>
          <a:xfrm>
            <a:off x="151076" y="1669285"/>
            <a:ext cx="5520660" cy="3678128"/>
          </a:xfrm>
          <a:prstGeom prst="rect">
            <a:avLst/>
          </a:prstGeom>
        </p:spPr>
      </p:pic>
      <p:pic>
        <p:nvPicPr>
          <p:cNvPr id="6" name="Picture 14">
            <a:extLst>
              <a:ext uri="{FF2B5EF4-FFF2-40B4-BE49-F238E27FC236}">
                <a16:creationId xmlns:a16="http://schemas.microsoft.com/office/drawing/2014/main" id="{B7EE0B57-04DD-5E9B-61DE-52049351479A}"/>
              </a:ext>
            </a:extLst>
          </p:cNvPr>
          <p:cNvPicPr>
            <a:picLocks noChangeAspect="1"/>
          </p:cNvPicPr>
          <p:nvPr/>
        </p:nvPicPr>
        <p:blipFill>
          <a:blip r:embed="rId3"/>
          <a:stretch>
            <a:fillRect/>
          </a:stretch>
        </p:blipFill>
        <p:spPr>
          <a:xfrm>
            <a:off x="6161765" y="1669285"/>
            <a:ext cx="5843879" cy="3754674"/>
          </a:xfrm>
          <a:prstGeom prst="rect">
            <a:avLst/>
          </a:prstGeom>
        </p:spPr>
      </p:pic>
    </p:spTree>
    <p:extLst>
      <p:ext uri="{BB962C8B-B14F-4D97-AF65-F5344CB8AC3E}">
        <p14:creationId xmlns:p14="http://schemas.microsoft.com/office/powerpoint/2010/main" val="37349880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E6FC9-67A6-6916-17E6-F22C2811D8E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69D09B78-287F-3D85-CD56-FA8E8D1FF569}"/>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627EE79A-B274-E49C-D8D1-E5457B3392E9}"/>
              </a:ext>
            </a:extLst>
          </p:cNvPr>
          <p:cNvSpPr>
            <a:spLocks noGrp="1"/>
          </p:cNvSpPr>
          <p:nvPr>
            <p:ph type="sldNum" sz="quarter" idx="12"/>
          </p:nvPr>
        </p:nvSpPr>
        <p:spPr/>
        <p:txBody>
          <a:bodyPr/>
          <a:lstStyle/>
          <a:p>
            <a:fld id="{931DD963-FD40-4A6D-88A9-402A489E81DE}" type="slidenum">
              <a:rPr lang="en-US" smtClean="0"/>
              <a:t>90</a:t>
            </a:fld>
            <a:endParaRPr lang="en-US"/>
          </a:p>
        </p:txBody>
      </p:sp>
      <p:grpSp>
        <p:nvGrpSpPr>
          <p:cNvPr id="10" name="Group 9">
            <a:extLst>
              <a:ext uri="{FF2B5EF4-FFF2-40B4-BE49-F238E27FC236}">
                <a16:creationId xmlns:a16="http://schemas.microsoft.com/office/drawing/2014/main" id="{A74D0FF0-710E-CF95-6B4A-46A61EED9606}"/>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AE5823FC-DC28-018C-6E57-B9FD6695BA65}"/>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7CFB2EF6-B1E6-D804-EDD1-9E8B378F6ED7}"/>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p:sp>
        <p:nvSpPr>
          <p:cNvPr id="7" name="Hộp Văn bản 6">
            <a:extLst>
              <a:ext uri="{FF2B5EF4-FFF2-40B4-BE49-F238E27FC236}">
                <a16:creationId xmlns:a16="http://schemas.microsoft.com/office/drawing/2014/main" id="{CDD717D4-0B41-531D-E461-5533C16A80D9}"/>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4.4. </a:t>
            </a:r>
            <a:r>
              <a:rPr lang="vi-VN" sz="2000" b="1">
                <a:solidFill>
                  <a:prstClr val="black"/>
                </a:solidFill>
                <a:latin typeface="Times New Roman" panose="02020603050405020304" pitchFamily="18" charset="0"/>
                <a:cs typeface="Times New Roman" panose="02020603050405020304" pitchFamily="18" charset="0"/>
              </a:rPr>
              <a:t>Mô phỏng kiểm chứng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9" name="Table 13">
                <a:extLst>
                  <a:ext uri="{FF2B5EF4-FFF2-40B4-BE49-F238E27FC236}">
                    <a16:creationId xmlns:a16="http://schemas.microsoft.com/office/drawing/2014/main" id="{29DA4B34-D53B-E03A-C602-B7281363B5A6}"/>
                  </a:ext>
                </a:extLst>
              </p:cNvPr>
              <p:cNvGraphicFramePr>
                <a:graphicFrameLocks noGrp="1"/>
              </p:cNvGraphicFramePr>
              <p:nvPr>
                <p:extLst>
                  <p:ext uri="{D42A27DB-BD31-4B8C-83A1-F6EECF244321}">
                    <p14:modId xmlns:p14="http://schemas.microsoft.com/office/powerpoint/2010/main" val="1642457687"/>
                  </p:ext>
                </p:extLst>
              </p:nvPr>
            </p:nvGraphicFramePr>
            <p:xfrm>
              <a:off x="186357" y="1381022"/>
              <a:ext cx="11819287" cy="4936802"/>
            </p:xfrm>
            <a:graphic>
              <a:graphicData uri="http://schemas.openxmlformats.org/drawingml/2006/table">
                <a:tbl>
                  <a:tblPr firstRow="1" bandRow="1">
                    <a:tableStyleId>{7DF18680-E054-41AD-8BC1-D1AEF772440D}</a:tableStyleId>
                  </a:tblPr>
                  <a:tblGrid>
                    <a:gridCol w="1124284">
                      <a:extLst>
                        <a:ext uri="{9D8B030D-6E8A-4147-A177-3AD203B41FA5}">
                          <a16:colId xmlns:a16="http://schemas.microsoft.com/office/drawing/2014/main" val="54882281"/>
                        </a:ext>
                      </a:extLst>
                    </a:gridCol>
                    <a:gridCol w="3667760">
                      <a:extLst>
                        <a:ext uri="{9D8B030D-6E8A-4147-A177-3AD203B41FA5}">
                          <a16:colId xmlns:a16="http://schemas.microsoft.com/office/drawing/2014/main" val="2411394353"/>
                        </a:ext>
                      </a:extLst>
                    </a:gridCol>
                    <a:gridCol w="2407920">
                      <a:extLst>
                        <a:ext uri="{9D8B030D-6E8A-4147-A177-3AD203B41FA5}">
                          <a16:colId xmlns:a16="http://schemas.microsoft.com/office/drawing/2014/main" val="1907597949"/>
                        </a:ext>
                      </a:extLst>
                    </a:gridCol>
                    <a:gridCol w="2479040">
                      <a:extLst>
                        <a:ext uri="{9D8B030D-6E8A-4147-A177-3AD203B41FA5}">
                          <a16:colId xmlns:a16="http://schemas.microsoft.com/office/drawing/2014/main" val="3034739335"/>
                        </a:ext>
                      </a:extLst>
                    </a:gridCol>
                    <a:gridCol w="2140283">
                      <a:extLst>
                        <a:ext uri="{9D8B030D-6E8A-4147-A177-3AD203B41FA5}">
                          <a16:colId xmlns:a16="http://schemas.microsoft.com/office/drawing/2014/main" val="1124387792"/>
                        </a:ext>
                      </a:extLst>
                    </a:gridCol>
                  </a:tblGrid>
                  <a:tr h="502192">
                    <a:tc>
                      <a:txBody>
                        <a:bodyPr/>
                        <a:lstStyle/>
                        <a:p>
                          <a:pPr marL="0" marR="0" indent="0" algn="ctr">
                            <a:lnSpc>
                              <a:spcPct val="150000"/>
                            </a:lnSpc>
                            <a:spcBef>
                              <a:spcPts val="300"/>
                            </a:spcBef>
                            <a:spcAft>
                              <a:spcPts val="25"/>
                            </a:spcAft>
                          </a:pPr>
                          <a:r>
                            <a:rPr lang="en-US" sz="2000" kern="0" err="1">
                              <a:solidFill>
                                <a:srgbClr val="000000"/>
                              </a:solidFill>
                              <a:effectLst/>
                              <a:latin typeface="Times New Roman" panose="02020603050405020304" pitchFamily="18" charset="0"/>
                              <a:ea typeface="Times New Roman" panose="02020603050405020304" pitchFamily="18" charset="0"/>
                            </a:rPr>
                            <a:t>Kí</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hiệu</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60000"/>
                            <a:lumOff val="40000"/>
                          </a:schemeClr>
                        </a:solidFill>
                      </a:tcPr>
                    </a:tc>
                    <a:tc>
                      <a:txBody>
                        <a:bodyPr/>
                        <a:lstStyle/>
                        <a:p>
                          <a:pPr marL="0" marR="0" indent="0" algn="ctr">
                            <a:lnSpc>
                              <a:spcPct val="150000"/>
                            </a:lnSpc>
                            <a:spcBef>
                              <a:spcPts val="300"/>
                            </a:spcBef>
                            <a:spcAft>
                              <a:spcPts val="25"/>
                            </a:spcAft>
                          </a:pPr>
                          <a:r>
                            <a:rPr lang="en-US" sz="2000" kern="0" err="1">
                              <a:solidFill>
                                <a:srgbClr val="000000"/>
                              </a:solidFill>
                              <a:effectLst/>
                              <a:latin typeface="Times New Roman" panose="02020603050405020304" pitchFamily="18" charset="0"/>
                              <a:ea typeface="Times New Roman" panose="02020603050405020304" pitchFamily="18" charset="0"/>
                            </a:rPr>
                            <a:t>Tham</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số</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60000"/>
                            <a:lumOff val="40000"/>
                          </a:schemeClr>
                        </a:solidFill>
                      </a:tcPr>
                    </a:tc>
                    <a:tc>
                      <a:txBody>
                        <a:bodyPr/>
                        <a:lstStyle/>
                        <a:p>
                          <a:pPr marL="0" marR="0" indent="0" algn="ctr">
                            <a:lnSpc>
                              <a:spcPct val="150000"/>
                            </a:lnSpc>
                            <a:spcBef>
                              <a:spcPts val="300"/>
                            </a:spcBef>
                            <a:spcAft>
                              <a:spcPts val="25"/>
                            </a:spcAft>
                          </a:pPr>
                          <a:r>
                            <a:rPr lang="en-US" sz="2000" kern="0" err="1">
                              <a:solidFill>
                                <a:srgbClr val="000000"/>
                              </a:solidFill>
                              <a:effectLst/>
                              <a:latin typeface="Times New Roman" panose="02020603050405020304" pitchFamily="18" charset="0"/>
                              <a:ea typeface="Times New Roman" panose="02020603050405020304" pitchFamily="18" charset="0"/>
                            </a:rPr>
                            <a:t>Giá</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trị</a:t>
                          </a:r>
                          <a:r>
                            <a:rPr lang="vi-VN" sz="2000" kern="0">
                              <a:solidFill>
                                <a:srgbClr val="000000"/>
                              </a:solidFill>
                              <a:effectLst/>
                              <a:latin typeface="Times New Roman" panose="02020603050405020304" pitchFamily="18" charset="0"/>
                              <a:ea typeface="Times New Roman" panose="02020603050405020304" pitchFamily="18" charset="0"/>
                            </a:rPr>
                            <a:t> lý thuyết</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60000"/>
                            <a:lumOff val="40000"/>
                          </a:schemeClr>
                        </a:solidFill>
                      </a:tcPr>
                    </a:tc>
                    <a:tc>
                      <a:txBody>
                        <a:bodyPr/>
                        <a:lstStyle/>
                        <a:p>
                          <a:pPr marL="0" marR="0" indent="0" algn="ctr">
                            <a:lnSpc>
                              <a:spcPct val="150000"/>
                            </a:lnSpc>
                            <a:spcBef>
                              <a:spcPts val="300"/>
                            </a:spcBef>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Giá trị mô phỏng</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60000"/>
                            <a:lumOff val="40000"/>
                          </a:schemeClr>
                        </a:solidFill>
                      </a:tcPr>
                    </a:tc>
                    <a:tc>
                      <a:txBody>
                        <a:bodyPr/>
                        <a:lstStyle/>
                        <a:p>
                          <a:pPr marL="0" marR="0" indent="0" algn="ctr">
                            <a:lnSpc>
                              <a:spcPct val="150000"/>
                            </a:lnSpc>
                            <a:spcBef>
                              <a:spcPts val="300"/>
                            </a:spcBef>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Sai số so với lý thuyết </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60000"/>
                            <a:lumOff val="40000"/>
                          </a:schemeClr>
                        </a:solidFill>
                      </a:tcPr>
                    </a:tc>
                    <a:extLst>
                      <a:ext uri="{0D108BD9-81ED-4DB2-BD59-A6C34878D82A}">
                        <a16:rowId xmlns:a16="http://schemas.microsoft.com/office/drawing/2014/main" val="24198130"/>
                      </a:ext>
                    </a:extLst>
                  </a:tr>
                  <a:tr h="596407">
                    <a:tc>
                      <a:txBody>
                        <a:bodyPr/>
                        <a:lstStyle/>
                        <a:p>
                          <a:pPr marL="0" marR="0" indent="0" algn="ctr">
                            <a:lnSpc>
                              <a:spcPct val="150000"/>
                            </a:lnSpc>
                            <a:spcBef>
                              <a:spcPts val="300"/>
                            </a:spcBef>
                            <a:spcAft>
                              <a:spcPts val="25"/>
                            </a:spcAft>
                          </a:pPr>
                          <a14:m>
                            <m:oMathPara xmlns:m="http://schemas.openxmlformats.org/officeDocument/2006/math">
                              <m:oMath>
                                <m:sSub>
                                  <m:sSubPr>
                                    <m:ctrlPr>
                                      <a:rPr lang="en-US" sz="2000" i="1" kern="100">
                                        <a:solidFill>
                                          <a:srgbClr val="000000"/>
                                        </a:solidFill>
                                        <a:effectLst/>
                                        <a:latin typeface="Cambria Math" panose="02040503050406030204" pitchFamily="18" charset="0"/>
                                        <a:ea typeface="Times New Roman" panose="02020603050405020304" pitchFamily="18" charset="0"/>
                                      </a:rPr>
                                    </m:ctrlPr>
                                  </m:sSubPr>
                                  <m:e>
                                    <m:acc>
                                      <m:accPr>
                                        <m:chr m:val="̅"/>
                                        <m:ctrlPr>
                                          <a:rPr lang="en-US" sz="2000" i="1" kern="0">
                                            <a:solidFill>
                                              <a:srgbClr val="000000"/>
                                            </a:solidFill>
                                            <a:effectLst/>
                                            <a:latin typeface="Cambria Math" panose="02040503050406030204" pitchFamily="18" charset="0"/>
                                            <a:ea typeface="Times New Roman" panose="02020603050405020304" pitchFamily="18" charset="0"/>
                                          </a:rPr>
                                        </m:ctrlPr>
                                      </m:accPr>
                                      <m:e>
                                        <m:r>
                                          <a:rPr lang="en-US" sz="2000" i="1" kern="0">
                                            <a:solidFill>
                                              <a:srgbClr val="000000"/>
                                            </a:solidFill>
                                            <a:effectLst/>
                                            <a:latin typeface="Cambria Math" panose="02040503050406030204" pitchFamily="18" charset="0"/>
                                            <a:ea typeface="Times New Roman" panose="02020603050405020304" pitchFamily="18" charset="0"/>
                                          </a:rPr>
                                          <m:t>𝑉</m:t>
                                        </m:r>
                                      </m:e>
                                    </m:acc>
                                  </m:e>
                                  <m:sub>
                                    <m:r>
                                      <a:rPr lang="en-US" sz="2000" i="1" kern="0">
                                        <a:solidFill>
                                          <a:srgbClr val="000000"/>
                                        </a:solidFill>
                                        <a:effectLst/>
                                        <a:latin typeface="Cambria Math" panose="02040503050406030204" pitchFamily="18" charset="0"/>
                                        <a:ea typeface="Times New Roman" panose="02020603050405020304" pitchFamily="18" charset="0"/>
                                      </a:rPr>
                                      <m:t>𝑜𝑐</m:t>
                                    </m:r>
                                  </m:sub>
                                </m:sSub>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2000" kern="0" err="1">
                              <a:solidFill>
                                <a:srgbClr val="000000"/>
                              </a:solidFill>
                              <a:effectLst/>
                              <a:latin typeface="Times New Roman" panose="02020603050405020304" pitchFamily="18" charset="0"/>
                              <a:ea typeface="Times New Roman" panose="02020603050405020304" pitchFamily="18" charset="0"/>
                            </a:rPr>
                            <a:t>Điện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áp</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hở</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mạch</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0">
                              <a:solidFill>
                                <a:srgbClr val="000000"/>
                              </a:solidFill>
                              <a:effectLst/>
                              <a:latin typeface="Times New Roman" panose="02020603050405020304" pitchFamily="18" charset="0"/>
                              <a:ea typeface="Times New Roman" panose="02020603050405020304" pitchFamily="18" charset="0"/>
                            </a:rPr>
                            <a:t>225</a:t>
                          </a:r>
                          <a:r>
                            <a:rPr lang="en-US" sz="2000" kern="0">
                              <a:solidFill>
                                <a:srgbClr val="000000"/>
                              </a:solidFill>
                              <a:effectLst/>
                              <a:latin typeface="Times New Roman" panose="02020603050405020304" pitchFamily="18" charset="0"/>
                              <a:ea typeface="Times New Roman" panose="02020603050405020304" pitchFamily="18" charset="0"/>
                            </a:rPr>
                            <a:t>V</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225.8 (V)</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0">
                              <a:solidFill>
                                <a:srgbClr val="000000"/>
                              </a:solidFill>
                              <a:effectLst/>
                              <a:latin typeface="Times New Roman" panose="02020603050405020304" pitchFamily="18" charset="0"/>
                              <a:ea typeface="Times New Roman" panose="02020603050405020304" pitchFamily="18" charset="0"/>
                            </a:rPr>
                            <a:t>0.36</a:t>
                          </a:r>
                          <a:r>
                            <a:rPr lang="en-US" sz="2000" kern="0">
                              <a:solidFill>
                                <a:srgbClr val="000000"/>
                              </a:solidFill>
                              <a:effectLst/>
                              <a:latin typeface="Times New Roman" panose="02020603050405020304" pitchFamily="18" charset="0"/>
                              <a:ea typeface="Times New Roman" panose="02020603050405020304" pitchFamily="18" charset="0"/>
                            </a:rPr>
                            <a:t>%</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291768572"/>
                      </a:ext>
                    </a:extLst>
                  </a:tr>
                  <a:tr h="612588">
                    <a:tc>
                      <a:txBody>
                        <a:bodyPr/>
                        <a:lstStyle/>
                        <a:p>
                          <a:pPr marL="0" marR="0" indent="0" algn="ctr">
                            <a:lnSpc>
                              <a:spcPct val="150000"/>
                            </a:lnSpc>
                            <a:spcBef>
                              <a:spcPts val="300"/>
                            </a:spcBef>
                            <a:spcAft>
                              <a:spcPts val="25"/>
                            </a:spcAft>
                          </a:pPr>
                          <a14:m>
                            <m:oMathPara xmlns:m="http://schemas.openxmlformats.org/officeDocument/2006/math">
                              <m:oMath>
                                <m:sSub>
                                  <m:sSubPr>
                                    <m:ctrlPr>
                                      <a:rPr lang="en-US" sz="2000" i="1" kern="100">
                                        <a:solidFill>
                                          <a:srgbClr val="000000"/>
                                        </a:solidFill>
                                        <a:effectLst/>
                                        <a:latin typeface="Cambria Math" panose="02040503050406030204" pitchFamily="18" charset="0"/>
                                        <a:ea typeface="Yu Mincho" panose="02020400000000000000" pitchFamily="18" charset="-128"/>
                                      </a:rPr>
                                    </m:ctrlPr>
                                  </m:sSubPr>
                                  <m:e>
                                    <m:acc>
                                      <m:accPr>
                                        <m:chr m:val="̅"/>
                                        <m:ctrlPr>
                                          <a:rPr lang="en-US" sz="2000" i="1" kern="0">
                                            <a:solidFill>
                                              <a:srgbClr val="000000"/>
                                            </a:solidFill>
                                            <a:effectLst/>
                                            <a:latin typeface="Cambria Math" panose="02040503050406030204" pitchFamily="18" charset="0"/>
                                            <a:ea typeface="Yu Mincho" panose="02020400000000000000" pitchFamily="18" charset="-128"/>
                                          </a:rPr>
                                        </m:ctrlPr>
                                      </m:accPr>
                                      <m:e>
                                        <m:r>
                                          <a:rPr lang="en-US" sz="2000" i="1" kern="0">
                                            <a:solidFill>
                                              <a:srgbClr val="000000"/>
                                            </a:solidFill>
                                            <a:effectLst/>
                                            <a:latin typeface="Cambria Math" panose="02040503050406030204" pitchFamily="18" charset="0"/>
                                            <a:ea typeface="Yu Mincho" panose="02020400000000000000" pitchFamily="18" charset="-128"/>
                                          </a:rPr>
                                          <m:t>𝑃</m:t>
                                        </m:r>
                                      </m:e>
                                    </m:acc>
                                  </m:e>
                                  <m:sub>
                                    <m:r>
                                      <a:rPr lang="en-US" sz="2000" i="1" kern="0">
                                        <a:solidFill>
                                          <a:srgbClr val="000000"/>
                                        </a:solidFill>
                                        <a:effectLst/>
                                        <a:latin typeface="Cambria Math" panose="02040503050406030204" pitchFamily="18" charset="0"/>
                                        <a:ea typeface="Yu Mincho" panose="02020400000000000000" pitchFamily="18" charset="-128"/>
                                      </a:rPr>
                                      <m:t>𝑟𝑎𝑡𝑒</m:t>
                                    </m:r>
                                  </m:sub>
                                </m:sSub>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0">
                              <a:solidFill>
                                <a:srgbClr val="000000"/>
                              </a:solidFill>
                              <a:effectLst/>
                              <a:latin typeface="Times New Roman" panose="02020603050405020304" pitchFamily="18" charset="0"/>
                              <a:ea typeface="Times New Roman" panose="02020603050405020304" pitchFamily="18" charset="0"/>
                            </a:rPr>
                            <a:t>Công suất tác dụng định mức</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750W</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753W </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0.4%</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656964966"/>
                      </a:ext>
                    </a:extLst>
                  </a:tr>
                  <a:tr h="597921">
                    <a:tc>
                      <a:txBody>
                        <a:bodyPr/>
                        <a:lstStyle/>
                        <a:p>
                          <a:pPr marL="0" marR="0" indent="0" algn="ctr">
                            <a:lnSpc>
                              <a:spcPct val="150000"/>
                            </a:lnSpc>
                            <a:spcBef>
                              <a:spcPts val="300"/>
                            </a:spcBef>
                            <a:spcAft>
                              <a:spcPts val="25"/>
                            </a:spcAft>
                          </a:pPr>
                          <a14:m>
                            <m:oMathPara xmlns:m="http://schemas.openxmlformats.org/officeDocument/2006/math">
                              <m:oMath>
                                <m:sSub>
                                  <m:sSubPr>
                                    <m:ctrlPr>
                                      <a:rPr lang="en-US" sz="2000" i="1" kern="100">
                                        <a:solidFill>
                                          <a:srgbClr val="000000"/>
                                        </a:solidFill>
                                        <a:effectLst/>
                                        <a:latin typeface="Cambria Math" panose="02040503050406030204" pitchFamily="18" charset="0"/>
                                        <a:ea typeface="Yu Mincho" panose="02020400000000000000" pitchFamily="18" charset="-128"/>
                                      </a:rPr>
                                    </m:ctrlPr>
                                  </m:sSubPr>
                                  <m:e>
                                    <m:acc>
                                      <m:accPr>
                                        <m:chr m:val="̅"/>
                                        <m:ctrlPr>
                                          <a:rPr lang="en-US" sz="2000" i="1" kern="0">
                                            <a:solidFill>
                                              <a:srgbClr val="000000"/>
                                            </a:solidFill>
                                            <a:effectLst/>
                                            <a:latin typeface="Cambria Math" panose="02040503050406030204" pitchFamily="18" charset="0"/>
                                            <a:ea typeface="Yu Mincho" panose="02020400000000000000" pitchFamily="18" charset="-128"/>
                                          </a:rPr>
                                        </m:ctrlPr>
                                      </m:accPr>
                                      <m:e>
                                        <m:r>
                                          <a:rPr lang="en-US" sz="2000" i="1" kern="0">
                                            <a:solidFill>
                                              <a:srgbClr val="000000"/>
                                            </a:solidFill>
                                            <a:effectLst/>
                                            <a:latin typeface="Cambria Math" panose="02040503050406030204" pitchFamily="18" charset="0"/>
                                            <a:ea typeface="Yu Mincho" panose="02020400000000000000" pitchFamily="18" charset="-128"/>
                                          </a:rPr>
                                          <m:t>𝑉</m:t>
                                        </m:r>
                                      </m:e>
                                    </m:acc>
                                  </m:e>
                                  <m:sub>
                                    <m:r>
                                      <a:rPr lang="en-US" sz="2000" i="1" kern="0">
                                        <a:solidFill>
                                          <a:srgbClr val="000000"/>
                                        </a:solidFill>
                                        <a:effectLst/>
                                        <a:latin typeface="Cambria Math" panose="02040503050406030204" pitchFamily="18" charset="0"/>
                                        <a:ea typeface="Yu Mincho" panose="02020400000000000000" pitchFamily="18" charset="-128"/>
                                      </a:rPr>
                                      <m:t>𝑚𝑖𝑛</m:t>
                                    </m:r>
                                  </m:sub>
                                </m:sSub>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0">
                              <a:solidFill>
                                <a:srgbClr val="000000"/>
                              </a:solidFill>
                              <a:effectLst/>
                              <a:latin typeface="Times New Roman" panose="02020603050405020304" pitchFamily="18" charset="0"/>
                              <a:ea typeface="Times New Roman" panose="02020603050405020304" pitchFamily="18" charset="0"/>
                            </a:rPr>
                            <a:t>Điện áp tại công suất định mức</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0">
                              <a:solidFill>
                                <a:srgbClr val="000000"/>
                              </a:solidFill>
                              <a:effectLst/>
                              <a:latin typeface="Times New Roman" panose="02020603050405020304" pitchFamily="18" charset="0"/>
                              <a:ea typeface="Times New Roman" panose="02020603050405020304" pitchFamily="18" charset="0"/>
                            </a:rPr>
                            <a:t>220</a:t>
                          </a:r>
                          <a:r>
                            <a:rPr lang="en-US" sz="2000" kern="0">
                              <a:solidFill>
                                <a:srgbClr val="000000"/>
                              </a:solidFill>
                              <a:effectLst/>
                              <a:latin typeface="Times New Roman" panose="02020603050405020304" pitchFamily="18" charset="0"/>
                              <a:ea typeface="Times New Roman" panose="02020603050405020304" pitchFamily="18" charset="0"/>
                            </a:rPr>
                            <a:t>V</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220.6(V)</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0.27</a:t>
                          </a:r>
                          <a:r>
                            <a:rPr lang="en-US" sz="2000" kern="0">
                              <a:solidFill>
                                <a:srgbClr val="000000"/>
                              </a:solidFill>
                              <a:effectLst/>
                              <a:latin typeface="Times New Roman" panose="02020603050405020304" pitchFamily="18" charset="0"/>
                              <a:ea typeface="Times New Roman" panose="02020603050405020304" pitchFamily="18" charset="0"/>
                            </a:rPr>
                            <a:t>%</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4047085"/>
                      </a:ext>
                    </a:extLst>
                  </a:tr>
                  <a:tr h="516387">
                    <a:tc>
                      <a:txBody>
                        <a:bodyPr/>
                        <a:lstStyle/>
                        <a:p>
                          <a:pPr marL="0" marR="0" indent="0" algn="ctr">
                            <a:lnSpc>
                              <a:spcPct val="150000"/>
                            </a:lnSpc>
                            <a:spcBef>
                              <a:spcPts val="300"/>
                            </a:spcBef>
                            <a:spcAft>
                              <a:spcPts val="25"/>
                            </a:spcAft>
                          </a:pPr>
                          <a14:m>
                            <m:oMathPara xmlns:m="http://schemas.openxmlformats.org/officeDocument/2006/math">
                              <m:oMath>
                                <m:r>
                                  <a:rPr lang="vi-VN" sz="2000" i="1" kern="0" smtClean="0">
                                    <a:solidFill>
                                      <a:srgbClr val="000000"/>
                                    </a:solidFill>
                                    <a:effectLst/>
                                    <a:latin typeface="Cambria Math" panose="02040503050406030204" pitchFamily="18" charset="0"/>
                                    <a:ea typeface="Times New Roman" panose="02020603050405020304" pitchFamily="18" charset="0"/>
                                  </a:rPr>
                                  <m:t>𝜔</m:t>
                                </m:r>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2000" kern="0" err="1">
                              <a:solidFill>
                                <a:srgbClr val="000000"/>
                              </a:solidFill>
                              <a:effectLst/>
                              <a:latin typeface="Times New Roman" panose="02020603050405020304" pitchFamily="18" charset="0"/>
                              <a:ea typeface="Times New Roman" panose="02020603050405020304" pitchFamily="18" charset="0"/>
                            </a:rPr>
                            <a:t>Tần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số</a:t>
                          </a:r>
                          <a:r>
                            <a:rPr lang="en-US" sz="2000" kern="0">
                              <a:solidFill>
                                <a:srgbClr val="000000"/>
                              </a:solidFill>
                              <a:effectLst/>
                              <a:latin typeface="Times New Roman" panose="02020603050405020304" pitchFamily="18" charset="0"/>
                              <a:ea typeface="Times New Roman" panose="02020603050405020304" pitchFamily="18" charset="0"/>
                            </a:rPr>
                            <a:t> </a:t>
                          </a:r>
                          <a:r>
                            <a:rPr lang="vi-VN" sz="2000" kern="0">
                              <a:solidFill>
                                <a:srgbClr val="000000"/>
                              </a:solidFill>
                              <a:effectLst/>
                              <a:latin typeface="Times New Roman" panose="02020603050405020304" pitchFamily="18" charset="0"/>
                              <a:ea typeface="Times New Roman" panose="02020603050405020304" pitchFamily="18" charset="0"/>
                            </a:rPr>
                            <a:t>góc</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0">
                              <a:solidFill>
                                <a:srgbClr val="000000"/>
                              </a:solidFill>
                              <a:effectLst/>
                              <a:latin typeface="Times New Roman" panose="02020603050405020304" pitchFamily="18" charset="0"/>
                              <a:ea typeface="Times New Roman" panose="02020603050405020304" pitchFamily="18" charset="0"/>
                            </a:rPr>
                            <a:t>100</a:t>
                          </a:r>
                          <a14:m>
                            <m:oMath xmlns:m="http://schemas.openxmlformats.org/officeDocument/2006/math">
                              <m:r>
                                <a:rPr lang="en-US" sz="2000" i="1" kern="0">
                                  <a:solidFill>
                                    <a:srgbClr val="000000"/>
                                  </a:solidFill>
                                  <a:effectLst/>
                                  <a:latin typeface="Cambria Math" panose="02040503050406030204" pitchFamily="18" charset="0"/>
                                  <a:ea typeface="Times New Roman" panose="02020603050405020304" pitchFamily="18" charset="0"/>
                                </a:rPr>
                                <m:t>𝜋</m:t>
                              </m:r>
                            </m:oMath>
                          </a14:m>
                          <a:r>
                            <a:rPr lang="en-US" sz="2000" kern="0">
                              <a:solidFill>
                                <a:srgbClr val="000000"/>
                              </a:solidFill>
                              <a:effectLst/>
                              <a:latin typeface="Times New Roman" panose="02020603050405020304" pitchFamily="18" charset="0"/>
                              <a:ea typeface="Times New Roman" panose="02020603050405020304" pitchFamily="18" charset="0"/>
                            </a:rPr>
                            <a:t> rad/s</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101</a:t>
                          </a:r>
                          <a14:m>
                            <m:oMath xmlns:m="http://schemas.openxmlformats.org/officeDocument/2006/math">
                              <m:r>
                                <a:rPr lang="en-US" sz="2000" i="1" kern="0" smtClean="0">
                                  <a:solidFill>
                                    <a:srgbClr val="000000"/>
                                  </a:solidFill>
                                  <a:effectLst/>
                                  <a:latin typeface="Cambria Math" panose="02040503050406030204" pitchFamily="18" charset="0"/>
                                  <a:ea typeface="Times New Roman" panose="02020603050405020304" pitchFamily="18" charset="0"/>
                                </a:rPr>
                                <m:t>𝜋</m:t>
                              </m:r>
                            </m:oMath>
                          </a14:m>
                          <a:r>
                            <a:rPr lang="en-US" sz="2000" kern="0">
                              <a:solidFill>
                                <a:srgbClr val="000000"/>
                              </a:solidFill>
                              <a:effectLst/>
                              <a:latin typeface="Times New Roman" panose="02020603050405020304" pitchFamily="18" charset="0"/>
                              <a:ea typeface="Times New Roman" panose="02020603050405020304" pitchFamily="18" charset="0"/>
                            </a:rPr>
                            <a:t> rad/s</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0.8</a:t>
                          </a:r>
                          <a:r>
                            <a:rPr lang="en-US" sz="2000" kern="0">
                              <a:solidFill>
                                <a:srgbClr val="000000"/>
                              </a:solidFill>
                              <a:effectLst/>
                              <a:latin typeface="Times New Roman" panose="02020603050405020304" pitchFamily="18" charset="0"/>
                              <a:ea typeface="Times New Roman" panose="02020603050405020304" pitchFamily="18" charset="0"/>
                            </a:rPr>
                            <a:t>%</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36226698"/>
                      </a:ext>
                    </a:extLst>
                  </a:tr>
                  <a:tr h="596407">
                    <a:tc>
                      <a:txBody>
                        <a:bodyPr/>
                        <a:lstStyle/>
                        <a:p>
                          <a:pPr marL="0" marR="0" indent="0" algn="ctr">
                            <a:lnSpc>
                              <a:spcPct val="150000"/>
                            </a:lnSpc>
                            <a:spcBef>
                              <a:spcPts val="300"/>
                            </a:spcBef>
                            <a:spcAft>
                              <a:spcPts val="25"/>
                            </a:spcAft>
                          </a:pPr>
                          <a14:m>
                            <m:oMathPara xmlns:m="http://schemas.openxmlformats.org/officeDocument/2006/math">
                              <m:oMath>
                                <m:sSub>
                                  <m:sSubPr>
                                    <m:ctrlPr>
                                      <a:rPr lang="en-US" sz="2000" i="1" kern="100">
                                        <a:solidFill>
                                          <a:srgbClr val="000000"/>
                                        </a:solidFill>
                                        <a:effectLst/>
                                        <a:latin typeface="Cambria Math" panose="02040503050406030204" pitchFamily="18" charset="0"/>
                                        <a:ea typeface="Times New Roman" panose="02020603050405020304" pitchFamily="18" charset="0"/>
                                      </a:rPr>
                                    </m:ctrlPr>
                                  </m:sSubPr>
                                  <m:e>
                                    <m:d>
                                      <m:dPr>
                                        <m:begChr m:val="|"/>
                                        <m:endChr m:val="|"/>
                                        <m:ctrlPr>
                                          <a:rPr lang="vi-VN" sz="2000" i="1" kern="0">
                                            <a:solidFill>
                                              <a:srgbClr val="000000"/>
                                            </a:solidFill>
                                            <a:effectLst/>
                                            <a:latin typeface="Cambria Math" panose="02040503050406030204" pitchFamily="18" charset="0"/>
                                            <a:ea typeface="Times New Roman" panose="02020603050405020304" pitchFamily="18" charset="0"/>
                                          </a:rPr>
                                        </m:ctrlPr>
                                      </m:dPr>
                                      <m:e>
                                        <m:r>
                                          <a:rPr lang="vi-VN" sz="2000" i="1" kern="0">
                                            <a:solidFill>
                                              <a:srgbClr val="000000"/>
                                            </a:solidFill>
                                            <a:effectLst/>
                                            <a:latin typeface="Cambria Math" panose="02040503050406030204" pitchFamily="18" charset="0"/>
                                            <a:ea typeface="Times New Roman" panose="02020603050405020304" pitchFamily="18" charset="0"/>
                                          </a:rPr>
                                          <m:t>∆</m:t>
                                        </m:r>
                                        <m:r>
                                          <a:rPr lang="vi-VN" sz="2000" i="1" kern="0">
                                            <a:solidFill>
                                              <a:srgbClr val="000000"/>
                                            </a:solidFill>
                                            <a:effectLst/>
                                            <a:latin typeface="Cambria Math" panose="02040503050406030204" pitchFamily="18" charset="0"/>
                                            <a:ea typeface="Times New Roman" panose="02020603050405020304" pitchFamily="18" charset="0"/>
                                          </a:rPr>
                                          <m:t>𝜔</m:t>
                                        </m:r>
                                      </m:e>
                                    </m:d>
                                  </m:e>
                                  <m:sub>
                                    <m:r>
                                      <a:rPr lang="vi-VN" sz="2000" i="1" kern="0">
                                        <a:solidFill>
                                          <a:srgbClr val="000000"/>
                                        </a:solidFill>
                                        <a:effectLst/>
                                        <a:latin typeface="Cambria Math" panose="02040503050406030204" pitchFamily="18" charset="0"/>
                                        <a:ea typeface="Times New Roman" panose="02020603050405020304" pitchFamily="18" charset="0"/>
                                      </a:rPr>
                                      <m:t>𝑚𝑎𝑥</m:t>
                                    </m:r>
                                  </m:sub>
                                </m:sSub>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0">
                              <a:solidFill>
                                <a:srgbClr val="000000"/>
                              </a:solidFill>
                              <a:effectLst/>
                              <a:latin typeface="Times New Roman" panose="02020603050405020304" pitchFamily="18" charset="0"/>
                              <a:ea typeface="Times New Roman" panose="02020603050405020304" pitchFamily="18" charset="0"/>
                            </a:rPr>
                            <a:t>Độ lệch tần số tối đa</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14:m>
                            <m:oMathPara xmlns:m="http://schemas.openxmlformats.org/officeDocument/2006/math">
                              <m:oMath>
                                <m:sSub>
                                  <m:sSubPr>
                                    <m:ctrlPr>
                                      <a:rPr lang="en-US" sz="2000" i="1" kern="100">
                                        <a:solidFill>
                                          <a:srgbClr val="000000"/>
                                        </a:solidFill>
                                        <a:effectLst/>
                                        <a:latin typeface="Cambria Math" panose="02040503050406030204" pitchFamily="18" charset="0"/>
                                        <a:ea typeface="Times New Roman" panose="02020603050405020304" pitchFamily="18" charset="0"/>
                                      </a:rPr>
                                    </m:ctrlPr>
                                  </m:sSubPr>
                                  <m:e>
                                    <m:d>
                                      <m:dPr>
                                        <m:begChr m:val="|"/>
                                        <m:endChr m:val="|"/>
                                        <m:ctrlPr>
                                          <a:rPr lang="vi-VN" sz="2000" i="1" kern="0">
                                            <a:solidFill>
                                              <a:srgbClr val="000000"/>
                                            </a:solidFill>
                                            <a:effectLst/>
                                            <a:latin typeface="Cambria Math" panose="02040503050406030204" pitchFamily="18" charset="0"/>
                                            <a:ea typeface="Times New Roman" panose="02020603050405020304" pitchFamily="18" charset="0"/>
                                          </a:rPr>
                                        </m:ctrlPr>
                                      </m:dPr>
                                      <m:e>
                                        <m:r>
                                          <a:rPr lang="vi-VN" sz="2000" i="1" kern="0">
                                            <a:solidFill>
                                              <a:srgbClr val="000000"/>
                                            </a:solidFill>
                                            <a:effectLst/>
                                            <a:latin typeface="Cambria Math" panose="02040503050406030204" pitchFamily="18" charset="0"/>
                                            <a:ea typeface="Times New Roman" panose="02020603050405020304" pitchFamily="18" charset="0"/>
                                          </a:rPr>
                                          <m:t>∆</m:t>
                                        </m:r>
                                        <m:r>
                                          <a:rPr lang="vi-VN" sz="2000" i="1" kern="0">
                                            <a:solidFill>
                                              <a:srgbClr val="000000"/>
                                            </a:solidFill>
                                            <a:effectLst/>
                                            <a:latin typeface="Cambria Math" panose="02040503050406030204" pitchFamily="18" charset="0"/>
                                            <a:ea typeface="Times New Roman" panose="02020603050405020304" pitchFamily="18" charset="0"/>
                                          </a:rPr>
                                          <m:t>𝜔</m:t>
                                        </m:r>
                                      </m:e>
                                    </m:d>
                                  </m:e>
                                  <m:sub>
                                    <m:r>
                                      <a:rPr lang="vi-VN" sz="2000" i="1" kern="0">
                                        <a:solidFill>
                                          <a:srgbClr val="000000"/>
                                        </a:solidFill>
                                        <a:effectLst/>
                                        <a:latin typeface="Cambria Math" panose="02040503050406030204" pitchFamily="18" charset="0"/>
                                        <a:ea typeface="Times New Roman" panose="02020603050405020304" pitchFamily="18" charset="0"/>
                                      </a:rPr>
                                      <m:t>𝑚𝑎𝑥</m:t>
                                    </m:r>
                                  </m:sub>
                                </m:sSub>
                                <m:r>
                                  <a:rPr lang="vi-VN" sz="2000" b="0" i="1" kern="0" smtClean="0">
                                    <a:solidFill>
                                      <a:srgbClr val="000000"/>
                                    </a:solidFill>
                                    <a:effectLst/>
                                    <a:latin typeface="Cambria Math" panose="02040503050406030204" pitchFamily="18" charset="0"/>
                                    <a:ea typeface="Times New Roman" panose="02020603050405020304" pitchFamily="18" charset="0"/>
                                  </a:rPr>
                                  <m:t>&lt;</m:t>
                                </m:r>
                                <m:r>
                                  <a:rPr lang="en-US" sz="2000" i="1" kern="0">
                                    <a:solidFill>
                                      <a:srgbClr val="000000"/>
                                    </a:solidFill>
                                    <a:effectLst/>
                                    <a:latin typeface="Cambria Math" panose="02040503050406030204" pitchFamily="18" charset="0"/>
                                    <a:ea typeface="Times New Roman" panose="02020603050405020304" pitchFamily="18" charset="0"/>
                                  </a:rPr>
                                  <m:t>𝜋</m:t>
                                </m:r>
                                <m:r>
                                  <a:rPr lang="en-US" sz="2000" i="1" kern="0">
                                    <a:solidFill>
                                      <a:srgbClr val="000000"/>
                                    </a:solidFill>
                                    <a:effectLst/>
                                    <a:latin typeface="Cambria Math" panose="02040503050406030204" pitchFamily="18" charset="0"/>
                                    <a:ea typeface="Times New Roman" panose="02020603050405020304" pitchFamily="18" charset="0"/>
                                  </a:rPr>
                                  <m:t> </m:t>
                                </m:r>
                                <m:r>
                                  <a:rPr lang="en-US" sz="2000" i="1" kern="0">
                                    <a:solidFill>
                                      <a:srgbClr val="000000"/>
                                    </a:solidFill>
                                    <a:effectLst/>
                                    <a:latin typeface="Cambria Math" panose="02040503050406030204" pitchFamily="18" charset="0"/>
                                    <a:ea typeface="Times New Roman" panose="02020603050405020304" pitchFamily="18" charset="0"/>
                                  </a:rPr>
                                  <m:t>𝑟𝑎𝑑</m:t>
                                </m:r>
                                <m:r>
                                  <a:rPr lang="en-US" sz="2000" i="1" kern="0">
                                    <a:solidFill>
                                      <a:srgbClr val="000000"/>
                                    </a:solidFill>
                                    <a:effectLst/>
                                    <a:latin typeface="Cambria Math" panose="02040503050406030204" pitchFamily="18" charset="0"/>
                                    <a:ea typeface="Times New Roman" panose="02020603050405020304" pitchFamily="18" charset="0"/>
                                  </a:rPr>
                                  <m:t>/</m:t>
                                </m:r>
                                <m:r>
                                  <a:rPr lang="en-US" sz="2000" i="1" kern="0">
                                    <a:solidFill>
                                      <a:srgbClr val="000000"/>
                                    </a:solidFill>
                                    <a:effectLst/>
                                    <a:latin typeface="Cambria Math" panose="02040503050406030204" pitchFamily="18" charset="0"/>
                                    <a:ea typeface="Times New Roman" panose="02020603050405020304" pitchFamily="18" charset="0"/>
                                  </a:rPr>
                                  <m:t>𝑠</m:t>
                                </m:r>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0.96</a:t>
                          </a:r>
                          <a14:m>
                            <m:oMath xmlns:m="http://schemas.openxmlformats.org/officeDocument/2006/math">
                              <m:r>
                                <a:rPr lang="en-US" sz="2000" i="1" kern="0" smtClean="0">
                                  <a:solidFill>
                                    <a:srgbClr val="000000"/>
                                  </a:solidFill>
                                  <a:effectLst/>
                                  <a:latin typeface="Cambria Math" panose="02040503050406030204" pitchFamily="18" charset="0"/>
                                  <a:ea typeface="Times New Roman" panose="02020603050405020304" pitchFamily="18" charset="0"/>
                                </a:rPr>
                                <m:t>𝜋</m:t>
                              </m:r>
                            </m:oMath>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0</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85743980"/>
                      </a:ext>
                    </a:extLst>
                  </a:tr>
                  <a:tr h="598537">
                    <a:tc>
                      <a:txBody>
                        <a:bodyPr/>
                        <a:lstStyle/>
                        <a:p>
                          <a:pPr marL="0" marR="0" indent="0" algn="ctr">
                            <a:lnSpc>
                              <a:spcPct val="150000"/>
                            </a:lnSpc>
                            <a:spcBef>
                              <a:spcPts val="300"/>
                            </a:spcBef>
                            <a:spcAft>
                              <a:spcPts val="25"/>
                            </a:spcAft>
                          </a:pPr>
                          <a14:m>
                            <m:oMathPara xmlns:m="http://schemas.openxmlformats.org/officeDocument/2006/math">
                              <m:oMath>
                                <m:sSubSup>
                                  <m:sSubSupPr>
                                    <m:ctrlPr>
                                      <a:rPr lang="en-US" sz="2000" i="1" kern="0">
                                        <a:solidFill>
                                          <a:srgbClr val="000000"/>
                                        </a:solidFill>
                                        <a:effectLst/>
                                        <a:latin typeface="Cambria Math" panose="02040503050406030204" pitchFamily="18" charset="0"/>
                                        <a:ea typeface="Times New Roman" panose="02020603050405020304" pitchFamily="18" charset="0"/>
                                      </a:rPr>
                                    </m:ctrlPr>
                                  </m:sSubSupPr>
                                  <m:e>
                                    <m:r>
                                      <a:rPr lang="en-US" sz="2000" i="1" kern="0">
                                        <a:solidFill>
                                          <a:srgbClr val="000000"/>
                                        </a:solidFill>
                                        <a:effectLst/>
                                        <a:latin typeface="Cambria Math" panose="02040503050406030204" pitchFamily="18" charset="0"/>
                                        <a:ea typeface="Times New Roman" panose="02020603050405020304" pitchFamily="18" charset="0"/>
                                      </a:rPr>
                                      <m:t>𝑡</m:t>
                                    </m:r>
                                  </m:e>
                                  <m:sub>
                                    <m:r>
                                      <a:rPr lang="en-US" sz="2000" i="1" kern="0">
                                        <a:solidFill>
                                          <a:srgbClr val="000000"/>
                                        </a:solidFill>
                                        <a:effectLst/>
                                        <a:latin typeface="Cambria Math" panose="02040503050406030204" pitchFamily="18" charset="0"/>
                                        <a:ea typeface="Times New Roman" panose="02020603050405020304" pitchFamily="18" charset="0"/>
                                      </a:rPr>
                                      <m:t>𝑟𝑖𝑠𝑒</m:t>
                                    </m:r>
                                  </m:sub>
                                  <m:sup>
                                    <m:r>
                                      <a:rPr lang="en-US" sz="2000" i="1" kern="0">
                                        <a:solidFill>
                                          <a:srgbClr val="000000"/>
                                        </a:solidFill>
                                        <a:effectLst/>
                                        <a:latin typeface="Cambria Math" panose="02040503050406030204" pitchFamily="18" charset="0"/>
                                        <a:ea typeface="Times New Roman" panose="02020603050405020304" pitchFamily="18" charset="0"/>
                                      </a:rPr>
                                      <m:t>𝑚𝑎𝑥</m:t>
                                    </m:r>
                                  </m:sup>
                                </m:sSubSup>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2000" kern="0" err="1">
                              <a:solidFill>
                                <a:srgbClr val="000000"/>
                              </a:solidFill>
                              <a:effectLst/>
                              <a:latin typeface="Times New Roman" panose="02020603050405020304" pitchFamily="18" charset="0"/>
                              <a:ea typeface="Times New Roman" panose="02020603050405020304" pitchFamily="18" charset="0"/>
                            </a:rPr>
                            <a:t>Thời</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gian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đáp</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ứng</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14:m>
                            <m:oMath xmlns:m="http://schemas.openxmlformats.org/officeDocument/2006/math">
                              <m:sSubSup>
                                <m:sSubSupPr>
                                  <m:ctrlPr>
                                    <a:rPr lang="en-US" sz="2000" i="1" kern="0">
                                      <a:solidFill>
                                        <a:srgbClr val="000000"/>
                                      </a:solidFill>
                                      <a:effectLst/>
                                      <a:latin typeface="Cambria Math" panose="02040503050406030204" pitchFamily="18" charset="0"/>
                                      <a:ea typeface="Times New Roman" panose="02020603050405020304" pitchFamily="18" charset="0"/>
                                    </a:rPr>
                                  </m:ctrlPr>
                                </m:sSubSupPr>
                                <m:e>
                                  <m:r>
                                    <a:rPr lang="en-US" sz="2000" i="1" kern="0">
                                      <a:solidFill>
                                        <a:srgbClr val="000000"/>
                                      </a:solidFill>
                                      <a:effectLst/>
                                      <a:latin typeface="Cambria Math" panose="02040503050406030204" pitchFamily="18" charset="0"/>
                                      <a:ea typeface="Times New Roman" panose="02020603050405020304" pitchFamily="18" charset="0"/>
                                    </a:rPr>
                                    <m:t>𝑡</m:t>
                                  </m:r>
                                </m:e>
                                <m:sub>
                                  <m:r>
                                    <a:rPr lang="en-US" sz="2000" i="1" kern="0">
                                      <a:solidFill>
                                        <a:srgbClr val="000000"/>
                                      </a:solidFill>
                                      <a:effectLst/>
                                      <a:latin typeface="Cambria Math" panose="02040503050406030204" pitchFamily="18" charset="0"/>
                                      <a:ea typeface="Times New Roman" panose="02020603050405020304" pitchFamily="18" charset="0"/>
                                    </a:rPr>
                                    <m:t>𝑟𝑖𝑠𝑒</m:t>
                                  </m:r>
                                </m:sub>
                                <m:sup>
                                  <m:r>
                                    <a:rPr lang="en-US" sz="2000" i="1" kern="0">
                                      <a:solidFill>
                                        <a:srgbClr val="000000"/>
                                      </a:solidFill>
                                      <a:effectLst/>
                                      <a:latin typeface="Cambria Math" panose="02040503050406030204" pitchFamily="18" charset="0"/>
                                      <a:ea typeface="Times New Roman" panose="02020603050405020304" pitchFamily="18" charset="0"/>
                                    </a:rPr>
                                    <m:t>𝑚𝑎𝑥</m:t>
                                  </m:r>
                                </m:sup>
                              </m:sSubSup>
                            </m:oMath>
                          </a14:m>
                          <a:r>
                            <a:rPr lang="vi-VN" sz="2000" kern="0">
                              <a:solidFill>
                                <a:srgbClr val="000000"/>
                              </a:solidFill>
                              <a:effectLst/>
                              <a:latin typeface="Times New Roman" panose="02020603050405020304" pitchFamily="18" charset="0"/>
                              <a:ea typeface="Times New Roman" panose="02020603050405020304" pitchFamily="18" charset="0"/>
                            </a:rPr>
                            <a:t> &lt; </a:t>
                          </a:r>
                          <a:r>
                            <a:rPr lang="en-US" sz="2000" kern="0">
                              <a:solidFill>
                                <a:srgbClr val="000000"/>
                              </a:solidFill>
                              <a:effectLst/>
                              <a:latin typeface="Times New Roman" panose="02020603050405020304" pitchFamily="18" charset="0"/>
                              <a:ea typeface="Times New Roman" panose="02020603050405020304" pitchFamily="18" charset="0"/>
                            </a:rPr>
                            <a:t>0.2s</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2000" kern="100">
                              <a:solidFill>
                                <a:srgbClr val="000000"/>
                              </a:solidFill>
                              <a:effectLst/>
                              <a:latin typeface="Times New Roman" panose="02020603050405020304" pitchFamily="18" charset="0"/>
                              <a:ea typeface="Times New Roman" panose="02020603050405020304" pitchFamily="18" charset="0"/>
                            </a:rPr>
                            <a:t>0.</a:t>
                          </a:r>
                          <a:r>
                            <a:rPr lang="vi-VN" sz="2000" kern="100">
                              <a:solidFill>
                                <a:srgbClr val="000000"/>
                              </a:solidFill>
                              <a:effectLst/>
                              <a:latin typeface="Times New Roman" panose="02020603050405020304" pitchFamily="18" charset="0"/>
                              <a:ea typeface="Times New Roman" panose="02020603050405020304" pitchFamily="18" charset="0"/>
                            </a:rPr>
                            <a:t>11</a:t>
                          </a:r>
                          <a:r>
                            <a:rPr lang="en-US" sz="2000" kern="100">
                              <a:solidFill>
                                <a:srgbClr val="000000"/>
                              </a:solidFill>
                              <a:effectLst/>
                              <a:latin typeface="Times New Roman" panose="02020603050405020304" pitchFamily="18" charset="0"/>
                              <a:ea typeface="Times New Roman" panose="02020603050405020304" pitchFamily="18" charset="0"/>
                            </a:rPr>
                            <a:t>s</a:t>
                          </a:r>
                        </a:p>
                      </a:txBody>
                      <a:tcPr marL="68580" marR="68580" marT="0" marB="0"/>
                    </a:tc>
                    <a:tc>
                      <a:txBody>
                        <a:bodyPr/>
                        <a:lstStyle/>
                        <a:p>
                          <a:pPr marL="0" marR="0" indent="0" algn="ctr">
                            <a:lnSpc>
                              <a:spcPct val="150000"/>
                            </a:lnSpc>
                            <a:spcBef>
                              <a:spcPts val="300"/>
                            </a:spcBef>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0</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354518911"/>
                      </a:ext>
                    </a:extLst>
                  </a:tr>
                  <a:tr h="558955">
                    <a:tc>
                      <a:txBody>
                        <a:bodyPr/>
                        <a:lstStyle/>
                        <a:p>
                          <a:pPr marL="0" marR="0" indent="0" algn="ctr">
                            <a:lnSpc>
                              <a:spcPct val="150000"/>
                            </a:lnSpc>
                            <a:spcBef>
                              <a:spcPts val="300"/>
                            </a:spcBef>
                            <a:spcAft>
                              <a:spcPts val="25"/>
                            </a:spcAft>
                          </a:pPr>
                          <a14:m>
                            <m:oMathPara xmlns:m="http://schemas.openxmlformats.org/officeDocument/2006/math">
                              <m:oMath>
                                <m:sSubSup>
                                  <m:sSubSupPr>
                                    <m:ctrlPr>
                                      <a:rPr lang="vi-VN" sz="2000" i="1" kern="0">
                                        <a:solidFill>
                                          <a:srgbClr val="000000"/>
                                        </a:solidFill>
                                        <a:effectLst/>
                                        <a:latin typeface="Cambria Math" panose="02040503050406030204" pitchFamily="18" charset="0"/>
                                        <a:ea typeface="Times New Roman" panose="02020603050405020304" pitchFamily="18" charset="0"/>
                                      </a:rPr>
                                    </m:ctrlPr>
                                  </m:sSubSupPr>
                                  <m:e>
                                    <m:r>
                                      <a:rPr lang="vi-VN" sz="2000" i="1" kern="0">
                                        <a:solidFill>
                                          <a:srgbClr val="000000"/>
                                        </a:solidFill>
                                        <a:effectLst/>
                                        <a:latin typeface="Cambria Math" panose="02040503050406030204" pitchFamily="18" charset="0"/>
                                        <a:ea typeface="Times New Roman" panose="02020603050405020304" pitchFamily="18" charset="0"/>
                                      </a:rPr>
                                      <m:t>𝛿</m:t>
                                    </m:r>
                                  </m:e>
                                  <m:sub>
                                    <m:r>
                                      <a:rPr lang="en-US" sz="2000" i="1" kern="0">
                                        <a:solidFill>
                                          <a:srgbClr val="000000"/>
                                        </a:solidFill>
                                        <a:effectLst/>
                                        <a:latin typeface="Cambria Math" panose="02040503050406030204" pitchFamily="18" charset="0"/>
                                        <a:ea typeface="Times New Roman" panose="02020603050405020304" pitchFamily="18" charset="0"/>
                                      </a:rPr>
                                      <m:t>3:1</m:t>
                                    </m:r>
                                  </m:sub>
                                  <m:sup>
                                    <m:r>
                                      <a:rPr lang="en-US" sz="2000" i="1" kern="0">
                                        <a:solidFill>
                                          <a:srgbClr val="000000"/>
                                        </a:solidFill>
                                        <a:effectLst/>
                                        <a:latin typeface="Cambria Math" panose="02040503050406030204" pitchFamily="18" charset="0"/>
                                        <a:ea typeface="Times New Roman" panose="02020603050405020304" pitchFamily="18" charset="0"/>
                                      </a:rPr>
                                      <m:t>𝑚𝑎𝑥</m:t>
                                    </m:r>
                                  </m:sup>
                                </m:sSubSup>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0">
                              <a:solidFill>
                                <a:srgbClr val="000000"/>
                              </a:solidFill>
                              <a:effectLst/>
                              <a:latin typeface="Times New Roman" panose="02020603050405020304" pitchFamily="18" charset="0"/>
                              <a:ea typeface="Times New Roman" panose="02020603050405020304" pitchFamily="18" charset="0"/>
                            </a:rPr>
                            <a:t>Tỉ lệ song hài bậc ba với bậc nhất</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0">
                              <a:solidFill>
                                <a:srgbClr val="000000"/>
                              </a:solidFill>
                              <a:effectLst/>
                              <a:latin typeface="Times New Roman" panose="02020603050405020304" pitchFamily="18" charset="0"/>
                              <a:ea typeface="Times New Roman" panose="02020603050405020304" pitchFamily="18" charset="0"/>
                            </a:rPr>
                            <a:t>2</a:t>
                          </a:r>
                          <a:r>
                            <a:rPr lang="en-US" sz="2000" kern="0">
                              <a:solidFill>
                                <a:srgbClr val="000000"/>
                              </a:solidFill>
                              <a:effectLst/>
                              <a:latin typeface="Times New Roman" panose="02020603050405020304" pitchFamily="18" charset="0"/>
                              <a:ea typeface="Times New Roman" panose="02020603050405020304" pitchFamily="18" charset="0"/>
                            </a:rPr>
                            <a:t>%</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100">
                              <a:solidFill>
                                <a:srgbClr val="000000"/>
                              </a:solidFill>
                              <a:effectLst/>
                              <a:latin typeface="Times New Roman" panose="02020603050405020304" pitchFamily="18" charset="0"/>
                              <a:ea typeface="Times New Roman" panose="02020603050405020304" pitchFamily="18" charset="0"/>
                            </a:rPr>
                            <a:t>2.23%</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60987794"/>
                      </a:ext>
                    </a:extLst>
                  </a:tr>
                </a:tbl>
              </a:graphicData>
            </a:graphic>
          </p:graphicFrame>
        </mc:Choice>
        <mc:Fallback xmlns="">
          <p:graphicFrame>
            <p:nvGraphicFramePr>
              <p:cNvPr id="9" name="Table 13">
                <a:extLst>
                  <a:ext uri="{FF2B5EF4-FFF2-40B4-BE49-F238E27FC236}">
                    <a16:creationId xmlns:a16="http://schemas.microsoft.com/office/drawing/2014/main" id="{29DA4B34-D53B-E03A-C602-B7281363B5A6}"/>
                  </a:ext>
                </a:extLst>
              </p:cNvPr>
              <p:cNvGraphicFramePr>
                <a:graphicFrameLocks noGrp="1"/>
              </p:cNvGraphicFramePr>
              <p:nvPr>
                <p:extLst>
                  <p:ext uri="{D42A27DB-BD31-4B8C-83A1-F6EECF244321}">
                    <p14:modId xmlns:p14="http://schemas.microsoft.com/office/powerpoint/2010/main" val="1642457687"/>
                  </p:ext>
                </p:extLst>
              </p:nvPr>
            </p:nvGraphicFramePr>
            <p:xfrm>
              <a:off x="186357" y="1381022"/>
              <a:ext cx="11819287" cy="4936802"/>
            </p:xfrm>
            <a:graphic>
              <a:graphicData uri="http://schemas.openxmlformats.org/drawingml/2006/table">
                <a:tbl>
                  <a:tblPr firstRow="1" bandRow="1">
                    <a:tableStyleId>{7DF18680-E054-41AD-8BC1-D1AEF772440D}</a:tableStyleId>
                  </a:tblPr>
                  <a:tblGrid>
                    <a:gridCol w="1124284">
                      <a:extLst>
                        <a:ext uri="{9D8B030D-6E8A-4147-A177-3AD203B41FA5}">
                          <a16:colId xmlns:a16="http://schemas.microsoft.com/office/drawing/2014/main" val="54882281"/>
                        </a:ext>
                      </a:extLst>
                    </a:gridCol>
                    <a:gridCol w="3667760">
                      <a:extLst>
                        <a:ext uri="{9D8B030D-6E8A-4147-A177-3AD203B41FA5}">
                          <a16:colId xmlns:a16="http://schemas.microsoft.com/office/drawing/2014/main" val="2411394353"/>
                        </a:ext>
                      </a:extLst>
                    </a:gridCol>
                    <a:gridCol w="2407920">
                      <a:extLst>
                        <a:ext uri="{9D8B030D-6E8A-4147-A177-3AD203B41FA5}">
                          <a16:colId xmlns:a16="http://schemas.microsoft.com/office/drawing/2014/main" val="1907597949"/>
                        </a:ext>
                      </a:extLst>
                    </a:gridCol>
                    <a:gridCol w="2479040">
                      <a:extLst>
                        <a:ext uri="{9D8B030D-6E8A-4147-A177-3AD203B41FA5}">
                          <a16:colId xmlns:a16="http://schemas.microsoft.com/office/drawing/2014/main" val="3034739335"/>
                        </a:ext>
                      </a:extLst>
                    </a:gridCol>
                    <a:gridCol w="2140283">
                      <a:extLst>
                        <a:ext uri="{9D8B030D-6E8A-4147-A177-3AD203B41FA5}">
                          <a16:colId xmlns:a16="http://schemas.microsoft.com/office/drawing/2014/main" val="1124387792"/>
                        </a:ext>
                      </a:extLst>
                    </a:gridCol>
                  </a:tblGrid>
                  <a:tr h="859600">
                    <a:tc>
                      <a:txBody>
                        <a:bodyPr/>
                        <a:lstStyle/>
                        <a:p>
                          <a:pPr marL="0" marR="0" indent="0" algn="ctr">
                            <a:lnSpc>
                              <a:spcPct val="150000"/>
                            </a:lnSpc>
                            <a:spcBef>
                              <a:spcPts val="300"/>
                            </a:spcBef>
                            <a:spcAft>
                              <a:spcPts val="25"/>
                            </a:spcAft>
                          </a:pPr>
                          <a:r>
                            <a:rPr lang="en-US" sz="2000" kern="0" dirty="0" err="1">
                              <a:solidFill>
                                <a:srgbClr val="000000"/>
                              </a:solidFill>
                              <a:effectLst/>
                              <a:latin typeface="Times New Roman" panose="02020603050405020304" pitchFamily="18" charset="0"/>
                              <a:ea typeface="Times New Roman" panose="02020603050405020304" pitchFamily="18" charset="0"/>
                            </a:rPr>
                            <a:t>Kí</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hiệu</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60000"/>
                            <a:lumOff val="40000"/>
                          </a:schemeClr>
                        </a:solidFill>
                      </a:tcPr>
                    </a:tc>
                    <a:tc>
                      <a:txBody>
                        <a:bodyPr/>
                        <a:lstStyle/>
                        <a:p>
                          <a:pPr marL="0" marR="0" indent="0" algn="ctr">
                            <a:lnSpc>
                              <a:spcPct val="150000"/>
                            </a:lnSpc>
                            <a:spcBef>
                              <a:spcPts val="300"/>
                            </a:spcBef>
                            <a:spcAft>
                              <a:spcPts val="25"/>
                            </a:spcAft>
                          </a:pPr>
                          <a:r>
                            <a:rPr lang="en-US" sz="2000" kern="0" dirty="0" err="1">
                              <a:solidFill>
                                <a:srgbClr val="000000"/>
                              </a:solidFill>
                              <a:effectLst/>
                              <a:latin typeface="Times New Roman" panose="02020603050405020304" pitchFamily="18" charset="0"/>
                              <a:ea typeface="Times New Roman" panose="02020603050405020304" pitchFamily="18" charset="0"/>
                            </a:rPr>
                            <a:t>Tham</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số</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60000"/>
                            <a:lumOff val="40000"/>
                          </a:schemeClr>
                        </a:solidFill>
                      </a:tcPr>
                    </a:tc>
                    <a:tc>
                      <a:txBody>
                        <a:bodyPr/>
                        <a:lstStyle/>
                        <a:p>
                          <a:pPr marL="0" marR="0" indent="0" algn="ctr">
                            <a:lnSpc>
                              <a:spcPct val="150000"/>
                            </a:lnSpc>
                            <a:spcBef>
                              <a:spcPts val="300"/>
                            </a:spcBef>
                            <a:spcAft>
                              <a:spcPts val="25"/>
                            </a:spcAft>
                          </a:pPr>
                          <a:r>
                            <a:rPr lang="en-US" sz="2000" kern="0" dirty="0" err="1">
                              <a:solidFill>
                                <a:srgbClr val="000000"/>
                              </a:solidFill>
                              <a:effectLst/>
                              <a:latin typeface="Times New Roman" panose="02020603050405020304" pitchFamily="18" charset="0"/>
                              <a:ea typeface="Times New Roman" panose="02020603050405020304" pitchFamily="18" charset="0"/>
                            </a:rPr>
                            <a:t>Giá</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trị</a:t>
                          </a:r>
                          <a:r>
                            <a:rPr lang="vi-VN" sz="2000" kern="0" dirty="0">
                              <a:solidFill>
                                <a:srgbClr val="000000"/>
                              </a:solidFill>
                              <a:effectLst/>
                              <a:latin typeface="Times New Roman" panose="02020603050405020304" pitchFamily="18" charset="0"/>
                              <a:ea typeface="Times New Roman" panose="02020603050405020304" pitchFamily="18" charset="0"/>
                            </a:rPr>
                            <a:t> lý thuyết</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60000"/>
                            <a:lumOff val="40000"/>
                          </a:schemeClr>
                        </a:solidFill>
                      </a:tcPr>
                    </a:tc>
                    <a:tc>
                      <a:txBody>
                        <a:bodyPr/>
                        <a:lstStyle/>
                        <a:p>
                          <a:pPr marL="0" marR="0" indent="0" algn="ctr">
                            <a:lnSpc>
                              <a:spcPct val="150000"/>
                            </a:lnSpc>
                            <a:spcBef>
                              <a:spcPts val="300"/>
                            </a:spcBef>
                            <a:spcAft>
                              <a:spcPts val="25"/>
                            </a:spcAft>
                          </a:pPr>
                          <a:r>
                            <a:rPr lang="vi-VN" sz="2000" kern="100" dirty="0">
                              <a:solidFill>
                                <a:srgbClr val="000000"/>
                              </a:solidFill>
                              <a:effectLst/>
                              <a:latin typeface="Times New Roman" panose="02020603050405020304" pitchFamily="18" charset="0"/>
                              <a:ea typeface="Times New Roman" panose="02020603050405020304" pitchFamily="18" charset="0"/>
                            </a:rPr>
                            <a:t>Giá trị mô phỏng</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60000"/>
                            <a:lumOff val="40000"/>
                          </a:schemeClr>
                        </a:solidFill>
                      </a:tcPr>
                    </a:tc>
                    <a:tc>
                      <a:txBody>
                        <a:bodyPr/>
                        <a:lstStyle/>
                        <a:p>
                          <a:pPr marL="0" marR="0" indent="0" algn="ctr">
                            <a:lnSpc>
                              <a:spcPct val="150000"/>
                            </a:lnSpc>
                            <a:spcBef>
                              <a:spcPts val="300"/>
                            </a:spcBef>
                            <a:spcAft>
                              <a:spcPts val="25"/>
                            </a:spcAft>
                          </a:pPr>
                          <a:r>
                            <a:rPr lang="vi-VN" sz="2000" kern="100" dirty="0">
                              <a:solidFill>
                                <a:srgbClr val="000000"/>
                              </a:solidFill>
                              <a:effectLst/>
                              <a:latin typeface="Times New Roman" panose="02020603050405020304" pitchFamily="18" charset="0"/>
                              <a:ea typeface="Times New Roman" panose="02020603050405020304" pitchFamily="18" charset="0"/>
                            </a:rPr>
                            <a:t>Sai số so với lý thuyết </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60000"/>
                            <a:lumOff val="40000"/>
                          </a:schemeClr>
                        </a:solidFill>
                      </a:tcPr>
                    </a:tc>
                    <a:extLst>
                      <a:ext uri="{0D108BD9-81ED-4DB2-BD59-A6C34878D82A}">
                        <a16:rowId xmlns:a16="http://schemas.microsoft.com/office/drawing/2014/main" val="24198130"/>
                      </a:ext>
                    </a:extLst>
                  </a:tr>
                  <a:tr h="596407">
                    <a:tc>
                      <a:txBody>
                        <a:bodyPr/>
                        <a:lstStyle/>
                        <a:p>
                          <a:endParaRPr lang="vi-VN"/>
                        </a:p>
                      </a:txBody>
                      <a:tcPr marL="68580" marR="68580" marT="0" marB="0">
                        <a:blipFill>
                          <a:blip r:embed="rId2"/>
                          <a:stretch>
                            <a:fillRect l="-541" t="-144898" r="-950811" b="-585714"/>
                          </a:stretch>
                        </a:blipFill>
                      </a:tcPr>
                    </a:tc>
                    <a:tc>
                      <a:txBody>
                        <a:bodyPr/>
                        <a:lstStyle/>
                        <a:p>
                          <a:pPr marL="0" marR="0" indent="0" algn="ctr">
                            <a:lnSpc>
                              <a:spcPct val="150000"/>
                            </a:lnSpc>
                            <a:spcBef>
                              <a:spcPts val="300"/>
                            </a:spcBef>
                            <a:spcAft>
                              <a:spcPts val="25"/>
                            </a:spcAft>
                          </a:pPr>
                          <a:r>
                            <a:rPr lang="en-US" sz="2000" kern="0" dirty="0" err="1">
                              <a:solidFill>
                                <a:srgbClr val="000000"/>
                              </a:solidFill>
                              <a:effectLst/>
                              <a:latin typeface="Times New Roman" panose="02020603050405020304" pitchFamily="18" charset="0"/>
                              <a:ea typeface="Times New Roman" panose="02020603050405020304" pitchFamily="18" charset="0"/>
                            </a:rPr>
                            <a:t>Điện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áp</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hở</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mạch</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0" dirty="0">
                              <a:solidFill>
                                <a:srgbClr val="000000"/>
                              </a:solidFill>
                              <a:effectLst/>
                              <a:latin typeface="Times New Roman" panose="02020603050405020304" pitchFamily="18" charset="0"/>
                              <a:ea typeface="Times New Roman" panose="02020603050405020304" pitchFamily="18" charset="0"/>
                            </a:rPr>
                            <a:t>225</a:t>
                          </a:r>
                          <a:r>
                            <a:rPr lang="en-US" sz="2000" kern="0" dirty="0">
                              <a:solidFill>
                                <a:srgbClr val="000000"/>
                              </a:solidFill>
                              <a:effectLst/>
                              <a:latin typeface="Times New Roman" panose="02020603050405020304" pitchFamily="18" charset="0"/>
                              <a:ea typeface="Times New Roman" panose="02020603050405020304" pitchFamily="18" charset="0"/>
                            </a:rPr>
                            <a:t>V</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100" dirty="0">
                              <a:solidFill>
                                <a:srgbClr val="000000"/>
                              </a:solidFill>
                              <a:effectLst/>
                              <a:latin typeface="Times New Roman" panose="02020603050405020304" pitchFamily="18" charset="0"/>
                              <a:ea typeface="Times New Roman" panose="02020603050405020304" pitchFamily="18" charset="0"/>
                            </a:rPr>
                            <a:t>225.8 (V)</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0" dirty="0">
                              <a:solidFill>
                                <a:srgbClr val="000000"/>
                              </a:solidFill>
                              <a:effectLst/>
                              <a:latin typeface="Times New Roman" panose="02020603050405020304" pitchFamily="18" charset="0"/>
                              <a:ea typeface="Times New Roman" panose="02020603050405020304" pitchFamily="18" charset="0"/>
                            </a:rPr>
                            <a:t>0.36</a:t>
                          </a:r>
                          <a:r>
                            <a:rPr lang="en-US" sz="2000" kern="0" dirty="0">
                              <a:solidFill>
                                <a:srgbClr val="000000"/>
                              </a:solidFill>
                              <a:effectLst/>
                              <a:latin typeface="Times New Roman" panose="02020603050405020304" pitchFamily="18" charset="0"/>
                              <a:ea typeface="Times New Roman" panose="02020603050405020304" pitchFamily="18" charset="0"/>
                            </a:rPr>
                            <a:t>%</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291768572"/>
                      </a:ext>
                    </a:extLst>
                  </a:tr>
                  <a:tr h="612588">
                    <a:tc>
                      <a:txBody>
                        <a:bodyPr/>
                        <a:lstStyle/>
                        <a:p>
                          <a:endParaRPr lang="vi-VN"/>
                        </a:p>
                      </a:txBody>
                      <a:tcPr marL="68580" marR="68580" marT="0" marB="0">
                        <a:blipFill>
                          <a:blip r:embed="rId2"/>
                          <a:stretch>
                            <a:fillRect l="-541" t="-237624" r="-950811" b="-468317"/>
                          </a:stretch>
                        </a:blipFill>
                      </a:tcPr>
                    </a:tc>
                    <a:tc>
                      <a:txBody>
                        <a:bodyPr/>
                        <a:lstStyle/>
                        <a:p>
                          <a:pPr marL="0" marR="0" indent="0" algn="ctr">
                            <a:lnSpc>
                              <a:spcPct val="150000"/>
                            </a:lnSpc>
                            <a:spcBef>
                              <a:spcPts val="300"/>
                            </a:spcBef>
                            <a:spcAft>
                              <a:spcPts val="25"/>
                            </a:spcAft>
                          </a:pPr>
                          <a:r>
                            <a:rPr lang="vi-VN" sz="2000" kern="0" dirty="0">
                              <a:solidFill>
                                <a:srgbClr val="000000"/>
                              </a:solidFill>
                              <a:effectLst/>
                              <a:latin typeface="Times New Roman" panose="02020603050405020304" pitchFamily="18" charset="0"/>
                              <a:ea typeface="Times New Roman" panose="02020603050405020304" pitchFamily="18" charset="0"/>
                            </a:rPr>
                            <a:t>Công suất tác dụng định mức</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en-US" sz="2000" kern="0" dirty="0">
                              <a:solidFill>
                                <a:srgbClr val="000000"/>
                              </a:solidFill>
                              <a:effectLst/>
                              <a:latin typeface="Times New Roman" panose="02020603050405020304" pitchFamily="18" charset="0"/>
                              <a:ea typeface="Times New Roman" panose="02020603050405020304" pitchFamily="18" charset="0"/>
                            </a:rPr>
                            <a:t>750W</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100" dirty="0">
                              <a:solidFill>
                                <a:srgbClr val="000000"/>
                              </a:solidFill>
                              <a:effectLst/>
                              <a:latin typeface="Times New Roman" panose="02020603050405020304" pitchFamily="18" charset="0"/>
                              <a:ea typeface="Times New Roman" panose="02020603050405020304" pitchFamily="18" charset="0"/>
                            </a:rPr>
                            <a:t>753W </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100" dirty="0">
                              <a:solidFill>
                                <a:srgbClr val="000000"/>
                              </a:solidFill>
                              <a:effectLst/>
                              <a:latin typeface="Times New Roman" panose="02020603050405020304" pitchFamily="18" charset="0"/>
                              <a:ea typeface="Times New Roman" panose="02020603050405020304" pitchFamily="18" charset="0"/>
                            </a:rPr>
                            <a:t>0.4%</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656964966"/>
                      </a:ext>
                    </a:extLst>
                  </a:tr>
                  <a:tr h="597921">
                    <a:tc>
                      <a:txBody>
                        <a:bodyPr/>
                        <a:lstStyle/>
                        <a:p>
                          <a:endParaRPr lang="vi-VN"/>
                        </a:p>
                      </a:txBody>
                      <a:tcPr marL="68580" marR="68580" marT="0" marB="0">
                        <a:blipFill>
                          <a:blip r:embed="rId2"/>
                          <a:stretch>
                            <a:fillRect l="-541" t="-347959" r="-950811" b="-382653"/>
                          </a:stretch>
                        </a:blipFill>
                      </a:tcPr>
                    </a:tc>
                    <a:tc>
                      <a:txBody>
                        <a:bodyPr/>
                        <a:lstStyle/>
                        <a:p>
                          <a:pPr marL="0" marR="0" indent="0" algn="ctr">
                            <a:lnSpc>
                              <a:spcPct val="150000"/>
                            </a:lnSpc>
                            <a:spcBef>
                              <a:spcPts val="300"/>
                            </a:spcBef>
                            <a:spcAft>
                              <a:spcPts val="25"/>
                            </a:spcAft>
                          </a:pPr>
                          <a:r>
                            <a:rPr lang="vi-VN" sz="2000" kern="0" dirty="0">
                              <a:solidFill>
                                <a:srgbClr val="000000"/>
                              </a:solidFill>
                              <a:effectLst/>
                              <a:latin typeface="Times New Roman" panose="02020603050405020304" pitchFamily="18" charset="0"/>
                              <a:ea typeface="Times New Roman" panose="02020603050405020304" pitchFamily="18" charset="0"/>
                            </a:rPr>
                            <a:t>Điện áp tại công suất định mức</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0" dirty="0">
                              <a:solidFill>
                                <a:srgbClr val="000000"/>
                              </a:solidFill>
                              <a:effectLst/>
                              <a:latin typeface="Times New Roman" panose="02020603050405020304" pitchFamily="18" charset="0"/>
                              <a:ea typeface="Times New Roman" panose="02020603050405020304" pitchFamily="18" charset="0"/>
                            </a:rPr>
                            <a:t>220</a:t>
                          </a:r>
                          <a:r>
                            <a:rPr lang="en-US" sz="2000" kern="0" dirty="0">
                              <a:solidFill>
                                <a:srgbClr val="000000"/>
                              </a:solidFill>
                              <a:effectLst/>
                              <a:latin typeface="Times New Roman" panose="02020603050405020304" pitchFamily="18" charset="0"/>
                              <a:ea typeface="Times New Roman" panose="02020603050405020304" pitchFamily="18" charset="0"/>
                            </a:rPr>
                            <a:t>V</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100" dirty="0">
                              <a:solidFill>
                                <a:srgbClr val="000000"/>
                              </a:solidFill>
                              <a:effectLst/>
                              <a:latin typeface="Times New Roman" panose="02020603050405020304" pitchFamily="18" charset="0"/>
                              <a:ea typeface="Times New Roman" panose="02020603050405020304" pitchFamily="18" charset="0"/>
                            </a:rPr>
                            <a:t>220.6(V)</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100" dirty="0">
                              <a:solidFill>
                                <a:srgbClr val="000000"/>
                              </a:solidFill>
                              <a:effectLst/>
                              <a:latin typeface="Times New Roman" panose="02020603050405020304" pitchFamily="18" charset="0"/>
                              <a:ea typeface="Times New Roman" panose="02020603050405020304" pitchFamily="18" charset="0"/>
                            </a:rPr>
                            <a:t>0.27</a:t>
                          </a:r>
                          <a:r>
                            <a:rPr lang="en-US" sz="2000" kern="0" dirty="0">
                              <a:solidFill>
                                <a:srgbClr val="000000"/>
                              </a:solidFill>
                              <a:effectLst/>
                              <a:latin typeface="Times New Roman" panose="02020603050405020304" pitchFamily="18" charset="0"/>
                              <a:ea typeface="Times New Roman" panose="02020603050405020304" pitchFamily="18" charset="0"/>
                            </a:rPr>
                            <a:t>%</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4047085"/>
                      </a:ext>
                    </a:extLst>
                  </a:tr>
                  <a:tr h="516387">
                    <a:tc>
                      <a:txBody>
                        <a:bodyPr/>
                        <a:lstStyle/>
                        <a:p>
                          <a:endParaRPr lang="vi-VN"/>
                        </a:p>
                      </a:txBody>
                      <a:tcPr marL="68580" marR="68580" marT="0" marB="0">
                        <a:blipFill>
                          <a:blip r:embed="rId2"/>
                          <a:stretch>
                            <a:fillRect l="-541" t="-516471" r="-950811" b="-341176"/>
                          </a:stretch>
                        </a:blipFill>
                      </a:tcPr>
                    </a:tc>
                    <a:tc>
                      <a:txBody>
                        <a:bodyPr/>
                        <a:lstStyle/>
                        <a:p>
                          <a:pPr marL="0" marR="0" indent="0" algn="ctr">
                            <a:lnSpc>
                              <a:spcPct val="150000"/>
                            </a:lnSpc>
                            <a:spcBef>
                              <a:spcPts val="300"/>
                            </a:spcBef>
                            <a:spcAft>
                              <a:spcPts val="25"/>
                            </a:spcAft>
                          </a:pPr>
                          <a:r>
                            <a:rPr lang="en-US" sz="2000" kern="0" dirty="0" err="1">
                              <a:solidFill>
                                <a:srgbClr val="000000"/>
                              </a:solidFill>
                              <a:effectLst/>
                              <a:latin typeface="Times New Roman" panose="02020603050405020304" pitchFamily="18" charset="0"/>
                              <a:ea typeface="Times New Roman" panose="02020603050405020304" pitchFamily="18" charset="0"/>
                            </a:rPr>
                            <a:t>Tần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số</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vi-VN" sz="2000" kern="0" dirty="0">
                              <a:solidFill>
                                <a:srgbClr val="000000"/>
                              </a:solidFill>
                              <a:effectLst/>
                              <a:latin typeface="Times New Roman" panose="02020603050405020304" pitchFamily="18" charset="0"/>
                              <a:ea typeface="Times New Roman" panose="02020603050405020304" pitchFamily="18" charset="0"/>
                            </a:rPr>
                            <a:t>góc</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2"/>
                          <a:stretch>
                            <a:fillRect l="-199494" t="-516471" r="-192911" b="-341176"/>
                          </a:stretch>
                        </a:blipFill>
                      </a:tcPr>
                    </a:tc>
                    <a:tc>
                      <a:txBody>
                        <a:bodyPr/>
                        <a:lstStyle/>
                        <a:p>
                          <a:endParaRPr lang="vi-VN"/>
                        </a:p>
                      </a:txBody>
                      <a:tcPr marL="68580" marR="68580" marT="0" marB="0">
                        <a:blipFill>
                          <a:blip r:embed="rId2"/>
                          <a:stretch>
                            <a:fillRect l="-290663" t="-516471" r="-87224" b="-341176"/>
                          </a:stretch>
                        </a:blipFill>
                      </a:tcPr>
                    </a:tc>
                    <a:tc>
                      <a:txBody>
                        <a:bodyPr/>
                        <a:lstStyle/>
                        <a:p>
                          <a:pPr marL="0" marR="0" indent="0" algn="ctr">
                            <a:lnSpc>
                              <a:spcPct val="150000"/>
                            </a:lnSpc>
                            <a:spcBef>
                              <a:spcPts val="300"/>
                            </a:spcBef>
                            <a:spcAft>
                              <a:spcPts val="25"/>
                            </a:spcAft>
                          </a:pPr>
                          <a:r>
                            <a:rPr lang="vi-VN" sz="2000" kern="100" dirty="0">
                              <a:solidFill>
                                <a:srgbClr val="000000"/>
                              </a:solidFill>
                              <a:effectLst/>
                              <a:latin typeface="Times New Roman" panose="02020603050405020304" pitchFamily="18" charset="0"/>
                              <a:ea typeface="Times New Roman" panose="02020603050405020304" pitchFamily="18" charset="0"/>
                            </a:rPr>
                            <a:t>0.8</a:t>
                          </a:r>
                          <a:r>
                            <a:rPr lang="en-US" sz="2000" kern="0" dirty="0">
                              <a:solidFill>
                                <a:srgbClr val="000000"/>
                              </a:solidFill>
                              <a:effectLst/>
                              <a:latin typeface="Times New Roman" panose="02020603050405020304" pitchFamily="18" charset="0"/>
                              <a:ea typeface="Times New Roman" panose="02020603050405020304" pitchFamily="18" charset="0"/>
                            </a:rPr>
                            <a:t>%</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36226698"/>
                      </a:ext>
                    </a:extLst>
                  </a:tr>
                  <a:tr h="596407">
                    <a:tc>
                      <a:txBody>
                        <a:bodyPr/>
                        <a:lstStyle/>
                        <a:p>
                          <a:endParaRPr lang="vi-VN"/>
                        </a:p>
                      </a:txBody>
                      <a:tcPr marL="68580" marR="68580" marT="0" marB="0">
                        <a:blipFill>
                          <a:blip r:embed="rId2"/>
                          <a:stretch>
                            <a:fillRect l="-541" t="-534694" r="-950811" b="-195918"/>
                          </a:stretch>
                        </a:blipFill>
                      </a:tcPr>
                    </a:tc>
                    <a:tc>
                      <a:txBody>
                        <a:bodyPr/>
                        <a:lstStyle/>
                        <a:p>
                          <a:pPr marL="0" marR="0" indent="0" algn="ctr">
                            <a:lnSpc>
                              <a:spcPct val="150000"/>
                            </a:lnSpc>
                            <a:spcBef>
                              <a:spcPts val="300"/>
                            </a:spcBef>
                            <a:spcAft>
                              <a:spcPts val="25"/>
                            </a:spcAft>
                          </a:pPr>
                          <a:r>
                            <a:rPr lang="vi-VN" sz="2000" kern="0" dirty="0">
                              <a:solidFill>
                                <a:srgbClr val="000000"/>
                              </a:solidFill>
                              <a:effectLst/>
                              <a:latin typeface="Times New Roman" panose="02020603050405020304" pitchFamily="18" charset="0"/>
                              <a:ea typeface="Times New Roman" panose="02020603050405020304" pitchFamily="18" charset="0"/>
                            </a:rPr>
                            <a:t>Độ lệch tần số tối đa</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2"/>
                          <a:stretch>
                            <a:fillRect l="-199494" t="-534694" r="-192911" b="-195918"/>
                          </a:stretch>
                        </a:blipFill>
                      </a:tcPr>
                    </a:tc>
                    <a:tc>
                      <a:txBody>
                        <a:bodyPr/>
                        <a:lstStyle/>
                        <a:p>
                          <a:endParaRPr lang="vi-VN"/>
                        </a:p>
                      </a:txBody>
                      <a:tcPr marL="68580" marR="68580" marT="0" marB="0">
                        <a:blipFill>
                          <a:blip r:embed="rId2"/>
                          <a:stretch>
                            <a:fillRect l="-290663" t="-534694" r="-87224" b="-195918"/>
                          </a:stretch>
                        </a:blipFill>
                      </a:tcPr>
                    </a:tc>
                    <a:tc>
                      <a:txBody>
                        <a:bodyPr/>
                        <a:lstStyle/>
                        <a:p>
                          <a:pPr marL="0" marR="0" indent="0" algn="ctr">
                            <a:lnSpc>
                              <a:spcPct val="150000"/>
                            </a:lnSpc>
                            <a:spcBef>
                              <a:spcPts val="300"/>
                            </a:spcBef>
                            <a:spcAft>
                              <a:spcPts val="25"/>
                            </a:spcAft>
                          </a:pPr>
                          <a:r>
                            <a:rPr lang="vi-VN" sz="2000" kern="100" dirty="0">
                              <a:solidFill>
                                <a:srgbClr val="000000"/>
                              </a:solidFill>
                              <a:effectLst/>
                              <a:latin typeface="Times New Roman" panose="02020603050405020304" pitchFamily="18" charset="0"/>
                              <a:ea typeface="Times New Roman" panose="02020603050405020304" pitchFamily="18" charset="0"/>
                            </a:rPr>
                            <a:t>0</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85743980"/>
                      </a:ext>
                    </a:extLst>
                  </a:tr>
                  <a:tr h="598537">
                    <a:tc>
                      <a:txBody>
                        <a:bodyPr/>
                        <a:lstStyle/>
                        <a:p>
                          <a:endParaRPr lang="vi-VN"/>
                        </a:p>
                      </a:txBody>
                      <a:tcPr marL="68580" marR="68580" marT="0" marB="0">
                        <a:blipFill>
                          <a:blip r:embed="rId2"/>
                          <a:stretch>
                            <a:fillRect l="-541" t="-634694" r="-950811" b="-95918"/>
                          </a:stretch>
                        </a:blipFill>
                      </a:tcPr>
                    </a:tc>
                    <a:tc>
                      <a:txBody>
                        <a:bodyPr/>
                        <a:lstStyle/>
                        <a:p>
                          <a:pPr marL="0" marR="0" indent="0" algn="ctr">
                            <a:lnSpc>
                              <a:spcPct val="150000"/>
                            </a:lnSpc>
                            <a:spcBef>
                              <a:spcPts val="300"/>
                            </a:spcBef>
                            <a:spcAft>
                              <a:spcPts val="25"/>
                            </a:spcAft>
                          </a:pPr>
                          <a:r>
                            <a:rPr lang="en-US" sz="2000" kern="0" dirty="0" err="1">
                              <a:solidFill>
                                <a:srgbClr val="000000"/>
                              </a:solidFill>
                              <a:effectLst/>
                              <a:latin typeface="Times New Roman" panose="02020603050405020304" pitchFamily="18" charset="0"/>
                              <a:ea typeface="Times New Roman" panose="02020603050405020304" pitchFamily="18" charset="0"/>
                            </a:rPr>
                            <a:t>Thời</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gian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đáp</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ứng</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2"/>
                          <a:stretch>
                            <a:fillRect l="-199494" t="-634694" r="-192911" b="-95918"/>
                          </a:stretch>
                        </a:blipFill>
                      </a:tcPr>
                    </a:tc>
                    <a:tc>
                      <a:txBody>
                        <a:bodyPr/>
                        <a:lstStyle/>
                        <a:p>
                          <a:pPr marL="0" marR="0" indent="0" algn="ctr">
                            <a:lnSpc>
                              <a:spcPct val="150000"/>
                            </a:lnSpc>
                            <a:spcBef>
                              <a:spcPts val="300"/>
                            </a:spcBef>
                            <a:spcAft>
                              <a:spcPts val="25"/>
                            </a:spcAft>
                          </a:pPr>
                          <a:r>
                            <a:rPr lang="en-US" sz="2000" kern="100" dirty="0">
                              <a:solidFill>
                                <a:srgbClr val="000000"/>
                              </a:solidFill>
                              <a:effectLst/>
                              <a:latin typeface="Times New Roman" panose="02020603050405020304" pitchFamily="18" charset="0"/>
                              <a:ea typeface="Times New Roman" panose="02020603050405020304" pitchFamily="18" charset="0"/>
                            </a:rPr>
                            <a:t>0.</a:t>
                          </a:r>
                          <a:r>
                            <a:rPr lang="vi-VN" sz="2000" kern="100" dirty="0">
                              <a:solidFill>
                                <a:srgbClr val="000000"/>
                              </a:solidFill>
                              <a:effectLst/>
                              <a:latin typeface="Times New Roman" panose="02020603050405020304" pitchFamily="18" charset="0"/>
                              <a:ea typeface="Times New Roman" panose="02020603050405020304" pitchFamily="18" charset="0"/>
                            </a:rPr>
                            <a:t>11</a:t>
                          </a:r>
                          <a:r>
                            <a:rPr lang="en-US" sz="2000" kern="100" dirty="0">
                              <a:solidFill>
                                <a:srgbClr val="000000"/>
                              </a:solidFill>
                              <a:effectLst/>
                              <a:latin typeface="Times New Roman" panose="02020603050405020304" pitchFamily="18" charset="0"/>
                              <a:ea typeface="Times New Roman" panose="02020603050405020304" pitchFamily="18" charset="0"/>
                            </a:rPr>
                            <a:t>s</a:t>
                          </a:r>
                        </a:p>
                      </a:txBody>
                      <a:tcPr marL="68580" marR="68580" marT="0" marB="0"/>
                    </a:tc>
                    <a:tc>
                      <a:txBody>
                        <a:bodyPr/>
                        <a:lstStyle/>
                        <a:p>
                          <a:pPr marL="0" marR="0" indent="0" algn="ctr">
                            <a:lnSpc>
                              <a:spcPct val="150000"/>
                            </a:lnSpc>
                            <a:spcBef>
                              <a:spcPts val="300"/>
                            </a:spcBef>
                            <a:spcAft>
                              <a:spcPts val="25"/>
                            </a:spcAft>
                          </a:pPr>
                          <a:r>
                            <a:rPr lang="vi-VN" sz="2000" kern="100" dirty="0">
                              <a:solidFill>
                                <a:srgbClr val="000000"/>
                              </a:solidFill>
                              <a:effectLst/>
                              <a:latin typeface="Times New Roman" panose="02020603050405020304" pitchFamily="18" charset="0"/>
                              <a:ea typeface="Times New Roman" panose="02020603050405020304" pitchFamily="18" charset="0"/>
                            </a:rPr>
                            <a:t>0</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354518911"/>
                      </a:ext>
                    </a:extLst>
                  </a:tr>
                  <a:tr h="558955">
                    <a:tc>
                      <a:txBody>
                        <a:bodyPr/>
                        <a:lstStyle/>
                        <a:p>
                          <a:endParaRPr lang="vi-VN"/>
                        </a:p>
                      </a:txBody>
                      <a:tcPr marL="68580" marR="68580" marT="0" marB="0">
                        <a:blipFill>
                          <a:blip r:embed="rId2"/>
                          <a:stretch>
                            <a:fillRect l="-541" t="-782609" r="-950811" b="-2174"/>
                          </a:stretch>
                        </a:blipFill>
                      </a:tcPr>
                    </a:tc>
                    <a:tc>
                      <a:txBody>
                        <a:bodyPr/>
                        <a:lstStyle/>
                        <a:p>
                          <a:pPr marL="0" marR="0" indent="0" algn="ctr">
                            <a:lnSpc>
                              <a:spcPct val="150000"/>
                            </a:lnSpc>
                            <a:spcBef>
                              <a:spcPts val="300"/>
                            </a:spcBef>
                            <a:spcAft>
                              <a:spcPts val="25"/>
                            </a:spcAft>
                          </a:pPr>
                          <a:r>
                            <a:rPr lang="vi-VN" sz="2000" kern="0" dirty="0">
                              <a:solidFill>
                                <a:srgbClr val="000000"/>
                              </a:solidFill>
                              <a:effectLst/>
                              <a:latin typeface="Times New Roman" panose="02020603050405020304" pitchFamily="18" charset="0"/>
                              <a:ea typeface="Times New Roman" panose="02020603050405020304" pitchFamily="18" charset="0"/>
                            </a:rPr>
                            <a:t>Tỉ lệ song hài bậc ba với bậc nhất</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0" dirty="0">
                              <a:solidFill>
                                <a:srgbClr val="000000"/>
                              </a:solidFill>
                              <a:effectLst/>
                              <a:latin typeface="Times New Roman" panose="02020603050405020304" pitchFamily="18" charset="0"/>
                              <a:ea typeface="Times New Roman" panose="02020603050405020304" pitchFamily="18" charset="0"/>
                            </a:rPr>
                            <a:t>2</a:t>
                          </a:r>
                          <a:r>
                            <a:rPr lang="en-US" sz="2000" kern="0" dirty="0">
                              <a:solidFill>
                                <a:srgbClr val="000000"/>
                              </a:solidFill>
                              <a:effectLst/>
                              <a:latin typeface="Times New Roman" panose="02020603050405020304" pitchFamily="18" charset="0"/>
                              <a:ea typeface="Times New Roman" panose="02020603050405020304" pitchFamily="18" charset="0"/>
                            </a:rPr>
                            <a:t>%</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r>
                            <a:rPr lang="vi-VN" sz="2000" kern="100" dirty="0">
                              <a:solidFill>
                                <a:srgbClr val="000000"/>
                              </a:solidFill>
                              <a:effectLst/>
                              <a:latin typeface="Times New Roman" panose="02020603050405020304" pitchFamily="18" charset="0"/>
                              <a:ea typeface="Times New Roman" panose="02020603050405020304" pitchFamily="18" charset="0"/>
                            </a:rPr>
                            <a:t>2.23%</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indent="0" algn="ctr">
                            <a:lnSpc>
                              <a:spcPct val="150000"/>
                            </a:lnSpc>
                            <a:spcBef>
                              <a:spcPts val="300"/>
                            </a:spcBef>
                            <a:spcAft>
                              <a:spcPts val="25"/>
                            </a:spcAft>
                          </a:pP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60987794"/>
                      </a:ext>
                    </a:extLst>
                  </a:tr>
                </a:tbl>
              </a:graphicData>
            </a:graphic>
          </p:graphicFrame>
        </mc:Fallback>
      </mc:AlternateContent>
    </p:spTree>
    <p:extLst>
      <p:ext uri="{BB962C8B-B14F-4D97-AF65-F5344CB8AC3E}">
        <p14:creationId xmlns:p14="http://schemas.microsoft.com/office/powerpoint/2010/main" val="392951346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61D3F-8E64-C039-6E08-096717FD0BF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2414074-EE19-BDEF-8822-F9C4B1202C64}"/>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E2C2B69A-6FA3-585F-12B3-AC66A594A656}"/>
              </a:ext>
            </a:extLst>
          </p:cNvPr>
          <p:cNvSpPr>
            <a:spLocks noGrp="1"/>
          </p:cNvSpPr>
          <p:nvPr>
            <p:ph type="sldNum" sz="quarter" idx="12"/>
          </p:nvPr>
        </p:nvSpPr>
        <p:spPr/>
        <p:txBody>
          <a:bodyPr/>
          <a:lstStyle/>
          <a:p>
            <a:fld id="{931DD963-FD40-4A6D-88A9-402A489E81DE}" type="slidenum">
              <a:rPr lang="en-US" smtClean="0"/>
              <a:t>91</a:t>
            </a:fld>
            <a:endParaRPr lang="en-US"/>
          </a:p>
        </p:txBody>
      </p:sp>
      <p:grpSp>
        <p:nvGrpSpPr>
          <p:cNvPr id="10" name="Group 9">
            <a:extLst>
              <a:ext uri="{FF2B5EF4-FFF2-40B4-BE49-F238E27FC236}">
                <a16:creationId xmlns:a16="http://schemas.microsoft.com/office/drawing/2014/main" id="{4FC2CD7E-181F-B7D9-477D-FEFC816D4783}"/>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E738ECDA-C261-ADC4-C654-CF5F99BEE196}"/>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F833B81D-209B-B294-65E2-18B6C3DA1257}"/>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p:sp>
        <p:nvSpPr>
          <p:cNvPr id="7" name="Hộp Văn bản 6">
            <a:extLst>
              <a:ext uri="{FF2B5EF4-FFF2-40B4-BE49-F238E27FC236}">
                <a16:creationId xmlns:a16="http://schemas.microsoft.com/office/drawing/2014/main" id="{32A3C726-D239-F633-739F-C98B448E1D6D}"/>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4.4. </a:t>
            </a:r>
            <a:r>
              <a:rPr lang="vi-VN" sz="2000" b="1">
                <a:solidFill>
                  <a:prstClr val="black"/>
                </a:solidFill>
                <a:latin typeface="Times New Roman" panose="02020603050405020304" pitchFamily="18" charset="0"/>
                <a:cs typeface="Times New Roman" panose="02020603050405020304" pitchFamily="18" charset="0"/>
              </a:rPr>
              <a:t>Mô phỏng kiểm chứng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9" name="TextBox 7">
            <a:extLst>
              <a:ext uri="{FF2B5EF4-FFF2-40B4-BE49-F238E27FC236}">
                <a16:creationId xmlns:a16="http://schemas.microsoft.com/office/drawing/2014/main" id="{A07A4F63-41A6-3CD8-63C1-C9F627FEA6A4}"/>
              </a:ext>
            </a:extLst>
          </p:cNvPr>
          <p:cNvSpPr txBox="1"/>
          <p:nvPr/>
        </p:nvSpPr>
        <p:spPr>
          <a:xfrm>
            <a:off x="413530" y="1323953"/>
            <a:ext cx="11364942" cy="707886"/>
          </a:xfrm>
          <a:prstGeom prst="rect">
            <a:avLst/>
          </a:prstGeom>
          <a:noFill/>
        </p:spPr>
        <p:txBody>
          <a:bodyPr wrap="square" rtlCol="0">
            <a:spAutoFit/>
          </a:bodyPr>
          <a:lstStyle/>
          <a:p>
            <a:r>
              <a:rPr lang="vi-VN" sz="2000">
                <a:latin typeface="Times New Roman" panose="02020603050405020304" pitchFamily="18" charset="0"/>
                <a:cs typeface="Times New Roman" panose="02020603050405020304" pitchFamily="18" charset="0"/>
              </a:rPr>
              <a:t>Kịch bản 2: Hai bộ </a:t>
            </a:r>
            <a:r>
              <a:rPr lang="vi-VN" sz="2000" err="1">
                <a:latin typeface="Times New Roman" panose="02020603050405020304" pitchFamily="18" charset="0"/>
                <a:cs typeface="Times New Roman" panose="02020603050405020304" pitchFamily="18" charset="0"/>
              </a:rPr>
              <a:t>Inverter</a:t>
            </a:r>
            <a:r>
              <a:rPr lang="vi-VN" sz="2000">
                <a:latin typeface="Times New Roman" panose="02020603050405020304" pitchFamily="18" charset="0"/>
                <a:cs typeface="Times New Roman" panose="02020603050405020304" pitchFamily="18" charset="0"/>
              </a:rPr>
              <a:t> với tải tuyến tính công suất 1500(W), </a:t>
            </a:r>
            <a:r>
              <a:rPr kumimoji="0" lang="vi-VN" sz="2000" b="0" i="0" u="none" strike="noStrike" kern="1200" cap="none" spc="0" normalizeH="0" baseline="0" noProof="0">
                <a:ln>
                  <a:noFill/>
                </a:ln>
                <a:solidFill>
                  <a:prstClr val="black"/>
                </a:solidFill>
                <a:effectLst/>
                <a:uLnTx/>
                <a:uFillTx/>
                <a:latin typeface="+mj-lt"/>
                <a:ea typeface="+mn-ea"/>
                <a:cs typeface="+mn-cs"/>
              </a:rPr>
              <a:t>tỷ lệ chia sẻ 1:2 . Mong muốn thời gian </a:t>
            </a:r>
            <a:r>
              <a:rPr kumimoji="0" lang="vi-VN" sz="2000" b="0" i="0" u="none" strike="noStrike" kern="1200" cap="none" spc="0" normalizeH="0" baseline="0" noProof="0" err="1">
                <a:ln>
                  <a:noFill/>
                </a:ln>
                <a:solidFill>
                  <a:prstClr val="black"/>
                </a:solidFill>
                <a:effectLst/>
                <a:uLnTx/>
                <a:uFillTx/>
                <a:latin typeface="+mj-lt"/>
                <a:ea typeface="+mn-ea"/>
                <a:cs typeface="+mn-cs"/>
              </a:rPr>
              <a:t>t</a:t>
            </a:r>
            <a:r>
              <a:rPr kumimoji="0" lang="vi-VN" sz="2000" b="0" i="0" u="none" strike="noStrike" kern="1200" cap="none" spc="0" normalizeH="0" baseline="-25000" noProof="0" err="1">
                <a:ln>
                  <a:noFill/>
                </a:ln>
                <a:solidFill>
                  <a:prstClr val="black"/>
                </a:solidFill>
                <a:effectLst/>
                <a:uLnTx/>
                <a:uFillTx/>
                <a:latin typeface="+mj-lt"/>
                <a:ea typeface="+mn-ea"/>
                <a:cs typeface="+mn-cs"/>
              </a:rPr>
              <a:t>rise</a:t>
            </a:r>
            <a:r>
              <a:rPr kumimoji="0" lang="vi-VN" sz="2000" b="0" i="0" u="none" strike="noStrike" kern="1200" cap="none" spc="0" normalizeH="0" baseline="0" noProof="0">
                <a:ln>
                  <a:noFill/>
                </a:ln>
                <a:solidFill>
                  <a:prstClr val="black"/>
                </a:solidFill>
                <a:effectLst/>
                <a:uLnTx/>
                <a:uFillTx/>
                <a:latin typeface="+mj-lt"/>
                <a:ea typeface="+mn-ea"/>
                <a:cs typeface="+mn-cs"/>
              </a:rPr>
              <a:t>=0.05s</a:t>
            </a:r>
            <a:endParaRPr lang="vi-VN" sz="2000">
              <a:latin typeface="+mj-lt"/>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Table 4">
                <a:extLst>
                  <a:ext uri="{FF2B5EF4-FFF2-40B4-BE49-F238E27FC236}">
                    <a16:creationId xmlns:a16="http://schemas.microsoft.com/office/drawing/2014/main" id="{C861F6DC-C2DB-C18B-A459-5BE145532F0B}"/>
                  </a:ext>
                </a:extLst>
              </p:cNvPr>
              <p:cNvGraphicFramePr>
                <a:graphicFrameLocks noGrp="1"/>
              </p:cNvGraphicFramePr>
              <p:nvPr>
                <p:extLst>
                  <p:ext uri="{D42A27DB-BD31-4B8C-83A1-F6EECF244321}">
                    <p14:modId xmlns:p14="http://schemas.microsoft.com/office/powerpoint/2010/main" val="1674163491"/>
                  </p:ext>
                </p:extLst>
              </p:nvPr>
            </p:nvGraphicFramePr>
            <p:xfrm>
              <a:off x="413529" y="2176928"/>
              <a:ext cx="11113748" cy="4277851"/>
            </p:xfrm>
            <a:graphic>
              <a:graphicData uri="http://schemas.openxmlformats.org/drawingml/2006/table">
                <a:tbl>
                  <a:tblPr firstRow="1" bandRow="1">
                    <a:tableStyleId>{7DF18680-E054-41AD-8BC1-D1AEF772440D}</a:tableStyleId>
                  </a:tblPr>
                  <a:tblGrid>
                    <a:gridCol w="2174028">
                      <a:extLst>
                        <a:ext uri="{9D8B030D-6E8A-4147-A177-3AD203B41FA5}">
                          <a16:colId xmlns:a16="http://schemas.microsoft.com/office/drawing/2014/main" val="2099080480"/>
                        </a:ext>
                      </a:extLst>
                    </a:gridCol>
                    <a:gridCol w="4221805">
                      <a:extLst>
                        <a:ext uri="{9D8B030D-6E8A-4147-A177-3AD203B41FA5}">
                          <a16:colId xmlns:a16="http://schemas.microsoft.com/office/drawing/2014/main" val="3807464349"/>
                        </a:ext>
                      </a:extLst>
                    </a:gridCol>
                    <a:gridCol w="2295727">
                      <a:extLst>
                        <a:ext uri="{9D8B030D-6E8A-4147-A177-3AD203B41FA5}">
                          <a16:colId xmlns:a16="http://schemas.microsoft.com/office/drawing/2014/main" val="2047883326"/>
                        </a:ext>
                      </a:extLst>
                    </a:gridCol>
                    <a:gridCol w="2422188">
                      <a:extLst>
                        <a:ext uri="{9D8B030D-6E8A-4147-A177-3AD203B41FA5}">
                          <a16:colId xmlns:a16="http://schemas.microsoft.com/office/drawing/2014/main" val="2230794826"/>
                        </a:ext>
                      </a:extLst>
                    </a:gridCol>
                  </a:tblGrid>
                  <a:tr h="495260">
                    <a:tc>
                      <a:txBody>
                        <a:bodyPr/>
                        <a:lstStyle/>
                        <a:p>
                          <a:pPr marL="205740" marR="0" indent="-6350" algn="ctr">
                            <a:lnSpc>
                              <a:spcPct val="150000"/>
                            </a:lnSpc>
                            <a:spcBef>
                              <a:spcPts val="300"/>
                            </a:spcBef>
                            <a:spcAft>
                              <a:spcPts val="25"/>
                            </a:spcAft>
                          </a:pPr>
                          <a:r>
                            <a:rPr lang="en-US" sz="2000" b="1" kern="0" err="1">
                              <a:solidFill>
                                <a:srgbClr val="000000"/>
                              </a:solidFill>
                              <a:effectLst/>
                              <a:latin typeface="Times New Roman" panose="02020603050405020304" pitchFamily="18" charset="0"/>
                              <a:ea typeface="Times New Roman" panose="02020603050405020304" pitchFamily="18" charset="0"/>
                            </a:rPr>
                            <a:t>Kí</a:t>
                          </a:r>
                          <a:r>
                            <a:rPr lang="en-US" sz="2000" b="1" kern="0">
                              <a:solidFill>
                                <a:srgbClr val="000000"/>
                              </a:solidFill>
                              <a:effectLst/>
                              <a:latin typeface="Times New Roman" panose="02020603050405020304" pitchFamily="18" charset="0"/>
                              <a:ea typeface="Times New Roman" panose="02020603050405020304" pitchFamily="18" charset="0"/>
                            </a:rPr>
                            <a:t> </a:t>
                          </a:r>
                          <a:r>
                            <a:rPr lang="en-US" sz="2000" b="1" kern="0" err="1">
                              <a:solidFill>
                                <a:srgbClr val="000000"/>
                              </a:solidFill>
                              <a:effectLst/>
                              <a:latin typeface="Times New Roman" panose="02020603050405020304" pitchFamily="18" charset="0"/>
                              <a:ea typeface="Times New Roman" panose="02020603050405020304" pitchFamily="18" charset="0"/>
                            </a:rPr>
                            <a:t>hiệu</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err="1">
                              <a:solidFill>
                                <a:srgbClr val="000000"/>
                              </a:solidFill>
                              <a:effectLst/>
                              <a:latin typeface="Times New Roman" panose="02020603050405020304" pitchFamily="18" charset="0"/>
                              <a:ea typeface="Times New Roman" panose="02020603050405020304" pitchFamily="18" charset="0"/>
                            </a:rPr>
                            <a:t>Tham</a:t>
                          </a:r>
                          <a:r>
                            <a:rPr lang="en-US" sz="2000" b="1" kern="0">
                              <a:solidFill>
                                <a:srgbClr val="000000"/>
                              </a:solidFill>
                              <a:effectLst/>
                              <a:latin typeface="Times New Roman" panose="02020603050405020304" pitchFamily="18" charset="0"/>
                              <a:ea typeface="Times New Roman" panose="02020603050405020304" pitchFamily="18" charset="0"/>
                            </a:rPr>
                            <a:t> </a:t>
                          </a:r>
                          <a:r>
                            <a:rPr lang="en-US" sz="2000" b="1" kern="0" err="1">
                              <a:solidFill>
                                <a:srgbClr val="000000"/>
                              </a:solidFill>
                              <a:effectLst/>
                              <a:latin typeface="Times New Roman" panose="02020603050405020304" pitchFamily="18" charset="0"/>
                              <a:ea typeface="Times New Roman" panose="02020603050405020304" pitchFamily="18" charset="0"/>
                            </a:rPr>
                            <a:t>số</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a:solidFill>
                                <a:srgbClr val="000000"/>
                              </a:solidFill>
                              <a:effectLst/>
                              <a:latin typeface="Times New Roman" panose="02020603050405020304" pitchFamily="18" charset="0"/>
                              <a:ea typeface="Times New Roman" panose="02020603050405020304" pitchFamily="18" charset="0"/>
                            </a:rPr>
                            <a:t>Inverter </a:t>
                          </a:r>
                          <a:r>
                            <a:rPr lang="vi-VN" sz="2000" b="1" kern="0">
                              <a:solidFill>
                                <a:srgbClr val="000000"/>
                              </a:solidFill>
                              <a:effectLst/>
                              <a:latin typeface="Times New Roman" panose="02020603050405020304" pitchFamily="18" charset="0"/>
                              <a:ea typeface="Times New Roman" panose="02020603050405020304" pitchFamily="18" charset="0"/>
                            </a:rPr>
                            <a:t>2</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a:solidFill>
                                <a:srgbClr val="000000"/>
                              </a:solidFill>
                              <a:effectLst/>
                              <a:latin typeface="Times New Roman" panose="02020603050405020304" pitchFamily="18" charset="0"/>
                              <a:ea typeface="Times New Roman" panose="02020603050405020304" pitchFamily="18" charset="0"/>
                            </a:rPr>
                            <a:t>Inverter </a:t>
                          </a:r>
                          <a:r>
                            <a:rPr lang="vi-VN" sz="2000" b="1" kern="0">
                              <a:solidFill>
                                <a:srgbClr val="000000"/>
                              </a:solidFill>
                              <a:effectLst/>
                              <a:latin typeface="Times New Roman" panose="02020603050405020304" pitchFamily="18" charset="0"/>
                              <a:ea typeface="Times New Roman" panose="02020603050405020304" pitchFamily="18" charset="0"/>
                            </a:rPr>
                            <a:t>1</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extLst>
                      <a:ext uri="{0D108BD9-81ED-4DB2-BD59-A6C34878D82A}">
                        <a16:rowId xmlns:a16="http://schemas.microsoft.com/office/drawing/2014/main" val="1667104164"/>
                      </a:ext>
                    </a:extLst>
                  </a:tr>
                  <a:tr h="495260">
                    <a:tc>
                      <a:txBody>
                        <a:bodyPr/>
                        <a:lstStyle/>
                        <a:p>
                          <a:pPr marL="205740" marR="0" indent="-6350" algn="ctr">
                            <a:lnSpc>
                              <a:spcPct val="150000"/>
                            </a:lnSpc>
                            <a:spcBef>
                              <a:spcPts val="300"/>
                            </a:spcBef>
                            <a:spcAft>
                              <a:spcPts val="25"/>
                            </a:spcAft>
                          </a:pPr>
                          <a:r>
                            <a:rPr lang="en-US" sz="2000" kern="100">
                              <a:solidFill>
                                <a:srgbClr val="000000"/>
                              </a:solidFill>
                              <a:effectLst/>
                              <a:ea typeface="Times New Roman" panose="02020603050405020304" pitchFamily="18" charset="0"/>
                            </a:rPr>
                            <a:t> </a:t>
                          </a:r>
                          <a14:m>
                            <m:oMath xmlns:m="http://schemas.openxmlformats.org/officeDocument/2006/math">
                              <m:sSub>
                                <m:sSubPr>
                                  <m:ctrlPr>
                                    <a:rPr lang="vi-VN" sz="2000" b="1" i="1" kern="0">
                                      <a:solidFill>
                                        <a:srgbClr val="000000"/>
                                      </a:solidFill>
                                      <a:effectLst/>
                                      <a:latin typeface="Cambria Math" panose="02040503050406030204" pitchFamily="18" charset="0"/>
                                      <a:ea typeface="Times New Roman" panose="02020603050405020304" pitchFamily="18" charset="0"/>
                                    </a:rPr>
                                  </m:ctrlPr>
                                </m:sSubPr>
                                <m:e>
                                  <m:r>
                                    <a:rPr lang="vi-VN" sz="2000" b="1" i="1" kern="0">
                                      <a:solidFill>
                                        <a:srgbClr val="000000"/>
                                      </a:solidFill>
                                      <a:effectLst/>
                                      <a:latin typeface="Cambria Math" panose="02040503050406030204" pitchFamily="18" charset="0"/>
                                      <a:ea typeface="Times New Roman" panose="02020603050405020304" pitchFamily="18" charset="0"/>
                                    </a:rPr>
                                    <m:t>𝒌</m:t>
                                  </m:r>
                                </m:e>
                                <m:sub>
                                  <m:r>
                                    <a:rPr lang="vi-VN" sz="2000" b="1" i="1" kern="0">
                                      <a:solidFill>
                                        <a:srgbClr val="000000"/>
                                      </a:solidFill>
                                      <a:effectLst/>
                                      <a:latin typeface="Cambria Math" panose="02040503050406030204" pitchFamily="18" charset="0"/>
                                      <a:ea typeface="Times New Roman" panose="02020603050405020304" pitchFamily="18" charset="0"/>
                                    </a:rPr>
                                    <m:t>𝒗</m:t>
                                  </m:r>
                                </m:sub>
                              </m:sSub>
                            </m:oMath>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Hệ số căn chỉnh điện áp</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0">
                              <a:solidFill>
                                <a:srgbClr val="000000"/>
                              </a:solidFill>
                              <a:effectLst/>
                              <a:latin typeface="Cambria Math" panose="02040503050406030204" pitchFamily="18" charset="0"/>
                              <a:ea typeface="Times New Roman" panose="02020603050405020304" pitchFamily="18" charset="0"/>
                            </a:rPr>
                            <a:t>225</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0">
                              <a:solidFill>
                                <a:srgbClr val="000000"/>
                              </a:solidFill>
                              <a:effectLst/>
                              <a:latin typeface="Cambria Math" panose="02040503050406030204" pitchFamily="18" charset="0"/>
                              <a:ea typeface="Times New Roman" panose="02020603050405020304" pitchFamily="18" charset="0"/>
                            </a:rPr>
                            <a:t>225</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37835341"/>
                      </a:ext>
                    </a:extLst>
                  </a:tr>
                  <a:tr h="631457">
                    <a:tc>
                      <a:txBody>
                        <a:bodyPr/>
                        <a:lstStyle/>
                        <a:p>
                          <a:pPr marL="205740" marR="0" indent="-6350" algn="ctr">
                            <a:lnSpc>
                              <a:spcPct val="150000"/>
                            </a:lnSpc>
                            <a:spcBef>
                              <a:spcPts val="300"/>
                            </a:spcBef>
                            <a:spcAft>
                              <a:spcPts val="25"/>
                            </a:spcAft>
                          </a:pPr>
                          <a14:m>
                            <m:oMathPara xmlns:m="http://schemas.openxmlformats.org/officeDocument/2006/math">
                              <m:oMath>
                                <m:sSub>
                                  <m:sSubPr>
                                    <m:ctrlPr>
                                      <a:rPr lang="vi-VN" sz="2000" b="1" i="1" kern="0">
                                        <a:solidFill>
                                          <a:srgbClr val="000000"/>
                                        </a:solidFill>
                                        <a:effectLst/>
                                        <a:latin typeface="Cambria Math" panose="02040503050406030204" pitchFamily="18" charset="0"/>
                                        <a:ea typeface="Times New Roman" panose="02020603050405020304" pitchFamily="18" charset="0"/>
                                      </a:rPr>
                                    </m:ctrlPr>
                                  </m:sSubPr>
                                  <m:e>
                                    <m:r>
                                      <a:rPr lang="vi-VN" sz="2000" b="1" i="1" kern="0">
                                        <a:solidFill>
                                          <a:srgbClr val="000000"/>
                                        </a:solidFill>
                                        <a:effectLst/>
                                        <a:latin typeface="Cambria Math" panose="02040503050406030204" pitchFamily="18" charset="0"/>
                                        <a:ea typeface="Times New Roman" panose="02020603050405020304" pitchFamily="18" charset="0"/>
                                      </a:rPr>
                                      <m:t>𝒌</m:t>
                                    </m:r>
                                  </m:e>
                                  <m:sub>
                                    <m:r>
                                      <a:rPr lang="en-US" sz="2000" i="1" kern="0">
                                        <a:solidFill>
                                          <a:srgbClr val="000000"/>
                                        </a:solidFill>
                                        <a:effectLst/>
                                        <a:latin typeface="Cambria Math" panose="02040503050406030204" pitchFamily="18" charset="0"/>
                                        <a:ea typeface="Times New Roman" panose="02020603050405020304" pitchFamily="18" charset="0"/>
                                      </a:rPr>
                                      <m:t>𝑖</m:t>
                                    </m:r>
                                  </m:sub>
                                </m:sSub>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err="1">
                              <a:solidFill>
                                <a:srgbClr val="000000"/>
                              </a:solidFill>
                              <a:effectLst/>
                              <a:latin typeface="Times New Roman" panose="02020603050405020304" pitchFamily="18" charset="0"/>
                              <a:ea typeface="Times New Roman" panose="02020603050405020304" pitchFamily="18" charset="0"/>
                            </a:rPr>
                            <a:t>Hệ</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số</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căn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chỉnh</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dòng</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điện</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100">
                              <a:solidFill>
                                <a:srgbClr val="000000"/>
                              </a:solidFill>
                              <a:effectLst/>
                              <a:ea typeface="Times New Roman" panose="02020603050405020304" pitchFamily="18" charset="0"/>
                            </a:rPr>
                            <a:t>0.2</a:t>
                          </a:r>
                          <a:r>
                            <a:rPr lang="en-US" sz="2000" kern="100">
                              <a:solidFill>
                                <a:srgbClr val="000000"/>
                              </a:solidFill>
                              <a:effectLst/>
                              <a:ea typeface="Times New Roman" panose="02020603050405020304" pitchFamily="18" charset="0"/>
                            </a:rPr>
                            <a:t>2</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2000" i="1" kern="100" smtClean="0">
                                  <a:solidFill>
                                    <a:srgbClr val="000000"/>
                                  </a:solidFill>
                                  <a:effectLst/>
                                  <a:latin typeface="Cambria Math" panose="02040503050406030204" pitchFamily="18" charset="0"/>
                                  <a:ea typeface="Times New Roman" panose="02020603050405020304" pitchFamily="18" charset="0"/>
                                </a:rPr>
                                <m:t>0</m:t>
                              </m:r>
                            </m:oMath>
                          </a14:m>
                          <a:r>
                            <a:rPr lang="vi-VN" sz="2000" kern="100">
                              <a:solidFill>
                                <a:srgbClr val="000000"/>
                              </a:solidFill>
                              <a:effectLst/>
                              <a:latin typeface="Times New Roman" panose="02020603050405020304" pitchFamily="18" charset="0"/>
                              <a:ea typeface="Times New Roman" panose="02020603050405020304" pitchFamily="18" charset="0"/>
                            </a:rPr>
                            <a:t>.</a:t>
                          </a:r>
                          <a:r>
                            <a:rPr lang="en-US" sz="2000" kern="100">
                              <a:solidFill>
                                <a:srgbClr val="000000"/>
                              </a:solidFill>
                              <a:effectLst/>
                              <a:latin typeface="Times New Roman" panose="02020603050405020304" pitchFamily="18" charset="0"/>
                              <a:ea typeface="Times New Roman" panose="02020603050405020304" pitchFamily="18" charset="0"/>
                            </a:rPr>
                            <a:t>44</a:t>
                          </a:r>
                        </a:p>
                      </a:txBody>
                      <a:tcPr marL="68580" marR="68580" marT="0" marB="0"/>
                    </a:tc>
                    <a:extLst>
                      <a:ext uri="{0D108BD9-81ED-4DB2-BD59-A6C34878D82A}">
                        <a16:rowId xmlns:a16="http://schemas.microsoft.com/office/drawing/2014/main" val="1041384075"/>
                      </a:ext>
                    </a:extLst>
                  </a:tr>
                  <a:tr h="631457">
                    <a:tc>
                      <a:txBody>
                        <a:bodyPr/>
                        <a:lstStyle/>
                        <a:p>
                          <a:pPr marL="205740" marR="0" indent="-6350" algn="ctr">
                            <a:lnSpc>
                              <a:spcPct val="150000"/>
                            </a:lnSpc>
                            <a:spcBef>
                              <a:spcPts val="300"/>
                            </a:spcBef>
                            <a:spcAft>
                              <a:spcPts val="25"/>
                            </a:spcAft>
                          </a:pPr>
                          <a14:m>
                            <m:oMathPara xmlns:m="http://schemas.openxmlformats.org/officeDocument/2006/math">
                              <m:oMath>
                                <m:r>
                                  <a:rPr lang="en-US" sz="2000" b="1" i="1" kern="0">
                                    <a:solidFill>
                                      <a:srgbClr val="000000"/>
                                    </a:solidFill>
                                    <a:effectLst/>
                                    <a:latin typeface="Cambria Math" panose="02040503050406030204" pitchFamily="18" charset="0"/>
                                    <a:ea typeface="Yu Mincho" panose="02020400000000000000" pitchFamily="18" charset="-128"/>
                                  </a:rPr>
                                  <m:t>𝜶</m:t>
                                </m:r>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Hệ số nguồn dòng phụ thuộc</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2000" i="1" kern="100" smtClean="0">
                                  <a:solidFill>
                                    <a:srgbClr val="000000"/>
                                  </a:solidFill>
                                  <a:effectLst/>
                                  <a:latin typeface="Cambria Math" panose="02040503050406030204" pitchFamily="18" charset="0"/>
                                  <a:ea typeface="Times New Roman" panose="02020603050405020304" pitchFamily="18" charset="0"/>
                                </a:rPr>
                                <m:t>15</m:t>
                              </m:r>
                            </m:oMath>
                          </a14:m>
                          <a:r>
                            <a:rPr lang="vi-VN" sz="2000" kern="100">
                              <a:solidFill>
                                <a:srgbClr val="000000"/>
                              </a:solidFill>
                              <a:effectLst/>
                              <a:latin typeface="Times New Roman" panose="02020603050405020304" pitchFamily="18" charset="0"/>
                              <a:ea typeface="Times New Roman" panose="02020603050405020304" pitchFamily="18" charset="0"/>
                            </a:rPr>
                            <a:t>.51</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2000" i="1" kern="100" smtClean="0">
                                  <a:solidFill>
                                    <a:srgbClr val="000000"/>
                                  </a:solidFill>
                                  <a:effectLst/>
                                  <a:latin typeface="Cambria Math" panose="02040503050406030204" pitchFamily="18" charset="0"/>
                                  <a:ea typeface="Times New Roman" panose="02020603050405020304" pitchFamily="18" charset="0"/>
                                </a:rPr>
                                <m:t>15</m:t>
                              </m:r>
                            </m:oMath>
                          </a14:m>
                          <a:r>
                            <a:rPr lang="vi-VN" sz="2000" kern="100">
                              <a:solidFill>
                                <a:srgbClr val="000000"/>
                              </a:solidFill>
                              <a:effectLst/>
                              <a:latin typeface="Times New Roman" panose="02020603050405020304" pitchFamily="18" charset="0"/>
                              <a:ea typeface="Times New Roman" panose="02020603050405020304" pitchFamily="18" charset="0"/>
                            </a:rPr>
                            <a:t>.51</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603328144"/>
                      </a:ext>
                    </a:extLst>
                  </a:tr>
                  <a:tr h="712869">
                    <a:tc>
                      <a:txBody>
                        <a:bodyPr/>
                        <a:lstStyle/>
                        <a:p>
                          <a:pPr marL="205740" marR="0" indent="-6350" algn="ctr">
                            <a:lnSpc>
                              <a:spcPct val="150000"/>
                            </a:lnSpc>
                            <a:spcBef>
                              <a:spcPts val="300"/>
                            </a:spcBef>
                            <a:spcAft>
                              <a:spcPts val="25"/>
                            </a:spcAft>
                          </a:pPr>
                          <a14:m>
                            <m:oMathPara xmlns:m="http://schemas.openxmlformats.org/officeDocument/2006/math">
                              <m:oMath>
                                <m:r>
                                  <a:rPr lang="en-US" sz="2000" b="1" i="1" kern="0">
                                    <a:solidFill>
                                      <a:srgbClr val="000000"/>
                                    </a:solidFill>
                                    <a:effectLst/>
                                    <a:latin typeface="Cambria Math" panose="02040503050406030204" pitchFamily="18" charset="0"/>
                                    <a:ea typeface="Times New Roman" panose="02020603050405020304" pitchFamily="18" charset="0"/>
                                  </a:rPr>
                                  <m:t>𝝈</m:t>
                                </m:r>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err="1">
                              <a:solidFill>
                                <a:srgbClr val="000000"/>
                              </a:solidFill>
                              <a:effectLst/>
                              <a:latin typeface="Times New Roman" panose="02020603050405020304" pitchFamily="18" charset="0"/>
                              <a:ea typeface="Times New Roman" panose="02020603050405020304" pitchFamily="18" charset="0"/>
                            </a:rPr>
                            <a:t>Điện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dẫn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bộ</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dao</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động</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ảo</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2000" i="1" kern="0" smtClean="0">
                                  <a:solidFill>
                                    <a:srgbClr val="000000"/>
                                  </a:solidFill>
                                  <a:effectLst/>
                                  <a:latin typeface="Cambria Math" panose="02040503050406030204" pitchFamily="18" charset="0"/>
                                  <a:ea typeface="Times New Roman" panose="02020603050405020304" pitchFamily="18" charset="0"/>
                                </a:rPr>
                                <m:t>23</m:t>
                              </m:r>
                            </m:oMath>
                          </a14:m>
                          <a:r>
                            <a:rPr lang="vi-VN" sz="2000" kern="0">
                              <a:solidFill>
                                <a:srgbClr val="000000"/>
                              </a:solidFill>
                              <a:effectLst/>
                              <a:latin typeface="Cambria Math" panose="02040503050406030204" pitchFamily="18" charset="0"/>
                              <a:ea typeface="Times New Roman" panose="02020603050405020304" pitchFamily="18" charset="0"/>
                            </a:rPr>
                            <a:t>.27</a:t>
                          </a:r>
                          <a:r>
                            <a:rPr lang="en-US" sz="2000" kern="0">
                              <a:solidFill>
                                <a:srgbClr val="000000"/>
                              </a:solidFill>
                              <a:effectLst/>
                              <a:latin typeface="Cambria Math" panose="02040503050406030204" pitchFamily="18" charset="0"/>
                              <a:ea typeface="Times New Roman" panose="02020603050405020304" pitchFamily="18" charset="0"/>
                            </a:rPr>
                            <a:t>(</a:t>
                          </a:r>
                          <a14:m>
                            <m:oMath xmlns:m="http://schemas.openxmlformats.org/officeDocument/2006/math">
                              <m:sSup>
                                <m:sSupPr>
                                  <m:ctrlPr>
                                    <a:rPr lang="en-US" sz="2000" u="sng" kern="0">
                                      <a:solidFill>
                                        <a:srgbClr val="000000"/>
                                      </a:solidFill>
                                      <a:effectLst/>
                                      <a:latin typeface="Cambria Math" panose="02040503050406030204" pitchFamily="18" charset="0"/>
                                      <a:ea typeface="Times New Roman" panose="02020603050405020304" pitchFamily="18" charset="0"/>
                                      <a:cs typeface="Arial" panose="020B0604020202020204" pitchFamily="34" charset="0"/>
                                      <a:hlinkClick r:id="rId2"/>
                                    </a:rPr>
                                  </m:ctrlPr>
                                </m:sSupPr>
                                <m:e>
                                  <m:r>
                                    <m:rPr>
                                      <m:sty m:val="p"/>
                                    </m:rPr>
                                    <a:rPr lang="en-US" sz="2000" u="sng" kern="0">
                                      <a:solidFill>
                                        <a:srgbClr val="000000"/>
                                      </a:solidFill>
                                      <a:effectLst/>
                                      <a:latin typeface="Cambria Math" panose="02040503050406030204" pitchFamily="18" charset="0"/>
                                      <a:ea typeface="Times New Roman" panose="02020603050405020304" pitchFamily="18" charset="0"/>
                                      <a:cs typeface="Arial" panose="020B0604020202020204" pitchFamily="34" charset="0"/>
                                      <a:hlinkClick r:id="rId2"/>
                                    </a:rPr>
                                    <m:t>Ω</m:t>
                                  </m:r>
                                </m:e>
                                <m:sup>
                                  <m:r>
                                    <a:rPr lang="en-US" sz="2000" i="1" kern="0">
                                      <a:solidFill>
                                        <a:srgbClr val="000000"/>
                                      </a:solidFill>
                                      <a:effectLst/>
                                      <a:latin typeface="Cambria Math" panose="02040503050406030204" pitchFamily="18" charset="0"/>
                                      <a:ea typeface="Yu Mincho" panose="02020400000000000000" pitchFamily="18" charset="-128"/>
                                    </a:rPr>
                                    <m:t>−1</m:t>
                                  </m:r>
                                </m:sup>
                              </m:sSup>
                              <m:r>
                                <a:rPr lang="en-US" sz="2000" i="1" kern="0">
                                  <a:solidFill>
                                    <a:srgbClr val="000000"/>
                                  </a:solidFill>
                                  <a:effectLst/>
                                  <a:latin typeface="Cambria Math" panose="02040503050406030204" pitchFamily="18" charset="0"/>
                                  <a:ea typeface="Yu Mincho" panose="02020400000000000000" pitchFamily="18" charset="-128"/>
                                </a:rPr>
                                <m:t>)</m:t>
                              </m:r>
                            </m:oMath>
                          </a14:m>
                          <a:endParaRPr lang="en-US" sz="2000" kern="100">
                            <a:solidFill>
                              <a:srgbClr val="000000"/>
                            </a:solidFill>
                            <a:effectLst/>
                            <a:latin typeface="Times New Roman" panose="02020603050405020304" pitchFamily="18" charset="0"/>
                            <a:ea typeface="Times New Roman" panose="02020603050405020304" pitchFamily="18" charset="0"/>
                          </a:endParaRPr>
                        </a:p>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 </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2000" i="1" kern="0" smtClean="0">
                                  <a:solidFill>
                                    <a:srgbClr val="000000"/>
                                  </a:solidFill>
                                  <a:effectLst/>
                                  <a:latin typeface="Cambria Math" panose="02040503050406030204" pitchFamily="18" charset="0"/>
                                  <a:ea typeface="Times New Roman" panose="02020603050405020304" pitchFamily="18" charset="0"/>
                                </a:rPr>
                                <m:t>23</m:t>
                              </m:r>
                            </m:oMath>
                          </a14:m>
                          <a:r>
                            <a:rPr lang="vi-VN" sz="2000" kern="0">
                              <a:solidFill>
                                <a:srgbClr val="000000"/>
                              </a:solidFill>
                              <a:effectLst/>
                              <a:latin typeface="Cambria Math" panose="02040503050406030204" pitchFamily="18" charset="0"/>
                              <a:ea typeface="Times New Roman" panose="02020603050405020304" pitchFamily="18" charset="0"/>
                            </a:rPr>
                            <a:t>,27</a:t>
                          </a:r>
                          <a:r>
                            <a:rPr lang="en-US" sz="2000" kern="0">
                              <a:solidFill>
                                <a:srgbClr val="000000"/>
                              </a:solidFill>
                              <a:effectLst/>
                              <a:latin typeface="Cambria Math" panose="02040503050406030204" pitchFamily="18" charset="0"/>
                              <a:ea typeface="Times New Roman" panose="02020603050405020304" pitchFamily="18" charset="0"/>
                            </a:rPr>
                            <a:t>(</a:t>
                          </a:r>
                          <a14:m>
                            <m:oMath xmlns:m="http://schemas.openxmlformats.org/officeDocument/2006/math">
                              <m:sSup>
                                <m:sSupPr>
                                  <m:ctrlPr>
                                    <a:rPr lang="en-US" sz="2000" u="sng" kern="0">
                                      <a:solidFill>
                                        <a:srgbClr val="000000"/>
                                      </a:solidFill>
                                      <a:effectLst/>
                                      <a:latin typeface="Cambria Math" panose="02040503050406030204" pitchFamily="18" charset="0"/>
                                      <a:ea typeface="Times New Roman" panose="02020603050405020304" pitchFamily="18" charset="0"/>
                                      <a:cs typeface="Arial" panose="020B0604020202020204" pitchFamily="34" charset="0"/>
                                      <a:hlinkClick r:id="rId2"/>
                                    </a:rPr>
                                  </m:ctrlPr>
                                </m:sSupPr>
                                <m:e>
                                  <m:r>
                                    <m:rPr>
                                      <m:sty m:val="p"/>
                                    </m:rPr>
                                    <a:rPr lang="en-US" sz="2000" u="sng" kern="0">
                                      <a:solidFill>
                                        <a:srgbClr val="000000"/>
                                      </a:solidFill>
                                      <a:effectLst/>
                                      <a:latin typeface="Cambria Math" panose="02040503050406030204" pitchFamily="18" charset="0"/>
                                      <a:ea typeface="Times New Roman" panose="02020603050405020304" pitchFamily="18" charset="0"/>
                                      <a:cs typeface="Arial" panose="020B0604020202020204" pitchFamily="34" charset="0"/>
                                      <a:hlinkClick r:id="rId2"/>
                                    </a:rPr>
                                    <m:t>Ω</m:t>
                                  </m:r>
                                </m:e>
                                <m:sup>
                                  <m:r>
                                    <a:rPr lang="en-US" sz="2000" i="1" kern="0">
                                      <a:solidFill>
                                        <a:srgbClr val="000000"/>
                                      </a:solidFill>
                                      <a:effectLst/>
                                      <a:latin typeface="Cambria Math" panose="02040503050406030204" pitchFamily="18" charset="0"/>
                                      <a:ea typeface="Yu Mincho" panose="02020400000000000000" pitchFamily="18" charset="-128"/>
                                    </a:rPr>
                                    <m:t>−1</m:t>
                                  </m:r>
                                </m:sup>
                              </m:sSup>
                              <m:r>
                                <a:rPr lang="en-US" sz="2000" i="1" kern="0">
                                  <a:solidFill>
                                    <a:srgbClr val="000000"/>
                                  </a:solidFill>
                                  <a:effectLst/>
                                  <a:latin typeface="Cambria Math" panose="02040503050406030204" pitchFamily="18" charset="0"/>
                                  <a:ea typeface="Yu Mincho" panose="02020400000000000000" pitchFamily="18" charset="-128"/>
                                </a:rPr>
                                <m:t>)</m:t>
                              </m:r>
                            </m:oMath>
                          </a14:m>
                          <a:endParaRPr lang="en-US" sz="2000" kern="100">
                            <a:solidFill>
                              <a:srgbClr val="000000"/>
                            </a:solidFill>
                            <a:effectLst/>
                            <a:latin typeface="Times New Roman" panose="02020603050405020304" pitchFamily="18" charset="0"/>
                            <a:ea typeface="Times New Roman" panose="02020603050405020304" pitchFamily="18" charset="0"/>
                          </a:endParaRPr>
                        </a:p>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 </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96320218"/>
                      </a:ext>
                    </a:extLst>
                  </a:tr>
                  <a:tr h="631457">
                    <a:tc>
                      <a:txBody>
                        <a:bodyPr/>
                        <a:lstStyle/>
                        <a:p>
                          <a:pPr marL="205740" marR="0" indent="-6350" algn="ctr">
                            <a:lnSpc>
                              <a:spcPct val="150000"/>
                            </a:lnSpc>
                            <a:spcBef>
                              <a:spcPts val="300"/>
                            </a:spcBef>
                            <a:spcAft>
                              <a:spcPts val="25"/>
                            </a:spcAft>
                          </a:pPr>
                          <a:r>
                            <a:rPr lang="en-US" sz="2000" b="1" kern="0">
                              <a:solidFill>
                                <a:srgbClr val="000000"/>
                              </a:solidFill>
                              <a:effectLst/>
                              <a:latin typeface="Times New Roman" panose="02020603050405020304" pitchFamily="18" charset="0"/>
                              <a:ea typeface="Times New Roman" panose="02020603050405020304" pitchFamily="18" charset="0"/>
                            </a:rPr>
                            <a:t>L</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Điện cảm bộ dao động ảo</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Para xmlns:m="http://schemas.openxmlformats.org/officeDocument/2006/math">
                              <m:oMath>
                                <m:r>
                                  <a:rPr lang="vi-VN" sz="2000" i="1" kern="1200" smtClean="0">
                                    <a:solidFill>
                                      <a:srgbClr val="000000"/>
                                    </a:solidFill>
                                    <a:effectLst/>
                                    <a:latin typeface="Cambria Math" panose="02040503050406030204" pitchFamily="18" charset="0"/>
                                    <a:ea typeface="Times New Roman" panose="02020603050405020304" pitchFamily="18" charset="0"/>
                                  </a:rPr>
                                  <m:t>2</m:t>
                                </m:r>
                                <m:r>
                                  <a:rPr lang="vi-VN" sz="2000" b="0" i="1" kern="1200" smtClean="0">
                                    <a:solidFill>
                                      <a:srgbClr val="000000"/>
                                    </a:solidFill>
                                    <a:effectLst/>
                                    <a:latin typeface="Cambria Math" panose="02040503050406030204" pitchFamily="18" charset="0"/>
                                    <a:ea typeface="Times New Roman" panose="02020603050405020304" pitchFamily="18" charset="0"/>
                                  </a:rPr>
                                  <m:t>,03</m:t>
                                </m:r>
                                <m:r>
                                  <a:rPr lang="en-US" sz="2000" i="1" kern="1200">
                                    <a:solidFill>
                                      <a:srgbClr val="000000"/>
                                    </a:solidFill>
                                    <a:effectLst/>
                                    <a:latin typeface="Cambria Math" panose="02040503050406030204" pitchFamily="18" charset="0"/>
                                    <a:ea typeface="Times New Roman" panose="02020603050405020304" pitchFamily="18" charset="0"/>
                                  </a:rPr>
                                  <m:t>. </m:t>
                                </m:r>
                                <m:sSup>
                                  <m:sSupPr>
                                    <m:ctrlPr>
                                      <a:rPr lang="en-US" sz="2000" i="1" kern="0">
                                        <a:solidFill>
                                          <a:srgbClr val="000000"/>
                                        </a:solidFill>
                                        <a:effectLst/>
                                        <a:latin typeface="Cambria Math" panose="02040503050406030204" pitchFamily="18" charset="0"/>
                                        <a:ea typeface="Yu Mincho" panose="02020400000000000000" pitchFamily="18" charset="-128"/>
                                      </a:rPr>
                                    </m:ctrlPr>
                                  </m:sSupPr>
                                  <m:e>
                                    <m:r>
                                      <a:rPr lang="en-US" sz="2000" i="1" kern="0">
                                        <a:solidFill>
                                          <a:srgbClr val="000000"/>
                                        </a:solidFill>
                                        <a:effectLst/>
                                        <a:latin typeface="Cambria Math" panose="02040503050406030204" pitchFamily="18" charset="0"/>
                                        <a:ea typeface="Yu Mincho" panose="02020400000000000000" pitchFamily="18" charset="-128"/>
                                      </a:rPr>
                                      <m:t>10</m:t>
                                    </m:r>
                                  </m:e>
                                  <m:sup>
                                    <m:r>
                                      <a:rPr lang="en-US" sz="2000" i="1" kern="0">
                                        <a:solidFill>
                                          <a:srgbClr val="000000"/>
                                        </a:solidFill>
                                        <a:effectLst/>
                                        <a:latin typeface="Cambria Math" panose="02040503050406030204" pitchFamily="18" charset="0"/>
                                        <a:ea typeface="Yu Mincho" panose="02020400000000000000" pitchFamily="18" charset="-128"/>
                                      </a:rPr>
                                      <m:t>−</m:t>
                                    </m:r>
                                    <m:r>
                                      <a:rPr lang="en-US" sz="2000" b="0" i="1" kern="0" smtClean="0">
                                        <a:solidFill>
                                          <a:srgbClr val="000000"/>
                                        </a:solidFill>
                                        <a:effectLst/>
                                        <a:latin typeface="Cambria Math" panose="02040503050406030204" pitchFamily="18" charset="0"/>
                                        <a:ea typeface="Yu Mincho" panose="02020400000000000000" pitchFamily="18" charset="-128"/>
                                      </a:rPr>
                                      <m:t>4</m:t>
                                    </m:r>
                                  </m:sup>
                                </m:sSup>
                                <m:r>
                                  <a:rPr lang="en-US" sz="2000" i="1" kern="0">
                                    <a:solidFill>
                                      <a:srgbClr val="000000"/>
                                    </a:solidFill>
                                    <a:effectLst/>
                                    <a:latin typeface="Cambria Math" panose="02040503050406030204" pitchFamily="18" charset="0"/>
                                    <a:ea typeface="Yu Mincho" panose="02020400000000000000" pitchFamily="18" charset="-128"/>
                                  </a:rPr>
                                  <m:t> (</m:t>
                                </m:r>
                                <m:r>
                                  <a:rPr lang="en-US" sz="2000" i="1" kern="0">
                                    <a:solidFill>
                                      <a:srgbClr val="000000"/>
                                    </a:solidFill>
                                    <a:effectLst/>
                                    <a:latin typeface="Cambria Math" panose="02040503050406030204" pitchFamily="18" charset="0"/>
                                    <a:ea typeface="Yu Mincho" panose="02020400000000000000" pitchFamily="18" charset="-128"/>
                                  </a:rPr>
                                  <m:t>𝐻</m:t>
                                </m:r>
                                <m:r>
                                  <a:rPr lang="en-US" sz="2000" i="1" kern="0">
                                    <a:solidFill>
                                      <a:srgbClr val="000000"/>
                                    </a:solidFill>
                                    <a:effectLst/>
                                    <a:latin typeface="Cambria Math" panose="02040503050406030204" pitchFamily="18" charset="0"/>
                                    <a:ea typeface="Yu Mincho" panose="02020400000000000000" pitchFamily="18" charset="-128"/>
                                  </a:rPr>
                                  <m:t>)</m:t>
                                </m:r>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Para xmlns:m="http://schemas.openxmlformats.org/officeDocument/2006/math">
                              <m:oMath>
                                <m:r>
                                  <a:rPr lang="vi-VN" sz="2000" i="1" kern="1200" smtClean="0">
                                    <a:solidFill>
                                      <a:srgbClr val="000000"/>
                                    </a:solidFill>
                                    <a:effectLst/>
                                    <a:latin typeface="Cambria Math" panose="02040503050406030204" pitchFamily="18" charset="0"/>
                                    <a:ea typeface="Times New Roman" panose="02020603050405020304" pitchFamily="18" charset="0"/>
                                  </a:rPr>
                                  <m:t>2</m:t>
                                </m:r>
                                <m:r>
                                  <a:rPr lang="vi-VN" sz="2000" b="0" i="1" kern="1200" smtClean="0">
                                    <a:solidFill>
                                      <a:srgbClr val="000000"/>
                                    </a:solidFill>
                                    <a:effectLst/>
                                    <a:latin typeface="Cambria Math" panose="02040503050406030204" pitchFamily="18" charset="0"/>
                                    <a:ea typeface="Times New Roman" panose="02020603050405020304" pitchFamily="18" charset="0"/>
                                  </a:rPr>
                                  <m:t>,03</m:t>
                                </m:r>
                                <m:r>
                                  <a:rPr lang="en-US" sz="2000" i="1" kern="1200">
                                    <a:solidFill>
                                      <a:srgbClr val="000000"/>
                                    </a:solidFill>
                                    <a:effectLst/>
                                    <a:latin typeface="Cambria Math" panose="02040503050406030204" pitchFamily="18" charset="0"/>
                                    <a:ea typeface="Times New Roman" panose="02020603050405020304" pitchFamily="18" charset="0"/>
                                  </a:rPr>
                                  <m:t>. </m:t>
                                </m:r>
                                <m:sSup>
                                  <m:sSupPr>
                                    <m:ctrlPr>
                                      <a:rPr lang="en-US" sz="2000" i="1" kern="0">
                                        <a:solidFill>
                                          <a:srgbClr val="000000"/>
                                        </a:solidFill>
                                        <a:effectLst/>
                                        <a:latin typeface="Cambria Math" panose="02040503050406030204" pitchFamily="18" charset="0"/>
                                        <a:ea typeface="Yu Mincho" panose="02020400000000000000" pitchFamily="18" charset="-128"/>
                                      </a:rPr>
                                    </m:ctrlPr>
                                  </m:sSupPr>
                                  <m:e>
                                    <m:r>
                                      <a:rPr lang="en-US" sz="2000" i="1" kern="0">
                                        <a:solidFill>
                                          <a:srgbClr val="000000"/>
                                        </a:solidFill>
                                        <a:effectLst/>
                                        <a:latin typeface="Cambria Math" panose="02040503050406030204" pitchFamily="18" charset="0"/>
                                        <a:ea typeface="Yu Mincho" panose="02020400000000000000" pitchFamily="18" charset="-128"/>
                                      </a:rPr>
                                      <m:t>10</m:t>
                                    </m:r>
                                  </m:e>
                                  <m:sup>
                                    <m:r>
                                      <a:rPr lang="en-US" sz="2000" i="1" kern="0">
                                        <a:solidFill>
                                          <a:srgbClr val="000000"/>
                                        </a:solidFill>
                                        <a:effectLst/>
                                        <a:latin typeface="Cambria Math" panose="02040503050406030204" pitchFamily="18" charset="0"/>
                                        <a:ea typeface="Yu Mincho" panose="02020400000000000000" pitchFamily="18" charset="-128"/>
                                      </a:rPr>
                                      <m:t>−</m:t>
                                    </m:r>
                                    <m:r>
                                      <a:rPr lang="en-US" sz="2000" b="0" i="1" kern="0" smtClean="0">
                                        <a:solidFill>
                                          <a:srgbClr val="000000"/>
                                        </a:solidFill>
                                        <a:effectLst/>
                                        <a:latin typeface="Cambria Math" panose="02040503050406030204" pitchFamily="18" charset="0"/>
                                        <a:ea typeface="Yu Mincho" panose="02020400000000000000" pitchFamily="18" charset="-128"/>
                                      </a:rPr>
                                      <m:t>4</m:t>
                                    </m:r>
                                  </m:sup>
                                </m:sSup>
                                <m:r>
                                  <a:rPr lang="en-US" sz="2000" i="1" kern="0">
                                    <a:solidFill>
                                      <a:srgbClr val="000000"/>
                                    </a:solidFill>
                                    <a:effectLst/>
                                    <a:latin typeface="Cambria Math" panose="02040503050406030204" pitchFamily="18" charset="0"/>
                                    <a:ea typeface="Yu Mincho" panose="02020400000000000000" pitchFamily="18" charset="-128"/>
                                  </a:rPr>
                                  <m:t> (</m:t>
                                </m:r>
                                <m:r>
                                  <a:rPr lang="en-US" sz="2000" i="1" kern="0">
                                    <a:solidFill>
                                      <a:srgbClr val="000000"/>
                                    </a:solidFill>
                                    <a:effectLst/>
                                    <a:latin typeface="Cambria Math" panose="02040503050406030204" pitchFamily="18" charset="0"/>
                                    <a:ea typeface="Yu Mincho" panose="02020400000000000000" pitchFamily="18" charset="-128"/>
                                  </a:rPr>
                                  <m:t>𝐻</m:t>
                                </m:r>
                                <m:r>
                                  <a:rPr lang="en-US" sz="2000" i="1" kern="0">
                                    <a:solidFill>
                                      <a:srgbClr val="000000"/>
                                    </a:solidFill>
                                    <a:effectLst/>
                                    <a:latin typeface="Cambria Math" panose="02040503050406030204" pitchFamily="18" charset="0"/>
                                    <a:ea typeface="Yu Mincho" panose="02020400000000000000" pitchFamily="18" charset="-128"/>
                                  </a:rPr>
                                  <m:t>)</m:t>
                                </m:r>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30702622"/>
                      </a:ext>
                    </a:extLst>
                  </a:tr>
                  <a:tr h="495260">
                    <a:tc>
                      <a:txBody>
                        <a:bodyPr/>
                        <a:lstStyle/>
                        <a:p>
                          <a:pPr marL="205740" marR="0" indent="-6350" algn="ctr">
                            <a:lnSpc>
                              <a:spcPct val="150000"/>
                            </a:lnSpc>
                            <a:spcBef>
                              <a:spcPts val="300"/>
                            </a:spcBef>
                            <a:spcAft>
                              <a:spcPts val="25"/>
                            </a:spcAft>
                          </a:pPr>
                          <a:r>
                            <a:rPr lang="en-US" sz="2000" b="1" kern="0">
                              <a:solidFill>
                                <a:srgbClr val="000000"/>
                              </a:solidFill>
                              <a:effectLst/>
                              <a:latin typeface="Times New Roman" panose="02020603050405020304" pitchFamily="18" charset="0"/>
                              <a:ea typeface="Times New Roman" panose="02020603050405020304" pitchFamily="18" charset="0"/>
                            </a:rPr>
                            <a:t>C</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Tụ điện bộ dao động ảo</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1200">
                              <a:solidFill>
                                <a:srgbClr val="000000"/>
                              </a:solidFill>
                              <a:effectLst/>
                              <a:latin typeface="Times New Roman" panose="02020603050405020304" pitchFamily="18" charset="0"/>
                              <a:ea typeface="Times New Roman" panose="02020603050405020304" pitchFamily="18" charset="0"/>
                            </a:rPr>
                            <a:t>0,0</a:t>
                          </a:r>
                          <a:r>
                            <a:rPr lang="vi-VN" sz="2000" kern="1200">
                              <a:solidFill>
                                <a:srgbClr val="000000"/>
                              </a:solidFill>
                              <a:effectLst/>
                              <a:latin typeface="Times New Roman" panose="02020603050405020304" pitchFamily="18" charset="0"/>
                              <a:ea typeface="Times New Roman" panose="02020603050405020304" pitchFamily="18" charset="0"/>
                            </a:rPr>
                            <a:t>5</a:t>
                          </a:r>
                          <a:r>
                            <a:rPr lang="en-US" sz="2000" kern="1200">
                              <a:solidFill>
                                <a:srgbClr val="000000"/>
                              </a:solidFill>
                              <a:effectLst/>
                              <a:latin typeface="Times New Roman" panose="02020603050405020304" pitchFamily="18" charset="0"/>
                              <a:ea typeface="Times New Roman" panose="02020603050405020304" pitchFamily="18" charset="0"/>
                            </a:rPr>
                            <a:t>(F)</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1200">
                              <a:solidFill>
                                <a:srgbClr val="000000"/>
                              </a:solidFill>
                              <a:effectLst/>
                              <a:latin typeface="Times New Roman" panose="02020603050405020304" pitchFamily="18" charset="0"/>
                              <a:ea typeface="Times New Roman" panose="02020603050405020304" pitchFamily="18" charset="0"/>
                            </a:rPr>
                            <a:t>0,0</a:t>
                          </a:r>
                          <a:r>
                            <a:rPr lang="vi-VN" sz="2000" kern="1200">
                              <a:solidFill>
                                <a:srgbClr val="000000"/>
                              </a:solidFill>
                              <a:effectLst/>
                              <a:latin typeface="Times New Roman" panose="02020603050405020304" pitchFamily="18" charset="0"/>
                              <a:ea typeface="Times New Roman" panose="02020603050405020304" pitchFamily="18" charset="0"/>
                            </a:rPr>
                            <a:t>5</a:t>
                          </a:r>
                          <a:r>
                            <a:rPr lang="en-US" sz="2000" kern="1200">
                              <a:solidFill>
                                <a:srgbClr val="000000"/>
                              </a:solidFill>
                              <a:effectLst/>
                              <a:latin typeface="Times New Roman" panose="02020603050405020304" pitchFamily="18" charset="0"/>
                              <a:ea typeface="Times New Roman" panose="02020603050405020304" pitchFamily="18" charset="0"/>
                            </a:rPr>
                            <a:t>(F)</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84395447"/>
                      </a:ext>
                    </a:extLst>
                  </a:tr>
                </a:tbl>
              </a:graphicData>
            </a:graphic>
          </p:graphicFrame>
        </mc:Choice>
        <mc:Fallback xmlns="">
          <p:graphicFrame>
            <p:nvGraphicFramePr>
              <p:cNvPr id="6" name="Table 4">
                <a:extLst>
                  <a:ext uri="{FF2B5EF4-FFF2-40B4-BE49-F238E27FC236}">
                    <a16:creationId xmlns:a16="http://schemas.microsoft.com/office/drawing/2014/main" id="{C861F6DC-C2DB-C18B-A459-5BE145532F0B}"/>
                  </a:ext>
                </a:extLst>
              </p:cNvPr>
              <p:cNvGraphicFramePr>
                <a:graphicFrameLocks noGrp="1"/>
              </p:cNvGraphicFramePr>
              <p:nvPr>
                <p:extLst>
                  <p:ext uri="{D42A27DB-BD31-4B8C-83A1-F6EECF244321}">
                    <p14:modId xmlns:p14="http://schemas.microsoft.com/office/powerpoint/2010/main" val="1674163491"/>
                  </p:ext>
                </p:extLst>
              </p:nvPr>
            </p:nvGraphicFramePr>
            <p:xfrm>
              <a:off x="413529" y="2176928"/>
              <a:ext cx="11113748" cy="4277851"/>
            </p:xfrm>
            <a:graphic>
              <a:graphicData uri="http://schemas.openxmlformats.org/drawingml/2006/table">
                <a:tbl>
                  <a:tblPr firstRow="1" bandRow="1">
                    <a:tableStyleId>{7DF18680-E054-41AD-8BC1-D1AEF772440D}</a:tableStyleId>
                  </a:tblPr>
                  <a:tblGrid>
                    <a:gridCol w="2174028">
                      <a:extLst>
                        <a:ext uri="{9D8B030D-6E8A-4147-A177-3AD203B41FA5}">
                          <a16:colId xmlns:a16="http://schemas.microsoft.com/office/drawing/2014/main" val="2099080480"/>
                        </a:ext>
                      </a:extLst>
                    </a:gridCol>
                    <a:gridCol w="4221805">
                      <a:extLst>
                        <a:ext uri="{9D8B030D-6E8A-4147-A177-3AD203B41FA5}">
                          <a16:colId xmlns:a16="http://schemas.microsoft.com/office/drawing/2014/main" val="3807464349"/>
                        </a:ext>
                      </a:extLst>
                    </a:gridCol>
                    <a:gridCol w="2295727">
                      <a:extLst>
                        <a:ext uri="{9D8B030D-6E8A-4147-A177-3AD203B41FA5}">
                          <a16:colId xmlns:a16="http://schemas.microsoft.com/office/drawing/2014/main" val="2047883326"/>
                        </a:ext>
                      </a:extLst>
                    </a:gridCol>
                    <a:gridCol w="2422188">
                      <a:extLst>
                        <a:ext uri="{9D8B030D-6E8A-4147-A177-3AD203B41FA5}">
                          <a16:colId xmlns:a16="http://schemas.microsoft.com/office/drawing/2014/main" val="2230794826"/>
                        </a:ext>
                      </a:extLst>
                    </a:gridCol>
                  </a:tblGrid>
                  <a:tr h="495260">
                    <a:tc>
                      <a:txBody>
                        <a:bodyPr/>
                        <a:lstStyle/>
                        <a:p>
                          <a:pPr marL="205740" marR="0" indent="-6350" algn="ctr">
                            <a:lnSpc>
                              <a:spcPct val="150000"/>
                            </a:lnSpc>
                            <a:spcBef>
                              <a:spcPts val="300"/>
                            </a:spcBef>
                            <a:spcAft>
                              <a:spcPts val="25"/>
                            </a:spcAft>
                          </a:pPr>
                          <a:r>
                            <a:rPr lang="en-US" sz="2000" b="1" kern="0" dirty="0" err="1">
                              <a:solidFill>
                                <a:srgbClr val="000000"/>
                              </a:solidFill>
                              <a:effectLst/>
                              <a:latin typeface="Times New Roman" panose="02020603050405020304" pitchFamily="18" charset="0"/>
                              <a:ea typeface="Times New Roman" panose="02020603050405020304" pitchFamily="18" charset="0"/>
                            </a:rPr>
                            <a:t>Kí</a:t>
                          </a:r>
                          <a:r>
                            <a:rPr lang="en-US" sz="2000" b="1" kern="0" dirty="0">
                              <a:solidFill>
                                <a:srgbClr val="000000"/>
                              </a:solidFill>
                              <a:effectLst/>
                              <a:latin typeface="Times New Roman" panose="02020603050405020304" pitchFamily="18" charset="0"/>
                              <a:ea typeface="Times New Roman" panose="02020603050405020304" pitchFamily="18" charset="0"/>
                            </a:rPr>
                            <a:t> </a:t>
                          </a:r>
                          <a:r>
                            <a:rPr lang="en-US" sz="2000" b="1" kern="0" dirty="0" err="1">
                              <a:solidFill>
                                <a:srgbClr val="000000"/>
                              </a:solidFill>
                              <a:effectLst/>
                              <a:latin typeface="Times New Roman" panose="02020603050405020304" pitchFamily="18" charset="0"/>
                              <a:ea typeface="Times New Roman" panose="02020603050405020304" pitchFamily="18" charset="0"/>
                            </a:rPr>
                            <a:t>hiệu</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dirty="0" err="1">
                              <a:solidFill>
                                <a:srgbClr val="000000"/>
                              </a:solidFill>
                              <a:effectLst/>
                              <a:latin typeface="Times New Roman" panose="02020603050405020304" pitchFamily="18" charset="0"/>
                              <a:ea typeface="Times New Roman" panose="02020603050405020304" pitchFamily="18" charset="0"/>
                            </a:rPr>
                            <a:t>Tham</a:t>
                          </a:r>
                          <a:r>
                            <a:rPr lang="en-US" sz="2000" b="1" kern="0" dirty="0">
                              <a:solidFill>
                                <a:srgbClr val="000000"/>
                              </a:solidFill>
                              <a:effectLst/>
                              <a:latin typeface="Times New Roman" panose="02020603050405020304" pitchFamily="18" charset="0"/>
                              <a:ea typeface="Times New Roman" panose="02020603050405020304" pitchFamily="18" charset="0"/>
                            </a:rPr>
                            <a:t> </a:t>
                          </a:r>
                          <a:r>
                            <a:rPr lang="en-US" sz="2000" b="1" kern="0" dirty="0" err="1">
                              <a:solidFill>
                                <a:srgbClr val="000000"/>
                              </a:solidFill>
                              <a:effectLst/>
                              <a:latin typeface="Times New Roman" panose="02020603050405020304" pitchFamily="18" charset="0"/>
                              <a:ea typeface="Times New Roman" panose="02020603050405020304" pitchFamily="18" charset="0"/>
                            </a:rPr>
                            <a:t>số</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dirty="0">
                              <a:solidFill>
                                <a:srgbClr val="000000"/>
                              </a:solidFill>
                              <a:effectLst/>
                              <a:latin typeface="Times New Roman" panose="02020603050405020304" pitchFamily="18" charset="0"/>
                              <a:ea typeface="Times New Roman" panose="02020603050405020304" pitchFamily="18" charset="0"/>
                            </a:rPr>
                            <a:t>Inverter </a:t>
                          </a:r>
                          <a:r>
                            <a:rPr lang="vi-VN" sz="2000" b="1" kern="0" dirty="0">
                              <a:solidFill>
                                <a:srgbClr val="000000"/>
                              </a:solidFill>
                              <a:effectLst/>
                              <a:latin typeface="Times New Roman" panose="02020603050405020304" pitchFamily="18" charset="0"/>
                              <a:ea typeface="Times New Roman" panose="02020603050405020304" pitchFamily="18" charset="0"/>
                            </a:rPr>
                            <a:t>2</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dirty="0">
                              <a:solidFill>
                                <a:srgbClr val="000000"/>
                              </a:solidFill>
                              <a:effectLst/>
                              <a:latin typeface="Times New Roman" panose="02020603050405020304" pitchFamily="18" charset="0"/>
                              <a:ea typeface="Times New Roman" panose="02020603050405020304" pitchFamily="18" charset="0"/>
                            </a:rPr>
                            <a:t>Inverter </a:t>
                          </a:r>
                          <a:r>
                            <a:rPr lang="vi-VN" sz="2000" b="1" kern="0" dirty="0">
                              <a:solidFill>
                                <a:srgbClr val="000000"/>
                              </a:solidFill>
                              <a:effectLst/>
                              <a:latin typeface="Times New Roman" panose="02020603050405020304" pitchFamily="18" charset="0"/>
                              <a:ea typeface="Times New Roman" panose="02020603050405020304" pitchFamily="18" charset="0"/>
                            </a:rPr>
                            <a:t>1</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extLst>
                      <a:ext uri="{0D108BD9-81ED-4DB2-BD59-A6C34878D82A}">
                        <a16:rowId xmlns:a16="http://schemas.microsoft.com/office/drawing/2014/main" val="1667104164"/>
                      </a:ext>
                    </a:extLst>
                  </a:tr>
                  <a:tr h="495260">
                    <a:tc>
                      <a:txBody>
                        <a:bodyPr/>
                        <a:lstStyle/>
                        <a:p>
                          <a:endParaRPr lang="vi-VN"/>
                        </a:p>
                      </a:txBody>
                      <a:tcPr marL="68580" marR="68580" marT="0" marB="0">
                        <a:blipFill>
                          <a:blip r:embed="rId3"/>
                          <a:stretch>
                            <a:fillRect l="-280" t="-100000" r="-412325" b="-669512"/>
                          </a:stretch>
                        </a:blipFill>
                      </a:tcPr>
                    </a:tc>
                    <a:tc>
                      <a:txBody>
                        <a:bodyPr/>
                        <a:lstStyle/>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Hệ số căn chỉnh điện áp</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0" dirty="0">
                              <a:solidFill>
                                <a:srgbClr val="000000"/>
                              </a:solidFill>
                              <a:effectLst/>
                              <a:latin typeface="Cambria Math" panose="02040503050406030204" pitchFamily="18" charset="0"/>
                              <a:ea typeface="Times New Roman" panose="02020603050405020304" pitchFamily="18" charset="0"/>
                            </a:rPr>
                            <a:t>225</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0" dirty="0">
                              <a:solidFill>
                                <a:srgbClr val="000000"/>
                              </a:solidFill>
                              <a:effectLst/>
                              <a:latin typeface="Cambria Math" panose="02040503050406030204" pitchFamily="18" charset="0"/>
                              <a:ea typeface="Times New Roman" panose="02020603050405020304" pitchFamily="18" charset="0"/>
                            </a:rPr>
                            <a:t>225</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37835341"/>
                      </a:ext>
                    </a:extLst>
                  </a:tr>
                  <a:tr h="631457">
                    <a:tc>
                      <a:txBody>
                        <a:bodyPr/>
                        <a:lstStyle/>
                        <a:p>
                          <a:endParaRPr lang="vi-VN"/>
                        </a:p>
                      </a:txBody>
                      <a:tcPr marL="68580" marR="68580" marT="0" marB="0">
                        <a:blipFill>
                          <a:blip r:embed="rId3"/>
                          <a:stretch>
                            <a:fillRect l="-280" t="-159223" r="-412325" b="-433010"/>
                          </a:stretch>
                        </a:blipFill>
                      </a:tcPr>
                    </a:tc>
                    <a:tc>
                      <a:txBody>
                        <a:bodyPr/>
                        <a:lstStyle/>
                        <a:p>
                          <a:pPr marL="205740" marR="0" indent="-6350" algn="ctr">
                            <a:lnSpc>
                              <a:spcPct val="150000"/>
                            </a:lnSpc>
                            <a:spcBef>
                              <a:spcPts val="300"/>
                            </a:spcBef>
                            <a:spcAft>
                              <a:spcPts val="25"/>
                            </a:spcAft>
                          </a:pPr>
                          <a:r>
                            <a:rPr lang="en-US" sz="2000" kern="0" dirty="0" err="1">
                              <a:solidFill>
                                <a:srgbClr val="000000"/>
                              </a:solidFill>
                              <a:effectLst/>
                              <a:latin typeface="Times New Roman" panose="02020603050405020304" pitchFamily="18" charset="0"/>
                              <a:ea typeface="Times New Roman" panose="02020603050405020304" pitchFamily="18" charset="0"/>
                            </a:rPr>
                            <a:t>Hệ</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số</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căn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chỉnh</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dòng</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điện</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100" dirty="0">
                              <a:solidFill>
                                <a:srgbClr val="000000"/>
                              </a:solidFill>
                              <a:effectLst/>
                              <a:ea typeface="Times New Roman" panose="02020603050405020304" pitchFamily="18" charset="0"/>
                            </a:rPr>
                            <a:t>0.2</a:t>
                          </a:r>
                          <a:r>
                            <a:rPr lang="en-US" sz="2000" kern="100" dirty="0">
                              <a:solidFill>
                                <a:srgbClr val="000000"/>
                              </a:solidFill>
                              <a:effectLst/>
                              <a:ea typeface="Times New Roman" panose="02020603050405020304" pitchFamily="18" charset="0"/>
                            </a:rPr>
                            <a:t>2</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3"/>
                          <a:stretch>
                            <a:fillRect l="-358543" t="-159223" r="-1256" b="-433010"/>
                          </a:stretch>
                        </a:blipFill>
                      </a:tcPr>
                    </a:tc>
                    <a:extLst>
                      <a:ext uri="{0D108BD9-81ED-4DB2-BD59-A6C34878D82A}">
                        <a16:rowId xmlns:a16="http://schemas.microsoft.com/office/drawing/2014/main" val="1041384075"/>
                      </a:ext>
                    </a:extLst>
                  </a:tr>
                  <a:tr h="631457">
                    <a:tc>
                      <a:txBody>
                        <a:bodyPr/>
                        <a:lstStyle/>
                        <a:p>
                          <a:endParaRPr lang="vi-VN"/>
                        </a:p>
                      </a:txBody>
                      <a:tcPr marL="68580" marR="68580" marT="0" marB="0">
                        <a:blipFill>
                          <a:blip r:embed="rId3"/>
                          <a:stretch>
                            <a:fillRect l="-280" t="-256731" r="-412325" b="-328846"/>
                          </a:stretch>
                        </a:blipFill>
                      </a:tcPr>
                    </a:tc>
                    <a:tc>
                      <a:txBody>
                        <a:bodyPr/>
                        <a:lstStyle/>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Hệ số nguồn dòng phụ thuộc</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3"/>
                          <a:stretch>
                            <a:fillRect l="-279521" t="-256731" r="-107181" b="-328846"/>
                          </a:stretch>
                        </a:blipFill>
                      </a:tcPr>
                    </a:tc>
                    <a:tc>
                      <a:txBody>
                        <a:bodyPr/>
                        <a:lstStyle/>
                        <a:p>
                          <a:endParaRPr lang="vi-VN"/>
                        </a:p>
                      </a:txBody>
                      <a:tcPr marL="68580" marR="68580" marT="0" marB="0">
                        <a:blipFill>
                          <a:blip r:embed="rId3"/>
                          <a:stretch>
                            <a:fillRect l="-358543" t="-256731" r="-1256" b="-328846"/>
                          </a:stretch>
                        </a:blipFill>
                      </a:tcPr>
                    </a:tc>
                    <a:extLst>
                      <a:ext uri="{0D108BD9-81ED-4DB2-BD59-A6C34878D82A}">
                        <a16:rowId xmlns:a16="http://schemas.microsoft.com/office/drawing/2014/main" val="603328144"/>
                      </a:ext>
                    </a:extLst>
                  </a:tr>
                  <a:tr h="897700">
                    <a:tc>
                      <a:txBody>
                        <a:bodyPr/>
                        <a:lstStyle/>
                        <a:p>
                          <a:endParaRPr lang="vi-VN"/>
                        </a:p>
                      </a:txBody>
                      <a:tcPr marL="68580" marR="68580" marT="0" marB="0">
                        <a:blipFill>
                          <a:blip r:embed="rId3"/>
                          <a:stretch>
                            <a:fillRect l="-280" t="-252381" r="-412325" b="-132653"/>
                          </a:stretch>
                        </a:blipFill>
                      </a:tcPr>
                    </a:tc>
                    <a:tc>
                      <a:txBody>
                        <a:bodyPr/>
                        <a:lstStyle/>
                        <a:p>
                          <a:pPr marL="205740" marR="0" indent="-6350" algn="ctr">
                            <a:lnSpc>
                              <a:spcPct val="150000"/>
                            </a:lnSpc>
                            <a:spcBef>
                              <a:spcPts val="300"/>
                            </a:spcBef>
                            <a:spcAft>
                              <a:spcPts val="25"/>
                            </a:spcAft>
                          </a:pPr>
                          <a:r>
                            <a:rPr lang="en-US" sz="2000" kern="0" dirty="0" err="1">
                              <a:solidFill>
                                <a:srgbClr val="000000"/>
                              </a:solidFill>
                              <a:effectLst/>
                              <a:latin typeface="Times New Roman" panose="02020603050405020304" pitchFamily="18" charset="0"/>
                              <a:ea typeface="Times New Roman" panose="02020603050405020304" pitchFamily="18" charset="0"/>
                            </a:rPr>
                            <a:t>Điện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dẫn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bộ</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dao</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động</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ảo</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3"/>
                          <a:stretch>
                            <a:fillRect l="-279521" t="-252381" r="-107181" b="-132653"/>
                          </a:stretch>
                        </a:blipFill>
                      </a:tcPr>
                    </a:tc>
                    <a:tc>
                      <a:txBody>
                        <a:bodyPr/>
                        <a:lstStyle/>
                        <a:p>
                          <a:endParaRPr lang="vi-VN"/>
                        </a:p>
                      </a:txBody>
                      <a:tcPr marL="68580" marR="68580" marT="0" marB="0">
                        <a:blipFill>
                          <a:blip r:embed="rId3"/>
                          <a:stretch>
                            <a:fillRect l="-358543" t="-252381" r="-1256" b="-132653"/>
                          </a:stretch>
                        </a:blipFill>
                      </a:tcPr>
                    </a:tc>
                    <a:extLst>
                      <a:ext uri="{0D108BD9-81ED-4DB2-BD59-A6C34878D82A}">
                        <a16:rowId xmlns:a16="http://schemas.microsoft.com/office/drawing/2014/main" val="196320218"/>
                      </a:ext>
                    </a:extLst>
                  </a:tr>
                  <a:tr h="631457">
                    <a:tc>
                      <a:txBody>
                        <a:bodyPr/>
                        <a:lstStyle/>
                        <a:p>
                          <a:pPr marL="205740" marR="0" indent="-6350" algn="ctr">
                            <a:lnSpc>
                              <a:spcPct val="150000"/>
                            </a:lnSpc>
                            <a:spcBef>
                              <a:spcPts val="300"/>
                            </a:spcBef>
                            <a:spcAft>
                              <a:spcPts val="25"/>
                            </a:spcAft>
                          </a:pPr>
                          <a:r>
                            <a:rPr lang="en-US" sz="2000" b="1" kern="0" dirty="0">
                              <a:solidFill>
                                <a:srgbClr val="000000"/>
                              </a:solidFill>
                              <a:effectLst/>
                              <a:latin typeface="Times New Roman" panose="02020603050405020304" pitchFamily="18" charset="0"/>
                              <a:ea typeface="Times New Roman" panose="02020603050405020304" pitchFamily="18" charset="0"/>
                            </a:rPr>
                            <a:t>L</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Điện cảm bộ dao động ảo</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3"/>
                          <a:stretch>
                            <a:fillRect l="-279521" t="-498077" r="-107181" b="-87500"/>
                          </a:stretch>
                        </a:blipFill>
                      </a:tcPr>
                    </a:tc>
                    <a:tc>
                      <a:txBody>
                        <a:bodyPr/>
                        <a:lstStyle/>
                        <a:p>
                          <a:endParaRPr lang="vi-VN"/>
                        </a:p>
                      </a:txBody>
                      <a:tcPr marL="68580" marR="68580" marT="0" marB="0">
                        <a:blipFill>
                          <a:blip r:embed="rId3"/>
                          <a:stretch>
                            <a:fillRect l="-358543" t="-498077" r="-1256" b="-87500"/>
                          </a:stretch>
                        </a:blipFill>
                      </a:tcPr>
                    </a:tc>
                    <a:extLst>
                      <a:ext uri="{0D108BD9-81ED-4DB2-BD59-A6C34878D82A}">
                        <a16:rowId xmlns:a16="http://schemas.microsoft.com/office/drawing/2014/main" val="3530702622"/>
                      </a:ext>
                    </a:extLst>
                  </a:tr>
                  <a:tr h="495260">
                    <a:tc>
                      <a:txBody>
                        <a:bodyPr/>
                        <a:lstStyle/>
                        <a:p>
                          <a:pPr marL="205740" marR="0" indent="-6350" algn="ctr">
                            <a:lnSpc>
                              <a:spcPct val="150000"/>
                            </a:lnSpc>
                            <a:spcBef>
                              <a:spcPts val="300"/>
                            </a:spcBef>
                            <a:spcAft>
                              <a:spcPts val="25"/>
                            </a:spcAft>
                          </a:pPr>
                          <a:r>
                            <a:rPr lang="en-US" sz="2000" b="1" kern="0">
                              <a:solidFill>
                                <a:srgbClr val="000000"/>
                              </a:solidFill>
                              <a:effectLst/>
                              <a:latin typeface="Times New Roman" panose="02020603050405020304" pitchFamily="18" charset="0"/>
                              <a:ea typeface="Times New Roman" panose="02020603050405020304" pitchFamily="18" charset="0"/>
                            </a:rPr>
                            <a:t>C</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Tụ điện bộ dao động ảo</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1200" dirty="0">
                              <a:solidFill>
                                <a:srgbClr val="000000"/>
                              </a:solidFill>
                              <a:effectLst/>
                              <a:latin typeface="Times New Roman" panose="02020603050405020304" pitchFamily="18" charset="0"/>
                              <a:ea typeface="Times New Roman" panose="02020603050405020304" pitchFamily="18" charset="0"/>
                            </a:rPr>
                            <a:t>0,0</a:t>
                          </a:r>
                          <a:r>
                            <a:rPr lang="vi-VN" sz="2000" kern="1200" dirty="0">
                              <a:solidFill>
                                <a:srgbClr val="000000"/>
                              </a:solidFill>
                              <a:effectLst/>
                              <a:latin typeface="Times New Roman" panose="02020603050405020304" pitchFamily="18" charset="0"/>
                              <a:ea typeface="Times New Roman" panose="02020603050405020304" pitchFamily="18" charset="0"/>
                            </a:rPr>
                            <a:t>5</a:t>
                          </a:r>
                          <a:r>
                            <a:rPr lang="en-US" sz="2000" kern="1200" dirty="0">
                              <a:solidFill>
                                <a:srgbClr val="000000"/>
                              </a:solidFill>
                              <a:effectLst/>
                              <a:latin typeface="Times New Roman" panose="02020603050405020304" pitchFamily="18" charset="0"/>
                              <a:ea typeface="Times New Roman" panose="02020603050405020304" pitchFamily="18" charset="0"/>
                            </a:rPr>
                            <a:t>(F)</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1200" dirty="0">
                              <a:solidFill>
                                <a:srgbClr val="000000"/>
                              </a:solidFill>
                              <a:effectLst/>
                              <a:latin typeface="Times New Roman" panose="02020603050405020304" pitchFamily="18" charset="0"/>
                              <a:ea typeface="Times New Roman" panose="02020603050405020304" pitchFamily="18" charset="0"/>
                            </a:rPr>
                            <a:t>0,0</a:t>
                          </a:r>
                          <a:r>
                            <a:rPr lang="vi-VN" sz="2000" kern="1200" dirty="0">
                              <a:solidFill>
                                <a:srgbClr val="000000"/>
                              </a:solidFill>
                              <a:effectLst/>
                              <a:latin typeface="Times New Roman" panose="02020603050405020304" pitchFamily="18" charset="0"/>
                              <a:ea typeface="Times New Roman" panose="02020603050405020304" pitchFamily="18" charset="0"/>
                            </a:rPr>
                            <a:t>5</a:t>
                          </a:r>
                          <a:r>
                            <a:rPr lang="en-US" sz="2000" kern="1200" dirty="0">
                              <a:solidFill>
                                <a:srgbClr val="000000"/>
                              </a:solidFill>
                              <a:effectLst/>
                              <a:latin typeface="Times New Roman" panose="02020603050405020304" pitchFamily="18" charset="0"/>
                              <a:ea typeface="Times New Roman" panose="02020603050405020304" pitchFamily="18" charset="0"/>
                            </a:rPr>
                            <a:t>(F)</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84395447"/>
                      </a:ext>
                    </a:extLst>
                  </a:tr>
                </a:tbl>
              </a:graphicData>
            </a:graphic>
          </p:graphicFrame>
        </mc:Fallback>
      </mc:AlternateContent>
    </p:spTree>
    <p:extLst>
      <p:ext uri="{BB962C8B-B14F-4D97-AF65-F5344CB8AC3E}">
        <p14:creationId xmlns:p14="http://schemas.microsoft.com/office/powerpoint/2010/main" val="2633584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B20BB-176F-D8FC-DC2A-6E5CA89869EA}"/>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7ED86FF-758D-E8AB-7B97-E46B3C3037FA}"/>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38AAAF16-5748-BB1C-08D5-05CF803D52D4}"/>
              </a:ext>
            </a:extLst>
          </p:cNvPr>
          <p:cNvSpPr>
            <a:spLocks noGrp="1"/>
          </p:cNvSpPr>
          <p:nvPr>
            <p:ph type="sldNum" sz="quarter" idx="12"/>
          </p:nvPr>
        </p:nvSpPr>
        <p:spPr/>
        <p:txBody>
          <a:bodyPr/>
          <a:lstStyle/>
          <a:p>
            <a:fld id="{931DD963-FD40-4A6D-88A9-402A489E81DE}" type="slidenum">
              <a:rPr lang="en-US" smtClean="0"/>
              <a:t>92</a:t>
            </a:fld>
            <a:endParaRPr lang="en-US"/>
          </a:p>
        </p:txBody>
      </p:sp>
      <p:grpSp>
        <p:nvGrpSpPr>
          <p:cNvPr id="10" name="Group 9">
            <a:extLst>
              <a:ext uri="{FF2B5EF4-FFF2-40B4-BE49-F238E27FC236}">
                <a16:creationId xmlns:a16="http://schemas.microsoft.com/office/drawing/2014/main" id="{084E7B6E-6CD1-0DA0-0F42-D3D7ADE892AA}"/>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07F1973E-A6D8-6C5C-A808-9CC47FBEEAB4}"/>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4: SO </a:t>
              </a:r>
              <a:r>
                <a:rPr lang="vi-VN" sz="2133" b="1">
                  <a:latin typeface="Arial (Body)"/>
                </a:rPr>
                <a:t>SÁNH BỘ DAO ĐỘNG HOPF VÀ VANDERPOL</a:t>
              </a:r>
              <a:endParaRPr lang="en-US" sz="2133" b="1">
                <a:latin typeface="Arial (Body)"/>
              </a:endParaRPr>
            </a:p>
          </p:txBody>
        </p:sp>
        <p:sp>
          <p:nvSpPr>
            <p:cNvPr id="13" name="Rectangle 12">
              <a:extLst>
                <a:ext uri="{FF2B5EF4-FFF2-40B4-BE49-F238E27FC236}">
                  <a16:creationId xmlns:a16="http://schemas.microsoft.com/office/drawing/2014/main" id="{2A8BC8C4-DDAA-4EB2-8105-25F2DDFB6874}"/>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IV</a:t>
              </a:r>
            </a:p>
          </p:txBody>
        </p:sp>
      </p:grpSp>
      <p:sp>
        <p:nvSpPr>
          <p:cNvPr id="7" name="Hộp Văn bản 6">
            <a:extLst>
              <a:ext uri="{FF2B5EF4-FFF2-40B4-BE49-F238E27FC236}">
                <a16:creationId xmlns:a16="http://schemas.microsoft.com/office/drawing/2014/main" id="{40BDF7FA-D9CF-1933-E872-50FDDDFA7E95}"/>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4.4. </a:t>
            </a:r>
            <a:r>
              <a:rPr lang="vi-VN" sz="2000" b="1">
                <a:solidFill>
                  <a:prstClr val="black"/>
                </a:solidFill>
                <a:latin typeface="Times New Roman" panose="02020603050405020304" pitchFamily="18" charset="0"/>
                <a:cs typeface="Times New Roman" panose="02020603050405020304" pitchFamily="18" charset="0"/>
              </a:rPr>
              <a:t>Mô phỏng kiểm chứng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 name="TextBox 12">
            <a:extLst>
              <a:ext uri="{FF2B5EF4-FFF2-40B4-BE49-F238E27FC236}">
                <a16:creationId xmlns:a16="http://schemas.microsoft.com/office/drawing/2014/main" id="{3B6E58B9-A935-3B4C-D08C-983484C3379D}"/>
              </a:ext>
            </a:extLst>
          </p:cNvPr>
          <p:cNvSpPr txBox="1"/>
          <p:nvPr/>
        </p:nvSpPr>
        <p:spPr>
          <a:xfrm>
            <a:off x="3512199" y="5391476"/>
            <a:ext cx="5843879" cy="400110"/>
          </a:xfrm>
          <a:prstGeom prst="rect">
            <a:avLst/>
          </a:prstGeom>
          <a:noFill/>
        </p:spPr>
        <p:txBody>
          <a:bodyPr wrap="square" rtlCol="0">
            <a:spAutoFit/>
          </a:bodyPr>
          <a:lstStyle/>
          <a:p>
            <a:r>
              <a:rPr lang="vi-VN" sz="2000">
                <a:latin typeface="Times New Roman" panose="02020603050405020304" pitchFamily="18" charset="0"/>
                <a:cs typeface="Times New Roman" panose="02020603050405020304" pitchFamily="18" charset="0"/>
              </a:rPr>
              <a:t>Hình ảnh kết quả điện áp và phổ sóng hài điện áp ra</a:t>
            </a:r>
            <a:endParaRPr lang="en-US" sz="2000">
              <a:latin typeface="Times New Roman" panose="02020603050405020304" pitchFamily="18" charset="0"/>
              <a:cs typeface="Times New Roman" panose="02020603050405020304" pitchFamily="18" charset="0"/>
            </a:endParaRPr>
          </a:p>
        </p:txBody>
      </p:sp>
      <p:pic>
        <p:nvPicPr>
          <p:cNvPr id="8" name="Picture 8">
            <a:extLst>
              <a:ext uri="{FF2B5EF4-FFF2-40B4-BE49-F238E27FC236}">
                <a16:creationId xmlns:a16="http://schemas.microsoft.com/office/drawing/2014/main" id="{25EA5A2B-A68E-038B-F9E9-F3BFF4D2D96D}"/>
              </a:ext>
            </a:extLst>
          </p:cNvPr>
          <p:cNvPicPr>
            <a:picLocks noChangeAspect="1"/>
          </p:cNvPicPr>
          <p:nvPr/>
        </p:nvPicPr>
        <p:blipFill>
          <a:blip r:embed="rId2"/>
          <a:stretch>
            <a:fillRect/>
          </a:stretch>
        </p:blipFill>
        <p:spPr>
          <a:xfrm>
            <a:off x="293991" y="1617784"/>
            <a:ext cx="5645729" cy="2594155"/>
          </a:xfrm>
          <a:prstGeom prst="rect">
            <a:avLst/>
          </a:prstGeom>
        </p:spPr>
      </p:pic>
      <p:pic>
        <p:nvPicPr>
          <p:cNvPr id="9" name="Picture 8">
            <a:extLst>
              <a:ext uri="{FF2B5EF4-FFF2-40B4-BE49-F238E27FC236}">
                <a16:creationId xmlns:a16="http://schemas.microsoft.com/office/drawing/2014/main" id="{CF442486-B276-4F30-0608-2CC4173DA9A2}"/>
              </a:ext>
            </a:extLst>
          </p:cNvPr>
          <p:cNvPicPr>
            <a:picLocks noChangeAspect="1"/>
          </p:cNvPicPr>
          <p:nvPr/>
        </p:nvPicPr>
        <p:blipFill>
          <a:blip r:embed="rId3"/>
          <a:stretch>
            <a:fillRect/>
          </a:stretch>
        </p:blipFill>
        <p:spPr>
          <a:xfrm>
            <a:off x="6129313" y="1595335"/>
            <a:ext cx="5768696" cy="3445690"/>
          </a:xfrm>
          <a:prstGeom prst="rect">
            <a:avLst/>
          </a:prstGeom>
        </p:spPr>
      </p:pic>
    </p:spTree>
    <p:extLst>
      <p:ext uri="{BB962C8B-B14F-4D97-AF65-F5344CB8AC3E}">
        <p14:creationId xmlns:p14="http://schemas.microsoft.com/office/powerpoint/2010/main" val="171918251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095E4-27F6-1808-697D-28FB31AD0D3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2E82701-29F0-9828-4D57-23BF642F690B}"/>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2F3E99CF-212F-2B91-F3F6-6170C297366D}"/>
              </a:ext>
            </a:extLst>
          </p:cNvPr>
          <p:cNvSpPr>
            <a:spLocks noGrp="1"/>
          </p:cNvSpPr>
          <p:nvPr>
            <p:ph type="sldNum" sz="quarter" idx="12"/>
          </p:nvPr>
        </p:nvSpPr>
        <p:spPr/>
        <p:txBody>
          <a:bodyPr/>
          <a:lstStyle/>
          <a:p>
            <a:fld id="{931DD963-FD40-4A6D-88A9-402A489E81DE}" type="slidenum">
              <a:rPr lang="en-US" smtClean="0"/>
              <a:t>93</a:t>
            </a:fld>
            <a:endParaRPr lang="en-US"/>
          </a:p>
        </p:txBody>
      </p:sp>
      <p:grpSp>
        <p:nvGrpSpPr>
          <p:cNvPr id="10" name="Group 9">
            <a:extLst>
              <a:ext uri="{FF2B5EF4-FFF2-40B4-BE49-F238E27FC236}">
                <a16:creationId xmlns:a16="http://schemas.microsoft.com/office/drawing/2014/main" id="{2961260A-9984-5275-3FC5-E9AA8B6A6EBC}"/>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4D7BA1C8-FED0-BDC7-6DBA-9449C84A1F1B}"/>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5: </a:t>
              </a:r>
              <a:r>
                <a:rPr lang="vi-VN" sz="2133" b="1">
                  <a:latin typeface="Arial (Body)"/>
                </a:rPr>
                <a:t>GIẢI PHÁP CẢI TIẾN BỘ DAO ĐỘNG VANDERPOL</a:t>
              </a:r>
              <a:endParaRPr lang="en-US" sz="2133" b="1">
                <a:latin typeface="Arial (Body)"/>
              </a:endParaRPr>
            </a:p>
          </p:txBody>
        </p:sp>
        <p:sp>
          <p:nvSpPr>
            <p:cNvPr id="13" name="Rectangle 12">
              <a:extLst>
                <a:ext uri="{FF2B5EF4-FFF2-40B4-BE49-F238E27FC236}">
                  <a16:creationId xmlns:a16="http://schemas.microsoft.com/office/drawing/2014/main" id="{7AE4A9E7-8BDF-A4C7-F1E0-1E8EDFB85D77}"/>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a:t>
              </a:r>
            </a:p>
          </p:txBody>
        </p:sp>
      </p:grpSp>
      <p:pic>
        <p:nvPicPr>
          <p:cNvPr id="8" name="Picture 9">
            <a:extLst>
              <a:ext uri="{FF2B5EF4-FFF2-40B4-BE49-F238E27FC236}">
                <a16:creationId xmlns:a16="http://schemas.microsoft.com/office/drawing/2014/main" id="{D214641C-AABF-047C-741C-950DF89F3B73}"/>
              </a:ext>
            </a:extLst>
          </p:cNvPr>
          <p:cNvPicPr>
            <a:picLocks noChangeAspect="1"/>
          </p:cNvPicPr>
          <p:nvPr/>
        </p:nvPicPr>
        <p:blipFill>
          <a:blip r:embed="rId2"/>
          <a:stretch>
            <a:fillRect/>
          </a:stretch>
        </p:blipFill>
        <p:spPr>
          <a:xfrm>
            <a:off x="6569497" y="1097280"/>
            <a:ext cx="5440971" cy="3444240"/>
          </a:xfrm>
          <a:prstGeom prst="rect">
            <a:avLst/>
          </a:prstGeom>
        </p:spPr>
      </p:pic>
      <p:sp>
        <p:nvSpPr>
          <p:cNvPr id="4" name="Hộp Văn bản 3">
            <a:extLst>
              <a:ext uri="{FF2B5EF4-FFF2-40B4-BE49-F238E27FC236}">
                <a16:creationId xmlns:a16="http://schemas.microsoft.com/office/drawing/2014/main" id="{C8D5097C-EF9B-0F82-5A79-CD5854279C3E}"/>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1">
                <a:solidFill>
                  <a:prstClr val="black"/>
                </a:solidFill>
                <a:latin typeface="Times New Roman" panose="02020603050405020304" pitchFamily="18" charset="0"/>
                <a:cs typeface="Times New Roman" panose="02020603050405020304" pitchFamily="18" charset="0"/>
              </a:rPr>
              <a:t>5.1</a:t>
            </a: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vi-VN"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Bộ dao động VOC kiểu mới</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6" name="Hộp Văn bản 5">
            <a:extLst>
              <a:ext uri="{FF2B5EF4-FFF2-40B4-BE49-F238E27FC236}">
                <a16:creationId xmlns:a16="http://schemas.microsoft.com/office/drawing/2014/main" id="{DF497CC4-F279-33FE-039D-F39029258810}"/>
              </a:ext>
            </a:extLst>
          </p:cNvPr>
          <p:cNvSpPr txBox="1"/>
          <p:nvPr/>
        </p:nvSpPr>
        <p:spPr>
          <a:xfrm>
            <a:off x="7385725" y="4609360"/>
            <a:ext cx="4199917" cy="369332"/>
          </a:xfrm>
          <a:prstGeom prst="rect">
            <a:avLst/>
          </a:prstGeom>
          <a:noFill/>
        </p:spPr>
        <p:txBody>
          <a:bodyPr wrap="square">
            <a:spAutoFit/>
          </a:bodyPr>
          <a:lstStyle/>
          <a:p>
            <a:r>
              <a:rPr lang="vi-VN" sz="1800">
                <a:latin typeface="Times New Roman" panose="02020603050405020304" pitchFamily="18" charset="0"/>
                <a:cs typeface="Times New Roman" panose="02020603050405020304" pitchFamily="18" charset="0"/>
              </a:rPr>
              <a:t>Sơ đồ mạch điện bộ dao động </a:t>
            </a:r>
            <a:r>
              <a:rPr lang="vi-VN" sz="1800" err="1">
                <a:latin typeface="Times New Roman" panose="02020603050405020304" pitchFamily="18" charset="0"/>
                <a:cs typeface="Times New Roman" panose="02020603050405020304" pitchFamily="18" charset="0"/>
              </a:rPr>
              <a:t>Vanderpol</a:t>
            </a:r>
            <a:endParaRPr lang="en-US" sz="180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TextBox 4">
                <a:extLst>
                  <a:ext uri="{FF2B5EF4-FFF2-40B4-BE49-F238E27FC236}">
                    <a16:creationId xmlns:a16="http://schemas.microsoft.com/office/drawing/2014/main" id="{FAD965E5-279F-FD2C-9344-8E0BD4801C42}"/>
                  </a:ext>
                </a:extLst>
              </p:cNvPr>
              <p:cNvSpPr txBox="1"/>
              <p:nvPr/>
            </p:nvSpPr>
            <p:spPr>
              <a:xfrm>
                <a:off x="413529" y="1450125"/>
                <a:ext cx="6155968" cy="762516"/>
              </a:xfrm>
              <a:prstGeom prst="rect">
                <a:avLst/>
              </a:prstGeom>
              <a:noFill/>
            </p:spPr>
            <p:txBody>
              <a:bodyPr wrap="square" rtlCol="0">
                <a:spAutoFit/>
              </a:bodyPr>
              <a:lstStyle/>
              <a:p>
                <a:r>
                  <a:rPr lang="vi-VN" sz="2000">
                    <a:latin typeface="Calibri" panose="020F0502020204030204" pitchFamily="34" charset="0"/>
                    <a:ea typeface="Calibri" panose="020F0502020204030204" pitchFamily="34" charset="0"/>
                    <a:cs typeface="Times New Roman" panose="02020603050405020304" pitchFamily="18" charset="0"/>
                  </a:rPr>
                  <a:t>Ta có công thức nguồn dòng phụ thuộc h(v) mới:</a:t>
                </a:r>
                <a:endParaRPr lang="vi-VN" sz="200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Ø"/>
                </a:pPr>
                <a14:m>
                  <m:oMath xmlns:m="http://schemas.openxmlformats.org/officeDocument/2006/math">
                    <m:r>
                      <a:rPr lang="en-US" sz="2000" i="1">
                        <a:latin typeface="Cambria Math" panose="02040503050406030204" pitchFamily="18" charset="0"/>
                      </a:rPr>
                      <m:t>ℎ</m:t>
                    </m:r>
                    <m:d>
                      <m:dPr>
                        <m:ctrlPr>
                          <a:rPr lang="vi-VN" sz="2000" i="1">
                            <a:latin typeface="Cambria Math" panose="02040503050406030204" pitchFamily="18" charset="0"/>
                          </a:rPr>
                        </m:ctrlPr>
                      </m:dPr>
                      <m:e>
                        <m:r>
                          <a:rPr lang="vi-VN" sz="2000" i="1">
                            <a:latin typeface="Cambria Math" panose="02040503050406030204" pitchFamily="18" charset="0"/>
                          </a:rPr>
                          <m:t>𝑣</m:t>
                        </m:r>
                      </m:e>
                    </m:d>
                    <m:r>
                      <a:rPr lang="vi-VN" sz="2000" i="1">
                        <a:latin typeface="Cambria Math" panose="02040503050406030204" pitchFamily="18" charset="0"/>
                      </a:rPr>
                      <m:t>=2</m:t>
                    </m:r>
                    <m:rad>
                      <m:radPr>
                        <m:degHide m:val="on"/>
                        <m:ctrlPr>
                          <a:rPr lang="vi-VN" sz="2000" i="1">
                            <a:latin typeface="Cambria Math" panose="02040503050406030204" pitchFamily="18" charset="0"/>
                          </a:rPr>
                        </m:ctrlPr>
                      </m:radPr>
                      <m:deg/>
                      <m:e>
                        <m:r>
                          <a:rPr lang="vi-VN" sz="2000" i="1">
                            <a:latin typeface="Cambria Math" panose="02040503050406030204" pitchFamily="18" charset="0"/>
                          </a:rPr>
                          <m:t>2</m:t>
                        </m:r>
                      </m:e>
                    </m:rad>
                    <m:r>
                      <a:rPr lang="vi-VN" sz="2000" i="1">
                        <a:latin typeface="Cambria Math" panose="02040503050406030204" pitchFamily="18" charset="0"/>
                      </a:rPr>
                      <m:t>𝛼</m:t>
                    </m:r>
                    <m:r>
                      <a:rPr lang="vi-VN" sz="2000" i="1">
                        <a:latin typeface="Cambria Math" panose="02040503050406030204" pitchFamily="18" charset="0"/>
                      </a:rPr>
                      <m:t> .</m:t>
                    </m:r>
                    <m:sSubSup>
                      <m:sSubSupPr>
                        <m:ctrlPr>
                          <a:rPr lang="vi-VN" sz="2000" i="1">
                            <a:latin typeface="Cambria Math" panose="02040503050406030204" pitchFamily="18" charset="0"/>
                          </a:rPr>
                        </m:ctrlPr>
                      </m:sSubSupPr>
                      <m:e>
                        <m:r>
                          <a:rPr lang="vi-VN" sz="2000" i="1">
                            <a:latin typeface="Cambria Math" panose="02040503050406030204" pitchFamily="18" charset="0"/>
                          </a:rPr>
                          <m:t>𝑉</m:t>
                        </m:r>
                      </m:e>
                      <m:sub>
                        <m:r>
                          <a:rPr lang="vi-VN" sz="2000" i="1">
                            <a:latin typeface="Cambria Math" panose="02040503050406030204" pitchFamily="18" charset="0"/>
                          </a:rPr>
                          <m:t>𝑐𝑟𝑚𝑠</m:t>
                        </m:r>
                      </m:sub>
                      <m:sup>
                        <m:r>
                          <a:rPr lang="vi-VN" sz="2000" i="1">
                            <a:latin typeface="Cambria Math" panose="02040503050406030204" pitchFamily="18" charset="0"/>
                          </a:rPr>
                          <m:t>3</m:t>
                        </m:r>
                      </m:sup>
                    </m:sSubSup>
                    <m:d>
                      <m:dPr>
                        <m:ctrlPr>
                          <a:rPr lang="vi-VN" sz="2000" i="1">
                            <a:latin typeface="Cambria Math" panose="02040503050406030204" pitchFamily="18" charset="0"/>
                          </a:rPr>
                        </m:ctrlPr>
                      </m:dPr>
                      <m:e>
                        <m:r>
                          <a:rPr lang="vi-VN" sz="2000" i="1">
                            <a:latin typeface="Cambria Math" panose="02040503050406030204" pitchFamily="18" charset="0"/>
                          </a:rPr>
                          <m:t>𝑡</m:t>
                        </m:r>
                      </m:e>
                    </m:d>
                    <m:r>
                      <a:rPr lang="vi-VN" sz="2000" i="1">
                        <a:latin typeface="Cambria Math" panose="02040503050406030204" pitchFamily="18" charset="0"/>
                      </a:rPr>
                      <m:t>.</m:t>
                    </m:r>
                    <m:func>
                      <m:funcPr>
                        <m:ctrlPr>
                          <a:rPr lang="vi-VN" sz="2000" i="1">
                            <a:latin typeface="Cambria Math" panose="02040503050406030204" pitchFamily="18" charset="0"/>
                          </a:rPr>
                        </m:ctrlPr>
                      </m:funcPr>
                      <m:fName>
                        <m:sSup>
                          <m:sSupPr>
                            <m:ctrlPr>
                              <a:rPr lang="vi-VN" sz="2000">
                                <a:latin typeface="Cambria Math" panose="02040503050406030204" pitchFamily="18" charset="0"/>
                              </a:rPr>
                            </m:ctrlPr>
                          </m:sSupPr>
                          <m:e>
                            <m:r>
                              <m:rPr>
                                <m:sty m:val="p"/>
                              </m:rPr>
                              <a:rPr lang="vi-VN" sz="2000">
                                <a:latin typeface="Cambria Math" panose="02040503050406030204" pitchFamily="18" charset="0"/>
                              </a:rPr>
                              <m:t>cos</m:t>
                            </m:r>
                          </m:e>
                          <m:sup>
                            <m:r>
                              <a:rPr lang="vi-VN" sz="2000" i="1">
                                <a:latin typeface="Cambria Math" panose="02040503050406030204" pitchFamily="18" charset="0"/>
                              </a:rPr>
                              <m:t>3</m:t>
                            </m:r>
                          </m:sup>
                        </m:sSup>
                      </m:fName>
                      <m:e>
                        <m:d>
                          <m:dPr>
                            <m:ctrlPr>
                              <a:rPr lang="vi-VN" sz="2000" i="1">
                                <a:latin typeface="Cambria Math" panose="02040503050406030204" pitchFamily="18" charset="0"/>
                              </a:rPr>
                            </m:ctrlPr>
                          </m:dPr>
                          <m:e>
                            <m:r>
                              <a:rPr lang="vi-VN" sz="2000" i="1">
                                <a:latin typeface="Cambria Math" panose="02040503050406030204" pitchFamily="18" charset="0"/>
                              </a:rPr>
                              <m:t>𝜔</m:t>
                            </m:r>
                            <m:r>
                              <a:rPr lang="vi-VN" sz="2000" i="1">
                                <a:latin typeface="Cambria Math" panose="02040503050406030204" pitchFamily="18" charset="0"/>
                              </a:rPr>
                              <m:t>𝑡</m:t>
                            </m:r>
                            <m:r>
                              <a:rPr lang="vi-VN" sz="2000" i="1">
                                <a:latin typeface="Cambria Math" panose="02040503050406030204" pitchFamily="18" charset="0"/>
                              </a:rPr>
                              <m:t>+</m:t>
                            </m:r>
                            <m:r>
                              <a:rPr lang="vi-VN" sz="2000" i="1">
                                <a:latin typeface="Cambria Math" panose="02040503050406030204" pitchFamily="18" charset="0"/>
                              </a:rPr>
                              <m:t>𝜃</m:t>
                            </m:r>
                            <m:d>
                              <m:dPr>
                                <m:ctrlPr>
                                  <a:rPr lang="vi-VN" sz="2000" i="1">
                                    <a:latin typeface="Cambria Math" panose="02040503050406030204" pitchFamily="18" charset="0"/>
                                  </a:rPr>
                                </m:ctrlPr>
                              </m:dPr>
                              <m:e>
                                <m:r>
                                  <a:rPr lang="vi-VN" sz="2000" i="1">
                                    <a:latin typeface="Cambria Math" panose="02040503050406030204" pitchFamily="18" charset="0"/>
                                  </a:rPr>
                                  <m:t>𝑡</m:t>
                                </m:r>
                              </m:e>
                            </m:d>
                          </m:e>
                        </m:d>
                      </m:e>
                    </m:func>
                  </m:oMath>
                </a14:m>
                <a:r>
                  <a:rPr lang="vi-VN" sz="2000"/>
                  <a:t>	(23)</a:t>
                </a:r>
              </a:p>
            </p:txBody>
          </p:sp>
        </mc:Choice>
        <mc:Fallback xmlns="">
          <p:sp>
            <p:nvSpPr>
              <p:cNvPr id="7" name="TextBox 4">
                <a:extLst>
                  <a:ext uri="{FF2B5EF4-FFF2-40B4-BE49-F238E27FC236}">
                    <a16:creationId xmlns:a16="http://schemas.microsoft.com/office/drawing/2014/main" id="{FAD965E5-279F-FD2C-9344-8E0BD4801C42}"/>
                  </a:ext>
                </a:extLst>
              </p:cNvPr>
              <p:cNvSpPr txBox="1">
                <a:spLocks noRot="1" noChangeAspect="1" noMove="1" noResize="1" noEditPoints="1" noAdjustHandles="1" noChangeArrowheads="1" noChangeShapeType="1" noTextEdit="1"/>
              </p:cNvSpPr>
              <p:nvPr/>
            </p:nvSpPr>
            <p:spPr>
              <a:xfrm>
                <a:off x="413529" y="1450125"/>
                <a:ext cx="6155968" cy="762516"/>
              </a:xfrm>
              <a:prstGeom prst="rect">
                <a:avLst/>
              </a:prstGeom>
              <a:blipFill>
                <a:blip r:embed="rId3"/>
                <a:stretch>
                  <a:fillRect l="-1089" t="-4800" r="-396" b="-112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 name="TextBox 10">
                <a:extLst>
                  <a:ext uri="{FF2B5EF4-FFF2-40B4-BE49-F238E27FC236}">
                    <a16:creationId xmlns:a16="http://schemas.microsoft.com/office/drawing/2014/main" id="{2B82FED1-7FAD-2E76-74B3-4F3D41FAE7DC}"/>
                  </a:ext>
                </a:extLst>
              </p:cNvPr>
              <p:cNvSpPr txBox="1"/>
              <p:nvPr/>
            </p:nvSpPr>
            <p:spPr>
              <a:xfrm>
                <a:off x="413529" y="2329262"/>
                <a:ext cx="5821901" cy="1617238"/>
              </a:xfrm>
              <a:prstGeom prst="rect">
                <a:avLst/>
              </a:prstGeom>
              <a:noFill/>
            </p:spPr>
            <p:txBody>
              <a:bodyPr wrap="square" rtlCol="0">
                <a:spAutoFit/>
              </a:bodyPr>
              <a:lstStyle/>
              <a:p>
                <a:r>
                  <a:rPr lang="vi-VN" sz="2000"/>
                  <a:t>Trong đó </a:t>
                </a:r>
                <a14:m>
                  <m:oMath xmlns:m="http://schemas.openxmlformats.org/officeDocument/2006/math">
                    <m:sSub>
                      <m:sSubPr>
                        <m:ctrlPr>
                          <a:rPr lang="vi-V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vi-VN" sz="20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vi-VN" sz="2000" i="1">
                            <a:effectLst/>
                            <a:latin typeface="Cambria Math" panose="02040503050406030204" pitchFamily="18" charset="0"/>
                            <a:ea typeface="Times New Roman" panose="02020603050405020304" pitchFamily="18" charset="0"/>
                            <a:cs typeface="Times New Roman" panose="02020603050405020304" pitchFamily="18" charset="0"/>
                          </a:rPr>
                          <m:t>𝑐𝑟𝑚𝑠</m:t>
                        </m:r>
                      </m:sub>
                    </m:sSub>
                    <m:d>
                      <m:dPr>
                        <m:ctrlPr>
                          <a:rPr lang="vi-VN" sz="2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vi-VN" sz="20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vi-VN"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vi-VN" sz="2000"/>
                  <a:t> </a:t>
                </a:r>
                <a14:m>
                  <m:oMath xmlns:m="http://schemas.openxmlformats.org/officeDocument/2006/math">
                    <m:rad>
                      <m:radPr>
                        <m:degHide m:val="on"/>
                        <m:ctrlPr>
                          <a:rPr lang="en-US" sz="2000" i="1">
                            <a:solidFill>
                              <a:srgbClr val="836967"/>
                            </a:solidFill>
                            <a:latin typeface="Cambria Math" panose="02040503050406030204" pitchFamily="18" charset="0"/>
                          </a:rPr>
                        </m:ctrlPr>
                      </m:radPr>
                      <m:deg/>
                      <m:e>
                        <m:f>
                          <m:fPr>
                            <m:ctrlPr>
                              <a:rPr lang="en-US" sz="2000" i="1">
                                <a:solidFill>
                                  <a:prstClr val="black"/>
                                </a:solidFill>
                                <a:latin typeface="Cambria Math" panose="02040503050406030204" pitchFamily="18" charset="0"/>
                              </a:rPr>
                            </m:ctrlPr>
                          </m:fPr>
                          <m:num>
                            <m:r>
                              <a:rPr lang="en-US" sz="2000" i="1">
                                <a:solidFill>
                                  <a:prstClr val="black"/>
                                </a:solidFill>
                                <a:latin typeface="Cambria Math" panose="02040503050406030204" pitchFamily="18" charset="0"/>
                              </a:rPr>
                              <m:t>𝜎</m:t>
                            </m:r>
                            <m:r>
                              <a:rPr lang="en-US" sz="2000">
                                <a:solidFill>
                                  <a:prstClr val="black"/>
                                </a:solidFill>
                                <a:latin typeface="Cambria Math" panose="02040503050406030204" pitchFamily="18" charset="0"/>
                              </a:rPr>
                              <m:t>±</m:t>
                            </m:r>
                            <m:rad>
                              <m:radPr>
                                <m:degHide m:val="on"/>
                                <m:ctrlPr>
                                  <a:rPr lang="en-US" sz="2000" i="1">
                                    <a:solidFill>
                                      <a:srgbClr val="836967"/>
                                    </a:solidFill>
                                    <a:latin typeface="Cambria Math" panose="02040503050406030204" pitchFamily="18" charset="0"/>
                                  </a:rPr>
                                </m:ctrlPr>
                              </m:radPr>
                              <m:deg/>
                              <m:e>
                                <m:sSup>
                                  <m:sSupPr>
                                    <m:ctrlPr>
                                      <a:rPr lang="en-US" sz="2000" i="1">
                                        <a:solidFill>
                                          <a:prstClr val="black"/>
                                        </a:solidFill>
                                        <a:latin typeface="Cambria Math" panose="02040503050406030204" pitchFamily="18" charset="0"/>
                                      </a:rPr>
                                    </m:ctrlPr>
                                  </m:sSupPr>
                                  <m:e>
                                    <m:r>
                                      <a:rPr lang="en-US" sz="2000" i="1">
                                        <a:solidFill>
                                          <a:prstClr val="black"/>
                                        </a:solidFill>
                                        <a:latin typeface="Cambria Math" panose="02040503050406030204" pitchFamily="18" charset="0"/>
                                      </a:rPr>
                                      <m:t>𝜎</m:t>
                                    </m:r>
                                  </m:e>
                                  <m:sup>
                                    <m:r>
                                      <a:rPr lang="en-US" sz="2000">
                                        <a:solidFill>
                                          <a:prstClr val="black"/>
                                        </a:solidFill>
                                        <a:latin typeface="Cambria Math" panose="02040503050406030204" pitchFamily="18" charset="0"/>
                                      </a:rPr>
                                      <m:t>2</m:t>
                                    </m:r>
                                  </m:sup>
                                </m:sSup>
                                <m:r>
                                  <a:rPr lang="en-US" sz="2000">
                                    <a:solidFill>
                                      <a:prstClr val="black"/>
                                    </a:solidFill>
                                    <a:latin typeface="Cambria Math" panose="02040503050406030204" pitchFamily="18" charset="0"/>
                                  </a:rPr>
                                  <m:t>−6</m:t>
                                </m:r>
                                <m:r>
                                  <a:rPr lang="en-US" sz="2000" i="1">
                                    <a:solidFill>
                                      <a:prstClr val="black"/>
                                    </a:solidFill>
                                    <a:latin typeface="Cambria Math" panose="02040503050406030204" pitchFamily="18" charset="0"/>
                                  </a:rPr>
                                  <m:t>𝛼</m:t>
                                </m:r>
                                <m:f>
                                  <m:fPr>
                                    <m:ctrlPr>
                                      <a:rPr lang="en-US" sz="2000" i="1">
                                        <a:solidFill>
                                          <a:srgbClr val="836967"/>
                                        </a:solidFill>
                                        <a:latin typeface="Cambria Math" panose="02040503050406030204" pitchFamily="18" charset="0"/>
                                      </a:rPr>
                                    </m:ctrlPr>
                                  </m:fPr>
                                  <m:num>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panose="02040503050406030204" pitchFamily="18" charset="0"/>
                                          </a:rPr>
                                          <m:t>𝑘</m:t>
                                        </m:r>
                                      </m:e>
                                      <m:sub>
                                        <m:r>
                                          <a:rPr lang="en-US" sz="2000" i="1">
                                            <a:solidFill>
                                              <a:prstClr val="black"/>
                                            </a:solidFill>
                                            <a:latin typeface="Cambria Math" panose="02040503050406030204" pitchFamily="18" charset="0"/>
                                          </a:rPr>
                                          <m:t>𝑖</m:t>
                                        </m:r>
                                      </m:sub>
                                    </m:sSub>
                                  </m:num>
                                  <m:den>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panose="02040503050406030204" pitchFamily="18" charset="0"/>
                                          </a:rPr>
                                          <m:t>𝑘</m:t>
                                        </m:r>
                                      </m:e>
                                      <m:sub>
                                        <m:r>
                                          <a:rPr lang="en-US" sz="2000" i="1">
                                            <a:solidFill>
                                              <a:prstClr val="black"/>
                                            </a:solidFill>
                                            <a:latin typeface="Cambria Math" panose="02040503050406030204" pitchFamily="18" charset="0"/>
                                          </a:rPr>
                                          <m:t>𝑣</m:t>
                                        </m:r>
                                      </m:sub>
                                    </m:sSub>
                                  </m:den>
                                </m:f>
                                <m:acc>
                                  <m:accPr>
                                    <m:chr m:val="̅"/>
                                    <m:ctrlPr>
                                      <a:rPr lang="en-US" sz="2000" i="1">
                                        <a:solidFill>
                                          <a:prstClr val="black"/>
                                        </a:solidFill>
                                        <a:latin typeface="Cambria Math" panose="02040503050406030204" pitchFamily="18" charset="0"/>
                                      </a:rPr>
                                    </m:ctrlPr>
                                  </m:accPr>
                                  <m:e>
                                    <m:r>
                                      <a:rPr lang="en-US" sz="2000" i="1">
                                        <a:solidFill>
                                          <a:prstClr val="black"/>
                                        </a:solidFill>
                                        <a:latin typeface="Cambria Math" panose="02040503050406030204" pitchFamily="18" charset="0"/>
                                      </a:rPr>
                                      <m:t>𝑃</m:t>
                                    </m:r>
                                  </m:e>
                                </m:acc>
                                <m:r>
                                  <a:rPr lang="vi-VN" sz="2000" b="0" i="1" smtClean="0">
                                    <a:solidFill>
                                      <a:prstClr val="black"/>
                                    </a:solidFill>
                                    <a:latin typeface="Cambria Math" panose="02040503050406030204" pitchFamily="18" charset="0"/>
                                  </a:rPr>
                                  <m:t>(</m:t>
                                </m:r>
                                <m:r>
                                  <m:rPr>
                                    <m:sty m:val="p"/>
                                  </m:rPr>
                                  <a:rPr lang="vi-VN" sz="2000" i="1">
                                    <a:solidFill>
                                      <a:prstClr val="black"/>
                                    </a:solidFill>
                                    <a:latin typeface="Cambria Math" panose="02040503050406030204" pitchFamily="18" charset="0"/>
                                  </a:rPr>
                                  <m:t>t</m:t>
                                </m:r>
                                <m:r>
                                  <a:rPr lang="vi-VN" sz="2000" b="0" i="1" smtClean="0">
                                    <a:solidFill>
                                      <a:prstClr val="black"/>
                                    </a:solidFill>
                                    <a:latin typeface="Cambria Math" panose="02040503050406030204" pitchFamily="18" charset="0"/>
                                  </a:rPr>
                                  <m:t>)</m:t>
                                </m:r>
                              </m:e>
                            </m:rad>
                          </m:num>
                          <m:den>
                            <m:r>
                              <a:rPr lang="en-US" sz="2000">
                                <a:solidFill>
                                  <a:prstClr val="black"/>
                                </a:solidFill>
                                <a:latin typeface="Cambria Math" panose="02040503050406030204" pitchFamily="18" charset="0"/>
                              </a:rPr>
                              <m:t>3</m:t>
                            </m:r>
                            <m:r>
                              <a:rPr lang="en-US" sz="2000" i="1">
                                <a:solidFill>
                                  <a:prstClr val="black"/>
                                </a:solidFill>
                                <a:latin typeface="Cambria Math" panose="02040503050406030204" pitchFamily="18" charset="0"/>
                              </a:rPr>
                              <m:t>𝛼</m:t>
                            </m:r>
                          </m:den>
                        </m:f>
                      </m:e>
                    </m:rad>
                  </m:oMath>
                </a14:m>
                <a:r>
                  <a:rPr lang="vi-VN" sz="2000"/>
                  <a:t> </a:t>
                </a:r>
              </a:p>
              <a:p>
                <a:r>
                  <a:rPr lang="vi-VN" sz="2000"/>
                  <a:t>Với </a:t>
                </a:r>
                <a14:m>
                  <m:oMath xmlns:m="http://schemas.openxmlformats.org/officeDocument/2006/math">
                    <m:acc>
                      <m:accPr>
                        <m:chr m:val="̅"/>
                        <m:ctrlPr>
                          <a:rPr lang="en-US" sz="2000" i="1">
                            <a:solidFill>
                              <a:prstClr val="black"/>
                            </a:solidFill>
                            <a:latin typeface="Cambria Math" panose="02040503050406030204" pitchFamily="18" charset="0"/>
                          </a:rPr>
                        </m:ctrlPr>
                      </m:accPr>
                      <m:e>
                        <m:r>
                          <a:rPr lang="en-US" sz="2000" i="1">
                            <a:solidFill>
                              <a:prstClr val="black"/>
                            </a:solidFill>
                            <a:latin typeface="Cambria Math" panose="02040503050406030204" pitchFamily="18" charset="0"/>
                          </a:rPr>
                          <m:t>𝑃</m:t>
                        </m:r>
                      </m:e>
                    </m:acc>
                  </m:oMath>
                </a14:m>
                <a:r>
                  <a:rPr lang="vi-VN" sz="2000"/>
                  <a:t>(t) là công suất tác dụng trung bình trong một chu kì.</a:t>
                </a:r>
                <a:endParaRPr lang="en-ID" sz="2000"/>
              </a:p>
            </p:txBody>
          </p:sp>
        </mc:Choice>
        <mc:Fallback xmlns="">
          <p:sp>
            <p:nvSpPr>
              <p:cNvPr id="9" name="TextBox 10">
                <a:extLst>
                  <a:ext uri="{FF2B5EF4-FFF2-40B4-BE49-F238E27FC236}">
                    <a16:creationId xmlns:a16="http://schemas.microsoft.com/office/drawing/2014/main" id="{2B82FED1-7FAD-2E76-74B3-4F3D41FAE7DC}"/>
                  </a:ext>
                </a:extLst>
              </p:cNvPr>
              <p:cNvSpPr txBox="1">
                <a:spLocks noRot="1" noChangeAspect="1" noMove="1" noResize="1" noEditPoints="1" noAdjustHandles="1" noChangeArrowheads="1" noChangeShapeType="1" noTextEdit="1"/>
              </p:cNvSpPr>
              <p:nvPr/>
            </p:nvSpPr>
            <p:spPr>
              <a:xfrm>
                <a:off x="413529" y="2329262"/>
                <a:ext cx="5821901" cy="1617238"/>
              </a:xfrm>
              <a:prstGeom prst="rect">
                <a:avLst/>
              </a:prstGeom>
              <a:blipFill>
                <a:blip r:embed="rId4"/>
                <a:stretch>
                  <a:fillRect l="-1152" b="-5660"/>
                </a:stretch>
              </a:blipFill>
            </p:spPr>
            <p:txBody>
              <a:bodyPr/>
              <a:lstStyle/>
              <a:p>
                <a:r>
                  <a:rPr lang="vi-VN">
                    <a:noFill/>
                  </a:rPr>
                  <a:t> </a:t>
                </a:r>
              </a:p>
            </p:txBody>
          </p:sp>
        </mc:Fallback>
      </mc:AlternateContent>
      <p:sp>
        <p:nvSpPr>
          <p:cNvPr id="15" name="Hộp Văn bản 14">
            <a:extLst>
              <a:ext uri="{FF2B5EF4-FFF2-40B4-BE49-F238E27FC236}">
                <a16:creationId xmlns:a16="http://schemas.microsoft.com/office/drawing/2014/main" id="{B077D610-EA9C-059F-1128-2432E00277C6}"/>
              </a:ext>
            </a:extLst>
          </p:cNvPr>
          <p:cNvSpPr txBox="1"/>
          <p:nvPr/>
        </p:nvSpPr>
        <p:spPr>
          <a:xfrm>
            <a:off x="413529" y="4149044"/>
            <a:ext cx="5510616" cy="400110"/>
          </a:xfrm>
          <a:prstGeom prst="rect">
            <a:avLst/>
          </a:prstGeom>
          <a:noFill/>
        </p:spPr>
        <p:txBody>
          <a:bodyPr wrap="square">
            <a:spAutoFit/>
          </a:bodyPr>
          <a:lstStyle/>
          <a:p>
            <a:r>
              <a:rPr lang="vi-VN" sz="2000"/>
              <a:t>Từ (23) áp dụng công thức lượng giác:</a:t>
            </a:r>
            <a:endParaRPr lang="en-ID" sz="2000"/>
          </a:p>
        </p:txBody>
      </p:sp>
      <mc:AlternateContent xmlns:mc="http://schemas.openxmlformats.org/markup-compatibility/2006" xmlns:a14="http://schemas.microsoft.com/office/drawing/2010/main">
        <mc:Choice Requires="a14">
          <p:sp>
            <p:nvSpPr>
              <p:cNvPr id="16" name="TextBox 12">
                <a:extLst>
                  <a:ext uri="{FF2B5EF4-FFF2-40B4-BE49-F238E27FC236}">
                    <a16:creationId xmlns:a16="http://schemas.microsoft.com/office/drawing/2014/main" id="{77FDAF23-B5AC-65D9-A641-9A63B97F3754}"/>
                  </a:ext>
                </a:extLst>
              </p:cNvPr>
              <p:cNvSpPr txBox="1"/>
              <p:nvPr/>
            </p:nvSpPr>
            <p:spPr>
              <a:xfrm>
                <a:off x="413529" y="5104715"/>
                <a:ext cx="3726882" cy="610936"/>
              </a:xfrm>
              <a:prstGeom prst="rect">
                <a:avLst/>
              </a:prstGeom>
              <a:noFill/>
            </p:spPr>
            <p:txBody>
              <a:bodyPr wrap="square" rtlCol="0">
                <a:spAutoFit/>
              </a:bodyPr>
              <a:lstStyle/>
              <a:p>
                <a:pPr/>
                <a14:m>
                  <m:oMathPara xmlns:m="http://schemas.openxmlformats.org/officeDocument/2006/math">
                    <m:oMath>
                      <m:sSup>
                        <m:sSupPr>
                          <m:ctrlPr>
                            <a:rPr lang="vi-V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vi-VN" sz="1800" i="1">
                              <a:effectLst/>
                              <a:latin typeface="Cambria Math" panose="02040503050406030204" pitchFamily="18" charset="0"/>
                              <a:ea typeface="Calibri" panose="020F0502020204030204" pitchFamily="34" charset="0"/>
                              <a:cs typeface="Times New Roman" panose="02020603050405020304" pitchFamily="18" charset="0"/>
                            </a:rPr>
                            <m:t>𝑐𝑜𝑠</m:t>
                          </m:r>
                        </m:e>
                        <m:sup>
                          <m:r>
                            <a:rPr lang="vi-VN" sz="1800" i="1">
                              <a:effectLst/>
                              <a:latin typeface="Cambria Math" panose="02040503050406030204" pitchFamily="18" charset="0"/>
                              <a:ea typeface="Calibri" panose="020F0502020204030204" pitchFamily="34" charset="0"/>
                              <a:cs typeface="Times New Roman" panose="02020603050405020304" pitchFamily="18" charset="0"/>
                            </a:rPr>
                            <m:t>3</m:t>
                          </m:r>
                        </m:sup>
                      </m:sSup>
                      <m:d>
                        <m:dPr>
                          <m:ctrlPr>
                            <a:rPr lang="vi-VN"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vi-VN" sz="1800" i="1">
                              <a:effectLst/>
                              <a:latin typeface="Cambria Math" panose="02040503050406030204" pitchFamily="18" charset="0"/>
                              <a:ea typeface="Calibri" panose="020F0502020204030204" pitchFamily="34" charset="0"/>
                              <a:cs typeface="Times New Roman" panose="02020603050405020304" pitchFamily="18" charset="0"/>
                            </a:rPr>
                            <m:t>𝑥</m:t>
                          </m:r>
                        </m:e>
                      </m:d>
                      <m:r>
                        <a:rPr lang="vi-VN"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vi-V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vi-VN" sz="1800" i="1">
                              <a:effectLst/>
                              <a:latin typeface="Cambria Math" panose="02040503050406030204" pitchFamily="18" charset="0"/>
                              <a:ea typeface="Calibri" panose="020F0502020204030204" pitchFamily="34" charset="0"/>
                              <a:cs typeface="Times New Roman" panose="02020603050405020304" pitchFamily="18" charset="0"/>
                            </a:rPr>
                            <m:t>3</m:t>
                          </m:r>
                        </m:num>
                        <m:den>
                          <m:r>
                            <a:rPr lang="vi-VN" sz="1800" i="1">
                              <a:effectLst/>
                              <a:latin typeface="Cambria Math" panose="02040503050406030204" pitchFamily="18" charset="0"/>
                              <a:ea typeface="Calibri" panose="020F0502020204030204" pitchFamily="34" charset="0"/>
                              <a:cs typeface="Times New Roman" panose="02020603050405020304" pitchFamily="18" charset="0"/>
                            </a:rPr>
                            <m:t>4</m:t>
                          </m:r>
                        </m:den>
                      </m:f>
                      <m:func>
                        <m:funcPr>
                          <m:ctrlPr>
                            <a:rPr lang="vi-VN" sz="1800">
                              <a:effectLst/>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vi-VN" sz="1800">
                              <a:effectLst/>
                              <a:latin typeface="Cambria Math" panose="02040503050406030204" pitchFamily="18" charset="0"/>
                              <a:ea typeface="Calibri" panose="020F0502020204030204" pitchFamily="34" charset="0"/>
                              <a:cs typeface="Times New Roman" panose="02020603050405020304" pitchFamily="18" charset="0"/>
                            </a:rPr>
                            <m:t>cos</m:t>
                          </m:r>
                        </m:fName>
                        <m:e>
                          <m:d>
                            <m:dPr>
                              <m:ctrlPr>
                                <a:rPr lang="vi-VN"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vi-VN" sz="1800" i="1">
                                  <a:effectLst/>
                                  <a:latin typeface="Cambria Math" panose="02040503050406030204" pitchFamily="18" charset="0"/>
                                  <a:ea typeface="Calibri" panose="020F0502020204030204" pitchFamily="34" charset="0"/>
                                  <a:cs typeface="Times New Roman" panose="02020603050405020304" pitchFamily="18" charset="0"/>
                                </a:rPr>
                                <m:t>𝑥</m:t>
                              </m:r>
                            </m:e>
                          </m:d>
                        </m:e>
                      </m:func>
                      <m:r>
                        <a:rPr lang="vi-VN"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vi-V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vi-VN"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vi-VN" sz="1800" i="1">
                              <a:effectLst/>
                              <a:latin typeface="Cambria Math" panose="02040503050406030204" pitchFamily="18" charset="0"/>
                              <a:ea typeface="Calibri" panose="020F0502020204030204" pitchFamily="34" charset="0"/>
                              <a:cs typeface="Times New Roman" panose="02020603050405020304" pitchFamily="18" charset="0"/>
                            </a:rPr>
                            <m:t>4</m:t>
                          </m:r>
                        </m:den>
                      </m:f>
                      <m:r>
                        <m:rPr>
                          <m:sty m:val="p"/>
                        </m:rPr>
                        <a:rPr lang="vi-VN" sz="1800">
                          <a:effectLst/>
                          <a:latin typeface="Cambria Math" panose="02040503050406030204" pitchFamily="18" charset="0"/>
                          <a:ea typeface="Calibri" panose="020F0502020204030204" pitchFamily="34" charset="0"/>
                          <a:cs typeface="Times New Roman" panose="02020603050405020304" pitchFamily="18" charset="0"/>
                        </a:rPr>
                        <m:t>cos</m:t>
                      </m:r>
                      <m:r>
                        <a:rPr lang="vi-VN" sz="1800">
                          <a:effectLst/>
                          <a:latin typeface="Cambria Math" panose="02040503050406030204" pitchFamily="18" charset="0"/>
                          <a:ea typeface="Calibri" panose="020F0502020204030204" pitchFamily="34" charset="0"/>
                          <a:cs typeface="Times New Roman" panose="02020603050405020304" pitchFamily="18" charset="0"/>
                        </a:rPr>
                        <m:t>⁡(3</m:t>
                      </m:r>
                      <m:r>
                        <a:rPr lang="vi-VN" sz="1800" i="1">
                          <a:effectLst/>
                          <a:latin typeface="Cambria Math" panose="02040503050406030204" pitchFamily="18" charset="0"/>
                          <a:ea typeface="Calibri" panose="020F0502020204030204" pitchFamily="34" charset="0"/>
                          <a:cs typeface="Times New Roman" panose="02020603050405020304" pitchFamily="18" charset="0"/>
                        </a:rPr>
                        <m:t>𝑥</m:t>
                      </m:r>
                      <m:r>
                        <a:rPr lang="vi-VN" sz="18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ID"/>
              </a:p>
            </p:txBody>
          </p:sp>
        </mc:Choice>
        <mc:Fallback xmlns="">
          <p:sp>
            <p:nvSpPr>
              <p:cNvPr id="16" name="TextBox 12">
                <a:extLst>
                  <a:ext uri="{FF2B5EF4-FFF2-40B4-BE49-F238E27FC236}">
                    <a16:creationId xmlns:a16="http://schemas.microsoft.com/office/drawing/2014/main" id="{77FDAF23-B5AC-65D9-A641-9A63B97F3754}"/>
                  </a:ext>
                </a:extLst>
              </p:cNvPr>
              <p:cNvSpPr txBox="1">
                <a:spLocks noRot="1" noChangeAspect="1" noMove="1" noResize="1" noEditPoints="1" noAdjustHandles="1" noChangeArrowheads="1" noChangeShapeType="1" noTextEdit="1"/>
              </p:cNvSpPr>
              <p:nvPr/>
            </p:nvSpPr>
            <p:spPr>
              <a:xfrm>
                <a:off x="413529" y="5104715"/>
                <a:ext cx="3726882" cy="610936"/>
              </a:xfrm>
              <a:prstGeom prst="rect">
                <a:avLst/>
              </a:prstGeom>
              <a:blipFill>
                <a:blip r:embed="rId5"/>
                <a:stretch>
                  <a:fillRect/>
                </a:stretch>
              </a:blipFill>
            </p:spPr>
            <p:txBody>
              <a:bodyPr/>
              <a:lstStyle/>
              <a:p>
                <a:r>
                  <a:rPr lang="vi-VN">
                    <a:noFill/>
                  </a:rPr>
                  <a:t> </a:t>
                </a:r>
              </a:p>
            </p:txBody>
          </p:sp>
        </mc:Fallback>
      </mc:AlternateContent>
      <p:sp>
        <p:nvSpPr>
          <p:cNvPr id="17" name="Arrow: Right 14">
            <a:extLst>
              <a:ext uri="{FF2B5EF4-FFF2-40B4-BE49-F238E27FC236}">
                <a16:creationId xmlns:a16="http://schemas.microsoft.com/office/drawing/2014/main" id="{94075ABB-69EC-8C81-21AD-F39452615D3C}"/>
              </a:ext>
            </a:extLst>
          </p:cNvPr>
          <p:cNvSpPr/>
          <p:nvPr/>
        </p:nvSpPr>
        <p:spPr>
          <a:xfrm>
            <a:off x="4419006" y="5207820"/>
            <a:ext cx="1026754" cy="4001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TextBox 15">
            <a:extLst>
              <a:ext uri="{FF2B5EF4-FFF2-40B4-BE49-F238E27FC236}">
                <a16:creationId xmlns:a16="http://schemas.microsoft.com/office/drawing/2014/main" id="{3D06DC42-3235-CC19-6454-C47E6A7314A2}"/>
              </a:ext>
            </a:extLst>
          </p:cNvPr>
          <p:cNvSpPr txBox="1"/>
          <p:nvPr/>
        </p:nvSpPr>
        <p:spPr>
          <a:xfrm>
            <a:off x="5924145" y="5207820"/>
            <a:ext cx="5661497" cy="1015663"/>
          </a:xfrm>
          <a:prstGeom prst="rect">
            <a:avLst/>
          </a:prstGeom>
          <a:noFill/>
        </p:spPr>
        <p:txBody>
          <a:bodyPr wrap="square" rtlCol="0">
            <a:spAutoFit/>
          </a:bodyPr>
          <a:lstStyle/>
          <a:p>
            <a:r>
              <a:rPr lang="en-ID" sz="2000" err="1"/>
              <a:t>có</a:t>
            </a:r>
            <a:r>
              <a:rPr lang="en-ID" sz="2000"/>
              <a:t> </a:t>
            </a:r>
            <a:r>
              <a:rPr lang="en-ID" sz="2000" err="1"/>
              <a:t>thể</a:t>
            </a:r>
            <a:r>
              <a:rPr lang="en-ID" sz="2000"/>
              <a:t> </a:t>
            </a:r>
            <a:r>
              <a:rPr lang="en-ID" sz="2000" err="1"/>
              <a:t>suy</a:t>
            </a:r>
            <a:r>
              <a:rPr lang="en-ID" sz="2000"/>
              <a:t> </a:t>
            </a:r>
            <a:r>
              <a:rPr lang="en-ID" sz="2000" err="1"/>
              <a:t>ra</a:t>
            </a:r>
            <a:r>
              <a:rPr lang="en-ID" sz="2000"/>
              <a:t> </a:t>
            </a:r>
            <a:r>
              <a:rPr lang="en-ID" sz="2000" err="1"/>
              <a:t>rằng</a:t>
            </a:r>
            <a:r>
              <a:rPr lang="en-ID" sz="2000"/>
              <a:t> cos(</a:t>
            </a:r>
            <a:r>
              <a:rPr lang="en-ID" sz="2000" err="1"/>
              <a:t>3x</a:t>
            </a:r>
            <a:r>
              <a:rPr lang="en-ID" sz="2000"/>
              <a:t>) </a:t>
            </a:r>
            <a:r>
              <a:rPr lang="en-ID" sz="2000" err="1"/>
              <a:t>là</a:t>
            </a:r>
            <a:r>
              <a:rPr lang="en-ID" sz="2000"/>
              <a:t> </a:t>
            </a:r>
            <a:r>
              <a:rPr lang="en-ID" sz="2000" err="1"/>
              <a:t>nguyên</a:t>
            </a:r>
            <a:r>
              <a:rPr lang="en-ID" sz="2000"/>
              <a:t> </a:t>
            </a:r>
            <a:r>
              <a:rPr lang="en-ID" sz="2000" err="1"/>
              <a:t>nhân</a:t>
            </a:r>
            <a:r>
              <a:rPr lang="en-ID" sz="2000"/>
              <a:t> </a:t>
            </a:r>
            <a:r>
              <a:rPr lang="en-ID" sz="2000" err="1"/>
              <a:t>gây</a:t>
            </a:r>
            <a:r>
              <a:rPr lang="en-ID" sz="2000"/>
              <a:t> </a:t>
            </a:r>
            <a:r>
              <a:rPr lang="en-ID" sz="2000" err="1"/>
              <a:t>ra</a:t>
            </a:r>
            <a:r>
              <a:rPr lang="en-ID" sz="2000"/>
              <a:t> </a:t>
            </a:r>
            <a:r>
              <a:rPr lang="en-ID" sz="2000" err="1"/>
              <a:t>điện</a:t>
            </a:r>
            <a:r>
              <a:rPr lang="en-ID" sz="2000"/>
              <a:t> </a:t>
            </a:r>
            <a:r>
              <a:rPr lang="en-ID" sz="2000" err="1"/>
              <a:t>áp</a:t>
            </a:r>
            <a:r>
              <a:rPr lang="en-ID" sz="2000"/>
              <a:t> </a:t>
            </a:r>
            <a:r>
              <a:rPr lang="en-ID" sz="2000" err="1"/>
              <a:t>hài</a:t>
            </a:r>
            <a:r>
              <a:rPr lang="en-ID" sz="2000"/>
              <a:t> </a:t>
            </a:r>
            <a:r>
              <a:rPr lang="en-ID" sz="2000" err="1"/>
              <a:t>bậc</a:t>
            </a:r>
            <a:r>
              <a:rPr lang="en-ID" sz="2000"/>
              <a:t> </a:t>
            </a:r>
            <a:r>
              <a:rPr lang="en-ID" sz="2000" err="1"/>
              <a:t>ba</a:t>
            </a:r>
            <a:r>
              <a:rPr lang="en-ID" sz="2000"/>
              <a:t>, do </a:t>
            </a:r>
            <a:r>
              <a:rPr lang="en-ID" sz="2000" err="1"/>
              <a:t>đó</a:t>
            </a:r>
            <a:r>
              <a:rPr lang="en-ID" sz="2000"/>
              <a:t> </a:t>
            </a:r>
            <a:r>
              <a:rPr lang="en-ID" sz="2000" err="1"/>
              <a:t>nó</a:t>
            </a:r>
            <a:r>
              <a:rPr lang="en-ID" sz="2000"/>
              <a:t> </a:t>
            </a:r>
            <a:r>
              <a:rPr lang="en-ID" sz="2000" err="1"/>
              <a:t>bị</a:t>
            </a:r>
            <a:r>
              <a:rPr lang="en-ID" sz="2000"/>
              <a:t> </a:t>
            </a:r>
            <a:r>
              <a:rPr lang="en-ID" sz="2000" err="1"/>
              <a:t>bỏ</a:t>
            </a:r>
            <a:r>
              <a:rPr lang="en-ID" sz="2000"/>
              <a:t> qua </a:t>
            </a:r>
            <a:r>
              <a:rPr lang="en-ID" sz="2000" err="1"/>
              <a:t>khi</a:t>
            </a:r>
            <a:r>
              <a:rPr lang="en-ID" sz="2000"/>
              <a:t> </a:t>
            </a:r>
            <a:r>
              <a:rPr lang="en-ID" sz="2000" err="1"/>
              <a:t>xây</a:t>
            </a:r>
            <a:r>
              <a:rPr lang="en-ID" sz="2000"/>
              <a:t> </a:t>
            </a:r>
            <a:r>
              <a:rPr lang="en-ID" sz="2000" err="1"/>
              <a:t>dựng</a:t>
            </a:r>
            <a:r>
              <a:rPr lang="en-ID" sz="2000"/>
              <a:t> </a:t>
            </a:r>
            <a:r>
              <a:rPr lang="en-ID" sz="2000" err="1"/>
              <a:t>nguồn</a:t>
            </a:r>
            <a:r>
              <a:rPr lang="en-ID" sz="2000"/>
              <a:t> </a:t>
            </a:r>
            <a:r>
              <a:rPr lang="en-ID" sz="2000" err="1"/>
              <a:t>dòng</a:t>
            </a:r>
            <a:r>
              <a:rPr lang="en-ID" sz="2000"/>
              <a:t> </a:t>
            </a:r>
            <a:r>
              <a:rPr lang="en-ID" sz="2000" err="1"/>
              <a:t>điện</a:t>
            </a:r>
            <a:r>
              <a:rPr lang="en-ID" sz="2000"/>
              <a:t> phi </a:t>
            </a:r>
            <a:r>
              <a:rPr lang="en-ID" sz="2000" err="1"/>
              <a:t>tuyến</a:t>
            </a:r>
            <a:r>
              <a:rPr lang="en-ID" sz="2000"/>
              <a:t> </a:t>
            </a:r>
            <a:r>
              <a:rPr lang="en-ID" sz="2000" err="1"/>
              <a:t>tính</a:t>
            </a:r>
            <a:r>
              <a:rPr lang="en-ID" sz="2000"/>
              <a:t>.</a:t>
            </a:r>
          </a:p>
        </p:txBody>
      </p:sp>
    </p:spTree>
    <p:extLst>
      <p:ext uri="{BB962C8B-B14F-4D97-AF65-F5344CB8AC3E}">
        <p14:creationId xmlns:p14="http://schemas.microsoft.com/office/powerpoint/2010/main" val="66747890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C1CF6-E0E7-CFC3-CDAA-FFABAD54A46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C353A2D-4EB1-5E30-A836-79789DF240DB}"/>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EB2E3257-A00B-FD8E-CAD0-979AC1BB25B2}"/>
              </a:ext>
            </a:extLst>
          </p:cNvPr>
          <p:cNvSpPr>
            <a:spLocks noGrp="1"/>
          </p:cNvSpPr>
          <p:nvPr>
            <p:ph type="sldNum" sz="quarter" idx="12"/>
          </p:nvPr>
        </p:nvSpPr>
        <p:spPr/>
        <p:txBody>
          <a:bodyPr/>
          <a:lstStyle/>
          <a:p>
            <a:fld id="{931DD963-FD40-4A6D-88A9-402A489E81DE}" type="slidenum">
              <a:rPr lang="en-US" smtClean="0"/>
              <a:t>94</a:t>
            </a:fld>
            <a:endParaRPr lang="en-US"/>
          </a:p>
        </p:txBody>
      </p:sp>
      <p:grpSp>
        <p:nvGrpSpPr>
          <p:cNvPr id="10" name="Group 9">
            <a:extLst>
              <a:ext uri="{FF2B5EF4-FFF2-40B4-BE49-F238E27FC236}">
                <a16:creationId xmlns:a16="http://schemas.microsoft.com/office/drawing/2014/main" id="{0259AAD7-BB69-F2B6-1F56-8DE3ED3E4F36}"/>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EEF68072-ECF6-7B4E-4FCE-4BB650117CC6}"/>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5: </a:t>
              </a:r>
              <a:r>
                <a:rPr lang="vi-VN" sz="2133" b="1">
                  <a:latin typeface="Arial (Body)"/>
                </a:rPr>
                <a:t>GIẢI PHÁP CẢI TIẾN BỘ DAO ĐỘNG VANDERPOL</a:t>
              </a:r>
              <a:endParaRPr lang="en-US" sz="2133" b="1">
                <a:latin typeface="Arial (Body)"/>
              </a:endParaRPr>
            </a:p>
          </p:txBody>
        </p:sp>
        <p:sp>
          <p:nvSpPr>
            <p:cNvPr id="13" name="Rectangle 12">
              <a:extLst>
                <a:ext uri="{FF2B5EF4-FFF2-40B4-BE49-F238E27FC236}">
                  <a16:creationId xmlns:a16="http://schemas.microsoft.com/office/drawing/2014/main" id="{A8ECC8BA-5C43-ECC7-063D-303F58CBFA4C}"/>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a:t>
              </a:r>
            </a:p>
          </p:txBody>
        </p:sp>
      </p:grpSp>
      <p:sp>
        <p:nvSpPr>
          <p:cNvPr id="4" name="Hộp Văn bản 3">
            <a:extLst>
              <a:ext uri="{FF2B5EF4-FFF2-40B4-BE49-F238E27FC236}">
                <a16:creationId xmlns:a16="http://schemas.microsoft.com/office/drawing/2014/main" id="{2BA52654-55C1-8A6D-A32D-5FFCE66BB9DC}"/>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1">
                <a:solidFill>
                  <a:prstClr val="black"/>
                </a:solidFill>
                <a:latin typeface="Times New Roman" panose="02020603050405020304" pitchFamily="18" charset="0"/>
                <a:cs typeface="Times New Roman" panose="02020603050405020304" pitchFamily="18" charset="0"/>
              </a:rPr>
              <a:t>5.1</a:t>
            </a: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vi-VN"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Bộ dao động VOC kiểu mới</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 name="TextBox 3">
            <a:extLst>
              <a:ext uri="{FF2B5EF4-FFF2-40B4-BE49-F238E27FC236}">
                <a16:creationId xmlns:a16="http://schemas.microsoft.com/office/drawing/2014/main" id="{95C1363D-A3A8-EF9A-42F5-485B1FBE9FBD}"/>
              </a:ext>
            </a:extLst>
          </p:cNvPr>
          <p:cNvSpPr txBox="1"/>
          <p:nvPr/>
        </p:nvSpPr>
        <p:spPr>
          <a:xfrm>
            <a:off x="408328" y="1355294"/>
            <a:ext cx="4526280" cy="400110"/>
          </a:xfrm>
          <a:prstGeom prst="rect">
            <a:avLst/>
          </a:prstGeom>
          <a:noFill/>
        </p:spPr>
        <p:txBody>
          <a:bodyPr wrap="square" rtlCol="0">
            <a:spAutoFit/>
          </a:bodyPr>
          <a:lstStyle/>
          <a:p>
            <a:r>
              <a:rPr lang="vi-VN" sz="2000"/>
              <a:t>Đề xuất mô hình nguồn dòng mới </a:t>
            </a:r>
            <a:endParaRPr lang="en-ID" sz="2000"/>
          </a:p>
        </p:txBody>
      </p:sp>
      <p:sp>
        <p:nvSpPr>
          <p:cNvPr id="7" name="TextBox 12">
            <a:extLst>
              <a:ext uri="{FF2B5EF4-FFF2-40B4-BE49-F238E27FC236}">
                <a16:creationId xmlns:a16="http://schemas.microsoft.com/office/drawing/2014/main" id="{67A9241A-4E17-574C-0AD7-29AC0985845B}"/>
              </a:ext>
            </a:extLst>
          </p:cNvPr>
          <p:cNvSpPr txBox="1"/>
          <p:nvPr/>
        </p:nvSpPr>
        <p:spPr>
          <a:xfrm>
            <a:off x="408328" y="2814586"/>
            <a:ext cx="2141220" cy="400110"/>
          </a:xfrm>
          <a:prstGeom prst="rect">
            <a:avLst/>
          </a:prstGeom>
          <a:noFill/>
        </p:spPr>
        <p:txBody>
          <a:bodyPr wrap="square" rtlCol="0">
            <a:spAutoFit/>
          </a:bodyPr>
          <a:lstStyle/>
          <a:p>
            <a:r>
              <a:rPr lang="vi-VN" sz="2000"/>
              <a:t>Từ (7) ta có :</a:t>
            </a:r>
            <a:endParaRPr lang="en-ID" sz="2000"/>
          </a:p>
        </p:txBody>
      </p:sp>
      <mc:AlternateContent xmlns:mc="http://schemas.openxmlformats.org/markup-compatibility/2006" xmlns:a14="http://schemas.microsoft.com/office/drawing/2010/main">
        <mc:Choice Requires="a14">
          <p:sp>
            <p:nvSpPr>
              <p:cNvPr id="9" name="TextBox 13">
                <a:extLst>
                  <a:ext uri="{FF2B5EF4-FFF2-40B4-BE49-F238E27FC236}">
                    <a16:creationId xmlns:a16="http://schemas.microsoft.com/office/drawing/2014/main" id="{29D27652-509D-ACA6-9919-584135586F6F}"/>
                  </a:ext>
                </a:extLst>
              </p:cNvPr>
              <p:cNvSpPr txBox="1"/>
              <p:nvPr/>
            </p:nvSpPr>
            <p:spPr>
              <a:xfrm>
                <a:off x="1056464" y="3264543"/>
                <a:ext cx="2858582" cy="1394997"/>
              </a:xfrm>
              <a:prstGeom prst="rect">
                <a:avLst/>
              </a:prstGeom>
              <a:noFill/>
            </p:spPr>
            <p:txBody>
              <a:bodyPr wrap="square">
                <a:spAutoFit/>
              </a:bodyPr>
              <a:lstStyle/>
              <a:p>
                <a:pPr lvl="0">
                  <a:defRPr/>
                </a:pPr>
                <a14:m>
                  <m:oMathPara xmlns:m="http://schemas.openxmlformats.org/officeDocument/2006/math">
                    <m:oMath>
                      <m:d>
                        <m:dPr>
                          <m:begChr m:val="{"/>
                          <m:end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dPr>
                        <m:e>
                          <m:eqArr>
                            <m:eqArr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eqArrPr>
                            <m:e>
                              <m:r>
                                <a:rPr kumimoji="0" lang="en-US" b="0" i="0" u="none" strike="noStrike" kern="1200" cap="none" spc="0" normalizeH="0" baseline="0" noProof="0">
                                  <a:ln>
                                    <a:noFill/>
                                  </a:ln>
                                  <a:solidFill>
                                    <a:prstClr val="black"/>
                                  </a:solidFill>
                                  <a:effectLst/>
                                  <a:uLnTx/>
                                  <a:uFillTx/>
                                  <a:latin typeface="Cambria Math" panose="02040503050406030204" pitchFamily="18" charset="0"/>
                                </a:rPr>
                                <m:t>&amp;</m:t>
                              </m:r>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𝑥</m:t>
                                  </m:r>
                                </m:e>
                              </m:acc>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fPr>
                                <m:num>
                                  <m:r>
                                    <a:rPr kumimoji="0" lang="en-US" b="0" i="1" u="none" strike="noStrike" kern="1200" cap="none" spc="0" normalizeH="0" baseline="0" noProof="0">
                                      <a:ln>
                                        <a:noFill/>
                                      </a:ln>
                                      <a:solidFill>
                                        <a:prstClr val="black"/>
                                      </a:solidFill>
                                      <a:effectLst/>
                                      <a:uLnTx/>
                                      <a:uFillTx/>
                                      <a:latin typeface="Cambria Math" panose="02040503050406030204" pitchFamily="18" charset="0"/>
                                    </a:rPr>
                                    <m:t>𝑑𝑥</m:t>
                                  </m:r>
                                </m:num>
                                <m:den>
                                  <m:r>
                                    <a:rPr kumimoji="0" lang="en-US" b="0" i="1" u="none" strike="noStrike" kern="1200" cap="none" spc="0" normalizeH="0" baseline="0" noProof="0">
                                      <a:ln>
                                        <a:noFill/>
                                      </a:ln>
                                      <a:solidFill>
                                        <a:prstClr val="black"/>
                                      </a:solidFill>
                                      <a:effectLst/>
                                      <a:uLnTx/>
                                      <a:uFillTx/>
                                      <a:latin typeface="Cambria Math" panose="02040503050406030204" pitchFamily="18" charset="0"/>
                                    </a:rPr>
                                    <m:t>𝑑</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den>
                              </m:f>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𝑦</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e>
                            <m:e>
                              <m:r>
                                <a:rPr kumimoji="0" lang="en-US" b="0" i="0" u="none" strike="noStrike" kern="1200" cap="none" spc="0" normalizeH="0" baseline="0" noProof="0">
                                  <a:ln>
                                    <a:noFill/>
                                  </a:ln>
                                  <a:solidFill>
                                    <a:prstClr val="black"/>
                                  </a:solidFill>
                                  <a:effectLst/>
                                  <a:uLnTx/>
                                  <a:uFillTx/>
                                  <a:latin typeface="Cambria Math" panose="02040503050406030204" pitchFamily="18" charset="0"/>
                                </a:rPr>
                                <m:t>&amp;                                       </m:t>
                              </m:r>
                            </m:e>
                            <m:e>
                              <m:r>
                                <a:rPr kumimoji="0" lang="en-US" b="0" i="0" u="none" strike="noStrike" kern="1200" cap="none" spc="0" normalizeH="0" baseline="0" noProof="0">
                                  <a:ln>
                                    <a:noFill/>
                                  </a:ln>
                                  <a:solidFill>
                                    <a:prstClr val="black"/>
                                  </a:solidFill>
                                  <a:effectLst/>
                                  <a:uLnTx/>
                                  <a:uFillTx/>
                                  <a:latin typeface="Cambria Math" panose="02040503050406030204" pitchFamily="18" charset="0"/>
                                </a:rPr>
                                <m:t>&amp;</m:t>
                              </m:r>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𝑦</m:t>
                                  </m:r>
                                </m:e>
                              </m:acc>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fPr>
                                <m:num>
                                  <m:r>
                                    <a:rPr kumimoji="0" lang="en-US" b="0" i="1" u="none" strike="noStrike" kern="1200" cap="none" spc="0" normalizeH="0" baseline="0" noProof="0">
                                      <a:ln>
                                        <a:noFill/>
                                      </a:ln>
                                      <a:solidFill>
                                        <a:prstClr val="black"/>
                                      </a:solidFill>
                                      <a:effectLst/>
                                      <a:uLnTx/>
                                      <a:uFillTx/>
                                      <a:latin typeface="Cambria Math" panose="02040503050406030204" pitchFamily="18" charset="0"/>
                                    </a:rPr>
                                    <m:t>𝑑𝑦</m:t>
                                  </m:r>
                                </m:num>
                                <m:den>
                                  <m:r>
                                    <a:rPr kumimoji="0" lang="en-US" b="0" i="1" u="none" strike="noStrike" kern="1200" cap="none" spc="0" normalizeH="0" baseline="0" noProof="0">
                                      <a:ln>
                                        <a:noFill/>
                                      </a:ln>
                                      <a:solidFill>
                                        <a:prstClr val="black"/>
                                      </a:solidFill>
                                      <a:effectLst/>
                                      <a:uLnTx/>
                                      <a:uFillTx/>
                                      <a:latin typeface="Cambria Math" panose="02040503050406030204" pitchFamily="18" charset="0"/>
                                    </a:rPr>
                                    <m:t>𝑑</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den>
                              </m:f>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𝜀</m:t>
                              </m:r>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𝜎</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𝑦</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lang="vi-VN" i="1">
                                          <a:latin typeface="Cambria Math" panose="02040503050406030204" pitchFamily="18" charset="0"/>
                                        </a:rPr>
                                      </m:ctrlPr>
                                    </m:fPr>
                                    <m:num>
                                      <m:r>
                                        <a:rPr lang="vi-VN" i="1">
                                          <a:latin typeface="Cambria Math" panose="02040503050406030204" pitchFamily="18" charset="0"/>
                                        </a:rPr>
                                        <m:t>3</m:t>
                                      </m:r>
                                    </m:num>
                                    <m:den>
                                      <m:r>
                                        <a:rPr lang="vi-VN" i="1">
                                          <a:latin typeface="Cambria Math" panose="02040503050406030204" pitchFamily="18" charset="0"/>
                                        </a:rPr>
                                        <m:t>2</m:t>
                                      </m:r>
                                    </m:den>
                                  </m:f>
                                  <m:f>
                                    <m:f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fPr>
                                    <m:num>
                                      <m:r>
                                        <a:rPr kumimoji="0" lang="en-US" b="0" i="1" u="none" strike="noStrike" kern="1200" cap="none" spc="0" normalizeH="0" baseline="0" noProof="0">
                                          <a:ln>
                                            <a:noFill/>
                                          </a:ln>
                                          <a:solidFill>
                                            <a:prstClr val="black"/>
                                          </a:solidFill>
                                          <a:effectLst/>
                                          <a:uLnTx/>
                                          <a:uFillTx/>
                                          <a:latin typeface="Cambria Math" panose="02040503050406030204" pitchFamily="18" charset="0"/>
                                        </a:rPr>
                                        <m:t>𝛼</m:t>
                                      </m:r>
                                      <m:r>
                                        <m:rPr>
                                          <m:sty m:val="p"/>
                                        </m:rPr>
                                        <a:rPr lang="vi-VN" i="1">
                                          <a:solidFill>
                                            <a:prstClr val="black"/>
                                          </a:solidFill>
                                          <a:latin typeface="Cambria Math" panose="02040503050406030204" pitchFamily="18" charset="0"/>
                                        </a:rPr>
                                        <m:t>y</m:t>
                                      </m:r>
                                      <m:r>
                                        <a:rPr lang="vi-VN" b="0" i="1" smtClean="0">
                                          <a:solidFill>
                                            <a:prstClr val="black"/>
                                          </a:solidFill>
                                          <a:latin typeface="Cambria Math" panose="02040503050406030204" pitchFamily="18" charset="0"/>
                                        </a:rPr>
                                        <m:t>.</m:t>
                                      </m:r>
                                      <m:r>
                                        <m:rPr>
                                          <m:sty m:val="p"/>
                                        </m:rPr>
                                        <a:rPr lang="vi-VN" i="1">
                                          <a:solidFill>
                                            <a:prstClr val="black"/>
                                          </a:solidFill>
                                          <a:latin typeface="Cambria Math" panose="02040503050406030204" pitchFamily="18" charset="0"/>
                                        </a:rPr>
                                        <m:t>y</m:t>
                                      </m:r>
                                      <m:r>
                                        <m:rPr>
                                          <m:sty m:val="p"/>
                                        </m:rPr>
                                        <a:rPr lang="vi-VN" i="1" baseline="-25000">
                                          <a:solidFill>
                                            <a:prstClr val="black"/>
                                          </a:solidFill>
                                          <a:latin typeface="Cambria Math" panose="02040503050406030204" pitchFamily="18" charset="0"/>
                                        </a:rPr>
                                        <m:t>rms</m:t>
                                      </m:r>
                                    </m:num>
                                    <m:den>
                                      <m:sSubSup>
                                        <m:sSubSup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Sup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𝑣</m:t>
                                          </m:r>
                                        </m:sub>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2</m:t>
                                          </m:r>
                                        </m:sup>
                                      </m:sSubSup>
                                    </m:den>
                                  </m:f>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𝑣</m:t>
                                      </m:r>
                                    </m:sub>
                                  </m:sSub>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sub>
                                  </m:s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e>
                              </m:d>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𝑥</m:t>
                              </m:r>
                            </m:e>
                          </m:eqArr>
                          <m:r>
                            <a:rPr kumimoji="0" lang="en-US" b="0" i="1" u="none" strike="noStrike" kern="1200" cap="none" spc="0" normalizeH="0" baseline="0" noProof="0">
                              <a:ln>
                                <a:noFill/>
                              </a:ln>
                              <a:solidFill>
                                <a:prstClr val="black"/>
                              </a:solidFill>
                              <a:effectLst/>
                              <a:uLnTx/>
                              <a:uFillTx/>
                              <a:latin typeface="Cambria Math" panose="02040503050406030204" pitchFamily="18" charset="0"/>
                            </a:rPr>
                            <m:t> (</m:t>
                          </m:r>
                          <m:r>
                            <a:rPr lang="vi-VN" i="1">
                              <a:solidFill>
                                <a:prstClr val="black"/>
                              </a:solidFill>
                              <a:latin typeface="Cambria Math" panose="02040503050406030204" pitchFamily="18" charset="0"/>
                            </a:rPr>
                            <m:t>24</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m:t>
                          </m:r>
                        </m:e>
                      </m:d>
                    </m:oMath>
                  </m:oMathPara>
                </a14:m>
                <a:endParaRPr kumimoji="0" lang="en-US" b="0" i="0" u="none" strike="noStrike" kern="1200" cap="none" spc="0" normalizeH="0" baseline="0" noProof="0">
                  <a:ln>
                    <a:noFill/>
                  </a:ln>
                  <a:solidFill>
                    <a:prstClr val="black"/>
                  </a:solidFill>
                  <a:effectLst/>
                  <a:uLnTx/>
                  <a:uFillTx/>
                  <a:latin typeface="Arial" panose="020B0604020202020204"/>
                </a:endParaRPr>
              </a:p>
            </p:txBody>
          </p:sp>
        </mc:Choice>
        <mc:Fallback xmlns="">
          <p:sp>
            <p:nvSpPr>
              <p:cNvPr id="9" name="TextBox 13">
                <a:extLst>
                  <a:ext uri="{FF2B5EF4-FFF2-40B4-BE49-F238E27FC236}">
                    <a16:creationId xmlns:a16="http://schemas.microsoft.com/office/drawing/2014/main" id="{29D27652-509D-ACA6-9919-584135586F6F}"/>
                  </a:ext>
                </a:extLst>
              </p:cNvPr>
              <p:cNvSpPr txBox="1">
                <a:spLocks noRot="1" noChangeAspect="1" noMove="1" noResize="1" noEditPoints="1" noAdjustHandles="1" noChangeArrowheads="1" noChangeShapeType="1" noTextEdit="1"/>
              </p:cNvSpPr>
              <p:nvPr/>
            </p:nvSpPr>
            <p:spPr>
              <a:xfrm>
                <a:off x="1056464" y="3264543"/>
                <a:ext cx="2858582" cy="1394997"/>
              </a:xfrm>
              <a:prstGeom prst="rect">
                <a:avLst/>
              </a:prstGeom>
              <a:blipFill>
                <a:blip r:embed="rId2"/>
                <a:stretch>
                  <a:fillRect r="-65672"/>
                </a:stretch>
              </a:blipFill>
            </p:spPr>
            <p:txBody>
              <a:bodyPr/>
              <a:lstStyle/>
              <a:p>
                <a:r>
                  <a:rPr lang="vi-VN">
                    <a:noFill/>
                  </a:rPr>
                  <a:t> </a:t>
                </a:r>
              </a:p>
            </p:txBody>
          </p:sp>
        </mc:Fallback>
      </mc:AlternateContent>
      <p:sp>
        <p:nvSpPr>
          <p:cNvPr id="11" name="TextBox 14">
            <a:extLst>
              <a:ext uri="{FF2B5EF4-FFF2-40B4-BE49-F238E27FC236}">
                <a16:creationId xmlns:a16="http://schemas.microsoft.com/office/drawing/2014/main" id="{2CAD5F3F-DA67-F11C-4DFF-64D9D06341F7}"/>
              </a:ext>
            </a:extLst>
          </p:cNvPr>
          <p:cNvSpPr txBox="1"/>
          <p:nvPr/>
        </p:nvSpPr>
        <p:spPr>
          <a:xfrm>
            <a:off x="408328" y="4673461"/>
            <a:ext cx="5139101" cy="369332"/>
          </a:xfrm>
          <a:prstGeom prst="rect">
            <a:avLst/>
          </a:prstGeom>
          <a:noFill/>
        </p:spPr>
        <p:txBody>
          <a:bodyPr wrap="square" rtlCol="0">
            <a:spAutoFit/>
          </a:bodyPr>
          <a:lstStyle/>
          <a:p>
            <a:r>
              <a:rPr lang="vi-VN"/>
              <a:t>Biến đổi tương tự như trên ta có:</a:t>
            </a:r>
            <a:endParaRPr lang="en-ID"/>
          </a:p>
        </p:txBody>
      </p:sp>
      <mc:AlternateContent xmlns:mc="http://schemas.openxmlformats.org/markup-compatibility/2006" xmlns:a14="http://schemas.microsoft.com/office/drawing/2010/main">
        <mc:Choice Requires="a14">
          <p:sp>
            <p:nvSpPr>
              <p:cNvPr id="14" name="TextBox 17">
                <a:extLst>
                  <a:ext uri="{FF2B5EF4-FFF2-40B4-BE49-F238E27FC236}">
                    <a16:creationId xmlns:a16="http://schemas.microsoft.com/office/drawing/2014/main" id="{D06C5426-5982-CC14-5FCF-5EFA4968AAB1}"/>
                  </a:ext>
                </a:extLst>
              </p:cNvPr>
              <p:cNvSpPr txBox="1"/>
              <p:nvPr/>
            </p:nvSpPr>
            <p:spPr>
              <a:xfrm>
                <a:off x="682907" y="5067039"/>
                <a:ext cx="8811289" cy="1481752"/>
              </a:xfrm>
              <a:prstGeom prst="rect">
                <a:avLst/>
              </a:prstGeom>
              <a:noFill/>
            </p:spPr>
            <p:txBody>
              <a:bodyPr wrap="square">
                <a:spAutoFit/>
              </a:bodyPr>
              <a:lstStyle/>
              <a:p>
                <a:pPr lvl="0">
                  <a:defRPr/>
                </a:pPr>
                <a14:m>
                  <m:oMathPara xmlns:m="http://schemas.openxmlformats.org/officeDocument/2006/math">
                    <m:oMath>
                      <m:d>
                        <m:dPr>
                          <m:begChr m:val="{"/>
                          <m:end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dPr>
                        <m:e>
                          <m:eqArr>
                            <m:eqArr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eqArrPr>
                            <m:e>
                              <m:r>
                                <a:rPr kumimoji="0" lang="en-US" b="0" i="0" u="none" strike="noStrike" kern="1200" cap="none" spc="0" normalizeH="0" baseline="0" noProof="0">
                                  <a:ln>
                                    <a:noFill/>
                                  </a:ln>
                                  <a:solidFill>
                                    <a:prstClr val="black"/>
                                  </a:solidFill>
                                  <a:effectLst/>
                                  <a:uLnTx/>
                                  <a:uFillTx/>
                                  <a:latin typeface="Cambria Math" panose="02040503050406030204" pitchFamily="18" charset="0"/>
                                </a:rPr>
                                <m:t>&amp;</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e>
                              </m:acc>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f>
                                <m:f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Pr>
                                <m:num>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𝜀</m:t>
                                  </m:r>
                                </m:num>
                                <m:den>
                                  <m:r>
                                    <a:rPr kumimoji="0" lang="en-US" b="0" i="0" u="none" strike="noStrike" kern="1200" cap="none" spc="0" normalizeH="0" baseline="0" noProof="0">
                                      <a:ln>
                                        <a:noFill/>
                                      </a:ln>
                                      <a:solidFill>
                                        <a:prstClr val="black"/>
                                      </a:solidFill>
                                      <a:effectLst/>
                                      <a:uLnTx/>
                                      <a:uFillTx/>
                                      <a:latin typeface="Cambria Math" panose="02040503050406030204" pitchFamily="18" charset="0"/>
                                    </a:rPr>
                                    <m:t>2ᴨ</m:t>
                                  </m:r>
                                </m:den>
                              </m:f>
                              <m:nary>
                                <m:naryPr>
                                  <m:limLoc m:val="subSup"/>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naryPr>
                                <m:sub>
                                  <m:r>
                                    <a:rPr kumimoji="0" lang="en-US" b="0" i="0" u="none" strike="noStrike" kern="1200" cap="none" spc="0" normalizeH="0" baseline="0" noProof="0">
                                      <a:ln>
                                        <a:noFill/>
                                      </a:ln>
                                      <a:solidFill>
                                        <a:prstClr val="black"/>
                                      </a:solidFill>
                                      <a:effectLst/>
                                      <a:uLnTx/>
                                      <a:uFillTx/>
                                      <a:latin typeface="Cambria Math" panose="02040503050406030204" pitchFamily="18" charset="0"/>
                                    </a:rPr>
                                    <m:t>0</m:t>
                                  </m:r>
                                </m:sub>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2ᴨ</m:t>
                                  </m:r>
                                </m:sup>
                                <m:e>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𝜎</m:t>
                                      </m:r>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func>
                                        <m:func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uncPr>
                                        <m:fName>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rPr>
                                            <m:t>cos</m:t>
                                          </m:r>
                                        </m:fName>
                                        <m:e>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sSup>
                                                    <m:sSup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𝜃</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acc>
                                            </m:e>
                                          </m:d>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lang="vi-VN" i="1">
                                                  <a:solidFill>
                                                    <a:srgbClr val="836967"/>
                                                  </a:solidFill>
                                                  <a:latin typeface="Cambria Math" panose="02040503050406030204" pitchFamily="18" charset="0"/>
                                                </a:rPr>
                                              </m:ctrlPr>
                                            </m:fPr>
                                            <m:num>
                                              <m:r>
                                                <a:rPr lang="vi-VN" i="1">
                                                  <a:solidFill>
                                                    <a:srgbClr val="836967"/>
                                                  </a:solidFill>
                                                  <a:latin typeface="Cambria Math" panose="02040503050406030204" pitchFamily="18" charset="0"/>
                                                </a:rPr>
                                                <m:t>3</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𝛼</m:t>
                                              </m:r>
                                            </m:num>
                                            <m:den>
                                              <m:sSup>
                                                <m:sSup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sSupPr>
                                                <m:e>
                                                  <m:sSub>
                                                    <m:sSubPr>
                                                      <m:ctrlPr>
                                                        <a:rPr lang="vi-VN" i="1">
                                                          <a:solidFill>
                                                            <a:srgbClr val="836967"/>
                                                          </a:solidFill>
                                                          <a:latin typeface="Cambria Math" panose="02040503050406030204" pitchFamily="18" charset="0"/>
                                                        </a:rPr>
                                                      </m:ctrlPr>
                                                    </m:sSubPr>
                                                    <m:e>
                                                      <m:r>
                                                        <a:rPr lang="vi-VN" i="1">
                                                          <a:solidFill>
                                                            <a:srgbClr val="836967"/>
                                                          </a:solidFill>
                                                          <a:latin typeface="Cambria Math" panose="02040503050406030204" pitchFamily="18" charset="0"/>
                                                        </a:rPr>
                                                        <m:t>2</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𝑣</m:t>
                                                      </m:r>
                                                    </m:sub>
                                                  </m:sSub>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2</m:t>
                                                  </m:r>
                                                </m:sup>
                                              </m:sSup>
                                            </m:den>
                                          </m:f>
                                          <m:sSup>
                                            <m:sSup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sSupPr>
                                            <m:e>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3</m:t>
                                              </m:r>
                                            </m:sup>
                                          </m:sSup>
                                        </m:e>
                                      </m:func>
                                      <m:r>
                                        <m:rPr>
                                          <m:sty m:val="p"/>
                                        </m:rPr>
                                        <a:rPr lang="vi-VN" i="1">
                                          <a:solidFill>
                                            <a:prstClr val="black"/>
                                          </a:solidFill>
                                          <a:latin typeface="Cambria Math" panose="02040503050406030204" pitchFamily="18" charset="0"/>
                                        </a:rPr>
                                        <m:t>cos</m:t>
                                      </m:r>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Sup>
                                            <m:sSup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𝜃</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d>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fPr>
                                        <m:num>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𝑣</m:t>
                                              </m:r>
                                            </m:sub>
                                          </m:sSub>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sub>
                                          </m:s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num>
                                        <m:den>
                                          <m:rad>
                                            <m:radPr>
                                              <m:degHide m:val="on"/>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radPr>
                                            <m:deg/>
                                            <m:e>
                                              <m:r>
                                                <a:rPr kumimoji="0" lang="en-US" b="0" i="0" u="none" strike="noStrike" kern="1200" cap="none" spc="0" normalizeH="0" baseline="0" noProof="0">
                                                  <a:ln>
                                                    <a:noFill/>
                                                  </a:ln>
                                                  <a:solidFill>
                                                    <a:prstClr val="black"/>
                                                  </a:solidFill>
                                                  <a:effectLst/>
                                                  <a:uLnTx/>
                                                  <a:uFillTx/>
                                                  <a:latin typeface="Cambria Math" panose="02040503050406030204" pitchFamily="18" charset="0"/>
                                                </a:rPr>
                                                <m:t>2</m:t>
                                              </m:r>
                                            </m:e>
                                          </m:rad>
                                        </m:den>
                                      </m:f>
                                    </m:e>
                                  </m:d>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unc>
                                    <m:func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uncPr>
                                    <m:fName>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rPr>
                                        <m:t>cos</m:t>
                                      </m:r>
                                    </m:fName>
                                    <m:e>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sSup>
                                                <m:sSup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𝜃</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acc>
                                        </m:e>
                                      </m:d>
                                    </m:e>
                                  </m:func>
                                </m:e>
                              </m:nary>
                              <m:r>
                                <a:rPr kumimoji="0" lang="en-US" b="0" i="1" u="none" strike="noStrike" kern="1200" cap="none" spc="0" normalizeH="0" baseline="0" noProof="0">
                                  <a:ln>
                                    <a:noFill/>
                                  </a:ln>
                                  <a:solidFill>
                                    <a:prstClr val="black"/>
                                  </a:solidFill>
                                  <a:effectLst/>
                                  <a:uLnTx/>
                                  <a:uFillTx/>
                                  <a:latin typeface="Cambria Math" panose="02040503050406030204" pitchFamily="18" charset="0"/>
                                </a:rPr>
                                <m:t>𝑑</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e>
                            <m:e>
                              <m:r>
                                <a:rPr kumimoji="0" lang="en-US" b="0" i="0" u="none" strike="noStrike" kern="1200" cap="none" spc="0" normalizeH="0" baseline="0" noProof="0">
                                  <a:ln>
                                    <a:noFill/>
                                  </a:ln>
                                  <a:solidFill>
                                    <a:prstClr val="black"/>
                                  </a:solidFill>
                                  <a:effectLst/>
                                  <a:uLnTx/>
                                  <a:uFillTx/>
                                  <a:latin typeface="Cambria Math" panose="02040503050406030204" pitchFamily="18" charset="0"/>
                                </a:rPr>
                                <m:t>&amp;                                       </m:t>
                              </m:r>
                            </m:e>
                            <m:e>
                              <m:r>
                                <a:rPr kumimoji="0" lang="en-US" b="0" i="0" u="none" strike="noStrike" kern="1200" cap="none" spc="0" normalizeH="0" baseline="0" noProof="0">
                                  <a:ln>
                                    <a:noFill/>
                                  </a:ln>
                                  <a:solidFill>
                                    <a:prstClr val="black"/>
                                  </a:solidFill>
                                  <a:effectLst/>
                                  <a:uLnTx/>
                                  <a:uFillTx/>
                                  <a:latin typeface="Cambria Math" panose="02040503050406030204" pitchFamily="18" charset="0"/>
                                </a:rPr>
                                <m:t>&amp;</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sSup>
                                        <m:sSupPr>
                                          <m:ctrlPr>
                                            <a:rPr lang="en-US">
                                              <a:solidFill>
                                                <a:prstClr val="black"/>
                                              </a:solidFill>
                                              <a:latin typeface="Cambria Math" panose="02040503050406030204" pitchFamily="18" charset="0"/>
                                            </a:rPr>
                                          </m:ctrlPr>
                                        </m:sSupPr>
                                        <m:e>
                                          <m:r>
                                            <a:rPr lang="en-US">
                                              <a:solidFill>
                                                <a:prstClr val="black"/>
                                              </a:solidFill>
                                              <a:latin typeface="Cambria Math" panose="02040503050406030204" pitchFamily="18" charset="0"/>
                                            </a:rPr>
                                            <m:t>ɸ</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acc>
                                </m:e>
                              </m:acc>
                              <m:r>
                                <a:rPr kumimoji="0" lang="en-US" b="0" i="0" u="none" strike="noStrike" kern="1200" cap="none" spc="0" normalizeH="0" baseline="0" noProof="0" smtClean="0">
                                  <a:ln>
                                    <a:noFill/>
                                  </a:ln>
                                  <a:solidFill>
                                    <a:prstClr val="black"/>
                                  </a:solidFill>
                                  <a:effectLst/>
                                  <a:uLnTx/>
                                  <a:uFillTx/>
                                  <a:latin typeface="Cambria Math" panose="02040503050406030204" pitchFamily="18" charset="0"/>
                                </a:rPr>
                                <m:t>=</m:t>
                              </m:r>
                              <m:r>
                                <a:rPr lang="vi-VN" i="1">
                                  <a:solidFill>
                                    <a:prstClr val="black"/>
                                  </a:solidFill>
                                  <a:latin typeface="Cambria Math" panose="02040503050406030204" pitchFamily="18" charset="0"/>
                                </a:rPr>
                                <m:t>1</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Pr>
                                <m:num>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𝜀</m:t>
                                  </m:r>
                                </m:num>
                                <m:den>
                                  <m:r>
                                    <a:rPr kumimoji="0" lang="en-US" b="0" i="0" u="none" strike="noStrike" kern="1200" cap="none" spc="0" normalizeH="0" baseline="0" noProof="0">
                                      <a:ln>
                                        <a:noFill/>
                                      </a:ln>
                                      <a:solidFill>
                                        <a:prstClr val="black"/>
                                      </a:solidFill>
                                      <a:effectLst/>
                                      <a:uLnTx/>
                                      <a:uFillTx/>
                                      <a:latin typeface="Cambria Math" panose="02040503050406030204" pitchFamily="18" charset="0"/>
                                    </a:rPr>
                                    <m:t>2ᴨ</m:t>
                                  </m:r>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den>
                              </m:f>
                              <m:nary>
                                <m:naryPr>
                                  <m:limLoc m:val="subSup"/>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naryPr>
                                <m:sub>
                                  <m:r>
                                    <a:rPr kumimoji="0" lang="en-US" b="0" i="0" u="none" strike="noStrike" kern="1200" cap="none" spc="0" normalizeH="0" baseline="0" noProof="0">
                                      <a:ln>
                                        <a:noFill/>
                                      </a:ln>
                                      <a:solidFill>
                                        <a:prstClr val="black"/>
                                      </a:solidFill>
                                      <a:effectLst/>
                                      <a:uLnTx/>
                                      <a:uFillTx/>
                                      <a:latin typeface="Cambria Math" panose="02040503050406030204" pitchFamily="18" charset="0"/>
                                    </a:rPr>
                                    <m:t>0</m:t>
                                  </m:r>
                                </m:sub>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2ᴨ</m:t>
                                  </m:r>
                                </m:sup>
                                <m:e>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𝜎</m:t>
                                      </m:r>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func>
                                        <m:func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uncPr>
                                        <m:fName>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rPr>
                                            <m:t>cos</m:t>
                                          </m:r>
                                        </m:fName>
                                        <m:e>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sSup>
                                                    <m:sSup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𝜃</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acc>
                                            </m:e>
                                          </m:d>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lang="vi-VN" i="1">
                                                  <a:solidFill>
                                                    <a:srgbClr val="836967"/>
                                                  </a:solidFill>
                                                  <a:latin typeface="Cambria Math" panose="02040503050406030204" pitchFamily="18" charset="0"/>
                                                </a:rPr>
                                              </m:ctrlPr>
                                            </m:fPr>
                                            <m:num>
                                              <m:r>
                                                <a:rPr lang="vi-VN" i="1">
                                                  <a:solidFill>
                                                    <a:srgbClr val="836967"/>
                                                  </a:solidFill>
                                                  <a:latin typeface="Cambria Math" panose="02040503050406030204" pitchFamily="18" charset="0"/>
                                                </a:rPr>
                                                <m:t>3</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𝛼</m:t>
                                              </m:r>
                                            </m:num>
                                            <m:den>
                                              <m:sSup>
                                                <m:sSup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sSupPr>
                                                <m:e>
                                                  <m:sSub>
                                                    <m:sSubPr>
                                                      <m:ctrlPr>
                                                        <a:rPr lang="vi-VN" i="1">
                                                          <a:solidFill>
                                                            <a:srgbClr val="836967"/>
                                                          </a:solidFill>
                                                          <a:latin typeface="Cambria Math" panose="02040503050406030204" pitchFamily="18" charset="0"/>
                                                        </a:rPr>
                                                      </m:ctrlPr>
                                                    </m:sSubPr>
                                                    <m:e>
                                                      <m:r>
                                                        <a:rPr lang="vi-VN" i="1">
                                                          <a:solidFill>
                                                            <a:srgbClr val="836967"/>
                                                          </a:solidFill>
                                                          <a:latin typeface="Cambria Math" panose="02040503050406030204" pitchFamily="18" charset="0"/>
                                                        </a:rPr>
                                                        <m:t>2</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𝑣</m:t>
                                                      </m:r>
                                                    </m:sub>
                                                  </m:sSub>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2</m:t>
                                                  </m:r>
                                                </m:sup>
                                              </m:sSup>
                                            </m:den>
                                          </m:f>
                                          <m:sSup>
                                            <m:sSup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sSupPr>
                                            <m:e>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3</m:t>
                                              </m:r>
                                            </m:sup>
                                          </m:sSup>
                                        </m:e>
                                      </m:func>
                                      <m:r>
                                        <m:rPr>
                                          <m:sty m:val="p"/>
                                        </m:rPr>
                                        <a:rPr lang="vi-VN" i="1">
                                          <a:solidFill>
                                            <a:prstClr val="black"/>
                                          </a:solidFill>
                                          <a:latin typeface="Cambria Math" panose="02040503050406030204" pitchFamily="18" charset="0"/>
                                        </a:rPr>
                                        <m:t>cos</m:t>
                                      </m:r>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Sup>
                                            <m:sSup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𝜃</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d>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fPr>
                                        <m:num>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𝑣</m:t>
                                              </m:r>
                                            </m:sub>
                                          </m:sSub>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sub>
                                          </m:s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num>
                                        <m:den>
                                          <m:rad>
                                            <m:radPr>
                                              <m:degHide m:val="on"/>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radPr>
                                            <m:deg/>
                                            <m:e>
                                              <m:r>
                                                <a:rPr kumimoji="0" lang="en-US" b="0" i="0" u="none" strike="noStrike" kern="1200" cap="none" spc="0" normalizeH="0" baseline="0" noProof="0">
                                                  <a:ln>
                                                    <a:noFill/>
                                                  </a:ln>
                                                  <a:solidFill>
                                                    <a:prstClr val="black"/>
                                                  </a:solidFill>
                                                  <a:effectLst/>
                                                  <a:uLnTx/>
                                                  <a:uFillTx/>
                                                  <a:latin typeface="Cambria Math" panose="02040503050406030204" pitchFamily="18" charset="0"/>
                                                </a:rPr>
                                                <m:t>2</m:t>
                                              </m:r>
                                            </m:e>
                                          </m:rad>
                                        </m:den>
                                      </m:f>
                                    </m:e>
                                  </m:d>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unc>
                                    <m:func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uncPr>
                                    <m:fName>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rPr>
                                        <m:t>sin</m:t>
                                      </m:r>
                                    </m:fName>
                                    <m:e>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sSup>
                                                <m:sSup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𝜃</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acc>
                                        </m:e>
                                      </m:d>
                                    </m:e>
                                  </m:func>
                                </m:e>
                              </m:nary>
                              <m:r>
                                <a:rPr kumimoji="0" lang="en-US" b="0" i="1" u="none" strike="noStrike" kern="1200" cap="none" spc="0" normalizeH="0" baseline="0" noProof="0">
                                  <a:ln>
                                    <a:noFill/>
                                  </a:ln>
                                  <a:solidFill>
                                    <a:prstClr val="black"/>
                                  </a:solidFill>
                                  <a:effectLst/>
                                  <a:uLnTx/>
                                  <a:uFillTx/>
                                  <a:latin typeface="Cambria Math" panose="02040503050406030204" pitchFamily="18" charset="0"/>
                                </a:rPr>
                                <m:t>𝑑</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e>
                          </m:eqArr>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e>
                      </m:d>
                    </m:oMath>
                  </m:oMathPara>
                </a14:m>
                <a:endParaRPr kumimoji="0" lang="en-US" b="0" i="0" u="none" strike="noStrike" kern="1200" cap="none" spc="0" normalizeH="0" baseline="0" noProof="0">
                  <a:ln>
                    <a:noFill/>
                  </a:ln>
                  <a:solidFill>
                    <a:prstClr val="black"/>
                  </a:solidFill>
                  <a:effectLst/>
                  <a:uLnTx/>
                  <a:uFillTx/>
                  <a:latin typeface="Arial" panose="020B0604020202020204"/>
                </a:endParaRPr>
              </a:p>
            </p:txBody>
          </p:sp>
        </mc:Choice>
        <mc:Fallback xmlns="">
          <p:sp>
            <p:nvSpPr>
              <p:cNvPr id="14" name="TextBox 17">
                <a:extLst>
                  <a:ext uri="{FF2B5EF4-FFF2-40B4-BE49-F238E27FC236}">
                    <a16:creationId xmlns:a16="http://schemas.microsoft.com/office/drawing/2014/main" id="{D06C5426-5982-CC14-5FCF-5EFA4968AAB1}"/>
                  </a:ext>
                </a:extLst>
              </p:cNvPr>
              <p:cNvSpPr txBox="1">
                <a:spLocks noRot="1" noChangeAspect="1" noMove="1" noResize="1" noEditPoints="1" noAdjustHandles="1" noChangeArrowheads="1" noChangeShapeType="1" noTextEdit="1"/>
              </p:cNvSpPr>
              <p:nvPr/>
            </p:nvSpPr>
            <p:spPr>
              <a:xfrm>
                <a:off x="682907" y="5067039"/>
                <a:ext cx="8811289" cy="1481752"/>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9" name="Hộp Văn bản 18">
                <a:extLst>
                  <a:ext uri="{FF2B5EF4-FFF2-40B4-BE49-F238E27FC236}">
                    <a16:creationId xmlns:a16="http://schemas.microsoft.com/office/drawing/2014/main" id="{CCA9837F-B0DA-A996-8F4D-A604A21ADB71}"/>
                  </a:ext>
                </a:extLst>
              </p:cNvPr>
              <p:cNvSpPr txBox="1"/>
              <p:nvPr/>
            </p:nvSpPr>
            <p:spPr>
              <a:xfrm>
                <a:off x="88900" y="1591704"/>
                <a:ext cx="8033696" cy="610936"/>
              </a:xfrm>
              <a:prstGeom prst="rect">
                <a:avLst/>
              </a:prstGeom>
              <a:noFill/>
            </p:spPr>
            <p:txBody>
              <a:bodyPr wrap="square">
                <a:spAutoFit/>
              </a:bodyPr>
              <a:lstStyle/>
              <a:p>
                <a:pPr/>
                <a14:m>
                  <m:oMathPara xmlns:m="http://schemas.openxmlformats.org/officeDocument/2006/math">
                    <m:oMath>
                      <m:r>
                        <a:rPr lang="vi-VN" i="1" smtClean="0">
                          <a:latin typeface="Cambria Math" panose="02040503050406030204" pitchFamily="18" charset="0"/>
                        </a:rPr>
                        <m:t>ℎ</m:t>
                      </m:r>
                      <m:d>
                        <m:dPr>
                          <m:ctrlPr>
                            <a:rPr lang="vi-VN" i="1">
                              <a:latin typeface="Cambria Math" panose="02040503050406030204" pitchFamily="18" charset="0"/>
                            </a:rPr>
                          </m:ctrlPr>
                        </m:dPr>
                        <m:e>
                          <m:r>
                            <a:rPr lang="vi-VN" i="1">
                              <a:latin typeface="Cambria Math" panose="02040503050406030204" pitchFamily="18" charset="0"/>
                            </a:rPr>
                            <m:t>𝑣</m:t>
                          </m:r>
                        </m:e>
                      </m:d>
                      <m:r>
                        <a:rPr lang="vi-VN" i="0">
                          <a:latin typeface="Cambria Math" panose="02040503050406030204" pitchFamily="18" charset="0"/>
                        </a:rPr>
                        <m:t>=2</m:t>
                      </m:r>
                      <m:rad>
                        <m:radPr>
                          <m:degHide m:val="on"/>
                          <m:ctrlPr>
                            <a:rPr lang="vi-VN" i="1">
                              <a:solidFill>
                                <a:srgbClr val="836967"/>
                              </a:solidFill>
                              <a:latin typeface="Cambria Math" panose="02040503050406030204" pitchFamily="18" charset="0"/>
                            </a:rPr>
                          </m:ctrlPr>
                        </m:radPr>
                        <m:deg/>
                        <m:e>
                          <m:r>
                            <a:rPr lang="vi-VN" i="0">
                              <a:latin typeface="Cambria Math" panose="02040503050406030204" pitchFamily="18" charset="0"/>
                            </a:rPr>
                            <m:t>2</m:t>
                          </m:r>
                        </m:e>
                      </m:rad>
                      <m:r>
                        <a:rPr lang="vi-VN" i="1">
                          <a:latin typeface="Cambria Math" panose="02040503050406030204" pitchFamily="18" charset="0"/>
                        </a:rPr>
                        <m:t>𝛼</m:t>
                      </m:r>
                      <m:r>
                        <a:rPr lang="vi-VN" i="0">
                          <a:latin typeface="Cambria Math" panose="02040503050406030204" pitchFamily="18" charset="0"/>
                        </a:rPr>
                        <m:t> .</m:t>
                      </m:r>
                      <m:sSubSup>
                        <m:sSubSupPr>
                          <m:ctrlPr>
                            <a:rPr lang="vi-VN" i="1">
                              <a:latin typeface="Cambria Math" panose="02040503050406030204" pitchFamily="18" charset="0"/>
                            </a:rPr>
                          </m:ctrlPr>
                        </m:sSubSupPr>
                        <m:e>
                          <m:r>
                            <a:rPr lang="vi-VN" i="1">
                              <a:latin typeface="Cambria Math" panose="02040503050406030204" pitchFamily="18" charset="0"/>
                            </a:rPr>
                            <m:t>𝑉</m:t>
                          </m:r>
                        </m:e>
                        <m:sub>
                          <m:r>
                            <a:rPr lang="vi-VN" i="1">
                              <a:latin typeface="Cambria Math" panose="02040503050406030204" pitchFamily="18" charset="0"/>
                            </a:rPr>
                            <m:t>𝑐𝑟𝑚𝑠</m:t>
                          </m:r>
                        </m:sub>
                        <m:sup>
                          <m:r>
                            <a:rPr lang="vi-VN" i="0">
                              <a:latin typeface="Cambria Math" panose="02040503050406030204" pitchFamily="18" charset="0"/>
                            </a:rPr>
                            <m:t>3</m:t>
                          </m:r>
                        </m:sup>
                      </m:sSubSup>
                      <m:d>
                        <m:dPr>
                          <m:ctrlPr>
                            <a:rPr lang="vi-VN" i="1">
                              <a:latin typeface="Cambria Math" panose="02040503050406030204" pitchFamily="18" charset="0"/>
                            </a:rPr>
                          </m:ctrlPr>
                        </m:dPr>
                        <m:e>
                          <m:r>
                            <a:rPr lang="vi-VN" i="1">
                              <a:latin typeface="Cambria Math" panose="02040503050406030204" pitchFamily="18" charset="0"/>
                            </a:rPr>
                            <m:t>𝑡</m:t>
                          </m:r>
                        </m:e>
                      </m:d>
                      <m:r>
                        <a:rPr lang="vi-VN" i="0">
                          <a:latin typeface="Cambria Math" panose="02040503050406030204" pitchFamily="18" charset="0"/>
                        </a:rPr>
                        <m:t>.</m:t>
                      </m:r>
                      <m:f>
                        <m:fPr>
                          <m:ctrlPr>
                            <a:rPr lang="vi-VN" i="0">
                              <a:latin typeface="Cambria Math" panose="02040503050406030204" pitchFamily="18" charset="0"/>
                            </a:rPr>
                          </m:ctrlPr>
                        </m:fPr>
                        <m:num>
                          <m:r>
                            <a:rPr lang="vi-VN" i="0">
                              <a:latin typeface="Cambria Math" panose="02040503050406030204" pitchFamily="18" charset="0"/>
                            </a:rPr>
                            <m:t>3</m:t>
                          </m:r>
                        </m:num>
                        <m:den>
                          <m:r>
                            <a:rPr lang="vi-VN" i="0">
                              <a:latin typeface="Cambria Math" panose="02040503050406030204" pitchFamily="18" charset="0"/>
                            </a:rPr>
                            <m:t>4</m:t>
                          </m:r>
                        </m:den>
                      </m:f>
                      <m:func>
                        <m:funcPr>
                          <m:ctrlPr>
                            <a:rPr lang="vi-VN" i="0">
                              <a:latin typeface="Cambria Math" panose="02040503050406030204" pitchFamily="18" charset="0"/>
                            </a:rPr>
                          </m:ctrlPr>
                        </m:funcPr>
                        <m:fName>
                          <m:r>
                            <m:rPr>
                              <m:sty m:val="p"/>
                            </m:rPr>
                            <a:rPr lang="vi-VN" i="0">
                              <a:latin typeface="Cambria Math" panose="02040503050406030204" pitchFamily="18" charset="0"/>
                            </a:rPr>
                            <m:t>cos</m:t>
                          </m:r>
                        </m:fName>
                        <m:e>
                          <m:d>
                            <m:dPr>
                              <m:ctrlPr>
                                <a:rPr lang="vi-VN" i="1">
                                  <a:latin typeface="Cambria Math" panose="02040503050406030204" pitchFamily="18" charset="0"/>
                                </a:rPr>
                              </m:ctrlPr>
                            </m:dPr>
                            <m:e>
                              <m:r>
                                <a:rPr lang="vi-VN" i="1">
                                  <a:latin typeface="Cambria Math" panose="02040503050406030204" pitchFamily="18" charset="0"/>
                                </a:rPr>
                                <m:t>𝜔</m:t>
                              </m:r>
                              <m:r>
                                <a:rPr lang="vi-VN" i="1">
                                  <a:latin typeface="Cambria Math" panose="02040503050406030204" pitchFamily="18" charset="0"/>
                                </a:rPr>
                                <m:t>𝑡</m:t>
                              </m:r>
                              <m:r>
                                <a:rPr lang="vi-VN" i="0">
                                  <a:latin typeface="Cambria Math" panose="02040503050406030204" pitchFamily="18" charset="0"/>
                                </a:rPr>
                                <m:t>+</m:t>
                              </m:r>
                              <m:r>
                                <a:rPr lang="vi-VN" i="1">
                                  <a:latin typeface="Cambria Math" panose="02040503050406030204" pitchFamily="18" charset="0"/>
                                </a:rPr>
                                <m:t>𝜃</m:t>
                              </m:r>
                              <m:d>
                                <m:dPr>
                                  <m:ctrlPr>
                                    <a:rPr lang="vi-VN" i="1">
                                      <a:latin typeface="Cambria Math" panose="02040503050406030204" pitchFamily="18" charset="0"/>
                                    </a:rPr>
                                  </m:ctrlPr>
                                </m:dPr>
                                <m:e>
                                  <m:r>
                                    <a:rPr lang="vi-VN" i="1">
                                      <a:latin typeface="Cambria Math" panose="02040503050406030204" pitchFamily="18" charset="0"/>
                                    </a:rPr>
                                    <m:t>𝑡</m:t>
                                  </m:r>
                                </m:e>
                              </m:d>
                            </m:e>
                          </m:d>
                        </m:e>
                      </m:func>
                    </m:oMath>
                  </m:oMathPara>
                </a14:m>
                <a:endParaRPr lang="vi-VN" i="1">
                  <a:latin typeface="Cambria Math" panose="02040503050406030204" pitchFamily="18" charset="0"/>
                </a:endParaRPr>
              </a:p>
            </p:txBody>
          </p:sp>
        </mc:Choice>
        <mc:Fallback xmlns="">
          <p:sp>
            <p:nvSpPr>
              <p:cNvPr id="19" name="Hộp Văn bản 18">
                <a:extLst>
                  <a:ext uri="{FF2B5EF4-FFF2-40B4-BE49-F238E27FC236}">
                    <a16:creationId xmlns:a16="http://schemas.microsoft.com/office/drawing/2014/main" id="{CCA9837F-B0DA-A996-8F4D-A604A21ADB71}"/>
                  </a:ext>
                </a:extLst>
              </p:cNvPr>
              <p:cNvSpPr txBox="1">
                <a:spLocks noRot="1" noChangeAspect="1" noMove="1" noResize="1" noEditPoints="1" noAdjustHandles="1" noChangeArrowheads="1" noChangeShapeType="1" noTextEdit="1"/>
              </p:cNvSpPr>
              <p:nvPr/>
            </p:nvSpPr>
            <p:spPr>
              <a:xfrm>
                <a:off x="88900" y="1591704"/>
                <a:ext cx="8033696" cy="610936"/>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1" name="Hộp Văn bản 20">
                <a:extLst>
                  <a:ext uri="{FF2B5EF4-FFF2-40B4-BE49-F238E27FC236}">
                    <a16:creationId xmlns:a16="http://schemas.microsoft.com/office/drawing/2014/main" id="{04579124-764D-25CA-1EDD-547E4763075B}"/>
                  </a:ext>
                </a:extLst>
              </p:cNvPr>
              <p:cNvSpPr txBox="1"/>
              <p:nvPr/>
            </p:nvSpPr>
            <p:spPr>
              <a:xfrm>
                <a:off x="5254036" y="1591704"/>
                <a:ext cx="6094378" cy="610936"/>
              </a:xfrm>
              <a:prstGeom prst="rect">
                <a:avLst/>
              </a:prstGeom>
              <a:noFill/>
            </p:spPr>
            <p:txBody>
              <a:bodyPr wrap="square">
                <a:spAutoFit/>
              </a:bodyPr>
              <a:lstStyle/>
              <a:p>
                <a:pPr/>
                <a14:m>
                  <m:oMathPara xmlns:m="http://schemas.openxmlformats.org/officeDocument/2006/math">
                    <m:oMath>
                      <m:r>
                        <a:rPr lang="vi-VN" i="0" smtClean="0">
                          <a:latin typeface="Cambria Math" panose="02040503050406030204" pitchFamily="18" charset="0"/>
                        </a:rPr>
                        <m:t>=</m:t>
                      </m:r>
                      <m:f>
                        <m:fPr>
                          <m:ctrlPr>
                            <a:rPr lang="vi-VN" i="0">
                              <a:latin typeface="Cambria Math" panose="02040503050406030204" pitchFamily="18" charset="0"/>
                            </a:rPr>
                          </m:ctrlPr>
                        </m:fPr>
                        <m:num>
                          <m:r>
                            <a:rPr lang="vi-VN" i="0">
                              <a:latin typeface="Cambria Math" panose="02040503050406030204" pitchFamily="18" charset="0"/>
                            </a:rPr>
                            <m:t>3</m:t>
                          </m:r>
                        </m:num>
                        <m:den>
                          <m:r>
                            <a:rPr lang="vi-VN" i="0">
                              <a:latin typeface="Cambria Math" panose="02040503050406030204" pitchFamily="18" charset="0"/>
                            </a:rPr>
                            <m:t>2</m:t>
                          </m:r>
                        </m:den>
                      </m:f>
                      <m:r>
                        <a:rPr lang="vi-VN" i="1">
                          <a:latin typeface="Cambria Math" panose="02040503050406030204" pitchFamily="18" charset="0"/>
                        </a:rPr>
                        <m:t>𝛼</m:t>
                      </m:r>
                      <m:r>
                        <a:rPr lang="vi-VN" i="0">
                          <a:latin typeface="Cambria Math" panose="02040503050406030204" pitchFamily="18" charset="0"/>
                        </a:rPr>
                        <m:t> .</m:t>
                      </m:r>
                      <m:sSubSup>
                        <m:sSubSupPr>
                          <m:ctrlPr>
                            <a:rPr lang="vi-VN" i="1">
                              <a:latin typeface="Cambria Math" panose="02040503050406030204" pitchFamily="18" charset="0"/>
                            </a:rPr>
                          </m:ctrlPr>
                        </m:sSubSupPr>
                        <m:e>
                          <m:r>
                            <a:rPr lang="vi-VN" i="1">
                              <a:latin typeface="Cambria Math" panose="02040503050406030204" pitchFamily="18" charset="0"/>
                            </a:rPr>
                            <m:t>𝑉</m:t>
                          </m:r>
                        </m:e>
                        <m:sub>
                          <m:r>
                            <a:rPr lang="vi-VN" i="1">
                              <a:latin typeface="Cambria Math" panose="02040503050406030204" pitchFamily="18" charset="0"/>
                            </a:rPr>
                            <m:t>𝑐𝑟𝑚𝑠</m:t>
                          </m:r>
                        </m:sub>
                        <m:sup>
                          <m:r>
                            <a:rPr lang="vi-VN" i="0">
                              <a:latin typeface="Cambria Math" panose="02040503050406030204" pitchFamily="18" charset="0"/>
                            </a:rPr>
                            <m:t>2</m:t>
                          </m:r>
                        </m:sup>
                      </m:sSubSup>
                      <m:d>
                        <m:dPr>
                          <m:ctrlPr>
                            <a:rPr lang="vi-VN" i="1">
                              <a:latin typeface="Cambria Math" panose="02040503050406030204" pitchFamily="18" charset="0"/>
                            </a:rPr>
                          </m:ctrlPr>
                        </m:dPr>
                        <m:e>
                          <m:r>
                            <a:rPr lang="vi-VN" i="1">
                              <a:latin typeface="Cambria Math" panose="02040503050406030204" pitchFamily="18" charset="0"/>
                            </a:rPr>
                            <m:t>𝑡</m:t>
                          </m:r>
                        </m:e>
                      </m:d>
                      <m:r>
                        <a:rPr lang="vi-VN" i="0">
                          <a:latin typeface="Cambria Math" panose="02040503050406030204" pitchFamily="18" charset="0"/>
                        </a:rPr>
                        <m:t>.</m:t>
                      </m:r>
                      <m:rad>
                        <m:radPr>
                          <m:degHide m:val="on"/>
                          <m:ctrlPr>
                            <a:rPr lang="vi-VN" i="1">
                              <a:solidFill>
                                <a:srgbClr val="836967"/>
                              </a:solidFill>
                              <a:latin typeface="Cambria Math" panose="02040503050406030204" pitchFamily="18" charset="0"/>
                            </a:rPr>
                          </m:ctrlPr>
                        </m:radPr>
                        <m:deg/>
                        <m:e>
                          <m:r>
                            <a:rPr lang="vi-VN" i="0">
                              <a:latin typeface="Cambria Math" panose="02040503050406030204" pitchFamily="18" charset="0"/>
                            </a:rPr>
                            <m:t>2</m:t>
                          </m:r>
                        </m:e>
                      </m:rad>
                      <m:sSub>
                        <m:sSubPr>
                          <m:ctrlPr>
                            <a:rPr lang="vi-VN" i="1">
                              <a:latin typeface="Cambria Math" panose="02040503050406030204" pitchFamily="18" charset="0"/>
                            </a:rPr>
                          </m:ctrlPr>
                        </m:sSubPr>
                        <m:e>
                          <m:r>
                            <a:rPr lang="vi-VN" i="1">
                              <a:latin typeface="Cambria Math" panose="02040503050406030204" pitchFamily="18" charset="0"/>
                            </a:rPr>
                            <m:t>𝑉</m:t>
                          </m:r>
                        </m:e>
                        <m:sub>
                          <m:r>
                            <a:rPr lang="vi-VN" i="1">
                              <a:latin typeface="Cambria Math" panose="02040503050406030204" pitchFamily="18" charset="0"/>
                            </a:rPr>
                            <m:t>𝑐𝑟𝑚𝑠</m:t>
                          </m:r>
                        </m:sub>
                      </m:sSub>
                      <m:d>
                        <m:dPr>
                          <m:ctrlPr>
                            <a:rPr lang="vi-VN" i="1">
                              <a:latin typeface="Cambria Math" panose="02040503050406030204" pitchFamily="18" charset="0"/>
                            </a:rPr>
                          </m:ctrlPr>
                        </m:dPr>
                        <m:e>
                          <m:r>
                            <a:rPr lang="vi-VN" i="1">
                              <a:latin typeface="Cambria Math" panose="02040503050406030204" pitchFamily="18" charset="0"/>
                            </a:rPr>
                            <m:t>𝑡</m:t>
                          </m:r>
                        </m:e>
                      </m:d>
                      <m:r>
                        <a:rPr lang="vi-VN" i="0">
                          <a:latin typeface="Cambria Math" panose="02040503050406030204" pitchFamily="18" charset="0"/>
                        </a:rPr>
                        <m:t>.</m:t>
                      </m:r>
                      <m:func>
                        <m:funcPr>
                          <m:ctrlPr>
                            <a:rPr lang="vi-VN" i="0">
                              <a:latin typeface="Cambria Math" panose="02040503050406030204" pitchFamily="18" charset="0"/>
                            </a:rPr>
                          </m:ctrlPr>
                        </m:funcPr>
                        <m:fName>
                          <m:r>
                            <m:rPr>
                              <m:sty m:val="p"/>
                            </m:rPr>
                            <a:rPr lang="vi-VN" i="0">
                              <a:latin typeface="Cambria Math" panose="02040503050406030204" pitchFamily="18" charset="0"/>
                            </a:rPr>
                            <m:t>cos</m:t>
                          </m:r>
                        </m:fName>
                        <m:e>
                          <m:d>
                            <m:dPr>
                              <m:ctrlPr>
                                <a:rPr lang="vi-VN" i="1">
                                  <a:latin typeface="Cambria Math" panose="02040503050406030204" pitchFamily="18" charset="0"/>
                                </a:rPr>
                              </m:ctrlPr>
                            </m:dPr>
                            <m:e>
                              <m:r>
                                <a:rPr lang="vi-VN" i="1">
                                  <a:latin typeface="Cambria Math" panose="02040503050406030204" pitchFamily="18" charset="0"/>
                                </a:rPr>
                                <m:t>𝜔</m:t>
                              </m:r>
                              <m:r>
                                <a:rPr lang="vi-VN" i="1">
                                  <a:latin typeface="Cambria Math" panose="02040503050406030204" pitchFamily="18" charset="0"/>
                                </a:rPr>
                                <m:t>𝑡</m:t>
                              </m:r>
                              <m:r>
                                <a:rPr lang="vi-VN" i="0">
                                  <a:latin typeface="Cambria Math" panose="02040503050406030204" pitchFamily="18" charset="0"/>
                                </a:rPr>
                                <m:t>+</m:t>
                              </m:r>
                              <m:r>
                                <a:rPr lang="vi-VN" i="1">
                                  <a:latin typeface="Cambria Math" panose="02040503050406030204" pitchFamily="18" charset="0"/>
                                </a:rPr>
                                <m:t>𝜃</m:t>
                              </m:r>
                              <m:d>
                                <m:dPr>
                                  <m:ctrlPr>
                                    <a:rPr lang="vi-VN" i="1">
                                      <a:latin typeface="Cambria Math" panose="02040503050406030204" pitchFamily="18" charset="0"/>
                                    </a:rPr>
                                  </m:ctrlPr>
                                </m:dPr>
                                <m:e>
                                  <m:r>
                                    <a:rPr lang="vi-VN" i="1">
                                      <a:latin typeface="Cambria Math" panose="02040503050406030204" pitchFamily="18" charset="0"/>
                                    </a:rPr>
                                    <m:t>𝑡</m:t>
                                  </m:r>
                                </m:e>
                              </m:d>
                            </m:e>
                          </m:d>
                        </m:e>
                      </m:func>
                    </m:oMath>
                  </m:oMathPara>
                </a14:m>
                <a:endParaRPr lang="vi-VN"/>
              </a:p>
            </p:txBody>
          </p:sp>
        </mc:Choice>
        <mc:Fallback xmlns="">
          <p:sp>
            <p:nvSpPr>
              <p:cNvPr id="21" name="Hộp Văn bản 20">
                <a:extLst>
                  <a:ext uri="{FF2B5EF4-FFF2-40B4-BE49-F238E27FC236}">
                    <a16:creationId xmlns:a16="http://schemas.microsoft.com/office/drawing/2014/main" id="{04579124-764D-25CA-1EDD-547E4763075B}"/>
                  </a:ext>
                </a:extLst>
              </p:cNvPr>
              <p:cNvSpPr txBox="1">
                <a:spLocks noRot="1" noChangeAspect="1" noMove="1" noResize="1" noEditPoints="1" noAdjustHandles="1" noChangeArrowheads="1" noChangeShapeType="1" noTextEdit="1"/>
              </p:cNvSpPr>
              <p:nvPr/>
            </p:nvSpPr>
            <p:spPr>
              <a:xfrm>
                <a:off x="5254036" y="1591704"/>
                <a:ext cx="6094378" cy="610936"/>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3" name="Hộp Văn bản 22">
                <a:extLst>
                  <a:ext uri="{FF2B5EF4-FFF2-40B4-BE49-F238E27FC236}">
                    <a16:creationId xmlns:a16="http://schemas.microsoft.com/office/drawing/2014/main" id="{64C8FA11-AB0E-0F33-93F2-19ED3BB1904F}"/>
                  </a:ext>
                </a:extLst>
              </p:cNvPr>
              <p:cNvSpPr txBox="1"/>
              <p:nvPr/>
            </p:nvSpPr>
            <p:spPr>
              <a:xfrm>
                <a:off x="2316105" y="2134554"/>
                <a:ext cx="2680520" cy="610936"/>
              </a:xfrm>
              <a:prstGeom prst="rect">
                <a:avLst/>
              </a:prstGeom>
              <a:noFill/>
            </p:spPr>
            <p:txBody>
              <a:bodyPr wrap="square">
                <a:spAutoFit/>
              </a:bodyPr>
              <a:lstStyle/>
              <a:p>
                <a:pPr/>
                <a14:m>
                  <m:oMathPara xmlns:m="http://schemas.openxmlformats.org/officeDocument/2006/math">
                    <m:oMath>
                      <m:r>
                        <a:rPr lang="vi-VN" i="0" smtClean="0">
                          <a:latin typeface="Cambria Math" panose="02040503050406030204" pitchFamily="18" charset="0"/>
                        </a:rPr>
                        <m:t>=</m:t>
                      </m:r>
                      <m:f>
                        <m:fPr>
                          <m:ctrlPr>
                            <a:rPr lang="vi-VN" i="0">
                              <a:latin typeface="Cambria Math" panose="02040503050406030204" pitchFamily="18" charset="0"/>
                            </a:rPr>
                          </m:ctrlPr>
                        </m:fPr>
                        <m:num>
                          <m:r>
                            <a:rPr lang="vi-VN" i="0">
                              <a:latin typeface="Cambria Math" panose="02040503050406030204" pitchFamily="18" charset="0"/>
                            </a:rPr>
                            <m:t>3</m:t>
                          </m:r>
                        </m:num>
                        <m:den>
                          <m:r>
                            <a:rPr lang="vi-VN" i="0">
                              <a:latin typeface="Cambria Math" panose="02040503050406030204" pitchFamily="18" charset="0"/>
                            </a:rPr>
                            <m:t>2</m:t>
                          </m:r>
                        </m:den>
                      </m:f>
                      <m:r>
                        <a:rPr lang="vi-VN" i="1">
                          <a:latin typeface="Cambria Math" panose="02040503050406030204" pitchFamily="18" charset="0"/>
                        </a:rPr>
                        <m:t>𝛼</m:t>
                      </m:r>
                      <m:r>
                        <a:rPr lang="vi-VN" i="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𝑉</m:t>
                          </m:r>
                        </m:e>
                        <m:sub>
                          <m:r>
                            <a:rPr lang="vi-VN" i="1">
                              <a:latin typeface="Cambria Math" panose="02040503050406030204" pitchFamily="18" charset="0"/>
                            </a:rPr>
                            <m:t>𝑐𝑟𝑚𝑠</m:t>
                          </m:r>
                        </m:sub>
                      </m:sSub>
                      <m:sSup>
                        <m:sSupPr>
                          <m:ctrlPr>
                            <a:rPr lang="vi-VN" i="1">
                              <a:solidFill>
                                <a:srgbClr val="836967"/>
                              </a:solidFill>
                              <a:latin typeface="Cambria Math" panose="02040503050406030204" pitchFamily="18" charset="0"/>
                            </a:rPr>
                          </m:ctrlPr>
                        </m:sSupPr>
                        <m:e>
                          <m:d>
                            <m:dPr>
                              <m:ctrlPr>
                                <a:rPr lang="vi-VN" i="1">
                                  <a:latin typeface="Cambria Math" panose="02040503050406030204" pitchFamily="18" charset="0"/>
                                </a:rPr>
                              </m:ctrlPr>
                            </m:dPr>
                            <m:e>
                              <m:r>
                                <a:rPr lang="vi-VN" i="1">
                                  <a:latin typeface="Cambria Math" panose="02040503050406030204" pitchFamily="18" charset="0"/>
                                </a:rPr>
                                <m:t>𝑡</m:t>
                              </m:r>
                            </m:e>
                          </m:d>
                        </m:e>
                        <m:sup>
                          <m:r>
                            <a:rPr lang="vi-VN" i="0">
                              <a:latin typeface="Cambria Math" panose="02040503050406030204" pitchFamily="18" charset="0"/>
                            </a:rPr>
                            <m:t>2</m:t>
                          </m:r>
                        </m:sup>
                      </m:sSup>
                      <m:sSub>
                        <m:sSubPr>
                          <m:ctrlPr>
                            <a:rPr lang="vi-VN" i="1">
                              <a:latin typeface="Cambria Math" panose="02040503050406030204" pitchFamily="18" charset="0"/>
                            </a:rPr>
                          </m:ctrlPr>
                        </m:sSubPr>
                        <m:e>
                          <m:r>
                            <a:rPr lang="vi-VN" i="1">
                              <a:latin typeface="Cambria Math" panose="02040503050406030204" pitchFamily="18" charset="0"/>
                            </a:rPr>
                            <m:t>𝑉</m:t>
                          </m:r>
                        </m:e>
                        <m:sub>
                          <m:r>
                            <a:rPr lang="vi-VN" i="1">
                              <a:latin typeface="Cambria Math" panose="02040503050406030204" pitchFamily="18" charset="0"/>
                            </a:rPr>
                            <m:t>𝑐</m:t>
                          </m:r>
                        </m:sub>
                      </m:sSub>
                      <m:d>
                        <m:dPr>
                          <m:ctrlPr>
                            <a:rPr lang="vi-VN" i="1">
                              <a:latin typeface="Cambria Math" panose="02040503050406030204" pitchFamily="18" charset="0"/>
                            </a:rPr>
                          </m:ctrlPr>
                        </m:dPr>
                        <m:e>
                          <m:r>
                            <a:rPr lang="vi-VN" i="1">
                              <a:latin typeface="Cambria Math" panose="02040503050406030204" pitchFamily="18" charset="0"/>
                            </a:rPr>
                            <m:t>𝑡</m:t>
                          </m:r>
                        </m:e>
                      </m:d>
                    </m:oMath>
                  </m:oMathPara>
                </a14:m>
                <a:endParaRPr lang="vi-VN"/>
              </a:p>
            </p:txBody>
          </p:sp>
        </mc:Choice>
        <mc:Fallback xmlns="">
          <p:sp>
            <p:nvSpPr>
              <p:cNvPr id="23" name="Hộp Văn bản 22">
                <a:extLst>
                  <a:ext uri="{FF2B5EF4-FFF2-40B4-BE49-F238E27FC236}">
                    <a16:creationId xmlns:a16="http://schemas.microsoft.com/office/drawing/2014/main" id="{64C8FA11-AB0E-0F33-93F2-19ED3BB1904F}"/>
                  </a:ext>
                </a:extLst>
              </p:cNvPr>
              <p:cNvSpPr txBox="1">
                <a:spLocks noRot="1" noChangeAspect="1" noMove="1" noResize="1" noEditPoints="1" noAdjustHandles="1" noChangeArrowheads="1" noChangeShapeType="1" noTextEdit="1"/>
              </p:cNvSpPr>
              <p:nvPr/>
            </p:nvSpPr>
            <p:spPr>
              <a:xfrm>
                <a:off x="2316105" y="2134554"/>
                <a:ext cx="2680520" cy="610936"/>
              </a:xfrm>
              <a:prstGeom prst="rect">
                <a:avLst/>
              </a:prstGeom>
              <a:blipFill>
                <a:blip r:embed="rId6"/>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413555335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8C4D5-C028-5F77-72B8-1446D52C374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3D12786-D678-7314-BFE2-49FD48CD0912}"/>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52DA19FF-11D9-38F0-822F-A3FAA0604EEB}"/>
              </a:ext>
            </a:extLst>
          </p:cNvPr>
          <p:cNvSpPr>
            <a:spLocks noGrp="1"/>
          </p:cNvSpPr>
          <p:nvPr>
            <p:ph type="sldNum" sz="quarter" idx="12"/>
          </p:nvPr>
        </p:nvSpPr>
        <p:spPr/>
        <p:txBody>
          <a:bodyPr/>
          <a:lstStyle/>
          <a:p>
            <a:fld id="{931DD963-FD40-4A6D-88A9-402A489E81DE}" type="slidenum">
              <a:rPr lang="en-US" smtClean="0"/>
              <a:t>95</a:t>
            </a:fld>
            <a:endParaRPr lang="en-US"/>
          </a:p>
        </p:txBody>
      </p:sp>
      <p:grpSp>
        <p:nvGrpSpPr>
          <p:cNvPr id="10" name="Group 9">
            <a:extLst>
              <a:ext uri="{FF2B5EF4-FFF2-40B4-BE49-F238E27FC236}">
                <a16:creationId xmlns:a16="http://schemas.microsoft.com/office/drawing/2014/main" id="{4798F75E-AA97-43AF-CEC6-8529E1CC18E9}"/>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B3E52DE9-692A-1A1B-AD8E-0097AF0967A4}"/>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5: </a:t>
              </a:r>
              <a:r>
                <a:rPr lang="vi-VN" sz="2133" b="1">
                  <a:latin typeface="Arial (Body)"/>
                </a:rPr>
                <a:t>GIẢI PHÁP CẢI TIẾN BỘ DAO ĐỘNG VANDERPOL</a:t>
              </a:r>
              <a:endParaRPr lang="en-US" sz="2133" b="1">
                <a:latin typeface="Arial (Body)"/>
              </a:endParaRPr>
            </a:p>
          </p:txBody>
        </p:sp>
        <p:sp>
          <p:nvSpPr>
            <p:cNvPr id="13" name="Rectangle 12">
              <a:extLst>
                <a:ext uri="{FF2B5EF4-FFF2-40B4-BE49-F238E27FC236}">
                  <a16:creationId xmlns:a16="http://schemas.microsoft.com/office/drawing/2014/main" id="{F7AF2C95-8CAD-7CA3-E35D-75BA6D323002}"/>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a:t>
              </a:r>
            </a:p>
          </p:txBody>
        </p:sp>
      </p:grpSp>
      <p:sp>
        <p:nvSpPr>
          <p:cNvPr id="4" name="Hộp Văn bản 3">
            <a:extLst>
              <a:ext uri="{FF2B5EF4-FFF2-40B4-BE49-F238E27FC236}">
                <a16:creationId xmlns:a16="http://schemas.microsoft.com/office/drawing/2014/main" id="{82668CC2-5CB0-21FE-6201-A98444FBBE01}"/>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1">
                <a:solidFill>
                  <a:prstClr val="black"/>
                </a:solidFill>
                <a:latin typeface="Times New Roman" panose="02020603050405020304" pitchFamily="18" charset="0"/>
                <a:cs typeface="Times New Roman" panose="02020603050405020304" pitchFamily="18" charset="0"/>
              </a:rPr>
              <a:t>5.1</a:t>
            </a: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vi-VN"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Bộ dao động VOC kiểu mới</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18">
                <a:extLst>
                  <a:ext uri="{FF2B5EF4-FFF2-40B4-BE49-F238E27FC236}">
                    <a16:creationId xmlns:a16="http://schemas.microsoft.com/office/drawing/2014/main" id="{D998F2BA-BEDD-F8D9-28AA-6A123055B642}"/>
                  </a:ext>
                </a:extLst>
              </p:cNvPr>
              <p:cNvSpPr txBox="1"/>
              <p:nvPr/>
            </p:nvSpPr>
            <p:spPr>
              <a:xfrm>
                <a:off x="525171" y="1517763"/>
                <a:ext cx="8317272" cy="1134606"/>
              </a:xfrm>
              <a:prstGeom prst="rect">
                <a:avLst/>
              </a:prstGeom>
              <a:noFill/>
            </p:spPr>
            <p:txBody>
              <a:bodyPr wrap="square">
                <a:spAutoFit/>
              </a:bodyPr>
              <a:lstStyle/>
              <a:p>
                <a:pPr marL="285750" lvl="0" indent="-285750">
                  <a:buFont typeface="Wingdings" panose="05000000000000000000" pitchFamily="2" charset="2"/>
                  <a:buChar char="Ø"/>
                  <a:defRPr/>
                </a:pPr>
                <a14:m>
                  <m:oMath xmlns:m="http://schemas.openxmlformats.org/officeDocument/2006/math">
                    <m:d>
                      <m:dPr>
                        <m:begChr m:val="{"/>
                        <m:end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dPr>
                      <m:e>
                        <m:eqArr>
                          <m:eqArr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eqArrPr>
                          <m:e>
                            <m:r>
                              <a:rPr kumimoji="0" lang="en-US" b="0" i="0" u="none" strike="noStrike" kern="1200" cap="none" spc="0" normalizeH="0" baseline="0" noProof="0">
                                <a:ln>
                                  <a:noFill/>
                                </a:ln>
                                <a:solidFill>
                                  <a:prstClr val="black"/>
                                </a:solidFill>
                                <a:effectLst/>
                                <a:uLnTx/>
                                <a:uFillTx/>
                                <a:latin typeface="Cambria Math" panose="02040503050406030204" pitchFamily="18" charset="0"/>
                              </a:rPr>
                              <m:t>&amp;</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e>
                            </m:acc>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f>
                              <m:f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Pr>
                              <m:num>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𝜀</m:t>
                                </m:r>
                              </m:num>
                              <m:den>
                                <m:r>
                                  <a:rPr kumimoji="0" lang="en-US" b="0" i="0" u="none" strike="noStrike" kern="1200" cap="none" spc="0" normalizeH="0" baseline="0" noProof="0">
                                    <a:ln>
                                      <a:noFill/>
                                    </a:ln>
                                    <a:solidFill>
                                      <a:prstClr val="black"/>
                                    </a:solidFill>
                                    <a:effectLst/>
                                    <a:uLnTx/>
                                    <a:uFillTx/>
                                    <a:latin typeface="Cambria Math" panose="02040503050406030204" pitchFamily="18" charset="0"/>
                                  </a:rPr>
                                  <m:t>2ᴨ</m:t>
                                </m:r>
                              </m:den>
                            </m:f>
                            <m:nary>
                              <m:naryPr>
                                <m:limLoc m:val="subSup"/>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naryPr>
                              <m:sub>
                                <m:r>
                                  <a:rPr kumimoji="0" lang="en-US" b="0" i="0" u="none" strike="noStrike" kern="1200" cap="none" spc="0" normalizeH="0" baseline="0" noProof="0">
                                    <a:ln>
                                      <a:noFill/>
                                    </a:ln>
                                    <a:solidFill>
                                      <a:prstClr val="black"/>
                                    </a:solidFill>
                                    <a:effectLst/>
                                    <a:uLnTx/>
                                    <a:uFillTx/>
                                    <a:latin typeface="Cambria Math" panose="02040503050406030204" pitchFamily="18" charset="0"/>
                                  </a:rPr>
                                  <m:t>0</m:t>
                                </m:r>
                              </m:sub>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2ᴨ</m:t>
                                </m:r>
                              </m:sup>
                              <m:e>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𝜎</m:t>
                                    </m:r>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func>
                                      <m:func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uncPr>
                                      <m:fName>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rPr>
                                          <m:t>cos</m:t>
                                        </m:r>
                                      </m:fName>
                                      <m:e>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sSup>
                                                  <m:sSup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𝜃</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acc>
                                          </m:e>
                                        </m:d>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lang="vi-VN" i="1">
                                                <a:solidFill>
                                                  <a:srgbClr val="836967"/>
                                                </a:solidFill>
                                                <a:latin typeface="Cambria Math" panose="02040503050406030204" pitchFamily="18" charset="0"/>
                                              </a:rPr>
                                            </m:ctrlPr>
                                          </m:fPr>
                                          <m:num>
                                            <m:r>
                                              <a:rPr lang="vi-VN" i="1">
                                                <a:solidFill>
                                                  <a:srgbClr val="836967"/>
                                                </a:solidFill>
                                                <a:latin typeface="Cambria Math" panose="02040503050406030204" pitchFamily="18" charset="0"/>
                                              </a:rPr>
                                              <m:t>3</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𝛼</m:t>
                                            </m:r>
                                          </m:num>
                                          <m:den>
                                            <m:sSup>
                                              <m:sSup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sSupPr>
                                              <m:e>
                                                <m:sSub>
                                                  <m:sSubPr>
                                                    <m:ctrlPr>
                                                      <a:rPr lang="vi-VN" i="1">
                                                        <a:solidFill>
                                                          <a:srgbClr val="836967"/>
                                                        </a:solidFill>
                                                        <a:latin typeface="Cambria Math" panose="02040503050406030204" pitchFamily="18" charset="0"/>
                                                      </a:rPr>
                                                    </m:ctrlPr>
                                                  </m:sSubPr>
                                                  <m:e>
                                                    <m:r>
                                                      <a:rPr lang="vi-VN" i="1">
                                                        <a:solidFill>
                                                          <a:srgbClr val="836967"/>
                                                        </a:solidFill>
                                                        <a:latin typeface="Cambria Math" panose="02040503050406030204" pitchFamily="18" charset="0"/>
                                                      </a:rPr>
                                                      <m:t>2</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𝑣</m:t>
                                                    </m:r>
                                                  </m:sub>
                                                </m:sSub>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2</m:t>
                                                </m:r>
                                              </m:sup>
                                            </m:sSup>
                                          </m:den>
                                        </m:f>
                                        <m:sSup>
                                          <m:sSup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sSupPr>
                                          <m:e>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3</m:t>
                                            </m:r>
                                          </m:sup>
                                        </m:sSup>
                                      </m:e>
                                    </m:func>
                                    <m:r>
                                      <m:rPr>
                                        <m:sty m:val="p"/>
                                      </m:rPr>
                                      <a:rPr lang="vi-VN" i="1">
                                        <a:solidFill>
                                          <a:prstClr val="black"/>
                                        </a:solidFill>
                                        <a:latin typeface="Cambria Math" panose="02040503050406030204" pitchFamily="18" charset="0"/>
                                      </a:rPr>
                                      <m:t>cos</m:t>
                                    </m:r>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Sup>
                                          <m:sSup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𝜃</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d>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fPr>
                                      <m:num>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𝑣</m:t>
                                            </m:r>
                                          </m:sub>
                                        </m:sSub>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sub>
                                        </m:s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num>
                                      <m:den>
                                        <m:rad>
                                          <m:radPr>
                                            <m:degHide m:val="on"/>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radPr>
                                          <m:deg/>
                                          <m:e>
                                            <m:r>
                                              <a:rPr kumimoji="0" lang="en-US" b="0" i="0" u="none" strike="noStrike" kern="1200" cap="none" spc="0" normalizeH="0" baseline="0" noProof="0">
                                                <a:ln>
                                                  <a:noFill/>
                                                </a:ln>
                                                <a:solidFill>
                                                  <a:prstClr val="black"/>
                                                </a:solidFill>
                                                <a:effectLst/>
                                                <a:uLnTx/>
                                                <a:uFillTx/>
                                                <a:latin typeface="Cambria Math" panose="02040503050406030204" pitchFamily="18" charset="0"/>
                                              </a:rPr>
                                              <m:t>2</m:t>
                                            </m:r>
                                          </m:e>
                                        </m:rad>
                                      </m:den>
                                    </m:f>
                                  </m:e>
                                </m:d>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unc>
                                  <m:func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uncPr>
                                  <m:fName>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rPr>
                                      <m:t>cos</m:t>
                                    </m:r>
                                  </m:fName>
                                  <m:e>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sSup>
                                              <m:sSup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𝜃</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acc>
                                      </m:e>
                                    </m:d>
                                  </m:e>
                                </m:func>
                              </m:e>
                            </m:nary>
                            <m:r>
                              <a:rPr kumimoji="0" lang="en-US" b="0" i="1" u="none" strike="noStrike" kern="1200" cap="none" spc="0" normalizeH="0" baseline="0" noProof="0">
                                <a:ln>
                                  <a:noFill/>
                                </a:ln>
                                <a:solidFill>
                                  <a:prstClr val="black"/>
                                </a:solidFill>
                                <a:effectLst/>
                                <a:uLnTx/>
                                <a:uFillTx/>
                                <a:latin typeface="Cambria Math" panose="02040503050406030204" pitchFamily="18" charset="0"/>
                              </a:rPr>
                              <m:t>𝑑</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e>
                          <m:e>
                            <m:r>
                              <a:rPr kumimoji="0" lang="en-US" b="0" i="0" u="none" strike="noStrike" kern="1200" cap="none" spc="0" normalizeH="0" baseline="0" noProof="0">
                                <a:ln>
                                  <a:noFill/>
                                </a:ln>
                                <a:solidFill>
                                  <a:prstClr val="black"/>
                                </a:solidFill>
                                <a:effectLst/>
                                <a:uLnTx/>
                                <a:uFillTx/>
                                <a:latin typeface="Cambria Math" panose="02040503050406030204" pitchFamily="18" charset="0"/>
                              </a:rPr>
                              <m:t>&amp;                                       </m:t>
                            </m:r>
                          </m:e>
                          <m:e>
                            <m:r>
                              <a:rPr kumimoji="0" lang="en-US" b="0" i="0" u="none" strike="noStrike" kern="1200" cap="none" spc="0" normalizeH="0" baseline="0" noProof="0">
                                <a:ln>
                                  <a:noFill/>
                                </a:ln>
                                <a:solidFill>
                                  <a:prstClr val="black"/>
                                </a:solidFill>
                                <a:effectLst/>
                                <a:uLnTx/>
                                <a:uFillTx/>
                                <a:latin typeface="Cambria Math" panose="02040503050406030204" pitchFamily="18" charset="0"/>
                              </a:rPr>
                              <m:t>&amp;</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sSup>
                                      <m:sSupPr>
                                        <m:ctrlPr>
                                          <a:rPr lang="en-US">
                                            <a:solidFill>
                                              <a:prstClr val="black"/>
                                            </a:solidFill>
                                            <a:latin typeface="Cambria Math" panose="02040503050406030204" pitchFamily="18" charset="0"/>
                                          </a:rPr>
                                        </m:ctrlPr>
                                      </m:sSupPr>
                                      <m:e>
                                        <m:r>
                                          <a:rPr lang="en-US">
                                            <a:solidFill>
                                              <a:prstClr val="black"/>
                                            </a:solidFill>
                                            <a:latin typeface="Cambria Math" panose="02040503050406030204" pitchFamily="18" charset="0"/>
                                          </a:rPr>
                                          <m:t>ɸ</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acc>
                              </m:e>
                            </m:acc>
                            <m:r>
                              <a:rPr kumimoji="0" lang="en-US" b="0" i="0" u="none" strike="noStrike" kern="1200" cap="none" spc="0" normalizeH="0" baseline="0" noProof="0" smtClean="0">
                                <a:ln>
                                  <a:noFill/>
                                </a:ln>
                                <a:solidFill>
                                  <a:prstClr val="black"/>
                                </a:solidFill>
                                <a:effectLst/>
                                <a:uLnTx/>
                                <a:uFillTx/>
                                <a:latin typeface="Cambria Math" panose="02040503050406030204" pitchFamily="18" charset="0"/>
                              </a:rPr>
                              <m:t>=</m:t>
                            </m:r>
                            <m:r>
                              <a:rPr lang="vi-VN" i="1">
                                <a:solidFill>
                                  <a:prstClr val="black"/>
                                </a:solidFill>
                                <a:latin typeface="Cambria Math" panose="02040503050406030204" pitchFamily="18" charset="0"/>
                              </a:rPr>
                              <m:t>1</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Pr>
                              <m:num>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𝜀</m:t>
                                </m:r>
                              </m:num>
                              <m:den>
                                <m:r>
                                  <a:rPr kumimoji="0" lang="en-US" b="0" i="0" u="none" strike="noStrike" kern="1200" cap="none" spc="0" normalizeH="0" baseline="0" noProof="0">
                                    <a:ln>
                                      <a:noFill/>
                                    </a:ln>
                                    <a:solidFill>
                                      <a:prstClr val="black"/>
                                    </a:solidFill>
                                    <a:effectLst/>
                                    <a:uLnTx/>
                                    <a:uFillTx/>
                                    <a:latin typeface="Cambria Math" panose="02040503050406030204" pitchFamily="18" charset="0"/>
                                  </a:rPr>
                                  <m:t>2ᴨ</m:t>
                                </m:r>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den>
                            </m:f>
                            <m:nary>
                              <m:naryPr>
                                <m:limLoc m:val="subSup"/>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naryPr>
                              <m:sub>
                                <m:r>
                                  <a:rPr kumimoji="0" lang="en-US" b="0" i="0" u="none" strike="noStrike" kern="1200" cap="none" spc="0" normalizeH="0" baseline="0" noProof="0">
                                    <a:ln>
                                      <a:noFill/>
                                    </a:ln>
                                    <a:solidFill>
                                      <a:prstClr val="black"/>
                                    </a:solidFill>
                                    <a:effectLst/>
                                    <a:uLnTx/>
                                    <a:uFillTx/>
                                    <a:latin typeface="Cambria Math" panose="02040503050406030204" pitchFamily="18" charset="0"/>
                                  </a:rPr>
                                  <m:t>0</m:t>
                                </m:r>
                              </m:sub>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2ᴨ</m:t>
                                </m:r>
                              </m:sup>
                              <m:e>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𝜎</m:t>
                                    </m:r>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func>
                                      <m:func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uncPr>
                                      <m:fName>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rPr>
                                          <m:t>cos</m:t>
                                        </m:r>
                                      </m:fName>
                                      <m:e>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sSup>
                                                  <m:sSup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𝜃</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acc>
                                          </m:e>
                                        </m:d>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lang="vi-VN" i="1">
                                                <a:solidFill>
                                                  <a:srgbClr val="836967"/>
                                                </a:solidFill>
                                                <a:latin typeface="Cambria Math" panose="02040503050406030204" pitchFamily="18" charset="0"/>
                                              </a:rPr>
                                            </m:ctrlPr>
                                          </m:fPr>
                                          <m:num>
                                            <m:r>
                                              <a:rPr lang="vi-VN" i="1">
                                                <a:solidFill>
                                                  <a:srgbClr val="836967"/>
                                                </a:solidFill>
                                                <a:latin typeface="Cambria Math" panose="02040503050406030204" pitchFamily="18" charset="0"/>
                                              </a:rPr>
                                              <m:t>3</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𝛼</m:t>
                                            </m:r>
                                          </m:num>
                                          <m:den>
                                            <m:sSup>
                                              <m:sSup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sSupPr>
                                              <m:e>
                                                <m:sSub>
                                                  <m:sSubPr>
                                                    <m:ctrlPr>
                                                      <a:rPr lang="vi-VN" i="1">
                                                        <a:solidFill>
                                                          <a:srgbClr val="836967"/>
                                                        </a:solidFill>
                                                        <a:latin typeface="Cambria Math" panose="02040503050406030204" pitchFamily="18" charset="0"/>
                                                      </a:rPr>
                                                    </m:ctrlPr>
                                                  </m:sSubPr>
                                                  <m:e>
                                                    <m:r>
                                                      <a:rPr lang="vi-VN" i="1">
                                                        <a:solidFill>
                                                          <a:srgbClr val="836967"/>
                                                        </a:solidFill>
                                                        <a:latin typeface="Cambria Math" panose="02040503050406030204" pitchFamily="18" charset="0"/>
                                                      </a:rPr>
                                                      <m:t>2</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𝑣</m:t>
                                                    </m:r>
                                                  </m:sub>
                                                </m:sSub>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2</m:t>
                                                </m:r>
                                              </m:sup>
                                            </m:sSup>
                                          </m:den>
                                        </m:f>
                                        <m:sSup>
                                          <m:sSup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sSupPr>
                                          <m:e>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3</m:t>
                                            </m:r>
                                          </m:sup>
                                        </m:sSup>
                                      </m:e>
                                    </m:func>
                                    <m:r>
                                      <m:rPr>
                                        <m:sty m:val="p"/>
                                      </m:rPr>
                                      <a:rPr lang="vi-VN" i="1">
                                        <a:solidFill>
                                          <a:prstClr val="black"/>
                                        </a:solidFill>
                                        <a:latin typeface="Cambria Math" panose="02040503050406030204" pitchFamily="18" charset="0"/>
                                      </a:rPr>
                                      <m:t>cos</m:t>
                                    </m:r>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Sup>
                                          <m:sSup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𝜃</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d>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fPr>
                                      <m:num>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𝑣</m:t>
                                            </m:r>
                                          </m:sub>
                                        </m:sSub>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sub>
                                        </m:s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num>
                                      <m:den>
                                        <m:rad>
                                          <m:radPr>
                                            <m:degHide m:val="on"/>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radPr>
                                          <m:deg/>
                                          <m:e>
                                            <m:r>
                                              <a:rPr kumimoji="0" lang="en-US" b="0" i="0" u="none" strike="noStrike" kern="1200" cap="none" spc="0" normalizeH="0" baseline="0" noProof="0">
                                                <a:ln>
                                                  <a:noFill/>
                                                </a:ln>
                                                <a:solidFill>
                                                  <a:prstClr val="black"/>
                                                </a:solidFill>
                                                <a:effectLst/>
                                                <a:uLnTx/>
                                                <a:uFillTx/>
                                                <a:latin typeface="Cambria Math" panose="02040503050406030204" pitchFamily="18" charset="0"/>
                                              </a:rPr>
                                              <m:t>2</m:t>
                                            </m:r>
                                          </m:e>
                                        </m:rad>
                                      </m:den>
                                    </m:f>
                                  </m:e>
                                </m:d>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unc>
                                  <m:func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uncPr>
                                  <m:fName>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rPr>
                                      <m:t>sin</m:t>
                                    </m:r>
                                  </m:fName>
                                  <m:e>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sSup>
                                              <m:sSup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𝜃</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acc>
                                      </m:e>
                                    </m:d>
                                  </m:e>
                                </m:func>
                              </m:e>
                            </m:nary>
                            <m:r>
                              <a:rPr kumimoji="0" lang="en-US" b="0" i="1" u="none" strike="noStrike" kern="1200" cap="none" spc="0" normalizeH="0" baseline="0" noProof="0">
                                <a:ln>
                                  <a:noFill/>
                                </a:ln>
                                <a:solidFill>
                                  <a:prstClr val="black"/>
                                </a:solidFill>
                                <a:effectLst/>
                                <a:uLnTx/>
                                <a:uFillTx/>
                                <a:latin typeface="Cambria Math" panose="02040503050406030204" pitchFamily="18" charset="0"/>
                              </a:rPr>
                              <m:t>𝑑</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e>
                        </m:eqArr>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e>
                    </m:d>
                  </m:oMath>
                </a14:m>
                <a:endParaRPr kumimoji="0" lang="en-US" b="0" i="0" u="none" strike="noStrike" kern="1200" cap="none" spc="0" normalizeH="0" baseline="0" noProof="0">
                  <a:ln>
                    <a:noFill/>
                  </a:ln>
                  <a:solidFill>
                    <a:prstClr val="black"/>
                  </a:solidFill>
                  <a:effectLst/>
                  <a:uLnTx/>
                  <a:uFillTx/>
                  <a:latin typeface="Arial" panose="020B0604020202020204"/>
                </a:endParaRPr>
              </a:p>
            </p:txBody>
          </p:sp>
        </mc:Choice>
        <mc:Fallback xmlns="">
          <p:sp>
            <p:nvSpPr>
              <p:cNvPr id="8" name="TextBox 18">
                <a:extLst>
                  <a:ext uri="{FF2B5EF4-FFF2-40B4-BE49-F238E27FC236}">
                    <a16:creationId xmlns:a16="http://schemas.microsoft.com/office/drawing/2014/main" id="{D998F2BA-BEDD-F8D9-28AA-6A123055B642}"/>
                  </a:ext>
                </a:extLst>
              </p:cNvPr>
              <p:cNvSpPr txBox="1">
                <a:spLocks noRot="1" noChangeAspect="1" noMove="1" noResize="1" noEditPoints="1" noAdjustHandles="1" noChangeArrowheads="1" noChangeShapeType="1" noTextEdit="1"/>
              </p:cNvSpPr>
              <p:nvPr/>
            </p:nvSpPr>
            <p:spPr>
              <a:xfrm>
                <a:off x="525171" y="1517763"/>
                <a:ext cx="8317272" cy="1134606"/>
              </a:xfrm>
              <a:prstGeom prst="rect">
                <a:avLst/>
              </a:prstGeom>
              <a:blipFill>
                <a:blip r:embed="rId2"/>
                <a:stretch>
                  <a:fillRect/>
                </a:stretch>
              </a:blipFill>
            </p:spPr>
            <p:txBody>
              <a:bodyPr/>
              <a:lstStyle/>
              <a:p>
                <a:r>
                  <a:rPr lang="vi-VN">
                    <a:noFill/>
                  </a:rPr>
                  <a:t> </a:t>
                </a:r>
              </a:p>
            </p:txBody>
          </p:sp>
        </mc:Fallback>
      </mc:AlternateContent>
      <p:sp>
        <p:nvSpPr>
          <p:cNvPr id="15" name="TextBox 19">
            <a:extLst>
              <a:ext uri="{FF2B5EF4-FFF2-40B4-BE49-F238E27FC236}">
                <a16:creationId xmlns:a16="http://schemas.microsoft.com/office/drawing/2014/main" id="{0A693504-3E32-F78D-F058-70ABE7BF83F1}"/>
              </a:ext>
            </a:extLst>
          </p:cNvPr>
          <p:cNvSpPr txBox="1"/>
          <p:nvPr/>
        </p:nvSpPr>
        <p:spPr>
          <a:xfrm>
            <a:off x="10035285" y="3244334"/>
            <a:ext cx="598759" cy="369332"/>
          </a:xfrm>
          <a:prstGeom prst="rect">
            <a:avLst/>
          </a:prstGeom>
          <a:noFill/>
        </p:spPr>
        <p:txBody>
          <a:bodyPr wrap="square" rtlCol="0">
            <a:spAutoFit/>
          </a:bodyPr>
          <a:lstStyle/>
          <a:p>
            <a:r>
              <a:rPr lang="vi-VN"/>
              <a:t>(25)</a:t>
            </a:r>
            <a:endParaRPr lang="en-ID"/>
          </a:p>
        </p:txBody>
      </p:sp>
      <mc:AlternateContent xmlns:mc="http://schemas.openxmlformats.org/markup-compatibility/2006" xmlns:a14="http://schemas.microsoft.com/office/drawing/2010/main">
        <mc:Choice Requires="a14">
          <p:sp>
            <p:nvSpPr>
              <p:cNvPr id="16" name="TextBox 12">
                <a:extLst>
                  <a:ext uri="{FF2B5EF4-FFF2-40B4-BE49-F238E27FC236}">
                    <a16:creationId xmlns:a16="http://schemas.microsoft.com/office/drawing/2014/main" id="{FC8F6BEA-7F03-379B-C490-18EE5996BADD}"/>
                  </a:ext>
                </a:extLst>
              </p:cNvPr>
              <p:cNvSpPr txBox="1"/>
              <p:nvPr/>
            </p:nvSpPr>
            <p:spPr>
              <a:xfrm>
                <a:off x="525171" y="2909745"/>
                <a:ext cx="5570829" cy="1128899"/>
              </a:xfrm>
              <a:prstGeom prst="rect">
                <a:avLst/>
              </a:prstGeom>
              <a:noFill/>
            </p:spPr>
            <p:txBody>
              <a:bodyPr wrap="square">
                <a:spAutoFit/>
              </a:bodyPr>
              <a:lstStyle/>
              <a:p>
                <a:pPr marL="285750" lvl="0" indent="-285750">
                  <a:buFont typeface="Wingdings" panose="05000000000000000000" pitchFamily="2" charset="2"/>
                  <a:buChar char="Ø"/>
                  <a:defRPr/>
                </a:pPr>
                <a14:m>
                  <m:oMath xmlns:m="http://schemas.openxmlformats.org/officeDocument/2006/math">
                    <m:d>
                      <m:dPr>
                        <m:begChr m:val="{"/>
                        <m:end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dPr>
                      <m:e>
                        <m:eqArr>
                          <m:eqArr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eqArrPr>
                          <m:e>
                            <m:r>
                              <a:rPr kumimoji="0" lang="en-US" b="0" i="0" u="none" strike="noStrike" kern="1200" cap="none" spc="0" normalizeH="0" baseline="0" noProof="0">
                                <a:ln>
                                  <a:noFill/>
                                </a:ln>
                                <a:solidFill>
                                  <a:prstClr val="black"/>
                                </a:solidFill>
                                <a:effectLst/>
                                <a:uLnTx/>
                                <a:uFillTx/>
                                <a:latin typeface="Cambria Math" panose="02040503050406030204" pitchFamily="18" charset="0"/>
                              </a:rPr>
                              <m:t>&amp;</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e>
                            </m:acc>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𝜀</m:t>
                            </m:r>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func>
                                  <m:func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funcPr>
                                  <m:fName>
                                    <m:f>
                                      <m:f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fPr>
                                      <m:num>
                                        <m:r>
                                          <a:rPr kumimoji="0" lang="en-US" b="0" i="1" u="none" strike="noStrike" kern="1200" cap="none" spc="0" normalizeH="0" baseline="0" noProof="0">
                                            <a:ln>
                                              <a:noFill/>
                                            </a:ln>
                                            <a:solidFill>
                                              <a:prstClr val="black"/>
                                            </a:solidFill>
                                            <a:effectLst/>
                                            <a:uLnTx/>
                                            <a:uFillTx/>
                                            <a:latin typeface="Cambria Math" panose="02040503050406030204" pitchFamily="18" charset="0"/>
                                          </a:rPr>
                                          <m:t>𝜎</m:t>
                                        </m:r>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num>
                                      <m:den>
                                        <m:r>
                                          <a:rPr kumimoji="0" lang="en-US" b="0" i="0" u="none" strike="noStrike" kern="1200" cap="none" spc="0" normalizeH="0" baseline="0" noProof="0">
                                            <a:ln>
                                              <a:noFill/>
                                            </a:ln>
                                            <a:solidFill>
                                              <a:prstClr val="black"/>
                                            </a:solidFill>
                                            <a:effectLst/>
                                            <a:uLnTx/>
                                            <a:uFillTx/>
                                            <a:latin typeface="Cambria Math" panose="02040503050406030204" pitchFamily="18" charset="0"/>
                                          </a:rPr>
                                          <m:t>2</m:t>
                                        </m:r>
                                      </m:den>
                                    </m:f>
                                  </m:fName>
                                  <m:e>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Pr>
                                      <m:num>
                                        <m:r>
                                          <a:rPr kumimoji="0" lang="en-US" b="0" i="0" u="none" strike="noStrike" kern="1200" cap="none" spc="0" normalizeH="0" baseline="0" noProof="0">
                                            <a:ln>
                                              <a:noFill/>
                                            </a:ln>
                                            <a:solidFill>
                                              <a:prstClr val="black"/>
                                            </a:solidFill>
                                            <a:effectLst/>
                                            <a:uLnTx/>
                                            <a:uFillTx/>
                                            <a:latin typeface="Cambria Math" panose="02040503050406030204" pitchFamily="18" charset="0"/>
                                          </a:rPr>
                                          <m:t>3</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𝛼</m:t>
                                        </m:r>
                                      </m:num>
                                      <m:den>
                                        <m:sSup>
                                          <m:sSup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sSupPr>
                                          <m:e>
                                            <m:sSub>
                                              <m:sSub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0" u="none" strike="noStrike" kern="1200" cap="none" spc="0" normalizeH="0" baseline="0" noProof="0">
                                                    <a:ln>
                                                      <a:noFill/>
                                                    </a:ln>
                                                    <a:solidFill>
                                                      <a:prstClr val="black"/>
                                                    </a:solidFill>
                                                    <a:effectLst/>
                                                    <a:uLnTx/>
                                                    <a:uFillTx/>
                                                    <a:latin typeface="Cambria Math" panose="02040503050406030204" pitchFamily="18" charset="0"/>
                                                  </a:rPr>
                                                  <m:t>4</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𝑣</m:t>
                                                </m:r>
                                              </m:sub>
                                            </m:sSub>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2</m:t>
                                            </m:r>
                                          </m:sup>
                                        </m:sSup>
                                      </m:den>
                                    </m:f>
                                    <m:sSup>
                                      <m:sSup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sSupPr>
                                      <m:e>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3</m:t>
                                        </m:r>
                                      </m:sup>
                                    </m:sSup>
                                  </m:e>
                                </m:func>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fPr>
                                  <m:num>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𝑣</m:t>
                                        </m:r>
                                      </m:sub>
                                    </m:sSub>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sub>
                                    </m:sSub>
                                  </m:num>
                                  <m:den>
                                    <m:r>
                                      <a:rPr kumimoji="0" lang="en-US" b="0" i="0" u="none" strike="noStrike" kern="1200" cap="none" spc="0" normalizeH="0" baseline="0" noProof="0">
                                        <a:ln>
                                          <a:noFill/>
                                        </a:ln>
                                        <a:solidFill>
                                          <a:prstClr val="black"/>
                                        </a:solidFill>
                                        <a:effectLst/>
                                        <a:uLnTx/>
                                        <a:uFillTx/>
                                        <a:latin typeface="Cambria Math" panose="02040503050406030204" pitchFamily="18" charset="0"/>
                                      </a:rPr>
                                      <m:t>2ᴨ</m:t>
                                    </m:r>
                                    <m:rad>
                                      <m:radPr>
                                        <m:degHide m:val="on"/>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radPr>
                                      <m:deg/>
                                      <m:e>
                                        <m:r>
                                          <a:rPr kumimoji="0" lang="en-US" b="0" i="0" u="none" strike="noStrike" kern="1200" cap="none" spc="0" normalizeH="0" baseline="0" noProof="0">
                                            <a:ln>
                                              <a:noFill/>
                                            </a:ln>
                                            <a:solidFill>
                                              <a:prstClr val="black"/>
                                            </a:solidFill>
                                            <a:effectLst/>
                                            <a:uLnTx/>
                                            <a:uFillTx/>
                                            <a:latin typeface="Cambria Math" panose="02040503050406030204" pitchFamily="18" charset="0"/>
                                          </a:rPr>
                                          <m:t>2</m:t>
                                        </m:r>
                                      </m:e>
                                    </m:rad>
                                  </m:den>
                                </m:f>
                                <m:nary>
                                  <m:naryPr>
                                    <m:limLoc m:val="subSup"/>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naryPr>
                                  <m:sub>
                                    <m:r>
                                      <a:rPr kumimoji="0" lang="en-US" b="0" i="0" u="none" strike="noStrike" kern="1200" cap="none" spc="0" normalizeH="0" baseline="0" noProof="0">
                                        <a:ln>
                                          <a:noFill/>
                                        </a:ln>
                                        <a:solidFill>
                                          <a:prstClr val="black"/>
                                        </a:solidFill>
                                        <a:effectLst/>
                                        <a:uLnTx/>
                                        <a:uFillTx/>
                                        <a:latin typeface="Cambria Math" panose="02040503050406030204" pitchFamily="18" charset="0"/>
                                      </a:rPr>
                                      <m:t>0</m:t>
                                    </m:r>
                                  </m:sub>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2ᴨ</m:t>
                                    </m:r>
                                  </m:sup>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e>
                                    </m:d>
                                  </m:e>
                                </m:nary>
                                <m:func>
                                  <m:func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uncPr>
                                  <m:fName>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rPr>
                                      <m:t>cos</m:t>
                                    </m:r>
                                  </m:fName>
                                  <m:e>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sSup>
                                              <m:sSup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𝜃</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acc>
                                      </m:e>
                                    </m:d>
                                  </m:e>
                                </m:func>
                                <m:r>
                                  <a:rPr kumimoji="0" lang="en-US" b="0" i="1" u="none" strike="noStrike" kern="1200" cap="none" spc="0" normalizeH="0" baseline="0" noProof="0">
                                    <a:ln>
                                      <a:noFill/>
                                    </a:ln>
                                    <a:solidFill>
                                      <a:prstClr val="black"/>
                                    </a:solidFill>
                                    <a:effectLst/>
                                    <a:uLnTx/>
                                    <a:uFillTx/>
                                    <a:latin typeface="Cambria Math" panose="02040503050406030204" pitchFamily="18" charset="0"/>
                                  </a:rPr>
                                  <m:t>𝑑</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e>
                            </m:d>
                          </m:e>
                          <m:e>
                            <m:r>
                              <a:rPr kumimoji="0" lang="en-US" b="0" i="0" u="none" strike="noStrike" kern="1200" cap="none" spc="0" normalizeH="0" baseline="0" noProof="0">
                                <a:ln>
                                  <a:noFill/>
                                </a:ln>
                                <a:solidFill>
                                  <a:prstClr val="black"/>
                                </a:solidFill>
                                <a:effectLst/>
                                <a:uLnTx/>
                                <a:uFillTx/>
                                <a:latin typeface="Cambria Math" panose="02040503050406030204" pitchFamily="18" charset="0"/>
                              </a:rPr>
                              <m:t>&amp;                                       </m:t>
                            </m:r>
                          </m:e>
                          <m:e>
                            <m:r>
                              <a:rPr kumimoji="0" lang="en-US" b="0" i="0" u="none" strike="noStrike" kern="1200" cap="none" spc="0" normalizeH="0" baseline="0" noProof="0">
                                <a:ln>
                                  <a:noFill/>
                                </a:ln>
                                <a:solidFill>
                                  <a:prstClr val="black"/>
                                </a:solidFill>
                                <a:effectLst/>
                                <a:uLnTx/>
                                <a:uFillTx/>
                                <a:latin typeface="Cambria Math" panose="02040503050406030204" pitchFamily="18" charset="0"/>
                              </a:rPr>
                              <m:t>&amp;</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sSup>
                                      <m:sSupPr>
                                        <m:ctrlPr>
                                          <a:rPr lang="en-US">
                                            <a:solidFill>
                                              <a:prstClr val="black"/>
                                            </a:solidFill>
                                            <a:latin typeface="Cambria Math" panose="02040503050406030204" pitchFamily="18" charset="0"/>
                                          </a:rPr>
                                        </m:ctrlPr>
                                      </m:sSupPr>
                                      <m:e>
                                        <m:r>
                                          <a:rPr lang="en-US">
                                            <a:solidFill>
                                              <a:prstClr val="black"/>
                                            </a:solidFill>
                                            <a:latin typeface="Cambria Math" panose="02040503050406030204" pitchFamily="18" charset="0"/>
                                          </a:rPr>
                                          <m:t>ɸ</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acc>
                              </m:e>
                            </m:acc>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r>
                              <a:rPr lang="vi-VN" i="1">
                                <a:solidFill>
                                  <a:prstClr val="black"/>
                                </a:solidFill>
                                <a:latin typeface="Cambria Math" panose="02040503050406030204" pitchFamily="18" charset="0"/>
                              </a:rPr>
                              <m:t>1</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fPr>
                              <m:num>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𝑣</m:t>
                                    </m:r>
                                  </m:sub>
                                </m:sSub>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sub>
                                </m:sSub>
                                <m:r>
                                  <a:rPr lang="en-US" i="1">
                                    <a:solidFill>
                                      <a:prstClr val="black"/>
                                    </a:solidFill>
                                    <a:latin typeface="Cambria Math" panose="02040503050406030204" pitchFamily="18" charset="0"/>
                                  </a:rPr>
                                  <m:t>𝜀</m:t>
                                </m:r>
                              </m:num>
                              <m:den>
                                <m:r>
                                  <a:rPr kumimoji="0" lang="en-US" b="0" i="0" u="none" strike="noStrike" kern="1200" cap="none" spc="0" normalizeH="0" baseline="0" noProof="0">
                                    <a:ln>
                                      <a:noFill/>
                                    </a:ln>
                                    <a:solidFill>
                                      <a:prstClr val="black"/>
                                    </a:solidFill>
                                    <a:effectLst/>
                                    <a:uLnTx/>
                                    <a:uFillTx/>
                                    <a:latin typeface="Cambria Math" panose="02040503050406030204" pitchFamily="18" charset="0"/>
                                  </a:rPr>
                                  <m:t>2ᴨ</m:t>
                                </m:r>
                                <m:rad>
                                  <m:radPr>
                                    <m:degHide m:val="on"/>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radPr>
                                  <m:deg/>
                                  <m:e>
                                    <m:r>
                                      <a:rPr kumimoji="0" lang="en-US" b="0" i="0" u="none" strike="noStrike" kern="1200" cap="none" spc="0" normalizeH="0" baseline="0" noProof="0">
                                        <a:ln>
                                          <a:noFill/>
                                        </a:ln>
                                        <a:solidFill>
                                          <a:prstClr val="black"/>
                                        </a:solidFill>
                                        <a:effectLst/>
                                        <a:uLnTx/>
                                        <a:uFillTx/>
                                        <a:latin typeface="Cambria Math" panose="02040503050406030204" pitchFamily="18" charset="0"/>
                                      </a:rPr>
                                      <m:t>2</m:t>
                                    </m:r>
                                  </m:e>
                                </m:rad>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den>
                            </m:f>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nary>
                                  <m:naryPr>
                                    <m:limLoc m:val="subSup"/>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naryPr>
                                  <m:sub>
                                    <m:r>
                                      <a:rPr kumimoji="0" lang="en-US" b="0" i="0" u="none" strike="noStrike" kern="1200" cap="none" spc="0" normalizeH="0" baseline="0" noProof="0">
                                        <a:ln>
                                          <a:noFill/>
                                        </a:ln>
                                        <a:solidFill>
                                          <a:prstClr val="black"/>
                                        </a:solidFill>
                                        <a:effectLst/>
                                        <a:uLnTx/>
                                        <a:uFillTx/>
                                        <a:latin typeface="Cambria Math" panose="02040503050406030204" pitchFamily="18" charset="0"/>
                                      </a:rPr>
                                      <m:t>0</m:t>
                                    </m:r>
                                  </m:sub>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2ᴨ</m:t>
                                    </m:r>
                                  </m:sup>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e>
                                    </m:d>
                                  </m:e>
                                </m:nary>
                                <m:func>
                                  <m:func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uncPr>
                                  <m:fName>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rPr>
                                      <m:t>sin</m:t>
                                    </m:r>
                                  </m:fName>
                                  <m:e>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sSup>
                                              <m:sSup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𝜃</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acc>
                                      </m:e>
                                    </m:d>
                                  </m:e>
                                </m:func>
                                <m:r>
                                  <a:rPr kumimoji="0" lang="en-US" b="0" i="1" u="none" strike="noStrike" kern="1200" cap="none" spc="0" normalizeH="0" baseline="0" noProof="0">
                                    <a:ln>
                                      <a:noFill/>
                                    </a:ln>
                                    <a:solidFill>
                                      <a:prstClr val="black"/>
                                    </a:solidFill>
                                    <a:effectLst/>
                                    <a:uLnTx/>
                                    <a:uFillTx/>
                                    <a:latin typeface="Cambria Math" panose="02040503050406030204" pitchFamily="18" charset="0"/>
                                  </a:rPr>
                                  <m:t>𝑑</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e>
                            </m:d>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e>
                        </m:eqArr>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e>
                    </m:d>
                  </m:oMath>
                </a14:m>
                <a:endParaRPr kumimoji="0" lang="en-US" b="0" i="0" u="none" strike="noStrike" kern="1200" cap="none" spc="0" normalizeH="0" baseline="0" noProof="0">
                  <a:ln>
                    <a:noFill/>
                  </a:ln>
                  <a:solidFill>
                    <a:prstClr val="black"/>
                  </a:solidFill>
                  <a:effectLst/>
                  <a:uLnTx/>
                  <a:uFillTx/>
                  <a:latin typeface="Arial" panose="020B0604020202020204"/>
                </a:endParaRPr>
              </a:p>
            </p:txBody>
          </p:sp>
        </mc:Choice>
        <mc:Fallback xmlns="">
          <p:sp>
            <p:nvSpPr>
              <p:cNvPr id="16" name="TextBox 12">
                <a:extLst>
                  <a:ext uri="{FF2B5EF4-FFF2-40B4-BE49-F238E27FC236}">
                    <a16:creationId xmlns:a16="http://schemas.microsoft.com/office/drawing/2014/main" id="{FC8F6BEA-7F03-379B-C490-18EE5996BADD}"/>
                  </a:ext>
                </a:extLst>
              </p:cNvPr>
              <p:cNvSpPr txBox="1">
                <a:spLocks noRot="1" noChangeAspect="1" noMove="1" noResize="1" noEditPoints="1" noAdjustHandles="1" noChangeArrowheads="1" noChangeShapeType="1" noTextEdit="1"/>
              </p:cNvSpPr>
              <p:nvPr/>
            </p:nvSpPr>
            <p:spPr>
              <a:xfrm>
                <a:off x="525171" y="2909745"/>
                <a:ext cx="5570829" cy="1128899"/>
              </a:xfrm>
              <a:prstGeom prst="rect">
                <a:avLst/>
              </a:prstGeom>
              <a:blipFill>
                <a:blip r:embed="rId3"/>
                <a:stretch>
                  <a:fillRect/>
                </a:stretch>
              </a:blipFill>
            </p:spPr>
            <p:txBody>
              <a:bodyPr/>
              <a:lstStyle/>
              <a:p>
                <a:r>
                  <a:rPr lang="vi-VN">
                    <a:noFill/>
                  </a:rPr>
                  <a:t> </a:t>
                </a:r>
              </a:p>
            </p:txBody>
          </p:sp>
        </mc:Fallback>
      </mc:AlternateContent>
      <p:sp>
        <p:nvSpPr>
          <p:cNvPr id="18" name="Hộp Văn bản 17">
            <a:extLst>
              <a:ext uri="{FF2B5EF4-FFF2-40B4-BE49-F238E27FC236}">
                <a16:creationId xmlns:a16="http://schemas.microsoft.com/office/drawing/2014/main" id="{CDC9B055-7355-A093-CB57-FF28CDA50158}"/>
              </a:ext>
            </a:extLst>
          </p:cNvPr>
          <p:cNvSpPr txBox="1"/>
          <p:nvPr/>
        </p:nvSpPr>
        <p:spPr>
          <a:xfrm>
            <a:off x="525171" y="4205632"/>
            <a:ext cx="3958888" cy="707886"/>
          </a:xfrm>
          <a:prstGeom prst="rect">
            <a:avLst/>
          </a:prstGeom>
          <a:noFill/>
        </p:spPr>
        <p:txBody>
          <a:bodyPr wrap="square">
            <a:spAutoFit/>
          </a:bodyPr>
          <a:lstStyle/>
          <a:p>
            <a:r>
              <a:rPr lang="vi-VN" sz="2000"/>
              <a:t>- So sánh với bộ VOC thông </a:t>
            </a:r>
            <a:r>
              <a:rPr lang="vi-VN" sz="2000" err="1"/>
              <a:t>thuờng</a:t>
            </a:r>
            <a:r>
              <a:rPr lang="vi-VN" sz="2000"/>
              <a:t>:</a:t>
            </a:r>
          </a:p>
        </p:txBody>
      </p:sp>
      <mc:AlternateContent xmlns:mc="http://schemas.openxmlformats.org/markup-compatibility/2006" xmlns:a14="http://schemas.microsoft.com/office/drawing/2010/main">
        <mc:Choice Requires="a14">
          <p:sp>
            <p:nvSpPr>
              <p:cNvPr id="20" name="TextBox 14">
                <a:extLst>
                  <a:ext uri="{FF2B5EF4-FFF2-40B4-BE49-F238E27FC236}">
                    <a16:creationId xmlns:a16="http://schemas.microsoft.com/office/drawing/2014/main" id="{DA26040F-3DE6-7FA4-41A5-5BEA848824EE}"/>
                  </a:ext>
                </a:extLst>
              </p:cNvPr>
              <p:cNvSpPr txBox="1"/>
              <p:nvPr/>
            </p:nvSpPr>
            <p:spPr>
              <a:xfrm>
                <a:off x="4484059" y="4038644"/>
                <a:ext cx="5661889" cy="1474827"/>
              </a:xfrm>
              <a:prstGeom prst="rect">
                <a:avLst/>
              </a:prstGeom>
              <a:noFill/>
            </p:spPr>
            <p:txBody>
              <a:bodyPr wrap="square">
                <a:spAutoFit/>
              </a:bodyPr>
              <a:lstStyle/>
              <a:p>
                <a:pPr lvl="0">
                  <a:defRPr/>
                </a:pPr>
                <a14:m>
                  <m:oMathPara xmlns:m="http://schemas.openxmlformats.org/officeDocument/2006/math">
                    <m:oMath>
                      <m:d>
                        <m:dPr>
                          <m:begChr m:val="{"/>
                          <m:end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dPr>
                        <m:e>
                          <m:eqArr>
                            <m:eqArr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eqArrPr>
                            <m:e>
                              <m:r>
                                <a:rPr kumimoji="0" lang="en-US" b="0" i="0" u="none" strike="noStrike" kern="1200" cap="none" spc="0" normalizeH="0" baseline="0" noProof="0">
                                  <a:ln>
                                    <a:noFill/>
                                  </a:ln>
                                  <a:solidFill>
                                    <a:prstClr val="black"/>
                                  </a:solidFill>
                                  <a:effectLst/>
                                  <a:uLnTx/>
                                  <a:uFillTx/>
                                  <a:latin typeface="Cambria Math" panose="02040503050406030204" pitchFamily="18" charset="0"/>
                                </a:rPr>
                                <m:t>&amp;</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e>
                              </m:acc>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𝜀</m:t>
                              </m:r>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func>
                                    <m:func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funcPr>
                                    <m:fName>
                                      <m:f>
                                        <m:f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fPr>
                                        <m:num>
                                          <m:r>
                                            <a:rPr kumimoji="0" lang="en-US" b="0" i="1" u="none" strike="noStrike" kern="1200" cap="none" spc="0" normalizeH="0" baseline="0" noProof="0">
                                              <a:ln>
                                                <a:noFill/>
                                              </a:ln>
                                              <a:solidFill>
                                                <a:prstClr val="black"/>
                                              </a:solidFill>
                                              <a:effectLst/>
                                              <a:uLnTx/>
                                              <a:uFillTx/>
                                              <a:latin typeface="Cambria Math" panose="02040503050406030204" pitchFamily="18" charset="0"/>
                                            </a:rPr>
                                            <m:t>𝜎</m:t>
                                          </m:r>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num>
                                        <m:den>
                                          <m:r>
                                            <a:rPr kumimoji="0" lang="en-US" b="0" i="0" u="none" strike="noStrike" kern="1200" cap="none" spc="0" normalizeH="0" baseline="0" noProof="0">
                                              <a:ln>
                                                <a:noFill/>
                                              </a:ln>
                                              <a:solidFill>
                                                <a:prstClr val="black"/>
                                              </a:solidFill>
                                              <a:effectLst/>
                                              <a:uLnTx/>
                                              <a:uFillTx/>
                                              <a:latin typeface="Cambria Math" panose="02040503050406030204" pitchFamily="18" charset="0"/>
                                            </a:rPr>
                                            <m:t>2</m:t>
                                          </m:r>
                                        </m:den>
                                      </m:f>
                                    </m:fName>
                                    <m:e>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Pr>
                                        <m:num>
                                          <m:r>
                                            <a:rPr kumimoji="0" lang="en-US" b="0" i="0" u="none" strike="noStrike" kern="1200" cap="none" spc="0" normalizeH="0" baseline="0" noProof="0">
                                              <a:ln>
                                                <a:noFill/>
                                              </a:ln>
                                              <a:solidFill>
                                                <a:prstClr val="black"/>
                                              </a:solidFill>
                                              <a:effectLst/>
                                              <a:uLnTx/>
                                              <a:uFillTx/>
                                              <a:latin typeface="Cambria Math" panose="02040503050406030204" pitchFamily="18" charset="0"/>
                                            </a:rPr>
                                            <m:t>3</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𝛼</m:t>
                                          </m:r>
                                        </m:num>
                                        <m:den>
                                          <m:sSup>
                                            <m:sSup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sSupPr>
                                            <m:e>
                                              <m:sSub>
                                                <m:sSub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0" u="none" strike="noStrike" kern="1200" cap="none" spc="0" normalizeH="0" baseline="0" noProof="0">
                                                      <a:ln>
                                                        <a:noFill/>
                                                      </a:ln>
                                                      <a:solidFill>
                                                        <a:prstClr val="black"/>
                                                      </a:solidFill>
                                                      <a:effectLst/>
                                                      <a:uLnTx/>
                                                      <a:uFillTx/>
                                                      <a:latin typeface="Cambria Math" panose="02040503050406030204" pitchFamily="18" charset="0"/>
                                                    </a:rPr>
                                                    <m:t>4</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𝑣</m:t>
                                                  </m:r>
                                                </m:sub>
                                              </m:sSub>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2</m:t>
                                              </m:r>
                                            </m:sup>
                                          </m:sSup>
                                        </m:den>
                                      </m:f>
                                      <m:sSup>
                                        <m:sSup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sSupPr>
                                        <m:e>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3</m:t>
                                          </m:r>
                                        </m:sup>
                                      </m:sSup>
                                    </m:e>
                                  </m:func>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fPr>
                                    <m:num>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𝑣</m:t>
                                          </m:r>
                                        </m:sub>
                                      </m:sSub>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sub>
                                      </m:sSub>
                                    </m:num>
                                    <m:den>
                                      <m:r>
                                        <a:rPr kumimoji="0" lang="en-US" b="0" i="0" u="none" strike="noStrike" kern="1200" cap="none" spc="0" normalizeH="0" baseline="0" noProof="0">
                                          <a:ln>
                                            <a:noFill/>
                                          </a:ln>
                                          <a:solidFill>
                                            <a:prstClr val="black"/>
                                          </a:solidFill>
                                          <a:effectLst/>
                                          <a:uLnTx/>
                                          <a:uFillTx/>
                                          <a:latin typeface="Cambria Math" panose="02040503050406030204" pitchFamily="18" charset="0"/>
                                        </a:rPr>
                                        <m:t>2ᴨ</m:t>
                                      </m:r>
                                      <m:rad>
                                        <m:radPr>
                                          <m:degHide m:val="on"/>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radPr>
                                        <m:deg/>
                                        <m:e>
                                          <m:r>
                                            <a:rPr kumimoji="0" lang="en-US" b="0" i="0" u="none" strike="noStrike" kern="1200" cap="none" spc="0" normalizeH="0" baseline="0" noProof="0">
                                              <a:ln>
                                                <a:noFill/>
                                              </a:ln>
                                              <a:solidFill>
                                                <a:prstClr val="black"/>
                                              </a:solidFill>
                                              <a:effectLst/>
                                              <a:uLnTx/>
                                              <a:uFillTx/>
                                              <a:latin typeface="Cambria Math" panose="02040503050406030204" pitchFamily="18" charset="0"/>
                                            </a:rPr>
                                            <m:t>2</m:t>
                                          </m:r>
                                        </m:e>
                                      </m:rad>
                                    </m:den>
                                  </m:f>
                                  <m:nary>
                                    <m:naryPr>
                                      <m:limLoc m:val="subSup"/>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naryPr>
                                    <m:sub>
                                      <m:r>
                                        <a:rPr kumimoji="0" lang="en-US" b="0" i="0" u="none" strike="noStrike" kern="1200" cap="none" spc="0" normalizeH="0" baseline="0" noProof="0">
                                          <a:ln>
                                            <a:noFill/>
                                          </a:ln>
                                          <a:solidFill>
                                            <a:prstClr val="black"/>
                                          </a:solidFill>
                                          <a:effectLst/>
                                          <a:uLnTx/>
                                          <a:uFillTx/>
                                          <a:latin typeface="Cambria Math" panose="02040503050406030204" pitchFamily="18" charset="0"/>
                                        </a:rPr>
                                        <m:t>0</m:t>
                                      </m:r>
                                    </m:sub>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2ᴨ</m:t>
                                      </m:r>
                                    </m:sup>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e>
                                      </m:d>
                                    </m:e>
                                  </m:nary>
                                  <m:func>
                                    <m:func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uncPr>
                                    <m:fName>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rPr>
                                        <m:t>cos</m:t>
                                      </m:r>
                                    </m:fName>
                                    <m:e>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sSup>
                                                <m:sSup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𝜃</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acc>
                                        </m:e>
                                      </m:d>
                                    </m:e>
                                  </m:func>
                                  <m:r>
                                    <a:rPr kumimoji="0" lang="en-US" b="0" i="1" u="none" strike="noStrike" kern="1200" cap="none" spc="0" normalizeH="0" baseline="0" noProof="0">
                                      <a:ln>
                                        <a:noFill/>
                                      </a:ln>
                                      <a:solidFill>
                                        <a:prstClr val="black"/>
                                      </a:solidFill>
                                      <a:effectLst/>
                                      <a:uLnTx/>
                                      <a:uFillTx/>
                                      <a:latin typeface="Cambria Math" panose="02040503050406030204" pitchFamily="18" charset="0"/>
                                    </a:rPr>
                                    <m:t>𝑑</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e>
                              </m:d>
                            </m:e>
                            <m:e>
                              <m:r>
                                <a:rPr kumimoji="0" lang="en-US" b="0" i="0" u="none" strike="noStrike" kern="1200" cap="none" spc="0" normalizeH="0" baseline="0" noProof="0">
                                  <a:ln>
                                    <a:noFill/>
                                  </a:ln>
                                  <a:solidFill>
                                    <a:prstClr val="black"/>
                                  </a:solidFill>
                                  <a:effectLst/>
                                  <a:uLnTx/>
                                  <a:uFillTx/>
                                  <a:latin typeface="Cambria Math" panose="02040503050406030204" pitchFamily="18" charset="0"/>
                                </a:rPr>
                                <m:t>&amp;                                       </m:t>
                              </m:r>
                            </m:e>
                            <m:e>
                              <m:r>
                                <a:rPr kumimoji="0" lang="en-US" b="0" i="0" u="none" strike="noStrike" kern="1200" cap="none" spc="0" normalizeH="0" baseline="0" noProof="0">
                                  <a:ln>
                                    <a:noFill/>
                                  </a:ln>
                                  <a:solidFill>
                                    <a:prstClr val="black"/>
                                  </a:solidFill>
                                  <a:effectLst/>
                                  <a:uLnTx/>
                                  <a:uFillTx/>
                                  <a:latin typeface="Cambria Math" panose="02040503050406030204" pitchFamily="18" charset="0"/>
                                </a:rPr>
                                <m:t>&amp;</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sSup>
                                        <m:sSupPr>
                                          <m:ctrlPr>
                                            <a:rPr lang="en-US">
                                              <a:solidFill>
                                                <a:prstClr val="black"/>
                                              </a:solidFill>
                                              <a:latin typeface="Cambria Math" panose="02040503050406030204" pitchFamily="18" charset="0"/>
                                            </a:rPr>
                                          </m:ctrlPr>
                                        </m:sSupPr>
                                        <m:e>
                                          <m:r>
                                            <a:rPr lang="en-US">
                                              <a:solidFill>
                                                <a:prstClr val="black"/>
                                              </a:solidFill>
                                              <a:latin typeface="Cambria Math" panose="02040503050406030204" pitchFamily="18" charset="0"/>
                                            </a:rPr>
                                            <m:t>ɸ</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acc>
                                </m:e>
                              </m:acc>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r>
                                <a:rPr lang="vi-VN" i="1">
                                  <a:solidFill>
                                    <a:prstClr val="black"/>
                                  </a:solidFill>
                                  <a:latin typeface="Cambria Math" panose="02040503050406030204" pitchFamily="18" charset="0"/>
                                </a:rPr>
                                <m:t>1</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fPr>
                                <m:num>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𝑣</m:t>
                                      </m:r>
                                    </m:sub>
                                  </m:sSub>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𝑘</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sub>
                                  </m:sSub>
                                  <m:r>
                                    <a:rPr lang="en-US" i="1">
                                      <a:solidFill>
                                        <a:prstClr val="black"/>
                                      </a:solidFill>
                                      <a:latin typeface="Cambria Math" panose="02040503050406030204" pitchFamily="18" charset="0"/>
                                    </a:rPr>
                                    <m:t>𝜀</m:t>
                                  </m:r>
                                </m:num>
                                <m:den>
                                  <m:r>
                                    <a:rPr kumimoji="0" lang="en-US" b="0" i="0" u="none" strike="noStrike" kern="1200" cap="none" spc="0" normalizeH="0" baseline="0" noProof="0">
                                      <a:ln>
                                        <a:noFill/>
                                      </a:ln>
                                      <a:solidFill>
                                        <a:prstClr val="black"/>
                                      </a:solidFill>
                                      <a:effectLst/>
                                      <a:uLnTx/>
                                      <a:uFillTx/>
                                      <a:latin typeface="Cambria Math" panose="02040503050406030204" pitchFamily="18" charset="0"/>
                                    </a:rPr>
                                    <m:t>2ᴨ</m:t>
                                  </m:r>
                                  <m:rad>
                                    <m:radPr>
                                      <m:degHide m:val="on"/>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radPr>
                                    <m:deg/>
                                    <m:e>
                                      <m:r>
                                        <a:rPr kumimoji="0" lang="en-US" b="0" i="0" u="none" strike="noStrike" kern="1200" cap="none" spc="0" normalizeH="0" baseline="0" noProof="0">
                                          <a:ln>
                                            <a:noFill/>
                                          </a:ln>
                                          <a:solidFill>
                                            <a:prstClr val="black"/>
                                          </a:solidFill>
                                          <a:effectLst/>
                                          <a:uLnTx/>
                                          <a:uFillTx/>
                                          <a:latin typeface="Cambria Math" panose="02040503050406030204" pitchFamily="18" charset="0"/>
                                        </a:rPr>
                                        <m:t>2</m:t>
                                      </m:r>
                                    </m:e>
                                  </m:rad>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𝑉</m:t>
                                      </m:r>
                                    </m:e>
                                  </m:acc>
                                </m:den>
                              </m:f>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nary>
                                    <m:naryPr>
                                      <m:limLoc m:val="subSup"/>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naryPr>
                                    <m:sub>
                                      <m:r>
                                        <a:rPr kumimoji="0" lang="en-US" b="0" i="0" u="none" strike="noStrike" kern="1200" cap="none" spc="0" normalizeH="0" baseline="0" noProof="0">
                                          <a:ln>
                                            <a:noFill/>
                                          </a:ln>
                                          <a:solidFill>
                                            <a:prstClr val="black"/>
                                          </a:solidFill>
                                          <a:effectLst/>
                                          <a:uLnTx/>
                                          <a:uFillTx/>
                                          <a:latin typeface="Cambria Math" panose="02040503050406030204" pitchFamily="18" charset="0"/>
                                        </a:rPr>
                                        <m:t>0</m:t>
                                      </m:r>
                                    </m:sub>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2ᴨ</m:t>
                                      </m:r>
                                    </m:sup>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𝑖</m:t>
                                      </m:r>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e>
                                      </m:d>
                                    </m:e>
                                  </m:nary>
                                  <m:func>
                                    <m:funcPr>
                                      <m:ctrlPr>
                                        <a:rPr kumimoji="0" lang="en-US" b="0" i="0" u="none" strike="noStrike" kern="1200" cap="none" spc="0" normalizeH="0" baseline="0" noProof="0">
                                          <a:ln>
                                            <a:noFill/>
                                          </a:ln>
                                          <a:solidFill>
                                            <a:prstClr val="black"/>
                                          </a:solidFill>
                                          <a:effectLst/>
                                          <a:uLnTx/>
                                          <a:uFillTx/>
                                          <a:latin typeface="Cambria Math" panose="02040503050406030204" pitchFamily="18" charset="0"/>
                                        </a:rPr>
                                      </m:ctrlPr>
                                    </m:funcPr>
                                    <m:fName>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rPr>
                                        <m:t>sin</m:t>
                                      </m:r>
                                    </m:fName>
                                    <m:e>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acc>
                                            <m:accPr>
                                              <m:chr m:val="̅"/>
                                              <m:ctrlPr>
                                                <a:rPr kumimoji="0" lang="en-US" b="0" i="1" u="none" strike="noStrike" kern="1200" cap="none" spc="0" normalizeH="0" baseline="0" noProof="0">
                                                  <a:ln>
                                                    <a:noFill/>
                                                  </a:ln>
                                                  <a:solidFill>
                                                    <a:srgbClr val="836967"/>
                                                  </a:solidFill>
                                                  <a:effectLst/>
                                                  <a:uLnTx/>
                                                  <a:uFillTx/>
                                                  <a:latin typeface="Cambria Math" panose="02040503050406030204" pitchFamily="18" charset="0"/>
                                                </a:rPr>
                                              </m:ctrlPr>
                                            </m:accPr>
                                            <m:e>
                                              <m:sSup>
                                                <m:sSupPr>
                                                  <m:ctrlPr>
                                                    <a:rPr kumimoji="0" lang="en-US"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b="0" i="1" u="none" strike="noStrike" kern="1200" cap="none" spc="0" normalizeH="0" baseline="0" noProof="0">
                                                      <a:ln>
                                                        <a:noFill/>
                                                      </a:ln>
                                                      <a:solidFill>
                                                        <a:prstClr val="black"/>
                                                      </a:solidFill>
                                                      <a:effectLst/>
                                                      <a:uLnTx/>
                                                      <a:uFillTx/>
                                                      <a:latin typeface="Cambria Math" panose="02040503050406030204" pitchFamily="18" charset="0"/>
                                                    </a:rPr>
                                                    <m:t>𝜃</m:t>
                                                  </m:r>
                                                </m:e>
                                                <m:sup>
                                                  <m:r>
                                                    <a:rPr kumimoji="0" lang="en-US" b="0" i="0" u="none" strike="noStrike" kern="1200" cap="none" spc="0" normalizeH="0" baseline="0" noProof="0">
                                                      <a:ln>
                                                        <a:noFill/>
                                                      </a:ln>
                                                      <a:solidFill>
                                                        <a:prstClr val="black"/>
                                                      </a:solidFill>
                                                      <a:effectLst/>
                                                      <a:uLnTx/>
                                                      <a:uFillTx/>
                                                      <a:latin typeface="Cambria Math" panose="02040503050406030204" pitchFamily="18" charset="0"/>
                                                    </a:rPr>
                                                    <m:t>∗</m:t>
                                                  </m:r>
                                                </m:sup>
                                              </m:sSup>
                                            </m:e>
                                          </m:acc>
                                        </m:e>
                                      </m:d>
                                    </m:e>
                                  </m:func>
                                  <m:r>
                                    <a:rPr kumimoji="0" lang="en-US" b="0" i="1" u="none" strike="noStrike" kern="1200" cap="none" spc="0" normalizeH="0" baseline="0" noProof="0">
                                      <a:ln>
                                        <a:noFill/>
                                      </a:ln>
                                      <a:solidFill>
                                        <a:prstClr val="black"/>
                                      </a:solidFill>
                                      <a:effectLst/>
                                      <a:uLnTx/>
                                      <a:uFillTx/>
                                      <a:latin typeface="Cambria Math" panose="02040503050406030204" pitchFamily="18" charset="0"/>
                                    </a:rPr>
                                    <m:t>𝑑</m:t>
                                  </m:r>
                                  <m:r>
                                    <a:rPr kumimoji="0" lang="en-US" b="0" i="1" u="none" strike="noStrike" kern="1200" cap="none" spc="0" normalizeH="0" baseline="0" noProof="0">
                                      <a:ln>
                                        <a:noFill/>
                                      </a:ln>
                                      <a:solidFill>
                                        <a:prstClr val="black"/>
                                      </a:solidFill>
                                      <a:effectLst/>
                                      <a:uLnTx/>
                                      <a:uFillTx/>
                                      <a:latin typeface="Cambria Math" panose="02040503050406030204" pitchFamily="18" charset="0"/>
                                    </a:rPr>
                                    <m:t>𝜏</m:t>
                                  </m:r>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e>
                              </m:d>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e>
                          </m:eqArr>
                          <m:r>
                            <a:rPr kumimoji="0" lang="en-US" b="0" i="0" u="none" strike="noStrike" kern="1200" cap="none" spc="0" normalizeH="0" baseline="0" noProof="0">
                              <a:ln>
                                <a:noFill/>
                              </a:ln>
                              <a:solidFill>
                                <a:prstClr val="black"/>
                              </a:solidFill>
                              <a:effectLst/>
                              <a:uLnTx/>
                              <a:uFillTx/>
                              <a:latin typeface="Cambria Math" panose="02040503050406030204" pitchFamily="18" charset="0"/>
                            </a:rPr>
                            <m:t> </m:t>
                          </m:r>
                        </m:e>
                      </m:d>
                    </m:oMath>
                  </m:oMathPara>
                </a14:m>
                <a:endParaRPr kumimoji="0" lang="en-US" b="0" i="0" u="none" strike="noStrike" kern="1200" cap="none" spc="0" normalizeH="0" baseline="0" noProof="0">
                  <a:ln>
                    <a:noFill/>
                  </a:ln>
                  <a:solidFill>
                    <a:prstClr val="black"/>
                  </a:solidFill>
                  <a:effectLst/>
                  <a:uLnTx/>
                  <a:uFillTx/>
                  <a:latin typeface="Arial" panose="020B0604020202020204"/>
                </a:endParaRPr>
              </a:p>
            </p:txBody>
          </p:sp>
        </mc:Choice>
        <mc:Fallback xmlns="">
          <p:sp>
            <p:nvSpPr>
              <p:cNvPr id="20" name="TextBox 14">
                <a:extLst>
                  <a:ext uri="{FF2B5EF4-FFF2-40B4-BE49-F238E27FC236}">
                    <a16:creationId xmlns:a16="http://schemas.microsoft.com/office/drawing/2014/main" id="{DA26040F-3DE6-7FA4-41A5-5BEA848824EE}"/>
                  </a:ext>
                </a:extLst>
              </p:cNvPr>
              <p:cNvSpPr txBox="1">
                <a:spLocks noRot="1" noChangeAspect="1" noMove="1" noResize="1" noEditPoints="1" noAdjustHandles="1" noChangeArrowheads="1" noChangeShapeType="1" noTextEdit="1"/>
              </p:cNvSpPr>
              <p:nvPr/>
            </p:nvSpPr>
            <p:spPr>
              <a:xfrm>
                <a:off x="4484059" y="4038644"/>
                <a:ext cx="5661889" cy="1474827"/>
              </a:xfrm>
              <a:prstGeom prst="rect">
                <a:avLst/>
              </a:prstGeom>
              <a:blipFill>
                <a:blip r:embed="rId4"/>
                <a:stretch>
                  <a:fillRect/>
                </a:stretch>
              </a:blipFill>
            </p:spPr>
            <p:txBody>
              <a:bodyPr/>
              <a:lstStyle/>
              <a:p>
                <a:r>
                  <a:rPr lang="vi-VN">
                    <a:noFill/>
                  </a:rPr>
                  <a:t> </a:t>
                </a:r>
              </a:p>
            </p:txBody>
          </p:sp>
        </mc:Fallback>
      </mc:AlternateContent>
      <p:sp>
        <p:nvSpPr>
          <p:cNvPr id="22" name="Hộp Văn bản 21">
            <a:extLst>
              <a:ext uri="{FF2B5EF4-FFF2-40B4-BE49-F238E27FC236}">
                <a16:creationId xmlns:a16="http://schemas.microsoft.com/office/drawing/2014/main" id="{5B45250A-1A6E-697D-D084-E7206BA81BBE}"/>
              </a:ext>
            </a:extLst>
          </p:cNvPr>
          <p:cNvSpPr txBox="1"/>
          <p:nvPr/>
        </p:nvSpPr>
        <p:spPr>
          <a:xfrm>
            <a:off x="525171" y="5595293"/>
            <a:ext cx="11371757" cy="707886"/>
          </a:xfrm>
          <a:prstGeom prst="rect">
            <a:avLst/>
          </a:prstGeom>
          <a:noFill/>
        </p:spPr>
        <p:txBody>
          <a:bodyPr wrap="square">
            <a:spAutoFit/>
          </a:bodyPr>
          <a:lstStyle/>
          <a:p>
            <a:r>
              <a:rPr lang="vi-VN" sz="2000"/>
              <a:t>- Ta thấy không có sự khác biệt, do đó việc lựa chọn thông số sẽ như nhau. Nhưng với bộ </a:t>
            </a:r>
            <a:r>
              <a:rPr lang="vi-VN" sz="2000" err="1"/>
              <a:t>vanderpol</a:t>
            </a:r>
            <a:r>
              <a:rPr lang="vi-VN" sz="2000"/>
              <a:t> kiểu mới sẽ không bị ràng buộc thông số tính toán của thành phân sóng hài bậc 3.</a:t>
            </a:r>
          </a:p>
        </p:txBody>
      </p:sp>
    </p:spTree>
    <p:extLst>
      <p:ext uri="{BB962C8B-B14F-4D97-AF65-F5344CB8AC3E}">
        <p14:creationId xmlns:p14="http://schemas.microsoft.com/office/powerpoint/2010/main" val="173731242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B6A7E-4933-C94A-0BE7-308630AEC09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66EFF89-BB87-2661-1FB9-9E45AA6696CD}"/>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1ED49B5C-0A37-9D76-248C-BC436DC5CE46}"/>
              </a:ext>
            </a:extLst>
          </p:cNvPr>
          <p:cNvSpPr>
            <a:spLocks noGrp="1"/>
          </p:cNvSpPr>
          <p:nvPr>
            <p:ph type="sldNum" sz="quarter" idx="12"/>
          </p:nvPr>
        </p:nvSpPr>
        <p:spPr/>
        <p:txBody>
          <a:bodyPr/>
          <a:lstStyle/>
          <a:p>
            <a:fld id="{931DD963-FD40-4A6D-88A9-402A489E81DE}" type="slidenum">
              <a:rPr lang="en-US" smtClean="0"/>
              <a:t>96</a:t>
            </a:fld>
            <a:endParaRPr lang="en-US"/>
          </a:p>
        </p:txBody>
      </p:sp>
      <p:grpSp>
        <p:nvGrpSpPr>
          <p:cNvPr id="10" name="Group 9">
            <a:extLst>
              <a:ext uri="{FF2B5EF4-FFF2-40B4-BE49-F238E27FC236}">
                <a16:creationId xmlns:a16="http://schemas.microsoft.com/office/drawing/2014/main" id="{FBB763A9-1022-3E02-7EBD-8F2A5365784C}"/>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A8115D0A-C21C-46E1-05EE-B175FFB13DFA}"/>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5: </a:t>
              </a:r>
              <a:r>
                <a:rPr lang="vi-VN" sz="2133" b="1">
                  <a:latin typeface="Arial (Body)"/>
                </a:rPr>
                <a:t>GIẢI PHÁP CẢI TIẾN BỘ DAO ĐỘNG VANDERPOL</a:t>
              </a:r>
              <a:endParaRPr lang="en-US" sz="2133" b="1">
                <a:latin typeface="Arial (Body)"/>
              </a:endParaRPr>
            </a:p>
          </p:txBody>
        </p:sp>
        <p:sp>
          <p:nvSpPr>
            <p:cNvPr id="13" name="Rectangle 12">
              <a:extLst>
                <a:ext uri="{FF2B5EF4-FFF2-40B4-BE49-F238E27FC236}">
                  <a16:creationId xmlns:a16="http://schemas.microsoft.com/office/drawing/2014/main" id="{28222312-7F56-539E-45FD-57C53FC40587}"/>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a:t>
              </a:r>
            </a:p>
          </p:txBody>
        </p:sp>
      </p:grpSp>
      <p:sp>
        <p:nvSpPr>
          <p:cNvPr id="4" name="Hộp Văn bản 3">
            <a:extLst>
              <a:ext uri="{FF2B5EF4-FFF2-40B4-BE49-F238E27FC236}">
                <a16:creationId xmlns:a16="http://schemas.microsoft.com/office/drawing/2014/main" id="{ACFCFBBB-7485-5941-B93D-07A17D7ACC0C}"/>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1">
                <a:solidFill>
                  <a:prstClr val="black"/>
                </a:solidFill>
                <a:latin typeface="Times New Roman" panose="02020603050405020304" pitchFamily="18" charset="0"/>
                <a:cs typeface="Times New Roman" panose="02020603050405020304" pitchFamily="18" charset="0"/>
              </a:rPr>
              <a:t>5.2</a:t>
            </a: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a:t>
            </a:r>
            <a:r>
              <a:rPr kumimoji="0" lang="vi-VN"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6" name="Hộp Văn bản 5">
            <a:extLst>
              <a:ext uri="{FF2B5EF4-FFF2-40B4-BE49-F238E27FC236}">
                <a16:creationId xmlns:a16="http://schemas.microsoft.com/office/drawing/2014/main" id="{87EB7E62-C27A-BBCE-B212-9A9E9A3465D9}"/>
              </a:ext>
            </a:extLst>
          </p:cNvPr>
          <p:cNvSpPr txBox="1"/>
          <p:nvPr/>
        </p:nvSpPr>
        <p:spPr>
          <a:xfrm>
            <a:off x="413529" y="1333504"/>
            <a:ext cx="11172114" cy="400110"/>
          </a:xfrm>
          <a:prstGeom prst="rect">
            <a:avLst/>
          </a:prstGeom>
          <a:noFill/>
        </p:spPr>
        <p:txBody>
          <a:bodyPr wrap="square">
            <a:spAutoFit/>
          </a:bodyPr>
          <a:lstStyle/>
          <a:p>
            <a:r>
              <a:rPr lang="vi-VN" sz="2000">
                <a:latin typeface="+mj-lt"/>
              </a:rPr>
              <a:t>- Tiến hành mô phỏng với các tham số bộ VOC, kịch bản giống với mục 4.4:</a:t>
            </a:r>
          </a:p>
        </p:txBody>
      </p:sp>
      <mc:AlternateContent xmlns:mc="http://schemas.openxmlformats.org/markup-compatibility/2006" xmlns:a14="http://schemas.microsoft.com/office/drawing/2010/main">
        <mc:Choice Requires="a14">
          <p:graphicFrame>
            <p:nvGraphicFramePr>
              <p:cNvPr id="7" name="Table 4">
                <a:extLst>
                  <a:ext uri="{FF2B5EF4-FFF2-40B4-BE49-F238E27FC236}">
                    <a16:creationId xmlns:a16="http://schemas.microsoft.com/office/drawing/2014/main" id="{05140199-D419-79F6-5A21-76D7A1C54072}"/>
                  </a:ext>
                </a:extLst>
              </p:cNvPr>
              <p:cNvGraphicFramePr>
                <a:graphicFrameLocks noGrp="1"/>
              </p:cNvGraphicFramePr>
              <p:nvPr>
                <p:extLst>
                  <p:ext uri="{D42A27DB-BD31-4B8C-83A1-F6EECF244321}">
                    <p14:modId xmlns:p14="http://schemas.microsoft.com/office/powerpoint/2010/main" val="3108863595"/>
                  </p:ext>
                </p:extLst>
              </p:nvPr>
            </p:nvGraphicFramePr>
            <p:xfrm>
              <a:off x="1538264" y="2303687"/>
              <a:ext cx="8922644" cy="4151092"/>
            </p:xfrm>
            <a:graphic>
              <a:graphicData uri="http://schemas.openxmlformats.org/drawingml/2006/table">
                <a:tbl>
                  <a:tblPr firstRow="1" bandRow="1">
                    <a:tableStyleId>{7DF18680-E054-41AD-8BC1-D1AEF772440D}</a:tableStyleId>
                  </a:tblPr>
                  <a:tblGrid>
                    <a:gridCol w="1382249">
                      <a:extLst>
                        <a:ext uri="{9D8B030D-6E8A-4147-A177-3AD203B41FA5}">
                          <a16:colId xmlns:a16="http://schemas.microsoft.com/office/drawing/2014/main" val="2099080480"/>
                        </a:ext>
                      </a:extLst>
                    </a:gridCol>
                    <a:gridCol w="3288795">
                      <a:extLst>
                        <a:ext uri="{9D8B030D-6E8A-4147-A177-3AD203B41FA5}">
                          <a16:colId xmlns:a16="http://schemas.microsoft.com/office/drawing/2014/main" val="3807464349"/>
                        </a:ext>
                      </a:extLst>
                    </a:gridCol>
                    <a:gridCol w="2020939">
                      <a:extLst>
                        <a:ext uri="{9D8B030D-6E8A-4147-A177-3AD203B41FA5}">
                          <a16:colId xmlns:a16="http://schemas.microsoft.com/office/drawing/2014/main" val="2047883326"/>
                        </a:ext>
                      </a:extLst>
                    </a:gridCol>
                    <a:gridCol w="2230661">
                      <a:extLst>
                        <a:ext uri="{9D8B030D-6E8A-4147-A177-3AD203B41FA5}">
                          <a16:colId xmlns:a16="http://schemas.microsoft.com/office/drawing/2014/main" val="2230794826"/>
                        </a:ext>
                      </a:extLst>
                    </a:gridCol>
                  </a:tblGrid>
                  <a:tr h="476687">
                    <a:tc>
                      <a:txBody>
                        <a:bodyPr/>
                        <a:lstStyle/>
                        <a:p>
                          <a:pPr marL="205740" marR="0" indent="-6350" algn="just">
                            <a:lnSpc>
                              <a:spcPct val="150000"/>
                            </a:lnSpc>
                            <a:spcBef>
                              <a:spcPts val="300"/>
                            </a:spcBef>
                            <a:spcAft>
                              <a:spcPts val="25"/>
                            </a:spcAft>
                          </a:pPr>
                          <a:r>
                            <a:rPr lang="en-US" sz="2000" b="1" kern="0" err="1">
                              <a:solidFill>
                                <a:srgbClr val="000000"/>
                              </a:solidFill>
                              <a:effectLst/>
                              <a:latin typeface="Times New Roman" panose="02020603050405020304" pitchFamily="18" charset="0"/>
                              <a:ea typeface="Times New Roman" panose="02020603050405020304" pitchFamily="18" charset="0"/>
                            </a:rPr>
                            <a:t>Kí</a:t>
                          </a:r>
                          <a:r>
                            <a:rPr lang="en-US" sz="2000" b="1" kern="0">
                              <a:solidFill>
                                <a:srgbClr val="000000"/>
                              </a:solidFill>
                              <a:effectLst/>
                              <a:latin typeface="Times New Roman" panose="02020603050405020304" pitchFamily="18" charset="0"/>
                              <a:ea typeface="Times New Roman" panose="02020603050405020304" pitchFamily="18" charset="0"/>
                            </a:rPr>
                            <a:t> </a:t>
                          </a:r>
                          <a:r>
                            <a:rPr lang="en-US" sz="2000" b="1" kern="0" err="1">
                              <a:solidFill>
                                <a:srgbClr val="000000"/>
                              </a:solidFill>
                              <a:effectLst/>
                              <a:latin typeface="Times New Roman" panose="02020603050405020304" pitchFamily="18" charset="0"/>
                              <a:ea typeface="Times New Roman" panose="02020603050405020304" pitchFamily="18" charset="0"/>
                            </a:rPr>
                            <a:t>hiệu</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err="1">
                              <a:solidFill>
                                <a:srgbClr val="000000"/>
                              </a:solidFill>
                              <a:effectLst/>
                              <a:latin typeface="Times New Roman" panose="02020603050405020304" pitchFamily="18" charset="0"/>
                              <a:ea typeface="Times New Roman" panose="02020603050405020304" pitchFamily="18" charset="0"/>
                            </a:rPr>
                            <a:t>Tham</a:t>
                          </a:r>
                          <a:r>
                            <a:rPr lang="en-US" sz="2000" b="1" kern="0">
                              <a:solidFill>
                                <a:srgbClr val="000000"/>
                              </a:solidFill>
                              <a:effectLst/>
                              <a:latin typeface="Times New Roman" panose="02020603050405020304" pitchFamily="18" charset="0"/>
                              <a:ea typeface="Times New Roman" panose="02020603050405020304" pitchFamily="18" charset="0"/>
                            </a:rPr>
                            <a:t> </a:t>
                          </a:r>
                          <a:r>
                            <a:rPr lang="en-US" sz="2000" b="1" kern="0" err="1">
                              <a:solidFill>
                                <a:srgbClr val="000000"/>
                              </a:solidFill>
                              <a:effectLst/>
                              <a:latin typeface="Times New Roman" panose="02020603050405020304" pitchFamily="18" charset="0"/>
                              <a:ea typeface="Times New Roman" panose="02020603050405020304" pitchFamily="18" charset="0"/>
                            </a:rPr>
                            <a:t>số</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a:solidFill>
                                <a:srgbClr val="000000"/>
                              </a:solidFill>
                              <a:effectLst/>
                              <a:latin typeface="Times New Roman" panose="02020603050405020304" pitchFamily="18" charset="0"/>
                              <a:ea typeface="Times New Roman" panose="02020603050405020304" pitchFamily="18" charset="0"/>
                            </a:rPr>
                            <a:t>Inverter 1</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a:solidFill>
                                <a:srgbClr val="000000"/>
                              </a:solidFill>
                              <a:effectLst/>
                              <a:latin typeface="Times New Roman" panose="02020603050405020304" pitchFamily="18" charset="0"/>
                              <a:ea typeface="Times New Roman" panose="02020603050405020304" pitchFamily="18" charset="0"/>
                            </a:rPr>
                            <a:t>Inverter 2</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extLst>
                      <a:ext uri="{0D108BD9-81ED-4DB2-BD59-A6C34878D82A}">
                        <a16:rowId xmlns:a16="http://schemas.microsoft.com/office/drawing/2014/main" val="1667104164"/>
                      </a:ext>
                    </a:extLst>
                  </a:tr>
                  <a:tr h="476687">
                    <a:tc>
                      <a:txBody>
                        <a:bodyPr/>
                        <a:lstStyle/>
                        <a:p>
                          <a:pPr marL="205740" marR="0" indent="-6350" algn="ctr">
                            <a:lnSpc>
                              <a:spcPct val="150000"/>
                            </a:lnSpc>
                            <a:spcBef>
                              <a:spcPts val="300"/>
                            </a:spcBef>
                            <a:spcAft>
                              <a:spcPts val="25"/>
                            </a:spcAft>
                          </a:pPr>
                          <a:r>
                            <a:rPr lang="en-US" sz="2000" kern="100">
                              <a:solidFill>
                                <a:srgbClr val="000000"/>
                              </a:solidFill>
                              <a:effectLst/>
                              <a:ea typeface="Times New Roman" panose="02020603050405020304" pitchFamily="18" charset="0"/>
                            </a:rPr>
                            <a:t> </a:t>
                          </a:r>
                          <a14:m>
                            <m:oMath xmlns:m="http://schemas.openxmlformats.org/officeDocument/2006/math">
                              <m:sSub>
                                <m:sSubPr>
                                  <m:ctrlPr>
                                    <a:rPr lang="vi-VN" sz="2000" b="1" i="1" kern="0">
                                      <a:solidFill>
                                        <a:srgbClr val="000000"/>
                                      </a:solidFill>
                                      <a:effectLst/>
                                      <a:latin typeface="Cambria Math" panose="02040503050406030204" pitchFamily="18" charset="0"/>
                                      <a:ea typeface="Times New Roman" panose="02020603050405020304" pitchFamily="18" charset="0"/>
                                    </a:rPr>
                                  </m:ctrlPr>
                                </m:sSubPr>
                                <m:e>
                                  <m:r>
                                    <a:rPr lang="vi-VN" sz="2000" b="1" i="1" kern="0">
                                      <a:solidFill>
                                        <a:srgbClr val="000000"/>
                                      </a:solidFill>
                                      <a:effectLst/>
                                      <a:latin typeface="Cambria Math" panose="02040503050406030204" pitchFamily="18" charset="0"/>
                                      <a:ea typeface="Times New Roman" panose="02020603050405020304" pitchFamily="18" charset="0"/>
                                    </a:rPr>
                                    <m:t>𝒌</m:t>
                                  </m:r>
                                </m:e>
                                <m:sub>
                                  <m:r>
                                    <a:rPr lang="vi-VN" sz="2000" b="1" i="1" kern="0">
                                      <a:solidFill>
                                        <a:srgbClr val="000000"/>
                                      </a:solidFill>
                                      <a:effectLst/>
                                      <a:latin typeface="Cambria Math" panose="02040503050406030204" pitchFamily="18" charset="0"/>
                                      <a:ea typeface="Times New Roman" panose="02020603050405020304" pitchFamily="18" charset="0"/>
                                    </a:rPr>
                                    <m:t>𝒗</m:t>
                                  </m:r>
                                </m:sub>
                              </m:sSub>
                            </m:oMath>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err="1">
                              <a:solidFill>
                                <a:srgbClr val="000000"/>
                              </a:solidFill>
                              <a:effectLst/>
                              <a:latin typeface="Times New Roman" panose="02020603050405020304" pitchFamily="18" charset="0"/>
                              <a:ea typeface="Times New Roman" panose="02020603050405020304" pitchFamily="18" charset="0"/>
                            </a:rPr>
                            <a:t>Hệ</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số</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căn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chỉnh</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điện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áp</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0">
                              <a:solidFill>
                                <a:srgbClr val="000000"/>
                              </a:solidFill>
                              <a:effectLst/>
                              <a:latin typeface="Cambria Math" panose="02040503050406030204" pitchFamily="18" charset="0"/>
                              <a:ea typeface="Times New Roman" panose="02020603050405020304" pitchFamily="18" charset="0"/>
                            </a:rPr>
                            <a:t>225</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0">
                              <a:solidFill>
                                <a:srgbClr val="000000"/>
                              </a:solidFill>
                              <a:effectLst/>
                              <a:latin typeface="Cambria Math" panose="02040503050406030204" pitchFamily="18" charset="0"/>
                              <a:ea typeface="Times New Roman" panose="02020603050405020304" pitchFamily="18" charset="0"/>
                            </a:rPr>
                            <a:t>225</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37835341"/>
                      </a:ext>
                    </a:extLst>
                  </a:tr>
                  <a:tr h="607777">
                    <a:tc>
                      <a:txBody>
                        <a:bodyPr/>
                        <a:lstStyle/>
                        <a:p>
                          <a:pPr marL="205740" marR="0" indent="-6350" algn="ctr">
                            <a:lnSpc>
                              <a:spcPct val="150000"/>
                            </a:lnSpc>
                            <a:spcBef>
                              <a:spcPts val="300"/>
                            </a:spcBef>
                            <a:spcAft>
                              <a:spcPts val="25"/>
                            </a:spcAft>
                          </a:pPr>
                          <a14:m>
                            <m:oMathPara xmlns:m="http://schemas.openxmlformats.org/officeDocument/2006/math">
                              <m:oMath>
                                <m:sSub>
                                  <m:sSubPr>
                                    <m:ctrlPr>
                                      <a:rPr lang="vi-VN" sz="2000" b="1" i="1" kern="0">
                                        <a:solidFill>
                                          <a:srgbClr val="000000"/>
                                        </a:solidFill>
                                        <a:effectLst/>
                                        <a:latin typeface="Cambria Math" panose="02040503050406030204" pitchFamily="18" charset="0"/>
                                        <a:ea typeface="Times New Roman" panose="02020603050405020304" pitchFamily="18" charset="0"/>
                                      </a:rPr>
                                    </m:ctrlPr>
                                  </m:sSubPr>
                                  <m:e>
                                    <m:r>
                                      <a:rPr lang="vi-VN" sz="2000" b="1" i="1" kern="0">
                                        <a:solidFill>
                                          <a:srgbClr val="000000"/>
                                        </a:solidFill>
                                        <a:effectLst/>
                                        <a:latin typeface="Cambria Math" panose="02040503050406030204" pitchFamily="18" charset="0"/>
                                        <a:ea typeface="Times New Roman" panose="02020603050405020304" pitchFamily="18" charset="0"/>
                                      </a:rPr>
                                      <m:t>𝒌</m:t>
                                    </m:r>
                                  </m:e>
                                  <m:sub>
                                    <m:r>
                                      <a:rPr lang="en-US" sz="2000" i="1" kern="0">
                                        <a:solidFill>
                                          <a:srgbClr val="000000"/>
                                        </a:solidFill>
                                        <a:effectLst/>
                                        <a:latin typeface="Cambria Math" panose="02040503050406030204" pitchFamily="18" charset="0"/>
                                        <a:ea typeface="Times New Roman" panose="02020603050405020304" pitchFamily="18" charset="0"/>
                                      </a:rPr>
                                      <m:t>𝑖</m:t>
                                    </m:r>
                                  </m:sub>
                                </m:sSub>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err="1">
                              <a:solidFill>
                                <a:srgbClr val="000000"/>
                              </a:solidFill>
                              <a:effectLst/>
                              <a:latin typeface="Times New Roman" panose="02020603050405020304" pitchFamily="18" charset="0"/>
                              <a:ea typeface="Times New Roman" panose="02020603050405020304" pitchFamily="18" charset="0"/>
                            </a:rPr>
                            <a:t>Hệ</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số</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căn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chỉnh</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dòng</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điện</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100">
                              <a:solidFill>
                                <a:srgbClr val="000000"/>
                              </a:solidFill>
                              <a:effectLst/>
                              <a:ea typeface="Times New Roman" panose="02020603050405020304" pitchFamily="18" charset="0"/>
                            </a:rPr>
                            <a:t>0.293</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2000" i="1" kern="100" smtClean="0">
                                  <a:solidFill>
                                    <a:srgbClr val="000000"/>
                                  </a:solidFill>
                                  <a:effectLst/>
                                  <a:latin typeface="Cambria Math" panose="02040503050406030204" pitchFamily="18" charset="0"/>
                                  <a:ea typeface="Times New Roman" panose="02020603050405020304" pitchFamily="18" charset="0"/>
                                </a:rPr>
                                <m:t>0</m:t>
                              </m:r>
                            </m:oMath>
                          </a14:m>
                          <a:r>
                            <a:rPr lang="vi-VN" sz="2000" kern="100">
                              <a:solidFill>
                                <a:srgbClr val="000000"/>
                              </a:solidFill>
                              <a:effectLst/>
                              <a:latin typeface="Times New Roman" panose="02020603050405020304" pitchFamily="18" charset="0"/>
                              <a:ea typeface="Times New Roman" panose="02020603050405020304" pitchFamily="18" charset="0"/>
                            </a:rPr>
                            <a:t>.293</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41384075"/>
                      </a:ext>
                    </a:extLst>
                  </a:tr>
                  <a:tr h="607777">
                    <a:tc>
                      <a:txBody>
                        <a:bodyPr/>
                        <a:lstStyle/>
                        <a:p>
                          <a:pPr marL="205740" marR="0" indent="-6350" algn="ctr">
                            <a:lnSpc>
                              <a:spcPct val="150000"/>
                            </a:lnSpc>
                            <a:spcBef>
                              <a:spcPts val="300"/>
                            </a:spcBef>
                            <a:spcAft>
                              <a:spcPts val="25"/>
                            </a:spcAft>
                          </a:pPr>
                          <a14:m>
                            <m:oMathPara xmlns:m="http://schemas.openxmlformats.org/officeDocument/2006/math">
                              <m:oMath>
                                <m:r>
                                  <a:rPr lang="en-US" sz="2000" b="1" i="1" kern="0">
                                    <a:solidFill>
                                      <a:srgbClr val="000000"/>
                                    </a:solidFill>
                                    <a:effectLst/>
                                    <a:latin typeface="Cambria Math" panose="02040503050406030204" pitchFamily="18" charset="0"/>
                                    <a:ea typeface="Yu Mincho" panose="02020400000000000000" pitchFamily="18" charset="-128"/>
                                  </a:rPr>
                                  <m:t>𝜶</m:t>
                                </m:r>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Hệ số nguồn dòng phụ thuộc</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2000" i="1" kern="100" smtClean="0">
                                  <a:solidFill>
                                    <a:srgbClr val="000000"/>
                                  </a:solidFill>
                                  <a:effectLst/>
                                  <a:latin typeface="Cambria Math" panose="02040503050406030204" pitchFamily="18" charset="0"/>
                                  <a:ea typeface="Times New Roman" panose="02020603050405020304" pitchFamily="18" charset="0"/>
                                </a:rPr>
                                <m:t>15</m:t>
                              </m:r>
                            </m:oMath>
                          </a14:m>
                          <a:r>
                            <a:rPr lang="vi-VN" sz="2000" kern="100">
                              <a:solidFill>
                                <a:srgbClr val="000000"/>
                              </a:solidFill>
                              <a:effectLst/>
                              <a:latin typeface="Times New Roman" panose="02020603050405020304" pitchFamily="18" charset="0"/>
                              <a:ea typeface="Times New Roman" panose="02020603050405020304" pitchFamily="18" charset="0"/>
                            </a:rPr>
                            <a:t>.51</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2000" i="1" kern="100" smtClean="0">
                                  <a:solidFill>
                                    <a:srgbClr val="000000"/>
                                  </a:solidFill>
                                  <a:effectLst/>
                                  <a:latin typeface="Cambria Math" panose="02040503050406030204" pitchFamily="18" charset="0"/>
                                  <a:ea typeface="Times New Roman" panose="02020603050405020304" pitchFamily="18" charset="0"/>
                                </a:rPr>
                                <m:t>15</m:t>
                              </m:r>
                            </m:oMath>
                          </a14:m>
                          <a:r>
                            <a:rPr lang="vi-VN" sz="2000" kern="100">
                              <a:solidFill>
                                <a:srgbClr val="000000"/>
                              </a:solidFill>
                              <a:effectLst/>
                              <a:latin typeface="Times New Roman" panose="02020603050405020304" pitchFamily="18" charset="0"/>
                              <a:ea typeface="Times New Roman" panose="02020603050405020304" pitchFamily="18" charset="0"/>
                            </a:rPr>
                            <a:t>.51</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603328144"/>
                      </a:ext>
                    </a:extLst>
                  </a:tr>
                  <a:tr h="820660">
                    <a:tc>
                      <a:txBody>
                        <a:bodyPr/>
                        <a:lstStyle/>
                        <a:p>
                          <a:pPr marL="205740" marR="0" indent="-6350" algn="ctr">
                            <a:lnSpc>
                              <a:spcPct val="150000"/>
                            </a:lnSpc>
                            <a:spcBef>
                              <a:spcPts val="300"/>
                            </a:spcBef>
                            <a:spcAft>
                              <a:spcPts val="25"/>
                            </a:spcAft>
                          </a:pPr>
                          <a14:m>
                            <m:oMathPara xmlns:m="http://schemas.openxmlformats.org/officeDocument/2006/math">
                              <m:oMath>
                                <m:r>
                                  <a:rPr lang="en-US" sz="2000" b="1" i="1" kern="0">
                                    <a:solidFill>
                                      <a:srgbClr val="000000"/>
                                    </a:solidFill>
                                    <a:effectLst/>
                                    <a:latin typeface="Cambria Math" panose="02040503050406030204" pitchFamily="18" charset="0"/>
                                    <a:ea typeface="Times New Roman" panose="02020603050405020304" pitchFamily="18" charset="0"/>
                                  </a:rPr>
                                  <m:t>𝝈</m:t>
                                </m:r>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err="1">
                              <a:solidFill>
                                <a:srgbClr val="000000"/>
                              </a:solidFill>
                              <a:effectLst/>
                              <a:latin typeface="Times New Roman" panose="02020603050405020304" pitchFamily="18" charset="0"/>
                              <a:ea typeface="Times New Roman" panose="02020603050405020304" pitchFamily="18" charset="0"/>
                            </a:rPr>
                            <a:t>Điện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dẫn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bộ</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dao</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động</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ảo</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2000" i="1" kern="0" smtClean="0">
                                  <a:solidFill>
                                    <a:srgbClr val="000000"/>
                                  </a:solidFill>
                                  <a:effectLst/>
                                  <a:latin typeface="Cambria Math" panose="02040503050406030204" pitchFamily="18" charset="0"/>
                                  <a:ea typeface="Times New Roman" panose="02020603050405020304" pitchFamily="18" charset="0"/>
                                </a:rPr>
                                <m:t>23</m:t>
                              </m:r>
                            </m:oMath>
                          </a14:m>
                          <a:r>
                            <a:rPr lang="vi-VN" sz="2000" kern="0">
                              <a:solidFill>
                                <a:srgbClr val="000000"/>
                              </a:solidFill>
                              <a:effectLst/>
                              <a:latin typeface="Cambria Math" panose="02040503050406030204" pitchFamily="18" charset="0"/>
                              <a:ea typeface="Times New Roman" panose="02020603050405020304" pitchFamily="18" charset="0"/>
                            </a:rPr>
                            <a:t>.27</a:t>
                          </a:r>
                          <a:r>
                            <a:rPr lang="en-US" sz="2000" kern="0">
                              <a:solidFill>
                                <a:srgbClr val="000000"/>
                              </a:solidFill>
                              <a:effectLst/>
                              <a:latin typeface="Cambria Math" panose="02040503050406030204" pitchFamily="18" charset="0"/>
                              <a:ea typeface="Times New Roman" panose="02020603050405020304" pitchFamily="18" charset="0"/>
                            </a:rPr>
                            <a:t>(</a:t>
                          </a:r>
                          <a14:m>
                            <m:oMath xmlns:m="http://schemas.openxmlformats.org/officeDocument/2006/math">
                              <m:sSup>
                                <m:sSupPr>
                                  <m:ctrlPr>
                                    <a:rPr lang="en-US" sz="2000" u="sng" kern="0">
                                      <a:solidFill>
                                        <a:srgbClr val="000000"/>
                                      </a:solidFill>
                                      <a:effectLst/>
                                      <a:latin typeface="Cambria Math" panose="02040503050406030204" pitchFamily="18" charset="0"/>
                                      <a:ea typeface="Times New Roman" panose="02020603050405020304" pitchFamily="18" charset="0"/>
                                      <a:cs typeface="Arial" panose="020B0604020202020204" pitchFamily="34" charset="0"/>
                                      <a:hlinkClick r:id="rId2"/>
                                    </a:rPr>
                                  </m:ctrlPr>
                                </m:sSupPr>
                                <m:e>
                                  <m:r>
                                    <m:rPr>
                                      <m:sty m:val="p"/>
                                    </m:rPr>
                                    <a:rPr lang="en-US" sz="2000" u="sng" kern="0">
                                      <a:solidFill>
                                        <a:srgbClr val="000000"/>
                                      </a:solidFill>
                                      <a:effectLst/>
                                      <a:latin typeface="Cambria Math" panose="02040503050406030204" pitchFamily="18" charset="0"/>
                                      <a:ea typeface="Times New Roman" panose="02020603050405020304" pitchFamily="18" charset="0"/>
                                      <a:cs typeface="Arial" panose="020B0604020202020204" pitchFamily="34" charset="0"/>
                                      <a:hlinkClick r:id="rId2"/>
                                    </a:rPr>
                                    <m:t>Ω</m:t>
                                  </m:r>
                                </m:e>
                                <m:sup>
                                  <m:r>
                                    <a:rPr lang="en-US" sz="2000" i="1" kern="0">
                                      <a:solidFill>
                                        <a:srgbClr val="000000"/>
                                      </a:solidFill>
                                      <a:effectLst/>
                                      <a:latin typeface="Cambria Math" panose="02040503050406030204" pitchFamily="18" charset="0"/>
                                      <a:ea typeface="Yu Mincho" panose="02020400000000000000" pitchFamily="18" charset="-128"/>
                                    </a:rPr>
                                    <m:t>−1</m:t>
                                  </m:r>
                                </m:sup>
                              </m:sSup>
                              <m:r>
                                <a:rPr lang="en-US" sz="2000" i="1" kern="0">
                                  <a:solidFill>
                                    <a:srgbClr val="000000"/>
                                  </a:solidFill>
                                  <a:effectLst/>
                                  <a:latin typeface="Cambria Math" panose="02040503050406030204" pitchFamily="18" charset="0"/>
                                  <a:ea typeface="Yu Mincho" panose="02020400000000000000" pitchFamily="18" charset="-128"/>
                                </a:rPr>
                                <m:t>)</m:t>
                              </m:r>
                            </m:oMath>
                          </a14:m>
                          <a:endParaRPr lang="en-US" sz="2000" kern="100">
                            <a:solidFill>
                              <a:srgbClr val="000000"/>
                            </a:solidFill>
                            <a:effectLst/>
                            <a:latin typeface="Times New Roman" panose="02020603050405020304" pitchFamily="18" charset="0"/>
                            <a:ea typeface="Times New Roman" panose="02020603050405020304" pitchFamily="18" charset="0"/>
                          </a:endParaRPr>
                        </a:p>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 </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2000" i="1" kern="0" smtClean="0">
                                  <a:solidFill>
                                    <a:srgbClr val="000000"/>
                                  </a:solidFill>
                                  <a:effectLst/>
                                  <a:latin typeface="Cambria Math" panose="02040503050406030204" pitchFamily="18" charset="0"/>
                                  <a:ea typeface="Times New Roman" panose="02020603050405020304" pitchFamily="18" charset="0"/>
                                </a:rPr>
                                <m:t>23</m:t>
                              </m:r>
                            </m:oMath>
                          </a14:m>
                          <a:r>
                            <a:rPr lang="vi-VN" sz="2000" kern="0">
                              <a:solidFill>
                                <a:srgbClr val="000000"/>
                              </a:solidFill>
                              <a:effectLst/>
                              <a:latin typeface="Cambria Math" panose="02040503050406030204" pitchFamily="18" charset="0"/>
                              <a:ea typeface="Times New Roman" panose="02020603050405020304" pitchFamily="18" charset="0"/>
                            </a:rPr>
                            <a:t>,27</a:t>
                          </a:r>
                          <a:r>
                            <a:rPr lang="en-US" sz="2000" kern="0">
                              <a:solidFill>
                                <a:srgbClr val="000000"/>
                              </a:solidFill>
                              <a:effectLst/>
                              <a:latin typeface="Cambria Math" panose="02040503050406030204" pitchFamily="18" charset="0"/>
                              <a:ea typeface="Times New Roman" panose="02020603050405020304" pitchFamily="18" charset="0"/>
                            </a:rPr>
                            <a:t>(</a:t>
                          </a:r>
                          <a14:m>
                            <m:oMath xmlns:m="http://schemas.openxmlformats.org/officeDocument/2006/math">
                              <m:sSup>
                                <m:sSupPr>
                                  <m:ctrlPr>
                                    <a:rPr lang="en-US" sz="2000" u="sng" kern="0">
                                      <a:solidFill>
                                        <a:srgbClr val="000000"/>
                                      </a:solidFill>
                                      <a:effectLst/>
                                      <a:latin typeface="Cambria Math" panose="02040503050406030204" pitchFamily="18" charset="0"/>
                                      <a:ea typeface="Times New Roman" panose="02020603050405020304" pitchFamily="18" charset="0"/>
                                      <a:cs typeface="Arial" panose="020B0604020202020204" pitchFamily="34" charset="0"/>
                                      <a:hlinkClick r:id="rId2"/>
                                    </a:rPr>
                                  </m:ctrlPr>
                                </m:sSupPr>
                                <m:e>
                                  <m:r>
                                    <m:rPr>
                                      <m:sty m:val="p"/>
                                    </m:rPr>
                                    <a:rPr lang="en-US" sz="2000" u="sng" kern="0">
                                      <a:solidFill>
                                        <a:srgbClr val="000000"/>
                                      </a:solidFill>
                                      <a:effectLst/>
                                      <a:latin typeface="Cambria Math" panose="02040503050406030204" pitchFamily="18" charset="0"/>
                                      <a:ea typeface="Times New Roman" panose="02020603050405020304" pitchFamily="18" charset="0"/>
                                      <a:cs typeface="Arial" panose="020B0604020202020204" pitchFamily="34" charset="0"/>
                                      <a:hlinkClick r:id="rId2"/>
                                    </a:rPr>
                                    <m:t>Ω</m:t>
                                  </m:r>
                                </m:e>
                                <m:sup>
                                  <m:r>
                                    <a:rPr lang="en-US" sz="2000" i="1" kern="0">
                                      <a:solidFill>
                                        <a:srgbClr val="000000"/>
                                      </a:solidFill>
                                      <a:effectLst/>
                                      <a:latin typeface="Cambria Math" panose="02040503050406030204" pitchFamily="18" charset="0"/>
                                      <a:ea typeface="Yu Mincho" panose="02020400000000000000" pitchFamily="18" charset="-128"/>
                                    </a:rPr>
                                    <m:t>−1</m:t>
                                  </m:r>
                                </m:sup>
                              </m:sSup>
                              <m:r>
                                <a:rPr lang="en-US" sz="2000" i="1" kern="0">
                                  <a:solidFill>
                                    <a:srgbClr val="000000"/>
                                  </a:solidFill>
                                  <a:effectLst/>
                                  <a:latin typeface="Cambria Math" panose="02040503050406030204" pitchFamily="18" charset="0"/>
                                  <a:ea typeface="Yu Mincho" panose="02020400000000000000" pitchFamily="18" charset="-128"/>
                                </a:rPr>
                                <m:t>)</m:t>
                              </m:r>
                            </m:oMath>
                          </a14:m>
                          <a:endParaRPr lang="en-US" sz="2000" kern="100">
                            <a:solidFill>
                              <a:srgbClr val="000000"/>
                            </a:solidFill>
                            <a:effectLst/>
                            <a:latin typeface="Times New Roman" panose="02020603050405020304" pitchFamily="18" charset="0"/>
                            <a:ea typeface="Times New Roman" panose="02020603050405020304" pitchFamily="18" charset="0"/>
                          </a:endParaRPr>
                        </a:p>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 </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96320218"/>
                      </a:ext>
                    </a:extLst>
                  </a:tr>
                  <a:tr h="607777">
                    <a:tc>
                      <a:txBody>
                        <a:bodyPr/>
                        <a:lstStyle/>
                        <a:p>
                          <a:pPr marL="205740" marR="0" indent="-6350" algn="ctr">
                            <a:lnSpc>
                              <a:spcPct val="150000"/>
                            </a:lnSpc>
                            <a:spcBef>
                              <a:spcPts val="300"/>
                            </a:spcBef>
                            <a:spcAft>
                              <a:spcPts val="25"/>
                            </a:spcAft>
                          </a:pPr>
                          <a:r>
                            <a:rPr lang="en-US" sz="2000" b="1" kern="0">
                              <a:solidFill>
                                <a:srgbClr val="000000"/>
                              </a:solidFill>
                              <a:effectLst/>
                              <a:latin typeface="Times New Roman" panose="02020603050405020304" pitchFamily="18" charset="0"/>
                              <a:ea typeface="Times New Roman" panose="02020603050405020304" pitchFamily="18" charset="0"/>
                            </a:rPr>
                            <a:t>L</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err="1">
                              <a:solidFill>
                                <a:srgbClr val="000000"/>
                              </a:solidFill>
                              <a:effectLst/>
                              <a:latin typeface="Times New Roman" panose="02020603050405020304" pitchFamily="18" charset="0"/>
                              <a:ea typeface="Times New Roman" panose="02020603050405020304" pitchFamily="18" charset="0"/>
                            </a:rPr>
                            <a:t>Điện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cảm</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bộ</a:t>
                          </a:r>
                          <a:r>
                            <a:rPr lang="en-US" sz="2000" kern="0">
                              <a:solidFill>
                                <a:srgbClr val="000000"/>
                              </a:solidFill>
                              <a:effectLst/>
                              <a:latin typeface="Times New Roman" panose="02020603050405020304" pitchFamily="18" charset="0"/>
                              <a:ea typeface="Times New Roman" panose="02020603050405020304" pitchFamily="18" charset="0"/>
                            </a:rPr>
                            <a:t> dao </a:t>
                          </a:r>
                          <a:r>
                            <a:rPr lang="en-US" sz="2000" kern="0" err="1">
                              <a:solidFill>
                                <a:srgbClr val="000000"/>
                              </a:solidFill>
                              <a:effectLst/>
                              <a:latin typeface="Times New Roman" panose="02020603050405020304" pitchFamily="18" charset="0"/>
                              <a:ea typeface="Times New Roman" panose="02020603050405020304" pitchFamily="18" charset="0"/>
                            </a:rPr>
                            <a:t>động</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ảo</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Para xmlns:m="http://schemas.openxmlformats.org/officeDocument/2006/math">
                              <m:oMath>
                                <m:r>
                                  <a:rPr lang="vi-VN" sz="2000" i="1" kern="1200" smtClean="0">
                                    <a:solidFill>
                                      <a:srgbClr val="000000"/>
                                    </a:solidFill>
                                    <a:effectLst/>
                                    <a:latin typeface="Cambria Math" panose="02040503050406030204" pitchFamily="18" charset="0"/>
                                    <a:ea typeface="Times New Roman" panose="02020603050405020304" pitchFamily="18" charset="0"/>
                                  </a:rPr>
                                  <m:t>2</m:t>
                                </m:r>
                                <m:r>
                                  <a:rPr lang="vi-VN" sz="2000" b="0" i="1" kern="1200" smtClean="0">
                                    <a:solidFill>
                                      <a:srgbClr val="000000"/>
                                    </a:solidFill>
                                    <a:effectLst/>
                                    <a:latin typeface="Cambria Math" panose="02040503050406030204" pitchFamily="18" charset="0"/>
                                    <a:ea typeface="Times New Roman" panose="02020603050405020304" pitchFamily="18" charset="0"/>
                                  </a:rPr>
                                  <m:t>,03</m:t>
                                </m:r>
                                <m:r>
                                  <a:rPr lang="en-US" sz="2000" i="1" kern="1200">
                                    <a:solidFill>
                                      <a:srgbClr val="000000"/>
                                    </a:solidFill>
                                    <a:effectLst/>
                                    <a:latin typeface="Cambria Math" panose="02040503050406030204" pitchFamily="18" charset="0"/>
                                    <a:ea typeface="Times New Roman" panose="02020603050405020304" pitchFamily="18" charset="0"/>
                                  </a:rPr>
                                  <m:t>. </m:t>
                                </m:r>
                                <m:sSup>
                                  <m:sSupPr>
                                    <m:ctrlPr>
                                      <a:rPr lang="en-US" sz="2000" i="1" kern="0">
                                        <a:solidFill>
                                          <a:srgbClr val="000000"/>
                                        </a:solidFill>
                                        <a:effectLst/>
                                        <a:latin typeface="Cambria Math" panose="02040503050406030204" pitchFamily="18" charset="0"/>
                                        <a:ea typeface="Yu Mincho" panose="02020400000000000000" pitchFamily="18" charset="-128"/>
                                      </a:rPr>
                                    </m:ctrlPr>
                                  </m:sSupPr>
                                  <m:e>
                                    <m:r>
                                      <a:rPr lang="en-US" sz="2000" i="1" kern="0">
                                        <a:solidFill>
                                          <a:srgbClr val="000000"/>
                                        </a:solidFill>
                                        <a:effectLst/>
                                        <a:latin typeface="Cambria Math" panose="02040503050406030204" pitchFamily="18" charset="0"/>
                                        <a:ea typeface="Yu Mincho" panose="02020400000000000000" pitchFamily="18" charset="-128"/>
                                      </a:rPr>
                                      <m:t>10</m:t>
                                    </m:r>
                                  </m:e>
                                  <m:sup>
                                    <m:r>
                                      <a:rPr lang="en-US" sz="2000" i="1" kern="0">
                                        <a:solidFill>
                                          <a:srgbClr val="000000"/>
                                        </a:solidFill>
                                        <a:effectLst/>
                                        <a:latin typeface="Cambria Math" panose="02040503050406030204" pitchFamily="18" charset="0"/>
                                        <a:ea typeface="Yu Mincho" panose="02020400000000000000" pitchFamily="18" charset="-128"/>
                                      </a:rPr>
                                      <m:t>−5</m:t>
                                    </m:r>
                                  </m:sup>
                                </m:sSup>
                                <m:r>
                                  <a:rPr lang="en-US" sz="2000" i="1" kern="0">
                                    <a:solidFill>
                                      <a:srgbClr val="000000"/>
                                    </a:solidFill>
                                    <a:effectLst/>
                                    <a:latin typeface="Cambria Math" panose="02040503050406030204" pitchFamily="18" charset="0"/>
                                    <a:ea typeface="Yu Mincho" panose="02020400000000000000" pitchFamily="18" charset="-128"/>
                                  </a:rPr>
                                  <m:t> (</m:t>
                                </m:r>
                                <m:r>
                                  <a:rPr lang="en-US" sz="2000" i="1" kern="0">
                                    <a:solidFill>
                                      <a:srgbClr val="000000"/>
                                    </a:solidFill>
                                    <a:effectLst/>
                                    <a:latin typeface="Cambria Math" panose="02040503050406030204" pitchFamily="18" charset="0"/>
                                    <a:ea typeface="Yu Mincho" panose="02020400000000000000" pitchFamily="18" charset="-128"/>
                                  </a:rPr>
                                  <m:t>𝐻</m:t>
                                </m:r>
                                <m:r>
                                  <a:rPr lang="en-US" sz="2000" i="1" kern="0">
                                    <a:solidFill>
                                      <a:srgbClr val="000000"/>
                                    </a:solidFill>
                                    <a:effectLst/>
                                    <a:latin typeface="Cambria Math" panose="02040503050406030204" pitchFamily="18" charset="0"/>
                                    <a:ea typeface="Yu Mincho" panose="02020400000000000000" pitchFamily="18" charset="-128"/>
                                  </a:rPr>
                                  <m:t>)</m:t>
                                </m:r>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Para xmlns:m="http://schemas.openxmlformats.org/officeDocument/2006/math">
                              <m:oMath>
                                <m:r>
                                  <a:rPr lang="vi-VN" sz="2000" i="1" kern="1200" smtClean="0">
                                    <a:solidFill>
                                      <a:srgbClr val="000000"/>
                                    </a:solidFill>
                                    <a:effectLst/>
                                    <a:latin typeface="Cambria Math" panose="02040503050406030204" pitchFamily="18" charset="0"/>
                                    <a:ea typeface="Times New Roman" panose="02020603050405020304" pitchFamily="18" charset="0"/>
                                  </a:rPr>
                                  <m:t>2</m:t>
                                </m:r>
                                <m:r>
                                  <a:rPr lang="vi-VN" sz="2000" b="0" i="1" kern="1200" smtClean="0">
                                    <a:solidFill>
                                      <a:srgbClr val="000000"/>
                                    </a:solidFill>
                                    <a:effectLst/>
                                    <a:latin typeface="Cambria Math" panose="02040503050406030204" pitchFamily="18" charset="0"/>
                                    <a:ea typeface="Times New Roman" panose="02020603050405020304" pitchFamily="18" charset="0"/>
                                  </a:rPr>
                                  <m:t>,03</m:t>
                                </m:r>
                                <m:r>
                                  <a:rPr lang="en-US" sz="2000" i="1" kern="1200">
                                    <a:solidFill>
                                      <a:srgbClr val="000000"/>
                                    </a:solidFill>
                                    <a:effectLst/>
                                    <a:latin typeface="Cambria Math" panose="02040503050406030204" pitchFamily="18" charset="0"/>
                                    <a:ea typeface="Times New Roman" panose="02020603050405020304" pitchFamily="18" charset="0"/>
                                  </a:rPr>
                                  <m:t>. </m:t>
                                </m:r>
                                <m:sSup>
                                  <m:sSupPr>
                                    <m:ctrlPr>
                                      <a:rPr lang="en-US" sz="2000" i="1" kern="0">
                                        <a:solidFill>
                                          <a:srgbClr val="000000"/>
                                        </a:solidFill>
                                        <a:effectLst/>
                                        <a:latin typeface="Cambria Math" panose="02040503050406030204" pitchFamily="18" charset="0"/>
                                        <a:ea typeface="Yu Mincho" panose="02020400000000000000" pitchFamily="18" charset="-128"/>
                                      </a:rPr>
                                    </m:ctrlPr>
                                  </m:sSupPr>
                                  <m:e>
                                    <m:r>
                                      <a:rPr lang="en-US" sz="2000" i="1" kern="0">
                                        <a:solidFill>
                                          <a:srgbClr val="000000"/>
                                        </a:solidFill>
                                        <a:effectLst/>
                                        <a:latin typeface="Cambria Math" panose="02040503050406030204" pitchFamily="18" charset="0"/>
                                        <a:ea typeface="Yu Mincho" panose="02020400000000000000" pitchFamily="18" charset="-128"/>
                                      </a:rPr>
                                      <m:t>10</m:t>
                                    </m:r>
                                  </m:e>
                                  <m:sup>
                                    <m:r>
                                      <a:rPr lang="en-US" sz="2000" i="1" kern="0">
                                        <a:solidFill>
                                          <a:srgbClr val="000000"/>
                                        </a:solidFill>
                                        <a:effectLst/>
                                        <a:latin typeface="Cambria Math" panose="02040503050406030204" pitchFamily="18" charset="0"/>
                                        <a:ea typeface="Yu Mincho" panose="02020400000000000000" pitchFamily="18" charset="-128"/>
                                      </a:rPr>
                                      <m:t>−5</m:t>
                                    </m:r>
                                  </m:sup>
                                </m:sSup>
                                <m:r>
                                  <a:rPr lang="en-US" sz="2000" i="1" kern="0">
                                    <a:solidFill>
                                      <a:srgbClr val="000000"/>
                                    </a:solidFill>
                                    <a:effectLst/>
                                    <a:latin typeface="Cambria Math" panose="02040503050406030204" pitchFamily="18" charset="0"/>
                                    <a:ea typeface="Yu Mincho" panose="02020400000000000000" pitchFamily="18" charset="-128"/>
                                  </a:rPr>
                                  <m:t> (</m:t>
                                </m:r>
                                <m:r>
                                  <a:rPr lang="en-US" sz="2000" i="1" kern="0">
                                    <a:solidFill>
                                      <a:srgbClr val="000000"/>
                                    </a:solidFill>
                                    <a:effectLst/>
                                    <a:latin typeface="Cambria Math" panose="02040503050406030204" pitchFamily="18" charset="0"/>
                                    <a:ea typeface="Yu Mincho" panose="02020400000000000000" pitchFamily="18" charset="-128"/>
                                  </a:rPr>
                                  <m:t>𝐻</m:t>
                                </m:r>
                                <m:r>
                                  <a:rPr lang="en-US" sz="2000" i="1" kern="0">
                                    <a:solidFill>
                                      <a:srgbClr val="000000"/>
                                    </a:solidFill>
                                    <a:effectLst/>
                                    <a:latin typeface="Cambria Math" panose="02040503050406030204" pitchFamily="18" charset="0"/>
                                    <a:ea typeface="Yu Mincho" panose="02020400000000000000" pitchFamily="18" charset="-128"/>
                                  </a:rPr>
                                  <m:t>)</m:t>
                                </m:r>
                              </m:oMath>
                            </m:oMathPara>
                          </a14:m>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30702622"/>
                      </a:ext>
                    </a:extLst>
                  </a:tr>
                  <a:tr h="476687">
                    <a:tc>
                      <a:txBody>
                        <a:bodyPr/>
                        <a:lstStyle/>
                        <a:p>
                          <a:pPr marL="205740" marR="0" indent="-6350" algn="ctr">
                            <a:lnSpc>
                              <a:spcPct val="150000"/>
                            </a:lnSpc>
                            <a:spcBef>
                              <a:spcPts val="300"/>
                            </a:spcBef>
                            <a:spcAft>
                              <a:spcPts val="25"/>
                            </a:spcAft>
                          </a:pPr>
                          <a:r>
                            <a:rPr lang="en-US" sz="2000" b="1" kern="0">
                              <a:solidFill>
                                <a:srgbClr val="000000"/>
                              </a:solidFill>
                              <a:effectLst/>
                              <a:latin typeface="Times New Roman" panose="02020603050405020304" pitchFamily="18" charset="0"/>
                              <a:ea typeface="Times New Roman" panose="02020603050405020304" pitchFamily="18" charset="0"/>
                            </a:rPr>
                            <a:t>C</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err="1">
                              <a:solidFill>
                                <a:srgbClr val="000000"/>
                              </a:solidFill>
                              <a:effectLst/>
                              <a:latin typeface="Times New Roman" panose="02020603050405020304" pitchFamily="18" charset="0"/>
                              <a:ea typeface="Times New Roman" panose="02020603050405020304" pitchFamily="18" charset="0"/>
                            </a:rPr>
                            <a:t>Tụ</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điện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bộ</a:t>
                          </a:r>
                          <a:r>
                            <a:rPr lang="en-US" sz="2000" kern="0">
                              <a:solidFill>
                                <a:srgbClr val="000000"/>
                              </a:solidFill>
                              <a:effectLst/>
                              <a:latin typeface="Times New Roman" panose="02020603050405020304" pitchFamily="18" charset="0"/>
                              <a:ea typeface="Times New Roman" panose="02020603050405020304" pitchFamily="18" charset="0"/>
                            </a:rPr>
                            <a:t> dao </a:t>
                          </a:r>
                          <a:r>
                            <a:rPr lang="en-US" sz="2000" kern="0" err="1">
                              <a:solidFill>
                                <a:srgbClr val="000000"/>
                              </a:solidFill>
                              <a:effectLst/>
                              <a:latin typeface="Times New Roman" panose="02020603050405020304" pitchFamily="18" charset="0"/>
                              <a:ea typeface="Times New Roman" panose="02020603050405020304" pitchFamily="18" charset="0"/>
                            </a:rPr>
                            <a:t>động</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ảo</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1200">
                              <a:solidFill>
                                <a:srgbClr val="000000"/>
                              </a:solidFill>
                              <a:effectLst/>
                              <a:latin typeface="Times New Roman" panose="02020603050405020304" pitchFamily="18" charset="0"/>
                              <a:ea typeface="Times New Roman" panose="02020603050405020304" pitchFamily="18" charset="0"/>
                            </a:rPr>
                            <a:t>0,</a:t>
                          </a:r>
                          <a:r>
                            <a:rPr lang="vi-VN" sz="2000" kern="1200">
                              <a:solidFill>
                                <a:srgbClr val="000000"/>
                              </a:solidFill>
                              <a:effectLst/>
                              <a:latin typeface="Times New Roman" panose="02020603050405020304" pitchFamily="18" charset="0"/>
                              <a:ea typeface="Times New Roman" panose="02020603050405020304" pitchFamily="18" charset="0"/>
                            </a:rPr>
                            <a:t>5</a:t>
                          </a:r>
                          <a:r>
                            <a:rPr lang="en-US" sz="2000" kern="1200">
                              <a:solidFill>
                                <a:srgbClr val="000000"/>
                              </a:solidFill>
                              <a:effectLst/>
                              <a:latin typeface="Times New Roman" panose="02020603050405020304" pitchFamily="18" charset="0"/>
                              <a:ea typeface="Times New Roman" panose="02020603050405020304" pitchFamily="18" charset="0"/>
                            </a:rPr>
                            <a:t>(F)</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1200">
                              <a:solidFill>
                                <a:srgbClr val="000000"/>
                              </a:solidFill>
                              <a:effectLst/>
                              <a:latin typeface="Times New Roman" panose="02020603050405020304" pitchFamily="18" charset="0"/>
                              <a:ea typeface="Times New Roman" panose="02020603050405020304" pitchFamily="18" charset="0"/>
                            </a:rPr>
                            <a:t>0,</a:t>
                          </a:r>
                          <a:r>
                            <a:rPr lang="vi-VN" sz="2000" kern="1200">
                              <a:solidFill>
                                <a:srgbClr val="000000"/>
                              </a:solidFill>
                              <a:effectLst/>
                              <a:latin typeface="Times New Roman" panose="02020603050405020304" pitchFamily="18" charset="0"/>
                              <a:ea typeface="Times New Roman" panose="02020603050405020304" pitchFamily="18" charset="0"/>
                            </a:rPr>
                            <a:t>5</a:t>
                          </a:r>
                          <a:r>
                            <a:rPr lang="en-US" sz="2000" kern="1200">
                              <a:solidFill>
                                <a:srgbClr val="000000"/>
                              </a:solidFill>
                              <a:effectLst/>
                              <a:latin typeface="Times New Roman" panose="02020603050405020304" pitchFamily="18" charset="0"/>
                              <a:ea typeface="Times New Roman" panose="02020603050405020304" pitchFamily="18" charset="0"/>
                            </a:rPr>
                            <a:t>(F)</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84395447"/>
                      </a:ext>
                    </a:extLst>
                  </a:tr>
                </a:tbl>
              </a:graphicData>
            </a:graphic>
          </p:graphicFrame>
        </mc:Choice>
        <mc:Fallback xmlns="">
          <p:graphicFrame>
            <p:nvGraphicFramePr>
              <p:cNvPr id="7" name="Table 4">
                <a:extLst>
                  <a:ext uri="{FF2B5EF4-FFF2-40B4-BE49-F238E27FC236}">
                    <a16:creationId xmlns:a16="http://schemas.microsoft.com/office/drawing/2014/main" id="{05140199-D419-79F6-5A21-76D7A1C54072}"/>
                  </a:ext>
                </a:extLst>
              </p:cNvPr>
              <p:cNvGraphicFramePr>
                <a:graphicFrameLocks noGrp="1"/>
              </p:cNvGraphicFramePr>
              <p:nvPr>
                <p:extLst>
                  <p:ext uri="{D42A27DB-BD31-4B8C-83A1-F6EECF244321}">
                    <p14:modId xmlns:p14="http://schemas.microsoft.com/office/powerpoint/2010/main" val="3108863595"/>
                  </p:ext>
                </p:extLst>
              </p:nvPr>
            </p:nvGraphicFramePr>
            <p:xfrm>
              <a:off x="1538264" y="2303687"/>
              <a:ext cx="8922644" cy="4151092"/>
            </p:xfrm>
            <a:graphic>
              <a:graphicData uri="http://schemas.openxmlformats.org/drawingml/2006/table">
                <a:tbl>
                  <a:tblPr firstRow="1" bandRow="1">
                    <a:tableStyleId>{7DF18680-E054-41AD-8BC1-D1AEF772440D}</a:tableStyleId>
                  </a:tblPr>
                  <a:tblGrid>
                    <a:gridCol w="1382249">
                      <a:extLst>
                        <a:ext uri="{9D8B030D-6E8A-4147-A177-3AD203B41FA5}">
                          <a16:colId xmlns:a16="http://schemas.microsoft.com/office/drawing/2014/main" val="2099080480"/>
                        </a:ext>
                      </a:extLst>
                    </a:gridCol>
                    <a:gridCol w="3288795">
                      <a:extLst>
                        <a:ext uri="{9D8B030D-6E8A-4147-A177-3AD203B41FA5}">
                          <a16:colId xmlns:a16="http://schemas.microsoft.com/office/drawing/2014/main" val="3807464349"/>
                        </a:ext>
                      </a:extLst>
                    </a:gridCol>
                    <a:gridCol w="2020939">
                      <a:extLst>
                        <a:ext uri="{9D8B030D-6E8A-4147-A177-3AD203B41FA5}">
                          <a16:colId xmlns:a16="http://schemas.microsoft.com/office/drawing/2014/main" val="2047883326"/>
                        </a:ext>
                      </a:extLst>
                    </a:gridCol>
                    <a:gridCol w="2230661">
                      <a:extLst>
                        <a:ext uri="{9D8B030D-6E8A-4147-A177-3AD203B41FA5}">
                          <a16:colId xmlns:a16="http://schemas.microsoft.com/office/drawing/2014/main" val="2230794826"/>
                        </a:ext>
                      </a:extLst>
                    </a:gridCol>
                  </a:tblGrid>
                  <a:tr h="476687">
                    <a:tc>
                      <a:txBody>
                        <a:bodyPr/>
                        <a:lstStyle/>
                        <a:p>
                          <a:pPr marL="205740" marR="0" indent="-6350" algn="just">
                            <a:lnSpc>
                              <a:spcPct val="150000"/>
                            </a:lnSpc>
                            <a:spcBef>
                              <a:spcPts val="300"/>
                            </a:spcBef>
                            <a:spcAft>
                              <a:spcPts val="25"/>
                            </a:spcAft>
                          </a:pPr>
                          <a:r>
                            <a:rPr lang="en-US" sz="2000" b="1" kern="0" dirty="0" err="1">
                              <a:solidFill>
                                <a:srgbClr val="000000"/>
                              </a:solidFill>
                              <a:effectLst/>
                              <a:latin typeface="Times New Roman" panose="02020603050405020304" pitchFamily="18" charset="0"/>
                              <a:ea typeface="Times New Roman" panose="02020603050405020304" pitchFamily="18" charset="0"/>
                            </a:rPr>
                            <a:t>Kí</a:t>
                          </a:r>
                          <a:r>
                            <a:rPr lang="en-US" sz="2000" b="1" kern="0" dirty="0">
                              <a:solidFill>
                                <a:srgbClr val="000000"/>
                              </a:solidFill>
                              <a:effectLst/>
                              <a:latin typeface="Times New Roman" panose="02020603050405020304" pitchFamily="18" charset="0"/>
                              <a:ea typeface="Times New Roman" panose="02020603050405020304" pitchFamily="18" charset="0"/>
                            </a:rPr>
                            <a:t> </a:t>
                          </a:r>
                          <a:r>
                            <a:rPr lang="en-US" sz="2000" b="1" kern="0" dirty="0" err="1">
                              <a:solidFill>
                                <a:srgbClr val="000000"/>
                              </a:solidFill>
                              <a:effectLst/>
                              <a:latin typeface="Times New Roman" panose="02020603050405020304" pitchFamily="18" charset="0"/>
                              <a:ea typeface="Times New Roman" panose="02020603050405020304" pitchFamily="18" charset="0"/>
                            </a:rPr>
                            <a:t>hiệu</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dirty="0" err="1">
                              <a:solidFill>
                                <a:srgbClr val="000000"/>
                              </a:solidFill>
                              <a:effectLst/>
                              <a:latin typeface="Times New Roman" panose="02020603050405020304" pitchFamily="18" charset="0"/>
                              <a:ea typeface="Times New Roman" panose="02020603050405020304" pitchFamily="18" charset="0"/>
                            </a:rPr>
                            <a:t>Tham</a:t>
                          </a:r>
                          <a:r>
                            <a:rPr lang="en-US" sz="2000" b="1" kern="0" dirty="0">
                              <a:solidFill>
                                <a:srgbClr val="000000"/>
                              </a:solidFill>
                              <a:effectLst/>
                              <a:latin typeface="Times New Roman" panose="02020603050405020304" pitchFamily="18" charset="0"/>
                              <a:ea typeface="Times New Roman" panose="02020603050405020304" pitchFamily="18" charset="0"/>
                            </a:rPr>
                            <a:t> </a:t>
                          </a:r>
                          <a:r>
                            <a:rPr lang="en-US" sz="2000" b="1" kern="0" dirty="0" err="1">
                              <a:solidFill>
                                <a:srgbClr val="000000"/>
                              </a:solidFill>
                              <a:effectLst/>
                              <a:latin typeface="Times New Roman" panose="02020603050405020304" pitchFamily="18" charset="0"/>
                              <a:ea typeface="Times New Roman" panose="02020603050405020304" pitchFamily="18" charset="0"/>
                            </a:rPr>
                            <a:t>số</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dirty="0">
                              <a:solidFill>
                                <a:srgbClr val="000000"/>
                              </a:solidFill>
                              <a:effectLst/>
                              <a:latin typeface="Times New Roman" panose="02020603050405020304" pitchFamily="18" charset="0"/>
                              <a:ea typeface="Times New Roman" panose="02020603050405020304" pitchFamily="18" charset="0"/>
                            </a:rPr>
                            <a:t>Inverter 1</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2000" b="1" kern="0" dirty="0">
                              <a:solidFill>
                                <a:srgbClr val="000000"/>
                              </a:solidFill>
                              <a:effectLst/>
                              <a:latin typeface="Times New Roman" panose="02020603050405020304" pitchFamily="18" charset="0"/>
                              <a:ea typeface="Times New Roman" panose="02020603050405020304" pitchFamily="18" charset="0"/>
                            </a:rPr>
                            <a:t>Inverter 2</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extLst>
                      <a:ext uri="{0D108BD9-81ED-4DB2-BD59-A6C34878D82A}">
                        <a16:rowId xmlns:a16="http://schemas.microsoft.com/office/drawing/2014/main" val="1667104164"/>
                      </a:ext>
                    </a:extLst>
                  </a:tr>
                  <a:tr h="476687">
                    <a:tc>
                      <a:txBody>
                        <a:bodyPr/>
                        <a:lstStyle/>
                        <a:p>
                          <a:endParaRPr lang="vi-VN"/>
                        </a:p>
                      </a:txBody>
                      <a:tcPr marL="68580" marR="68580" marT="0" marB="0">
                        <a:blipFill>
                          <a:blip r:embed="rId3"/>
                          <a:stretch>
                            <a:fillRect l="-441" t="-100000" r="-547137" b="-681013"/>
                          </a:stretch>
                        </a:blipFill>
                      </a:tcPr>
                    </a:tc>
                    <a:tc>
                      <a:txBody>
                        <a:bodyPr/>
                        <a:lstStyle/>
                        <a:p>
                          <a:pPr marL="205740" marR="0" indent="-6350" algn="ctr">
                            <a:lnSpc>
                              <a:spcPct val="150000"/>
                            </a:lnSpc>
                            <a:spcBef>
                              <a:spcPts val="300"/>
                            </a:spcBef>
                            <a:spcAft>
                              <a:spcPts val="25"/>
                            </a:spcAft>
                          </a:pPr>
                          <a:r>
                            <a:rPr lang="en-US" sz="2000" kern="0" dirty="0" err="1">
                              <a:solidFill>
                                <a:srgbClr val="000000"/>
                              </a:solidFill>
                              <a:effectLst/>
                              <a:latin typeface="Times New Roman" panose="02020603050405020304" pitchFamily="18" charset="0"/>
                              <a:ea typeface="Times New Roman" panose="02020603050405020304" pitchFamily="18" charset="0"/>
                            </a:rPr>
                            <a:t>Hệ</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số</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căn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chỉnh</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điện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áp</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0" dirty="0">
                              <a:solidFill>
                                <a:srgbClr val="000000"/>
                              </a:solidFill>
                              <a:effectLst/>
                              <a:latin typeface="Cambria Math" panose="02040503050406030204" pitchFamily="18" charset="0"/>
                              <a:ea typeface="Times New Roman" panose="02020603050405020304" pitchFamily="18" charset="0"/>
                            </a:rPr>
                            <a:t>225</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0" dirty="0">
                              <a:solidFill>
                                <a:srgbClr val="000000"/>
                              </a:solidFill>
                              <a:effectLst/>
                              <a:latin typeface="Cambria Math" panose="02040503050406030204" pitchFamily="18" charset="0"/>
                              <a:ea typeface="Times New Roman" panose="02020603050405020304" pitchFamily="18" charset="0"/>
                            </a:rPr>
                            <a:t>225</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37835341"/>
                      </a:ext>
                    </a:extLst>
                  </a:tr>
                  <a:tr h="607777">
                    <a:tc>
                      <a:txBody>
                        <a:bodyPr/>
                        <a:lstStyle/>
                        <a:p>
                          <a:endParaRPr lang="vi-VN"/>
                        </a:p>
                      </a:txBody>
                      <a:tcPr marL="68580" marR="68580" marT="0" marB="0">
                        <a:blipFill>
                          <a:blip r:embed="rId3"/>
                          <a:stretch>
                            <a:fillRect l="-441" t="-159596" r="-547137" b="-443434"/>
                          </a:stretch>
                        </a:blipFill>
                      </a:tcPr>
                    </a:tc>
                    <a:tc>
                      <a:txBody>
                        <a:bodyPr/>
                        <a:lstStyle/>
                        <a:p>
                          <a:pPr marL="205740" marR="0" indent="-6350" algn="ctr">
                            <a:lnSpc>
                              <a:spcPct val="150000"/>
                            </a:lnSpc>
                            <a:spcBef>
                              <a:spcPts val="300"/>
                            </a:spcBef>
                            <a:spcAft>
                              <a:spcPts val="25"/>
                            </a:spcAft>
                          </a:pPr>
                          <a:r>
                            <a:rPr lang="en-US" sz="2000" kern="0" dirty="0" err="1">
                              <a:solidFill>
                                <a:srgbClr val="000000"/>
                              </a:solidFill>
                              <a:effectLst/>
                              <a:latin typeface="Times New Roman" panose="02020603050405020304" pitchFamily="18" charset="0"/>
                              <a:ea typeface="Times New Roman" panose="02020603050405020304" pitchFamily="18" charset="0"/>
                            </a:rPr>
                            <a:t>Hệ</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số</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căn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chỉnh</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dòng</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điện</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2000" kern="100" dirty="0">
                              <a:solidFill>
                                <a:srgbClr val="000000"/>
                              </a:solidFill>
                              <a:effectLst/>
                              <a:ea typeface="Times New Roman" panose="02020603050405020304" pitchFamily="18" charset="0"/>
                            </a:rPr>
                            <a:t>0.293</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3"/>
                          <a:stretch>
                            <a:fillRect l="-300546" t="-159596" r="-1093" b="-443434"/>
                          </a:stretch>
                        </a:blipFill>
                      </a:tcPr>
                    </a:tc>
                    <a:extLst>
                      <a:ext uri="{0D108BD9-81ED-4DB2-BD59-A6C34878D82A}">
                        <a16:rowId xmlns:a16="http://schemas.microsoft.com/office/drawing/2014/main" val="1041384075"/>
                      </a:ext>
                    </a:extLst>
                  </a:tr>
                  <a:tr h="607777">
                    <a:tc>
                      <a:txBody>
                        <a:bodyPr/>
                        <a:lstStyle/>
                        <a:p>
                          <a:endParaRPr lang="vi-VN"/>
                        </a:p>
                      </a:txBody>
                      <a:tcPr marL="68580" marR="68580" marT="0" marB="0">
                        <a:blipFill>
                          <a:blip r:embed="rId3"/>
                          <a:stretch>
                            <a:fillRect l="-441" t="-257000" r="-547137" b="-339000"/>
                          </a:stretch>
                        </a:blipFill>
                      </a:tcPr>
                    </a:tc>
                    <a:tc>
                      <a:txBody>
                        <a:bodyPr/>
                        <a:lstStyle/>
                        <a:p>
                          <a:pPr marL="205740" marR="0" indent="-6350" algn="ctr">
                            <a:lnSpc>
                              <a:spcPct val="150000"/>
                            </a:lnSpc>
                            <a:spcBef>
                              <a:spcPts val="300"/>
                            </a:spcBef>
                            <a:spcAft>
                              <a:spcPts val="25"/>
                            </a:spcAft>
                          </a:pPr>
                          <a:r>
                            <a:rPr lang="en-US" sz="2000" kern="0">
                              <a:solidFill>
                                <a:srgbClr val="000000"/>
                              </a:solidFill>
                              <a:effectLst/>
                              <a:latin typeface="Times New Roman" panose="02020603050405020304" pitchFamily="18" charset="0"/>
                              <a:ea typeface="Times New Roman" panose="02020603050405020304" pitchFamily="18" charset="0"/>
                            </a:rPr>
                            <a:t>Hệ số nguồn dòng phụ thuộc</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3"/>
                          <a:stretch>
                            <a:fillRect l="-231325" t="-257000" r="-111446" b="-339000"/>
                          </a:stretch>
                        </a:blipFill>
                      </a:tcPr>
                    </a:tc>
                    <a:tc>
                      <a:txBody>
                        <a:bodyPr/>
                        <a:lstStyle/>
                        <a:p>
                          <a:endParaRPr lang="vi-VN"/>
                        </a:p>
                      </a:txBody>
                      <a:tcPr marL="68580" marR="68580" marT="0" marB="0">
                        <a:blipFill>
                          <a:blip r:embed="rId3"/>
                          <a:stretch>
                            <a:fillRect l="-300546" t="-257000" r="-1093" b="-339000"/>
                          </a:stretch>
                        </a:blipFill>
                      </a:tcPr>
                    </a:tc>
                    <a:extLst>
                      <a:ext uri="{0D108BD9-81ED-4DB2-BD59-A6C34878D82A}">
                        <a16:rowId xmlns:a16="http://schemas.microsoft.com/office/drawing/2014/main" val="603328144"/>
                      </a:ext>
                    </a:extLst>
                  </a:tr>
                  <a:tr h="897700">
                    <a:tc>
                      <a:txBody>
                        <a:bodyPr/>
                        <a:lstStyle/>
                        <a:p>
                          <a:endParaRPr lang="vi-VN"/>
                        </a:p>
                      </a:txBody>
                      <a:tcPr marL="68580" marR="68580" marT="0" marB="0">
                        <a:blipFill>
                          <a:blip r:embed="rId3"/>
                          <a:stretch>
                            <a:fillRect l="-441" t="-241216" r="-547137" b="-129054"/>
                          </a:stretch>
                        </a:blipFill>
                      </a:tcPr>
                    </a:tc>
                    <a:tc>
                      <a:txBody>
                        <a:bodyPr/>
                        <a:lstStyle/>
                        <a:p>
                          <a:pPr marL="205740" marR="0" indent="-6350" algn="ctr">
                            <a:lnSpc>
                              <a:spcPct val="150000"/>
                            </a:lnSpc>
                            <a:spcBef>
                              <a:spcPts val="300"/>
                            </a:spcBef>
                            <a:spcAft>
                              <a:spcPts val="25"/>
                            </a:spcAft>
                          </a:pPr>
                          <a:r>
                            <a:rPr lang="en-US" sz="2000" kern="0" dirty="0" err="1">
                              <a:solidFill>
                                <a:srgbClr val="000000"/>
                              </a:solidFill>
                              <a:effectLst/>
                              <a:latin typeface="Times New Roman" panose="02020603050405020304" pitchFamily="18" charset="0"/>
                              <a:ea typeface="Times New Roman" panose="02020603050405020304" pitchFamily="18" charset="0"/>
                            </a:rPr>
                            <a:t>Điện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dẫn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bộ</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dao</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động</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ảo</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3"/>
                          <a:stretch>
                            <a:fillRect l="-231325" t="-241216" r="-111446" b="-129054"/>
                          </a:stretch>
                        </a:blipFill>
                      </a:tcPr>
                    </a:tc>
                    <a:tc>
                      <a:txBody>
                        <a:bodyPr/>
                        <a:lstStyle/>
                        <a:p>
                          <a:endParaRPr lang="vi-VN"/>
                        </a:p>
                      </a:txBody>
                      <a:tcPr marL="68580" marR="68580" marT="0" marB="0">
                        <a:blipFill>
                          <a:blip r:embed="rId3"/>
                          <a:stretch>
                            <a:fillRect l="-300546" t="-241216" r="-1093" b="-129054"/>
                          </a:stretch>
                        </a:blipFill>
                      </a:tcPr>
                    </a:tc>
                    <a:extLst>
                      <a:ext uri="{0D108BD9-81ED-4DB2-BD59-A6C34878D82A}">
                        <a16:rowId xmlns:a16="http://schemas.microsoft.com/office/drawing/2014/main" val="196320218"/>
                      </a:ext>
                    </a:extLst>
                  </a:tr>
                  <a:tr h="607777">
                    <a:tc>
                      <a:txBody>
                        <a:bodyPr/>
                        <a:lstStyle/>
                        <a:p>
                          <a:pPr marL="205740" marR="0" indent="-6350" algn="ctr">
                            <a:lnSpc>
                              <a:spcPct val="150000"/>
                            </a:lnSpc>
                            <a:spcBef>
                              <a:spcPts val="300"/>
                            </a:spcBef>
                            <a:spcAft>
                              <a:spcPts val="25"/>
                            </a:spcAft>
                          </a:pPr>
                          <a:r>
                            <a:rPr lang="en-US" sz="2000" b="1" kern="0" dirty="0">
                              <a:solidFill>
                                <a:srgbClr val="000000"/>
                              </a:solidFill>
                              <a:effectLst/>
                              <a:latin typeface="Times New Roman" panose="02020603050405020304" pitchFamily="18" charset="0"/>
                              <a:ea typeface="Times New Roman" panose="02020603050405020304" pitchFamily="18" charset="0"/>
                            </a:rPr>
                            <a:t>L</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dirty="0" err="1">
                              <a:solidFill>
                                <a:srgbClr val="000000"/>
                              </a:solidFill>
                              <a:effectLst/>
                              <a:latin typeface="Times New Roman" panose="02020603050405020304" pitchFamily="18" charset="0"/>
                              <a:ea typeface="Times New Roman" panose="02020603050405020304" pitchFamily="18" charset="0"/>
                            </a:rPr>
                            <a:t>Điện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cảm</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bộ</a:t>
                          </a:r>
                          <a:r>
                            <a:rPr lang="en-US" sz="2000" kern="0" dirty="0">
                              <a:solidFill>
                                <a:srgbClr val="000000"/>
                              </a:solidFill>
                              <a:effectLst/>
                              <a:latin typeface="Times New Roman" panose="02020603050405020304" pitchFamily="18" charset="0"/>
                              <a:ea typeface="Times New Roman" panose="02020603050405020304" pitchFamily="18" charset="0"/>
                            </a:rPr>
                            <a:t> dao </a:t>
                          </a:r>
                          <a:r>
                            <a:rPr lang="en-US" sz="2000" kern="0" dirty="0" err="1">
                              <a:solidFill>
                                <a:srgbClr val="000000"/>
                              </a:solidFill>
                              <a:effectLst/>
                              <a:latin typeface="Times New Roman" panose="02020603050405020304" pitchFamily="18" charset="0"/>
                              <a:ea typeface="Times New Roman" panose="02020603050405020304" pitchFamily="18" charset="0"/>
                            </a:rPr>
                            <a:t>động</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ảo</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3"/>
                          <a:stretch>
                            <a:fillRect l="-231325" t="-505000" r="-111446" b="-91000"/>
                          </a:stretch>
                        </a:blipFill>
                      </a:tcPr>
                    </a:tc>
                    <a:tc>
                      <a:txBody>
                        <a:bodyPr/>
                        <a:lstStyle/>
                        <a:p>
                          <a:endParaRPr lang="vi-VN"/>
                        </a:p>
                      </a:txBody>
                      <a:tcPr marL="68580" marR="68580" marT="0" marB="0">
                        <a:blipFill>
                          <a:blip r:embed="rId3"/>
                          <a:stretch>
                            <a:fillRect l="-300546" t="-505000" r="-1093" b="-91000"/>
                          </a:stretch>
                        </a:blipFill>
                      </a:tcPr>
                    </a:tc>
                    <a:extLst>
                      <a:ext uri="{0D108BD9-81ED-4DB2-BD59-A6C34878D82A}">
                        <a16:rowId xmlns:a16="http://schemas.microsoft.com/office/drawing/2014/main" val="3530702622"/>
                      </a:ext>
                    </a:extLst>
                  </a:tr>
                  <a:tr h="476687">
                    <a:tc>
                      <a:txBody>
                        <a:bodyPr/>
                        <a:lstStyle/>
                        <a:p>
                          <a:pPr marL="205740" marR="0" indent="-6350" algn="ctr">
                            <a:lnSpc>
                              <a:spcPct val="150000"/>
                            </a:lnSpc>
                            <a:spcBef>
                              <a:spcPts val="300"/>
                            </a:spcBef>
                            <a:spcAft>
                              <a:spcPts val="25"/>
                            </a:spcAft>
                          </a:pPr>
                          <a:r>
                            <a:rPr lang="en-US" sz="2000" b="1" kern="0" dirty="0">
                              <a:solidFill>
                                <a:srgbClr val="000000"/>
                              </a:solidFill>
                              <a:effectLst/>
                              <a:latin typeface="Times New Roman" panose="02020603050405020304" pitchFamily="18" charset="0"/>
                              <a:ea typeface="Times New Roman" panose="02020603050405020304" pitchFamily="18" charset="0"/>
                            </a:rPr>
                            <a:t>C</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0" dirty="0" err="1">
                              <a:solidFill>
                                <a:srgbClr val="000000"/>
                              </a:solidFill>
                              <a:effectLst/>
                              <a:latin typeface="Times New Roman" panose="02020603050405020304" pitchFamily="18" charset="0"/>
                              <a:ea typeface="Times New Roman" panose="02020603050405020304" pitchFamily="18" charset="0"/>
                            </a:rPr>
                            <a:t>Tụ</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điện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bộ</a:t>
                          </a:r>
                          <a:r>
                            <a:rPr lang="en-US" sz="2000" kern="0" dirty="0">
                              <a:solidFill>
                                <a:srgbClr val="000000"/>
                              </a:solidFill>
                              <a:effectLst/>
                              <a:latin typeface="Times New Roman" panose="02020603050405020304" pitchFamily="18" charset="0"/>
                              <a:ea typeface="Times New Roman" panose="02020603050405020304" pitchFamily="18" charset="0"/>
                            </a:rPr>
                            <a:t> dao </a:t>
                          </a:r>
                          <a:r>
                            <a:rPr lang="en-US" sz="2000" kern="0" dirty="0" err="1">
                              <a:solidFill>
                                <a:srgbClr val="000000"/>
                              </a:solidFill>
                              <a:effectLst/>
                              <a:latin typeface="Times New Roman" panose="02020603050405020304" pitchFamily="18" charset="0"/>
                              <a:ea typeface="Times New Roman" panose="02020603050405020304" pitchFamily="18" charset="0"/>
                            </a:rPr>
                            <a:t>động</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ảo</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1200" dirty="0">
                              <a:solidFill>
                                <a:srgbClr val="000000"/>
                              </a:solidFill>
                              <a:effectLst/>
                              <a:latin typeface="Times New Roman" panose="02020603050405020304" pitchFamily="18" charset="0"/>
                              <a:ea typeface="Times New Roman" panose="02020603050405020304" pitchFamily="18" charset="0"/>
                            </a:rPr>
                            <a:t>0,</a:t>
                          </a:r>
                          <a:r>
                            <a:rPr lang="vi-VN" sz="2000" kern="1200" dirty="0">
                              <a:solidFill>
                                <a:srgbClr val="000000"/>
                              </a:solidFill>
                              <a:effectLst/>
                              <a:latin typeface="Times New Roman" panose="02020603050405020304" pitchFamily="18" charset="0"/>
                              <a:ea typeface="Times New Roman" panose="02020603050405020304" pitchFamily="18" charset="0"/>
                            </a:rPr>
                            <a:t>5</a:t>
                          </a:r>
                          <a:r>
                            <a:rPr lang="en-US" sz="2000" kern="1200" dirty="0">
                              <a:solidFill>
                                <a:srgbClr val="000000"/>
                              </a:solidFill>
                              <a:effectLst/>
                              <a:latin typeface="Times New Roman" panose="02020603050405020304" pitchFamily="18" charset="0"/>
                              <a:ea typeface="Times New Roman" panose="02020603050405020304" pitchFamily="18" charset="0"/>
                            </a:rPr>
                            <a:t>(F)</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2000" kern="1200" dirty="0">
                              <a:solidFill>
                                <a:srgbClr val="000000"/>
                              </a:solidFill>
                              <a:effectLst/>
                              <a:latin typeface="Times New Roman" panose="02020603050405020304" pitchFamily="18" charset="0"/>
                              <a:ea typeface="Times New Roman" panose="02020603050405020304" pitchFamily="18" charset="0"/>
                            </a:rPr>
                            <a:t>0,</a:t>
                          </a:r>
                          <a:r>
                            <a:rPr lang="vi-VN" sz="2000" kern="1200" dirty="0">
                              <a:solidFill>
                                <a:srgbClr val="000000"/>
                              </a:solidFill>
                              <a:effectLst/>
                              <a:latin typeface="Times New Roman" panose="02020603050405020304" pitchFamily="18" charset="0"/>
                              <a:ea typeface="Times New Roman" panose="02020603050405020304" pitchFamily="18" charset="0"/>
                            </a:rPr>
                            <a:t>5</a:t>
                          </a:r>
                          <a:r>
                            <a:rPr lang="en-US" sz="2000" kern="1200" dirty="0">
                              <a:solidFill>
                                <a:srgbClr val="000000"/>
                              </a:solidFill>
                              <a:effectLst/>
                              <a:latin typeface="Times New Roman" panose="02020603050405020304" pitchFamily="18" charset="0"/>
                              <a:ea typeface="Times New Roman" panose="02020603050405020304" pitchFamily="18" charset="0"/>
                            </a:rPr>
                            <a:t>(F)</a:t>
                          </a:r>
                          <a:endParaRPr lang="en-US" sz="20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84395447"/>
                      </a:ext>
                    </a:extLst>
                  </a:tr>
                </a:tbl>
              </a:graphicData>
            </a:graphic>
          </p:graphicFrame>
        </mc:Fallback>
      </mc:AlternateContent>
      <p:sp>
        <p:nvSpPr>
          <p:cNvPr id="9" name="TextBox 7">
            <a:extLst>
              <a:ext uri="{FF2B5EF4-FFF2-40B4-BE49-F238E27FC236}">
                <a16:creationId xmlns:a16="http://schemas.microsoft.com/office/drawing/2014/main" id="{322E810E-CC1F-3816-7824-C5B81BCBCE8A}"/>
              </a:ext>
            </a:extLst>
          </p:cNvPr>
          <p:cNvSpPr txBox="1"/>
          <p:nvPr/>
        </p:nvSpPr>
        <p:spPr>
          <a:xfrm>
            <a:off x="413529" y="1703522"/>
            <a:ext cx="10656548" cy="400110"/>
          </a:xfrm>
          <a:prstGeom prst="rect">
            <a:avLst/>
          </a:prstGeom>
          <a:noFill/>
        </p:spPr>
        <p:txBody>
          <a:bodyPr wrap="square" rtlCol="0">
            <a:spAutoFit/>
          </a:bodyPr>
          <a:lstStyle/>
          <a:p>
            <a:r>
              <a:rPr lang="vi-VN" sz="2000">
                <a:latin typeface="Times New Roman" panose="02020603050405020304" pitchFamily="18" charset="0"/>
                <a:cs typeface="Times New Roman" panose="02020603050405020304" pitchFamily="18" charset="0"/>
              </a:rPr>
              <a:t>- Kịch bản 1: Hai bộ </a:t>
            </a:r>
            <a:r>
              <a:rPr lang="vi-VN" sz="2000" err="1">
                <a:latin typeface="Times New Roman" panose="02020603050405020304" pitchFamily="18" charset="0"/>
                <a:cs typeface="Times New Roman" panose="02020603050405020304" pitchFamily="18" charset="0"/>
              </a:rPr>
              <a:t>Inverter</a:t>
            </a:r>
            <a:r>
              <a:rPr lang="vi-VN" sz="2000">
                <a:latin typeface="Times New Roman" panose="02020603050405020304" pitchFamily="18" charset="0"/>
                <a:cs typeface="Times New Roman" panose="02020603050405020304" pitchFamily="18" charset="0"/>
              </a:rPr>
              <a:t> với tải tuyến tính công suất 750(W)</a:t>
            </a:r>
          </a:p>
        </p:txBody>
      </p:sp>
    </p:spTree>
    <p:extLst>
      <p:ext uri="{BB962C8B-B14F-4D97-AF65-F5344CB8AC3E}">
        <p14:creationId xmlns:p14="http://schemas.microsoft.com/office/powerpoint/2010/main" val="315923277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A3C3F-0378-5041-4638-086E6818817B}"/>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649A582-41D4-A6A6-95B1-75B632E42A2B}"/>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1B35F6B4-2E9A-81EA-3802-C3CB0FB925D4}"/>
              </a:ext>
            </a:extLst>
          </p:cNvPr>
          <p:cNvSpPr>
            <a:spLocks noGrp="1"/>
          </p:cNvSpPr>
          <p:nvPr>
            <p:ph type="sldNum" sz="quarter" idx="12"/>
          </p:nvPr>
        </p:nvSpPr>
        <p:spPr/>
        <p:txBody>
          <a:bodyPr/>
          <a:lstStyle/>
          <a:p>
            <a:fld id="{931DD963-FD40-4A6D-88A9-402A489E81DE}" type="slidenum">
              <a:rPr lang="en-US" smtClean="0"/>
              <a:t>97</a:t>
            </a:fld>
            <a:endParaRPr lang="en-US"/>
          </a:p>
        </p:txBody>
      </p:sp>
      <p:grpSp>
        <p:nvGrpSpPr>
          <p:cNvPr id="10" name="Group 9">
            <a:extLst>
              <a:ext uri="{FF2B5EF4-FFF2-40B4-BE49-F238E27FC236}">
                <a16:creationId xmlns:a16="http://schemas.microsoft.com/office/drawing/2014/main" id="{7B1D08A1-2C7E-23E9-FD9D-775745B8A33A}"/>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9BF491CF-2341-0F96-C4BD-C3CF83426479}"/>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5: </a:t>
              </a:r>
              <a:r>
                <a:rPr lang="vi-VN" sz="2133" b="1">
                  <a:latin typeface="Arial (Body)"/>
                </a:rPr>
                <a:t>GIẢI PHÁP CẢI TIẾN BỘ DAO ĐỘNG VANDERPOL</a:t>
              </a:r>
              <a:endParaRPr lang="en-US" sz="2133" b="1">
                <a:latin typeface="Arial (Body)"/>
              </a:endParaRPr>
            </a:p>
          </p:txBody>
        </p:sp>
        <p:sp>
          <p:nvSpPr>
            <p:cNvPr id="13" name="Rectangle 12">
              <a:extLst>
                <a:ext uri="{FF2B5EF4-FFF2-40B4-BE49-F238E27FC236}">
                  <a16:creationId xmlns:a16="http://schemas.microsoft.com/office/drawing/2014/main" id="{BE9FB230-8AC2-C448-6D41-164ABD10CE3D}"/>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a:t>
              </a:r>
            </a:p>
          </p:txBody>
        </p:sp>
      </p:grpSp>
      <p:pic>
        <p:nvPicPr>
          <p:cNvPr id="5" name="Picture 8">
            <a:extLst>
              <a:ext uri="{FF2B5EF4-FFF2-40B4-BE49-F238E27FC236}">
                <a16:creationId xmlns:a16="http://schemas.microsoft.com/office/drawing/2014/main" id="{CFBE53EB-B10B-A85B-1617-6A0A8EC3D5EB}"/>
              </a:ext>
            </a:extLst>
          </p:cNvPr>
          <p:cNvPicPr>
            <a:picLocks noChangeAspect="1"/>
          </p:cNvPicPr>
          <p:nvPr/>
        </p:nvPicPr>
        <p:blipFill>
          <a:blip r:embed="rId2"/>
          <a:stretch>
            <a:fillRect/>
          </a:stretch>
        </p:blipFill>
        <p:spPr>
          <a:xfrm>
            <a:off x="447432" y="1976505"/>
            <a:ext cx="5705564" cy="2676893"/>
          </a:xfrm>
          <a:prstGeom prst="rect">
            <a:avLst/>
          </a:prstGeom>
        </p:spPr>
      </p:pic>
      <p:sp>
        <p:nvSpPr>
          <p:cNvPr id="8" name="TextBox 7">
            <a:extLst>
              <a:ext uri="{FF2B5EF4-FFF2-40B4-BE49-F238E27FC236}">
                <a16:creationId xmlns:a16="http://schemas.microsoft.com/office/drawing/2014/main" id="{16DB7ABE-BA85-8BA4-7E22-04455BB57AB3}"/>
              </a:ext>
            </a:extLst>
          </p:cNvPr>
          <p:cNvSpPr txBox="1"/>
          <p:nvPr/>
        </p:nvSpPr>
        <p:spPr>
          <a:xfrm>
            <a:off x="413529" y="1280323"/>
            <a:ext cx="10656548" cy="400110"/>
          </a:xfrm>
          <a:prstGeom prst="rect">
            <a:avLst/>
          </a:prstGeom>
          <a:noFill/>
        </p:spPr>
        <p:txBody>
          <a:bodyPr wrap="square" rtlCol="0">
            <a:spAutoFit/>
          </a:bodyPr>
          <a:lstStyle/>
          <a:p>
            <a:r>
              <a:rPr lang="vi-VN" sz="2000">
                <a:latin typeface="Times New Roman" panose="02020603050405020304" pitchFamily="18" charset="0"/>
                <a:cs typeface="Times New Roman" panose="02020603050405020304" pitchFamily="18" charset="0"/>
              </a:rPr>
              <a:t>- Kịch bản 1: Hai bộ </a:t>
            </a:r>
            <a:r>
              <a:rPr lang="vi-VN" sz="2000" err="1">
                <a:latin typeface="Times New Roman" panose="02020603050405020304" pitchFamily="18" charset="0"/>
                <a:cs typeface="Times New Roman" panose="02020603050405020304" pitchFamily="18" charset="0"/>
              </a:rPr>
              <a:t>Inverter</a:t>
            </a:r>
            <a:r>
              <a:rPr lang="vi-VN" sz="2000">
                <a:latin typeface="Times New Roman" panose="02020603050405020304" pitchFamily="18" charset="0"/>
                <a:cs typeface="Times New Roman" panose="02020603050405020304" pitchFamily="18" charset="0"/>
              </a:rPr>
              <a:t> với tải tuyến tính công suất 750(W)</a:t>
            </a:r>
          </a:p>
        </p:txBody>
      </p:sp>
      <p:sp>
        <p:nvSpPr>
          <p:cNvPr id="7" name="Hộp Văn bản 6">
            <a:extLst>
              <a:ext uri="{FF2B5EF4-FFF2-40B4-BE49-F238E27FC236}">
                <a16:creationId xmlns:a16="http://schemas.microsoft.com/office/drawing/2014/main" id="{EA1E1EFD-040E-46D4-28AB-A60849B4C1E1}"/>
              </a:ext>
            </a:extLst>
          </p:cNvPr>
          <p:cNvSpPr txBox="1"/>
          <p:nvPr/>
        </p:nvSpPr>
        <p:spPr>
          <a:xfrm>
            <a:off x="1856872" y="4764804"/>
            <a:ext cx="2886684" cy="369332"/>
          </a:xfrm>
          <a:prstGeom prst="rect">
            <a:avLst/>
          </a:prstGeom>
          <a:noFill/>
        </p:spPr>
        <p:txBody>
          <a:bodyPr wrap="square">
            <a:spAutoFit/>
          </a:bodyPr>
          <a:lstStyle/>
          <a:p>
            <a:pPr algn="ctr"/>
            <a:r>
              <a:rPr lang="vi-VN"/>
              <a:t>Thời gian (s)</a:t>
            </a:r>
            <a:endParaRPr lang="en-ID"/>
          </a:p>
        </p:txBody>
      </p:sp>
      <p:sp>
        <p:nvSpPr>
          <p:cNvPr id="11" name="Hộp Văn bản 10">
            <a:extLst>
              <a:ext uri="{FF2B5EF4-FFF2-40B4-BE49-F238E27FC236}">
                <a16:creationId xmlns:a16="http://schemas.microsoft.com/office/drawing/2014/main" id="{3D60633A-7BA9-B21D-E7B2-19CD1E986BB0}"/>
              </a:ext>
            </a:extLst>
          </p:cNvPr>
          <p:cNvSpPr txBox="1"/>
          <p:nvPr/>
        </p:nvSpPr>
        <p:spPr>
          <a:xfrm rot="16200000">
            <a:off x="-449929" y="2985981"/>
            <a:ext cx="1446990" cy="369332"/>
          </a:xfrm>
          <a:prstGeom prst="rect">
            <a:avLst/>
          </a:prstGeom>
          <a:noFill/>
        </p:spPr>
        <p:txBody>
          <a:bodyPr wrap="square">
            <a:spAutoFit/>
          </a:bodyPr>
          <a:lstStyle/>
          <a:p>
            <a:r>
              <a:rPr lang="vi-VN"/>
              <a:t>Điện áp (V)</a:t>
            </a:r>
            <a:endParaRPr lang="en-ID"/>
          </a:p>
        </p:txBody>
      </p:sp>
      <p:pic>
        <p:nvPicPr>
          <p:cNvPr id="14" name="Picture 4">
            <a:extLst>
              <a:ext uri="{FF2B5EF4-FFF2-40B4-BE49-F238E27FC236}">
                <a16:creationId xmlns:a16="http://schemas.microsoft.com/office/drawing/2014/main" id="{2D8A0A43-3AD7-10B7-4E72-A3A91877B3B7}"/>
              </a:ext>
            </a:extLst>
          </p:cNvPr>
          <p:cNvPicPr>
            <a:picLocks noChangeAspect="1"/>
          </p:cNvPicPr>
          <p:nvPr/>
        </p:nvPicPr>
        <p:blipFill>
          <a:blip r:embed="rId3"/>
          <a:stretch>
            <a:fillRect/>
          </a:stretch>
        </p:blipFill>
        <p:spPr>
          <a:xfrm>
            <a:off x="6371617" y="1723157"/>
            <a:ext cx="5634027" cy="4498836"/>
          </a:xfrm>
          <a:prstGeom prst="rect">
            <a:avLst/>
          </a:prstGeom>
        </p:spPr>
      </p:pic>
      <p:sp>
        <p:nvSpPr>
          <p:cNvPr id="15" name="TextBox 9">
            <a:extLst>
              <a:ext uri="{FF2B5EF4-FFF2-40B4-BE49-F238E27FC236}">
                <a16:creationId xmlns:a16="http://schemas.microsoft.com/office/drawing/2014/main" id="{6A5F97CD-E152-276A-6F0C-F7A1615C10DF}"/>
              </a:ext>
            </a:extLst>
          </p:cNvPr>
          <p:cNvSpPr txBox="1"/>
          <p:nvPr/>
        </p:nvSpPr>
        <p:spPr>
          <a:xfrm>
            <a:off x="7418404" y="6268009"/>
            <a:ext cx="3688080" cy="369332"/>
          </a:xfrm>
          <a:prstGeom prst="rect">
            <a:avLst/>
          </a:prstGeom>
          <a:noFill/>
        </p:spPr>
        <p:txBody>
          <a:bodyPr wrap="square" rtlCol="0">
            <a:spAutoFit/>
          </a:bodyPr>
          <a:lstStyle/>
          <a:p>
            <a:pPr algn="ctr"/>
            <a:r>
              <a:rPr lang="vi-VN"/>
              <a:t>Phổ sóng hài điện áp ra</a:t>
            </a:r>
            <a:endParaRPr lang="en-ID"/>
          </a:p>
        </p:txBody>
      </p:sp>
      <p:sp>
        <p:nvSpPr>
          <p:cNvPr id="17" name="Hộp Văn bản 16">
            <a:extLst>
              <a:ext uri="{FF2B5EF4-FFF2-40B4-BE49-F238E27FC236}">
                <a16:creationId xmlns:a16="http://schemas.microsoft.com/office/drawing/2014/main" id="{252AA71A-358D-1B6A-4F70-066C09C7A84A}"/>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1">
                <a:solidFill>
                  <a:prstClr val="black"/>
                </a:solidFill>
                <a:latin typeface="Times New Roman" panose="02020603050405020304" pitchFamily="18" charset="0"/>
                <a:cs typeface="Times New Roman" panose="02020603050405020304" pitchFamily="18" charset="0"/>
              </a:rPr>
              <a:t>5.2</a:t>
            </a: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a:t>
            </a:r>
            <a:r>
              <a:rPr kumimoji="0" lang="vi-VN"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706376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80C39-65F1-CAEC-2D79-3FDFC0F97C6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1227CEF-F850-C49F-AB3C-8570B37CA6FF}"/>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AE7CAF95-165D-747E-D88D-586A51DEF848}"/>
              </a:ext>
            </a:extLst>
          </p:cNvPr>
          <p:cNvSpPr>
            <a:spLocks noGrp="1"/>
          </p:cNvSpPr>
          <p:nvPr>
            <p:ph type="sldNum" sz="quarter" idx="12"/>
          </p:nvPr>
        </p:nvSpPr>
        <p:spPr/>
        <p:txBody>
          <a:bodyPr/>
          <a:lstStyle/>
          <a:p>
            <a:fld id="{931DD963-FD40-4A6D-88A9-402A489E81DE}" type="slidenum">
              <a:rPr lang="en-US" smtClean="0"/>
              <a:t>98</a:t>
            </a:fld>
            <a:endParaRPr lang="en-US"/>
          </a:p>
        </p:txBody>
      </p:sp>
      <p:grpSp>
        <p:nvGrpSpPr>
          <p:cNvPr id="10" name="Group 9">
            <a:extLst>
              <a:ext uri="{FF2B5EF4-FFF2-40B4-BE49-F238E27FC236}">
                <a16:creationId xmlns:a16="http://schemas.microsoft.com/office/drawing/2014/main" id="{2CF84411-17B0-9B6C-79F0-93872BB0FDA4}"/>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1DB040BF-2979-9109-1297-DCF64BF18393}"/>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5: </a:t>
              </a:r>
              <a:r>
                <a:rPr lang="vi-VN" sz="2133" b="1">
                  <a:latin typeface="Arial (Body)"/>
                </a:rPr>
                <a:t>GIẢI PHÁP CẢI TIẾN BỘ DAO ĐỘNG VANDERPOL</a:t>
              </a:r>
              <a:endParaRPr lang="en-US" sz="2133" b="1">
                <a:latin typeface="Arial (Body)"/>
              </a:endParaRPr>
            </a:p>
          </p:txBody>
        </p:sp>
        <p:sp>
          <p:nvSpPr>
            <p:cNvPr id="13" name="Rectangle 12">
              <a:extLst>
                <a:ext uri="{FF2B5EF4-FFF2-40B4-BE49-F238E27FC236}">
                  <a16:creationId xmlns:a16="http://schemas.microsoft.com/office/drawing/2014/main" id="{2DEA9D1C-5BA9-EC52-EAEE-B406D5A8536C}"/>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a:t>
              </a:r>
            </a:p>
          </p:txBody>
        </p:sp>
      </p:grpSp>
      <p:sp>
        <p:nvSpPr>
          <p:cNvPr id="6" name="Hộp Văn bản 5">
            <a:extLst>
              <a:ext uri="{FF2B5EF4-FFF2-40B4-BE49-F238E27FC236}">
                <a16:creationId xmlns:a16="http://schemas.microsoft.com/office/drawing/2014/main" id="{6D9B6BA7-BA59-6C89-AB85-359AC5B58ADB}"/>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1">
                <a:solidFill>
                  <a:prstClr val="black"/>
                </a:solidFill>
                <a:latin typeface="Times New Roman" panose="02020603050405020304" pitchFamily="18" charset="0"/>
                <a:cs typeface="Times New Roman" panose="02020603050405020304" pitchFamily="18" charset="0"/>
              </a:rPr>
              <a:t>5.2</a:t>
            </a: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a:t>
            </a:r>
            <a:r>
              <a:rPr kumimoji="0" lang="vi-VN"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AE467D2-29CD-7264-1681-BD6638297602}"/>
              </a:ext>
            </a:extLst>
          </p:cNvPr>
          <p:cNvPicPr>
            <a:picLocks noChangeAspect="1"/>
          </p:cNvPicPr>
          <p:nvPr/>
        </p:nvPicPr>
        <p:blipFill>
          <a:blip r:embed="rId2"/>
          <a:stretch>
            <a:fillRect/>
          </a:stretch>
        </p:blipFill>
        <p:spPr>
          <a:xfrm>
            <a:off x="1135124" y="1673096"/>
            <a:ext cx="9808493" cy="4655676"/>
          </a:xfrm>
          <a:prstGeom prst="rect">
            <a:avLst/>
          </a:prstGeom>
        </p:spPr>
      </p:pic>
      <p:sp>
        <p:nvSpPr>
          <p:cNvPr id="8" name="TextBox 7">
            <a:extLst>
              <a:ext uri="{FF2B5EF4-FFF2-40B4-BE49-F238E27FC236}">
                <a16:creationId xmlns:a16="http://schemas.microsoft.com/office/drawing/2014/main" id="{0BD36E8A-8C73-552C-2D9E-898A1B24AC1D}"/>
              </a:ext>
            </a:extLst>
          </p:cNvPr>
          <p:cNvSpPr txBox="1"/>
          <p:nvPr/>
        </p:nvSpPr>
        <p:spPr>
          <a:xfrm>
            <a:off x="4114735" y="6328772"/>
            <a:ext cx="3807726" cy="369332"/>
          </a:xfrm>
          <a:prstGeom prst="rect">
            <a:avLst/>
          </a:prstGeom>
          <a:noFill/>
        </p:spPr>
        <p:txBody>
          <a:bodyPr wrap="square" rtlCol="0">
            <a:spAutoFit/>
          </a:bodyPr>
          <a:lstStyle/>
          <a:p>
            <a:r>
              <a:rPr lang="vi-VN"/>
              <a:t>Công suất tác dụng của 2 bộ</a:t>
            </a:r>
            <a:endParaRPr lang="en-ID"/>
          </a:p>
        </p:txBody>
      </p:sp>
    </p:spTree>
    <p:extLst>
      <p:ext uri="{BB962C8B-B14F-4D97-AF65-F5344CB8AC3E}">
        <p14:creationId xmlns:p14="http://schemas.microsoft.com/office/powerpoint/2010/main" val="36717014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D5831-37F9-4676-CB3E-CE2C90C0204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FF740AF-302A-4B8F-E1A4-20D5DEFE934D}"/>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3D7E7364-EC70-4460-25A0-B539A6FC70C5}"/>
              </a:ext>
            </a:extLst>
          </p:cNvPr>
          <p:cNvSpPr>
            <a:spLocks noGrp="1"/>
          </p:cNvSpPr>
          <p:nvPr>
            <p:ph type="sldNum" sz="quarter" idx="12"/>
          </p:nvPr>
        </p:nvSpPr>
        <p:spPr/>
        <p:txBody>
          <a:bodyPr/>
          <a:lstStyle/>
          <a:p>
            <a:fld id="{931DD963-FD40-4A6D-88A9-402A489E81DE}" type="slidenum">
              <a:rPr lang="en-US" smtClean="0"/>
              <a:t>99</a:t>
            </a:fld>
            <a:endParaRPr lang="en-US"/>
          </a:p>
        </p:txBody>
      </p:sp>
      <p:grpSp>
        <p:nvGrpSpPr>
          <p:cNvPr id="10" name="Group 9">
            <a:extLst>
              <a:ext uri="{FF2B5EF4-FFF2-40B4-BE49-F238E27FC236}">
                <a16:creationId xmlns:a16="http://schemas.microsoft.com/office/drawing/2014/main" id="{10EFBE82-72EA-C6B5-34AE-9BB35B1E40F5}"/>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F50F1D22-42C0-EB2C-EE67-CD0B8026A5E6}"/>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5: </a:t>
              </a:r>
              <a:r>
                <a:rPr lang="vi-VN" sz="2133" b="1">
                  <a:latin typeface="Arial (Body)"/>
                </a:rPr>
                <a:t>GIẢI PHÁP CẢI TIẾN BỘ DAO ĐỘNG VANDERPOL</a:t>
              </a:r>
              <a:endParaRPr lang="en-US" sz="2133" b="1">
                <a:latin typeface="Arial (Body)"/>
              </a:endParaRPr>
            </a:p>
          </p:txBody>
        </p:sp>
        <p:sp>
          <p:nvSpPr>
            <p:cNvPr id="13" name="Rectangle 12">
              <a:extLst>
                <a:ext uri="{FF2B5EF4-FFF2-40B4-BE49-F238E27FC236}">
                  <a16:creationId xmlns:a16="http://schemas.microsoft.com/office/drawing/2014/main" id="{3B56E189-F0D3-F873-4DF0-7C051E5A7C99}"/>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a:t>
              </a:r>
            </a:p>
          </p:txBody>
        </p:sp>
      </p:grpSp>
      <p:sp>
        <p:nvSpPr>
          <p:cNvPr id="6" name="Hộp Văn bản 5">
            <a:extLst>
              <a:ext uri="{FF2B5EF4-FFF2-40B4-BE49-F238E27FC236}">
                <a16:creationId xmlns:a16="http://schemas.microsoft.com/office/drawing/2014/main" id="{F04FC1EE-4196-67FB-D0B3-7CDD35F696C3}"/>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1">
                <a:solidFill>
                  <a:prstClr val="black"/>
                </a:solidFill>
                <a:latin typeface="Times New Roman" panose="02020603050405020304" pitchFamily="18" charset="0"/>
                <a:cs typeface="Times New Roman" panose="02020603050405020304" pitchFamily="18" charset="0"/>
              </a:rPr>
              <a:t>5.2</a:t>
            </a: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a:t>
            </a:r>
            <a:r>
              <a:rPr kumimoji="0" lang="vi-VN"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 name="TextBox 9">
            <a:extLst>
              <a:ext uri="{FF2B5EF4-FFF2-40B4-BE49-F238E27FC236}">
                <a16:creationId xmlns:a16="http://schemas.microsoft.com/office/drawing/2014/main" id="{4EF14E2A-12FE-8672-9661-6914180B1435}"/>
              </a:ext>
            </a:extLst>
          </p:cNvPr>
          <p:cNvSpPr txBox="1"/>
          <p:nvPr/>
        </p:nvSpPr>
        <p:spPr>
          <a:xfrm>
            <a:off x="4203232" y="6137779"/>
            <a:ext cx="3688080" cy="369332"/>
          </a:xfrm>
          <a:prstGeom prst="rect">
            <a:avLst/>
          </a:prstGeom>
          <a:noFill/>
        </p:spPr>
        <p:txBody>
          <a:bodyPr wrap="square" rtlCol="0">
            <a:spAutoFit/>
          </a:bodyPr>
          <a:lstStyle/>
          <a:p>
            <a:r>
              <a:rPr lang="vi-VN"/>
              <a:t>Công suất phản kháng của 2 bộ</a:t>
            </a:r>
            <a:endParaRPr lang="en-ID"/>
          </a:p>
        </p:txBody>
      </p:sp>
      <p:pic>
        <p:nvPicPr>
          <p:cNvPr id="5" name="Picture 6">
            <a:extLst>
              <a:ext uri="{FF2B5EF4-FFF2-40B4-BE49-F238E27FC236}">
                <a16:creationId xmlns:a16="http://schemas.microsoft.com/office/drawing/2014/main" id="{9E85D4C8-CC9A-1515-D03E-2C66F2E1B9D6}"/>
              </a:ext>
            </a:extLst>
          </p:cNvPr>
          <p:cNvPicPr>
            <a:picLocks noChangeAspect="1"/>
          </p:cNvPicPr>
          <p:nvPr/>
        </p:nvPicPr>
        <p:blipFill>
          <a:blip r:embed="rId2"/>
          <a:stretch>
            <a:fillRect/>
          </a:stretch>
        </p:blipFill>
        <p:spPr>
          <a:xfrm>
            <a:off x="1135124" y="1441226"/>
            <a:ext cx="9779309" cy="4588831"/>
          </a:xfrm>
          <a:prstGeom prst="rect">
            <a:avLst/>
          </a:prstGeom>
        </p:spPr>
      </p:pic>
    </p:spTree>
    <p:extLst>
      <p:ext uri="{BB962C8B-B14F-4D97-AF65-F5344CB8AC3E}">
        <p14:creationId xmlns:p14="http://schemas.microsoft.com/office/powerpoint/2010/main" val="248174272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33C40-8F2F-0DFB-892C-7A40D154ACFF}"/>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6DC86C7D-2E68-2A67-214C-0F556F8CA907}"/>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C4636AD1-D920-17D6-9157-1AA8DA7219DC}"/>
              </a:ext>
            </a:extLst>
          </p:cNvPr>
          <p:cNvSpPr>
            <a:spLocks noGrp="1"/>
          </p:cNvSpPr>
          <p:nvPr>
            <p:ph type="sldNum" sz="quarter" idx="12"/>
          </p:nvPr>
        </p:nvSpPr>
        <p:spPr/>
        <p:txBody>
          <a:bodyPr/>
          <a:lstStyle/>
          <a:p>
            <a:fld id="{931DD963-FD40-4A6D-88A9-402A489E81DE}" type="slidenum">
              <a:rPr lang="en-US" smtClean="0"/>
              <a:t>100</a:t>
            </a:fld>
            <a:endParaRPr lang="en-US"/>
          </a:p>
        </p:txBody>
      </p:sp>
      <p:grpSp>
        <p:nvGrpSpPr>
          <p:cNvPr id="10" name="Group 9">
            <a:extLst>
              <a:ext uri="{FF2B5EF4-FFF2-40B4-BE49-F238E27FC236}">
                <a16:creationId xmlns:a16="http://schemas.microsoft.com/office/drawing/2014/main" id="{3045598A-CF44-BFE8-647A-939D226404C4}"/>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2B92F9DF-4F77-E2CD-96AD-A53591A35626}"/>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5: </a:t>
              </a:r>
              <a:r>
                <a:rPr lang="vi-VN" sz="2133" b="1">
                  <a:latin typeface="Arial (Body)"/>
                </a:rPr>
                <a:t>GIẢI PHÁP CẢI TIẾN BỘ DAO ĐỘNG VANDERPOL</a:t>
              </a:r>
              <a:endParaRPr lang="en-US" sz="2133" b="1">
                <a:latin typeface="Arial (Body)"/>
              </a:endParaRPr>
            </a:p>
          </p:txBody>
        </p:sp>
        <p:sp>
          <p:nvSpPr>
            <p:cNvPr id="13" name="Rectangle 12">
              <a:extLst>
                <a:ext uri="{FF2B5EF4-FFF2-40B4-BE49-F238E27FC236}">
                  <a16:creationId xmlns:a16="http://schemas.microsoft.com/office/drawing/2014/main" id="{026901F4-90C4-5E71-E76E-9DB5A56C2902}"/>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a:t>
              </a:r>
            </a:p>
          </p:txBody>
        </p:sp>
      </p:grpSp>
      <p:sp>
        <p:nvSpPr>
          <p:cNvPr id="6" name="Hộp Văn bản 5">
            <a:extLst>
              <a:ext uri="{FF2B5EF4-FFF2-40B4-BE49-F238E27FC236}">
                <a16:creationId xmlns:a16="http://schemas.microsoft.com/office/drawing/2014/main" id="{D1C236E0-95F5-570F-C5A7-0806A4951B6E}"/>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1">
                <a:solidFill>
                  <a:prstClr val="black"/>
                </a:solidFill>
                <a:latin typeface="Times New Roman" panose="02020603050405020304" pitchFamily="18" charset="0"/>
                <a:cs typeface="Times New Roman" panose="02020603050405020304" pitchFamily="18" charset="0"/>
              </a:rPr>
              <a:t>5.2</a:t>
            </a: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a:t>
            </a:r>
            <a:r>
              <a:rPr kumimoji="0" lang="vi-VN"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85DDDAC-1537-B2E3-034E-6C212A5F689A}"/>
              </a:ext>
            </a:extLst>
          </p:cNvPr>
          <p:cNvSpPr txBox="1"/>
          <p:nvPr/>
        </p:nvSpPr>
        <p:spPr>
          <a:xfrm>
            <a:off x="413529" y="1333504"/>
            <a:ext cx="11454216" cy="400110"/>
          </a:xfrm>
          <a:prstGeom prst="rect">
            <a:avLst/>
          </a:prstGeom>
          <a:noFill/>
        </p:spPr>
        <p:txBody>
          <a:bodyPr wrap="square" rtlCol="0">
            <a:spAutoFit/>
          </a:bodyPr>
          <a:lstStyle/>
          <a:p>
            <a:r>
              <a:rPr lang="vi-VN" sz="2000"/>
              <a:t>- Kịch bản 2: Mô phỏng với tải 1500 W, tỷ lệ chia sẻ 1:2 . Mong muốn thời gian t</a:t>
            </a:r>
            <a:r>
              <a:rPr lang="vi-VN" sz="2000" baseline="-25000"/>
              <a:t>rise</a:t>
            </a:r>
            <a:r>
              <a:rPr lang="vi-VN" sz="2000"/>
              <a:t>=0.05s</a:t>
            </a:r>
            <a:endParaRPr lang="en-ID" sz="200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8C2A7C77-819F-0747-A6CE-05DF00E5E33A}"/>
                  </a:ext>
                </a:extLst>
              </p:cNvPr>
              <p:cNvGraphicFramePr>
                <a:graphicFrameLocks noGrp="1"/>
              </p:cNvGraphicFramePr>
              <p:nvPr>
                <p:extLst>
                  <p:ext uri="{D42A27DB-BD31-4B8C-83A1-F6EECF244321}">
                    <p14:modId xmlns:p14="http://schemas.microsoft.com/office/powerpoint/2010/main" val="4276248730"/>
                  </p:ext>
                </p:extLst>
              </p:nvPr>
            </p:nvGraphicFramePr>
            <p:xfrm>
              <a:off x="865487" y="1849442"/>
              <a:ext cx="10019764" cy="4568300"/>
            </p:xfrm>
            <a:graphic>
              <a:graphicData uri="http://schemas.openxmlformats.org/drawingml/2006/table">
                <a:tbl>
                  <a:tblPr firstRow="1" bandRow="1">
                    <a:tableStyleId>{7DF18680-E054-41AD-8BC1-D1AEF772440D}</a:tableStyleId>
                  </a:tblPr>
                  <a:tblGrid>
                    <a:gridCol w="1790164">
                      <a:extLst>
                        <a:ext uri="{9D8B030D-6E8A-4147-A177-3AD203B41FA5}">
                          <a16:colId xmlns:a16="http://schemas.microsoft.com/office/drawing/2014/main" val="2099080480"/>
                        </a:ext>
                      </a:extLst>
                    </a:gridCol>
                    <a:gridCol w="3394953">
                      <a:extLst>
                        <a:ext uri="{9D8B030D-6E8A-4147-A177-3AD203B41FA5}">
                          <a16:colId xmlns:a16="http://schemas.microsoft.com/office/drawing/2014/main" val="3807464349"/>
                        </a:ext>
                      </a:extLst>
                    </a:gridCol>
                    <a:gridCol w="2470826">
                      <a:extLst>
                        <a:ext uri="{9D8B030D-6E8A-4147-A177-3AD203B41FA5}">
                          <a16:colId xmlns:a16="http://schemas.microsoft.com/office/drawing/2014/main" val="2047883326"/>
                        </a:ext>
                      </a:extLst>
                    </a:gridCol>
                    <a:gridCol w="2363821">
                      <a:extLst>
                        <a:ext uri="{9D8B030D-6E8A-4147-A177-3AD203B41FA5}">
                          <a16:colId xmlns:a16="http://schemas.microsoft.com/office/drawing/2014/main" val="2230794826"/>
                        </a:ext>
                      </a:extLst>
                    </a:gridCol>
                  </a:tblGrid>
                  <a:tr h="550405">
                    <a:tc>
                      <a:txBody>
                        <a:bodyPr/>
                        <a:lstStyle/>
                        <a:p>
                          <a:pPr marL="205740" marR="0" indent="-6350" algn="ctr">
                            <a:lnSpc>
                              <a:spcPct val="150000"/>
                            </a:lnSpc>
                            <a:spcBef>
                              <a:spcPts val="300"/>
                            </a:spcBef>
                            <a:spcAft>
                              <a:spcPts val="25"/>
                            </a:spcAft>
                          </a:pPr>
                          <a:r>
                            <a:rPr lang="en-US" sz="1800" b="1" kern="0" err="1">
                              <a:solidFill>
                                <a:srgbClr val="000000"/>
                              </a:solidFill>
                              <a:effectLst/>
                              <a:latin typeface="Times New Roman" panose="02020603050405020304" pitchFamily="18" charset="0"/>
                              <a:ea typeface="Times New Roman" panose="02020603050405020304" pitchFamily="18" charset="0"/>
                            </a:rPr>
                            <a:t>Kí</a:t>
                          </a:r>
                          <a:r>
                            <a:rPr lang="en-US" sz="1800" b="1" kern="0">
                              <a:solidFill>
                                <a:srgbClr val="000000"/>
                              </a:solidFill>
                              <a:effectLst/>
                              <a:latin typeface="Times New Roman" panose="02020603050405020304" pitchFamily="18" charset="0"/>
                              <a:ea typeface="Times New Roman" panose="02020603050405020304" pitchFamily="18" charset="0"/>
                            </a:rPr>
                            <a:t> </a:t>
                          </a:r>
                          <a:r>
                            <a:rPr lang="en-US" sz="1800" b="1" kern="0" err="1">
                              <a:solidFill>
                                <a:srgbClr val="000000"/>
                              </a:solidFill>
                              <a:effectLst/>
                              <a:latin typeface="Times New Roman" panose="02020603050405020304" pitchFamily="18" charset="0"/>
                              <a:ea typeface="Times New Roman" panose="02020603050405020304" pitchFamily="18" charset="0"/>
                            </a:rPr>
                            <a:t>hiệu</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1800" b="1" kern="0" err="1">
                              <a:solidFill>
                                <a:srgbClr val="000000"/>
                              </a:solidFill>
                              <a:effectLst/>
                              <a:latin typeface="Times New Roman" panose="02020603050405020304" pitchFamily="18" charset="0"/>
                              <a:ea typeface="Times New Roman" panose="02020603050405020304" pitchFamily="18" charset="0"/>
                            </a:rPr>
                            <a:t>Tham</a:t>
                          </a:r>
                          <a:r>
                            <a:rPr lang="en-US" sz="1800" b="1" kern="0">
                              <a:solidFill>
                                <a:srgbClr val="000000"/>
                              </a:solidFill>
                              <a:effectLst/>
                              <a:latin typeface="Times New Roman" panose="02020603050405020304" pitchFamily="18" charset="0"/>
                              <a:ea typeface="Times New Roman" panose="02020603050405020304" pitchFamily="18" charset="0"/>
                            </a:rPr>
                            <a:t> </a:t>
                          </a:r>
                          <a:r>
                            <a:rPr lang="en-US" sz="1800" b="1" kern="0" err="1">
                              <a:solidFill>
                                <a:srgbClr val="000000"/>
                              </a:solidFill>
                              <a:effectLst/>
                              <a:latin typeface="Times New Roman" panose="02020603050405020304" pitchFamily="18" charset="0"/>
                              <a:ea typeface="Times New Roman" panose="02020603050405020304" pitchFamily="18" charset="0"/>
                            </a:rPr>
                            <a:t>số</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1800" b="1" kern="0">
                              <a:solidFill>
                                <a:srgbClr val="000000"/>
                              </a:solidFill>
                              <a:effectLst/>
                              <a:latin typeface="Times New Roman" panose="02020603050405020304" pitchFamily="18" charset="0"/>
                              <a:ea typeface="Times New Roman" panose="02020603050405020304" pitchFamily="18" charset="0"/>
                            </a:rPr>
                            <a:t>Inverter </a:t>
                          </a:r>
                          <a:r>
                            <a:rPr lang="vi-VN" sz="1800" b="1" kern="0">
                              <a:solidFill>
                                <a:srgbClr val="000000"/>
                              </a:solidFill>
                              <a:effectLst/>
                              <a:latin typeface="Times New Roman" panose="02020603050405020304" pitchFamily="18" charset="0"/>
                              <a:ea typeface="Times New Roman" panose="02020603050405020304" pitchFamily="18" charset="0"/>
                            </a:rPr>
                            <a:t>2</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1800" b="1" kern="0">
                              <a:solidFill>
                                <a:srgbClr val="000000"/>
                              </a:solidFill>
                              <a:effectLst/>
                              <a:latin typeface="Times New Roman" panose="02020603050405020304" pitchFamily="18" charset="0"/>
                              <a:ea typeface="Times New Roman" panose="02020603050405020304" pitchFamily="18" charset="0"/>
                            </a:rPr>
                            <a:t>Inverter </a:t>
                          </a:r>
                          <a:r>
                            <a:rPr lang="vi-VN" sz="1800" b="1" kern="0">
                              <a:solidFill>
                                <a:srgbClr val="000000"/>
                              </a:solidFill>
                              <a:effectLst/>
                              <a:latin typeface="Times New Roman" panose="02020603050405020304" pitchFamily="18" charset="0"/>
                              <a:ea typeface="Times New Roman" panose="02020603050405020304" pitchFamily="18" charset="0"/>
                            </a:rPr>
                            <a:t>1</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extLst>
                      <a:ext uri="{0D108BD9-81ED-4DB2-BD59-A6C34878D82A}">
                        <a16:rowId xmlns:a16="http://schemas.microsoft.com/office/drawing/2014/main" val="1667104164"/>
                      </a:ext>
                    </a:extLst>
                  </a:tr>
                  <a:tr h="550405">
                    <a:tc>
                      <a:txBody>
                        <a:bodyPr/>
                        <a:lstStyle/>
                        <a:p>
                          <a:pPr marL="205740" marR="0" indent="-6350" algn="ctr">
                            <a:lnSpc>
                              <a:spcPct val="150000"/>
                            </a:lnSpc>
                            <a:spcBef>
                              <a:spcPts val="300"/>
                            </a:spcBef>
                            <a:spcAft>
                              <a:spcPts val="25"/>
                            </a:spcAft>
                          </a:pPr>
                          <a:r>
                            <a:rPr lang="en-US" sz="1800" kern="100">
                              <a:solidFill>
                                <a:srgbClr val="000000"/>
                              </a:solidFill>
                              <a:effectLst/>
                              <a:ea typeface="Times New Roman" panose="02020603050405020304" pitchFamily="18" charset="0"/>
                            </a:rPr>
                            <a:t> </a:t>
                          </a:r>
                          <a14:m>
                            <m:oMath xmlns:m="http://schemas.openxmlformats.org/officeDocument/2006/math">
                              <m:sSub>
                                <m:sSubPr>
                                  <m:ctrlPr>
                                    <a:rPr lang="vi-VN" sz="1800" b="1" i="1" kern="0">
                                      <a:solidFill>
                                        <a:srgbClr val="000000"/>
                                      </a:solidFill>
                                      <a:effectLst/>
                                      <a:latin typeface="Cambria Math" panose="02040503050406030204" pitchFamily="18" charset="0"/>
                                      <a:ea typeface="Times New Roman" panose="02020603050405020304" pitchFamily="18" charset="0"/>
                                    </a:rPr>
                                  </m:ctrlPr>
                                </m:sSubPr>
                                <m:e>
                                  <m:r>
                                    <a:rPr lang="vi-VN" sz="1800" b="1" i="1" kern="0">
                                      <a:solidFill>
                                        <a:srgbClr val="000000"/>
                                      </a:solidFill>
                                      <a:effectLst/>
                                      <a:latin typeface="Cambria Math" panose="02040503050406030204" pitchFamily="18" charset="0"/>
                                      <a:ea typeface="Times New Roman" panose="02020603050405020304" pitchFamily="18" charset="0"/>
                                    </a:rPr>
                                    <m:t>𝒌</m:t>
                                  </m:r>
                                </m:e>
                                <m:sub>
                                  <m:r>
                                    <a:rPr lang="vi-VN" sz="1800" b="1" i="1" kern="0">
                                      <a:solidFill>
                                        <a:srgbClr val="000000"/>
                                      </a:solidFill>
                                      <a:effectLst/>
                                      <a:latin typeface="Cambria Math" panose="02040503050406030204" pitchFamily="18" charset="0"/>
                                      <a:ea typeface="Times New Roman" panose="02020603050405020304" pitchFamily="18" charset="0"/>
                                    </a:rPr>
                                    <m:t>𝒗</m:t>
                                  </m:r>
                                </m:sub>
                              </m:sSub>
                            </m:oMath>
                          </a14:m>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1800" kern="0" err="1">
                              <a:solidFill>
                                <a:srgbClr val="000000"/>
                              </a:solidFill>
                              <a:effectLst/>
                              <a:latin typeface="Times New Roman" panose="02020603050405020304" pitchFamily="18" charset="0"/>
                              <a:ea typeface="Times New Roman" panose="02020603050405020304" pitchFamily="18" charset="0"/>
                            </a:rPr>
                            <a:t>Hệ</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số</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căn</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chỉnh</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điện</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áp</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1800" kern="0">
                              <a:solidFill>
                                <a:srgbClr val="000000"/>
                              </a:solidFill>
                              <a:effectLst/>
                              <a:latin typeface="Cambria Math" panose="02040503050406030204" pitchFamily="18" charset="0"/>
                              <a:ea typeface="Times New Roman" panose="02020603050405020304" pitchFamily="18" charset="0"/>
                            </a:rPr>
                            <a:t>225</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1800" kern="0">
                              <a:solidFill>
                                <a:srgbClr val="000000"/>
                              </a:solidFill>
                              <a:effectLst/>
                              <a:latin typeface="Cambria Math" panose="02040503050406030204" pitchFamily="18" charset="0"/>
                              <a:ea typeface="Times New Roman" panose="02020603050405020304" pitchFamily="18" charset="0"/>
                            </a:rPr>
                            <a:t>225</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37835341"/>
                      </a:ext>
                    </a:extLst>
                  </a:tr>
                  <a:tr h="701767">
                    <a:tc>
                      <a:txBody>
                        <a:bodyPr/>
                        <a:lstStyle/>
                        <a:p>
                          <a:pPr marL="205740" marR="0" indent="-6350" algn="ctr">
                            <a:lnSpc>
                              <a:spcPct val="150000"/>
                            </a:lnSpc>
                            <a:spcBef>
                              <a:spcPts val="300"/>
                            </a:spcBef>
                            <a:spcAft>
                              <a:spcPts val="25"/>
                            </a:spcAft>
                          </a:pPr>
                          <a14:m>
                            <m:oMathPara xmlns:m="http://schemas.openxmlformats.org/officeDocument/2006/math">
                              <m:oMath>
                                <m:sSub>
                                  <m:sSubPr>
                                    <m:ctrlPr>
                                      <a:rPr lang="vi-VN" sz="1800" b="1" i="1" kern="0">
                                        <a:solidFill>
                                          <a:srgbClr val="000000"/>
                                        </a:solidFill>
                                        <a:effectLst/>
                                        <a:latin typeface="Cambria Math" panose="02040503050406030204" pitchFamily="18" charset="0"/>
                                        <a:ea typeface="Times New Roman" panose="02020603050405020304" pitchFamily="18" charset="0"/>
                                      </a:rPr>
                                    </m:ctrlPr>
                                  </m:sSubPr>
                                  <m:e>
                                    <m:r>
                                      <a:rPr lang="vi-VN" sz="1800" b="1" i="1" kern="0">
                                        <a:solidFill>
                                          <a:srgbClr val="000000"/>
                                        </a:solidFill>
                                        <a:effectLst/>
                                        <a:latin typeface="Cambria Math" panose="02040503050406030204" pitchFamily="18" charset="0"/>
                                        <a:ea typeface="Times New Roman" panose="02020603050405020304" pitchFamily="18" charset="0"/>
                                      </a:rPr>
                                      <m:t>𝒌</m:t>
                                    </m:r>
                                  </m:e>
                                  <m:sub>
                                    <m:r>
                                      <a:rPr lang="en-US" sz="1800" i="1" kern="0">
                                        <a:solidFill>
                                          <a:srgbClr val="000000"/>
                                        </a:solidFill>
                                        <a:effectLst/>
                                        <a:latin typeface="Cambria Math" panose="02040503050406030204" pitchFamily="18" charset="0"/>
                                        <a:ea typeface="Times New Roman" panose="02020603050405020304" pitchFamily="18" charset="0"/>
                                      </a:rPr>
                                      <m:t>𝑖</m:t>
                                    </m:r>
                                  </m:sub>
                                </m:sSub>
                              </m:oMath>
                            </m:oMathPara>
                          </a14:m>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1800" kern="0" err="1">
                              <a:solidFill>
                                <a:srgbClr val="000000"/>
                              </a:solidFill>
                              <a:effectLst/>
                              <a:latin typeface="Times New Roman" panose="02020603050405020304" pitchFamily="18" charset="0"/>
                              <a:ea typeface="Times New Roman" panose="02020603050405020304" pitchFamily="18" charset="0"/>
                            </a:rPr>
                            <a:t>Hệ</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số</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căn</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chỉnh</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dòng</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điện</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1800" kern="100">
                              <a:solidFill>
                                <a:srgbClr val="000000"/>
                              </a:solidFill>
                              <a:effectLst/>
                              <a:ea typeface="Times New Roman" panose="02020603050405020304" pitchFamily="18" charset="0"/>
                            </a:rPr>
                            <a:t>0.2</a:t>
                          </a:r>
                          <a:r>
                            <a:rPr lang="en-US" sz="1800" kern="100">
                              <a:solidFill>
                                <a:srgbClr val="000000"/>
                              </a:solidFill>
                              <a:effectLst/>
                              <a:ea typeface="Times New Roman" panose="02020603050405020304" pitchFamily="18" charset="0"/>
                            </a:rPr>
                            <a:t>2</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1800" i="1" kern="100" smtClean="0">
                                  <a:solidFill>
                                    <a:srgbClr val="000000"/>
                                  </a:solidFill>
                                  <a:effectLst/>
                                  <a:latin typeface="Cambria Math" panose="02040503050406030204" pitchFamily="18" charset="0"/>
                                  <a:ea typeface="Times New Roman" panose="02020603050405020304" pitchFamily="18" charset="0"/>
                                </a:rPr>
                                <m:t>0</m:t>
                              </m:r>
                            </m:oMath>
                          </a14:m>
                          <a:r>
                            <a:rPr lang="vi-VN" sz="1800" kern="100">
                              <a:solidFill>
                                <a:srgbClr val="000000"/>
                              </a:solidFill>
                              <a:effectLst/>
                              <a:latin typeface="Times New Roman" panose="02020603050405020304" pitchFamily="18" charset="0"/>
                              <a:ea typeface="Times New Roman" panose="02020603050405020304" pitchFamily="18" charset="0"/>
                            </a:rPr>
                            <a:t>.</a:t>
                          </a:r>
                          <a:r>
                            <a:rPr lang="en-US" sz="1800" kern="100">
                              <a:solidFill>
                                <a:srgbClr val="000000"/>
                              </a:solidFill>
                              <a:effectLst/>
                              <a:latin typeface="Times New Roman" panose="02020603050405020304" pitchFamily="18" charset="0"/>
                              <a:ea typeface="Times New Roman" panose="02020603050405020304" pitchFamily="18" charset="0"/>
                            </a:rPr>
                            <a:t>44</a:t>
                          </a:r>
                        </a:p>
                      </a:txBody>
                      <a:tcPr marL="68580" marR="68580" marT="0" marB="0"/>
                    </a:tc>
                    <a:extLst>
                      <a:ext uri="{0D108BD9-81ED-4DB2-BD59-A6C34878D82A}">
                        <a16:rowId xmlns:a16="http://schemas.microsoft.com/office/drawing/2014/main" val="1041384075"/>
                      </a:ext>
                    </a:extLst>
                  </a:tr>
                  <a:tr h="701767">
                    <a:tc>
                      <a:txBody>
                        <a:bodyPr/>
                        <a:lstStyle/>
                        <a:p>
                          <a:pPr marL="205740" marR="0" indent="-6350" algn="ctr">
                            <a:lnSpc>
                              <a:spcPct val="150000"/>
                            </a:lnSpc>
                            <a:spcBef>
                              <a:spcPts val="300"/>
                            </a:spcBef>
                            <a:spcAft>
                              <a:spcPts val="25"/>
                            </a:spcAft>
                          </a:pPr>
                          <a14:m>
                            <m:oMathPara xmlns:m="http://schemas.openxmlformats.org/officeDocument/2006/math">
                              <m:oMath>
                                <m:r>
                                  <a:rPr lang="en-US" sz="1800" b="1" i="1" kern="0">
                                    <a:solidFill>
                                      <a:srgbClr val="000000"/>
                                    </a:solidFill>
                                    <a:effectLst/>
                                    <a:latin typeface="Cambria Math" panose="02040503050406030204" pitchFamily="18" charset="0"/>
                                    <a:ea typeface="Yu Mincho" panose="02020400000000000000" pitchFamily="18" charset="-128"/>
                                  </a:rPr>
                                  <m:t>𝜶</m:t>
                                </m:r>
                              </m:oMath>
                            </m:oMathPara>
                          </a14:m>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1800" kern="0">
                              <a:solidFill>
                                <a:srgbClr val="000000"/>
                              </a:solidFill>
                              <a:effectLst/>
                              <a:latin typeface="Times New Roman" panose="02020603050405020304" pitchFamily="18" charset="0"/>
                              <a:ea typeface="Times New Roman" panose="02020603050405020304" pitchFamily="18" charset="0"/>
                            </a:rPr>
                            <a:t>Hệ số nguồn dòng phụ thuộc</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1800" i="1" kern="100" smtClean="0">
                                  <a:solidFill>
                                    <a:srgbClr val="000000"/>
                                  </a:solidFill>
                                  <a:effectLst/>
                                  <a:latin typeface="Cambria Math" panose="02040503050406030204" pitchFamily="18" charset="0"/>
                                  <a:ea typeface="Times New Roman" panose="02020603050405020304" pitchFamily="18" charset="0"/>
                                </a:rPr>
                                <m:t>15</m:t>
                              </m:r>
                            </m:oMath>
                          </a14:m>
                          <a:r>
                            <a:rPr lang="vi-VN" sz="1800" kern="100">
                              <a:solidFill>
                                <a:srgbClr val="000000"/>
                              </a:solidFill>
                              <a:effectLst/>
                              <a:latin typeface="Times New Roman" panose="02020603050405020304" pitchFamily="18" charset="0"/>
                              <a:ea typeface="Times New Roman" panose="02020603050405020304" pitchFamily="18" charset="0"/>
                            </a:rPr>
                            <a:t>.51</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1800" i="1" kern="100" smtClean="0">
                                  <a:solidFill>
                                    <a:srgbClr val="000000"/>
                                  </a:solidFill>
                                  <a:effectLst/>
                                  <a:latin typeface="Cambria Math" panose="02040503050406030204" pitchFamily="18" charset="0"/>
                                  <a:ea typeface="Times New Roman" panose="02020603050405020304" pitchFamily="18" charset="0"/>
                                </a:rPr>
                                <m:t>15</m:t>
                              </m:r>
                            </m:oMath>
                          </a14:m>
                          <a:r>
                            <a:rPr lang="vi-VN" sz="1800" kern="100">
                              <a:solidFill>
                                <a:srgbClr val="000000"/>
                              </a:solidFill>
                              <a:effectLst/>
                              <a:latin typeface="Times New Roman" panose="02020603050405020304" pitchFamily="18" charset="0"/>
                              <a:ea typeface="Times New Roman" panose="02020603050405020304" pitchFamily="18" charset="0"/>
                            </a:rPr>
                            <a:t>.51</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603328144"/>
                      </a:ext>
                    </a:extLst>
                  </a:tr>
                  <a:tr h="792244">
                    <a:tc>
                      <a:txBody>
                        <a:bodyPr/>
                        <a:lstStyle/>
                        <a:p>
                          <a:pPr marL="205740" marR="0" indent="-6350" algn="ctr">
                            <a:lnSpc>
                              <a:spcPct val="150000"/>
                            </a:lnSpc>
                            <a:spcBef>
                              <a:spcPts val="300"/>
                            </a:spcBef>
                            <a:spcAft>
                              <a:spcPts val="25"/>
                            </a:spcAft>
                          </a:pPr>
                          <a14:m>
                            <m:oMathPara xmlns:m="http://schemas.openxmlformats.org/officeDocument/2006/math">
                              <m:oMath>
                                <m:r>
                                  <a:rPr lang="en-US" sz="1800" b="1" i="1" kern="0">
                                    <a:solidFill>
                                      <a:srgbClr val="000000"/>
                                    </a:solidFill>
                                    <a:effectLst/>
                                    <a:latin typeface="Cambria Math" panose="02040503050406030204" pitchFamily="18" charset="0"/>
                                    <a:ea typeface="Times New Roman" panose="02020603050405020304" pitchFamily="18" charset="0"/>
                                  </a:rPr>
                                  <m:t>𝝈</m:t>
                                </m:r>
                              </m:oMath>
                            </m:oMathPara>
                          </a14:m>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1800" kern="0" err="1">
                              <a:solidFill>
                                <a:srgbClr val="000000"/>
                              </a:solidFill>
                              <a:effectLst/>
                              <a:latin typeface="Times New Roman" panose="02020603050405020304" pitchFamily="18" charset="0"/>
                              <a:ea typeface="Times New Roman" panose="02020603050405020304" pitchFamily="18" charset="0"/>
                            </a:rPr>
                            <a:t>Điện</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dẫn</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bộ</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dao</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động</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ảo</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1800" i="1" kern="0" smtClean="0">
                                  <a:solidFill>
                                    <a:srgbClr val="000000"/>
                                  </a:solidFill>
                                  <a:effectLst/>
                                  <a:latin typeface="Cambria Math" panose="02040503050406030204" pitchFamily="18" charset="0"/>
                                  <a:ea typeface="Times New Roman" panose="02020603050405020304" pitchFamily="18" charset="0"/>
                                </a:rPr>
                                <m:t>23</m:t>
                              </m:r>
                            </m:oMath>
                          </a14:m>
                          <a:r>
                            <a:rPr lang="vi-VN" sz="1800" kern="0">
                              <a:solidFill>
                                <a:srgbClr val="000000"/>
                              </a:solidFill>
                              <a:effectLst/>
                              <a:latin typeface="Cambria Math" panose="02040503050406030204" pitchFamily="18" charset="0"/>
                              <a:ea typeface="Times New Roman" panose="02020603050405020304" pitchFamily="18" charset="0"/>
                            </a:rPr>
                            <a:t>.27</a:t>
                          </a:r>
                          <a:r>
                            <a:rPr lang="en-US" sz="1800" kern="0">
                              <a:solidFill>
                                <a:srgbClr val="000000"/>
                              </a:solidFill>
                              <a:effectLst/>
                              <a:latin typeface="Cambria Math" panose="02040503050406030204" pitchFamily="18" charset="0"/>
                              <a:ea typeface="Times New Roman" panose="02020603050405020304" pitchFamily="18" charset="0"/>
                            </a:rPr>
                            <a:t>(</a:t>
                          </a:r>
                          <a14:m>
                            <m:oMath xmlns:m="http://schemas.openxmlformats.org/officeDocument/2006/math">
                              <m:sSup>
                                <m:sSupPr>
                                  <m:ctrlPr>
                                    <a:rPr lang="en-US" sz="1800" u="sng" kern="0">
                                      <a:solidFill>
                                        <a:srgbClr val="000000"/>
                                      </a:solidFill>
                                      <a:effectLst/>
                                      <a:latin typeface="Cambria Math" panose="02040503050406030204" pitchFamily="18" charset="0"/>
                                      <a:ea typeface="Times New Roman" panose="02020603050405020304" pitchFamily="18" charset="0"/>
                                      <a:cs typeface="Arial" panose="020B0604020202020204" pitchFamily="34" charset="0"/>
                                      <a:hlinkClick r:id="rId2"/>
                                    </a:rPr>
                                  </m:ctrlPr>
                                </m:sSupPr>
                                <m:e>
                                  <m:r>
                                    <m:rPr>
                                      <m:sty m:val="p"/>
                                    </m:rPr>
                                    <a:rPr lang="en-US" sz="1800" u="sng" kern="0">
                                      <a:solidFill>
                                        <a:srgbClr val="000000"/>
                                      </a:solidFill>
                                      <a:effectLst/>
                                      <a:latin typeface="Cambria Math" panose="02040503050406030204" pitchFamily="18" charset="0"/>
                                      <a:ea typeface="Times New Roman" panose="02020603050405020304" pitchFamily="18" charset="0"/>
                                      <a:cs typeface="Arial" panose="020B0604020202020204" pitchFamily="34" charset="0"/>
                                      <a:hlinkClick r:id="rId2"/>
                                    </a:rPr>
                                    <m:t>Ω</m:t>
                                  </m:r>
                                </m:e>
                                <m:sup>
                                  <m:r>
                                    <a:rPr lang="en-US" sz="1800" i="1" kern="0">
                                      <a:solidFill>
                                        <a:srgbClr val="000000"/>
                                      </a:solidFill>
                                      <a:effectLst/>
                                      <a:latin typeface="Cambria Math" panose="02040503050406030204" pitchFamily="18" charset="0"/>
                                      <a:ea typeface="Yu Mincho" panose="02020400000000000000" pitchFamily="18" charset="-128"/>
                                    </a:rPr>
                                    <m:t>−1</m:t>
                                  </m:r>
                                </m:sup>
                              </m:sSup>
                              <m:r>
                                <a:rPr lang="en-US" sz="1800" i="1" kern="0">
                                  <a:solidFill>
                                    <a:srgbClr val="000000"/>
                                  </a:solidFill>
                                  <a:effectLst/>
                                  <a:latin typeface="Cambria Math" panose="02040503050406030204" pitchFamily="18" charset="0"/>
                                  <a:ea typeface="Yu Mincho" panose="02020400000000000000" pitchFamily="18" charset="-128"/>
                                </a:rPr>
                                <m:t>)</m:t>
                              </m:r>
                            </m:oMath>
                          </a14:m>
                          <a:endParaRPr lang="en-US" sz="1800" kern="100">
                            <a:solidFill>
                              <a:srgbClr val="000000"/>
                            </a:solidFill>
                            <a:effectLst/>
                            <a:latin typeface="Times New Roman" panose="02020603050405020304" pitchFamily="18" charset="0"/>
                            <a:ea typeface="Times New Roman" panose="02020603050405020304" pitchFamily="18" charset="0"/>
                          </a:endParaRPr>
                        </a:p>
                        <a:p>
                          <a:pPr marL="205740" marR="0" indent="-6350" algn="ctr">
                            <a:lnSpc>
                              <a:spcPct val="150000"/>
                            </a:lnSpc>
                            <a:spcBef>
                              <a:spcPts val="300"/>
                            </a:spcBef>
                            <a:spcAft>
                              <a:spcPts val="25"/>
                            </a:spcAft>
                          </a:pPr>
                          <a:r>
                            <a:rPr lang="en-US" sz="1800" kern="0">
                              <a:solidFill>
                                <a:srgbClr val="000000"/>
                              </a:solidFill>
                              <a:effectLst/>
                              <a:latin typeface="Times New Roman" panose="02020603050405020304" pitchFamily="18" charset="0"/>
                              <a:ea typeface="Times New Roman" panose="02020603050405020304" pitchFamily="18" charset="0"/>
                            </a:rPr>
                            <a:t> </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 xmlns:m="http://schemas.openxmlformats.org/officeDocument/2006/math">
                              <m:r>
                                <a:rPr lang="vi-VN" sz="1800" i="1" kern="0" smtClean="0">
                                  <a:solidFill>
                                    <a:srgbClr val="000000"/>
                                  </a:solidFill>
                                  <a:effectLst/>
                                  <a:latin typeface="Cambria Math" panose="02040503050406030204" pitchFamily="18" charset="0"/>
                                  <a:ea typeface="Times New Roman" panose="02020603050405020304" pitchFamily="18" charset="0"/>
                                </a:rPr>
                                <m:t>23</m:t>
                              </m:r>
                            </m:oMath>
                          </a14:m>
                          <a:r>
                            <a:rPr lang="vi-VN" sz="1800" kern="0">
                              <a:solidFill>
                                <a:srgbClr val="000000"/>
                              </a:solidFill>
                              <a:effectLst/>
                              <a:latin typeface="Cambria Math" panose="02040503050406030204" pitchFamily="18" charset="0"/>
                              <a:ea typeface="Times New Roman" panose="02020603050405020304" pitchFamily="18" charset="0"/>
                            </a:rPr>
                            <a:t>,27</a:t>
                          </a:r>
                          <a:r>
                            <a:rPr lang="en-US" sz="1800" kern="0">
                              <a:solidFill>
                                <a:srgbClr val="000000"/>
                              </a:solidFill>
                              <a:effectLst/>
                              <a:latin typeface="Cambria Math" panose="02040503050406030204" pitchFamily="18" charset="0"/>
                              <a:ea typeface="Times New Roman" panose="02020603050405020304" pitchFamily="18" charset="0"/>
                            </a:rPr>
                            <a:t>(</a:t>
                          </a:r>
                          <a14:m>
                            <m:oMath xmlns:m="http://schemas.openxmlformats.org/officeDocument/2006/math">
                              <m:sSup>
                                <m:sSupPr>
                                  <m:ctrlPr>
                                    <a:rPr lang="en-US" sz="1800" u="sng" kern="0">
                                      <a:solidFill>
                                        <a:srgbClr val="000000"/>
                                      </a:solidFill>
                                      <a:effectLst/>
                                      <a:latin typeface="Cambria Math" panose="02040503050406030204" pitchFamily="18" charset="0"/>
                                      <a:ea typeface="Times New Roman" panose="02020603050405020304" pitchFamily="18" charset="0"/>
                                      <a:cs typeface="Arial" panose="020B0604020202020204" pitchFamily="34" charset="0"/>
                                      <a:hlinkClick r:id="rId2"/>
                                    </a:rPr>
                                  </m:ctrlPr>
                                </m:sSupPr>
                                <m:e>
                                  <m:r>
                                    <m:rPr>
                                      <m:sty m:val="p"/>
                                    </m:rPr>
                                    <a:rPr lang="en-US" sz="1800" u="sng" kern="0">
                                      <a:solidFill>
                                        <a:srgbClr val="000000"/>
                                      </a:solidFill>
                                      <a:effectLst/>
                                      <a:latin typeface="Cambria Math" panose="02040503050406030204" pitchFamily="18" charset="0"/>
                                      <a:ea typeface="Times New Roman" panose="02020603050405020304" pitchFamily="18" charset="0"/>
                                      <a:cs typeface="Arial" panose="020B0604020202020204" pitchFamily="34" charset="0"/>
                                      <a:hlinkClick r:id="rId2"/>
                                    </a:rPr>
                                    <m:t>Ω</m:t>
                                  </m:r>
                                </m:e>
                                <m:sup>
                                  <m:r>
                                    <a:rPr lang="en-US" sz="1800" i="1" kern="0">
                                      <a:solidFill>
                                        <a:srgbClr val="000000"/>
                                      </a:solidFill>
                                      <a:effectLst/>
                                      <a:latin typeface="Cambria Math" panose="02040503050406030204" pitchFamily="18" charset="0"/>
                                      <a:ea typeface="Yu Mincho" panose="02020400000000000000" pitchFamily="18" charset="-128"/>
                                    </a:rPr>
                                    <m:t>−1</m:t>
                                  </m:r>
                                </m:sup>
                              </m:sSup>
                              <m:r>
                                <a:rPr lang="en-US" sz="1800" i="1" kern="0">
                                  <a:solidFill>
                                    <a:srgbClr val="000000"/>
                                  </a:solidFill>
                                  <a:effectLst/>
                                  <a:latin typeface="Cambria Math" panose="02040503050406030204" pitchFamily="18" charset="0"/>
                                  <a:ea typeface="Yu Mincho" panose="02020400000000000000" pitchFamily="18" charset="-128"/>
                                </a:rPr>
                                <m:t>)</m:t>
                              </m:r>
                            </m:oMath>
                          </a14:m>
                          <a:endParaRPr lang="en-US" sz="1800" kern="100">
                            <a:solidFill>
                              <a:srgbClr val="000000"/>
                            </a:solidFill>
                            <a:effectLst/>
                            <a:latin typeface="Times New Roman" panose="02020603050405020304" pitchFamily="18" charset="0"/>
                            <a:ea typeface="Times New Roman" panose="02020603050405020304" pitchFamily="18" charset="0"/>
                          </a:endParaRPr>
                        </a:p>
                        <a:p>
                          <a:pPr marL="205740" marR="0" indent="-6350" algn="ctr">
                            <a:lnSpc>
                              <a:spcPct val="150000"/>
                            </a:lnSpc>
                            <a:spcBef>
                              <a:spcPts val="300"/>
                            </a:spcBef>
                            <a:spcAft>
                              <a:spcPts val="25"/>
                            </a:spcAft>
                          </a:pPr>
                          <a:r>
                            <a:rPr lang="en-US" sz="1800" kern="0">
                              <a:solidFill>
                                <a:srgbClr val="000000"/>
                              </a:solidFill>
                              <a:effectLst/>
                              <a:latin typeface="Times New Roman" panose="02020603050405020304" pitchFamily="18" charset="0"/>
                              <a:ea typeface="Times New Roman" panose="02020603050405020304" pitchFamily="18" charset="0"/>
                            </a:rPr>
                            <a:t> </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96320218"/>
                      </a:ext>
                    </a:extLst>
                  </a:tr>
                  <a:tr h="701767">
                    <a:tc>
                      <a:txBody>
                        <a:bodyPr/>
                        <a:lstStyle/>
                        <a:p>
                          <a:pPr marL="205740" marR="0" indent="-6350" algn="ctr">
                            <a:lnSpc>
                              <a:spcPct val="150000"/>
                            </a:lnSpc>
                            <a:spcBef>
                              <a:spcPts val="300"/>
                            </a:spcBef>
                            <a:spcAft>
                              <a:spcPts val="25"/>
                            </a:spcAft>
                          </a:pPr>
                          <a:r>
                            <a:rPr lang="en-US" sz="1800" b="1" kern="0">
                              <a:solidFill>
                                <a:srgbClr val="000000"/>
                              </a:solidFill>
                              <a:effectLst/>
                              <a:latin typeface="Times New Roman" panose="02020603050405020304" pitchFamily="18" charset="0"/>
                              <a:ea typeface="Times New Roman" panose="02020603050405020304" pitchFamily="18" charset="0"/>
                            </a:rPr>
                            <a:t>L</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1800" kern="0">
                              <a:solidFill>
                                <a:srgbClr val="000000"/>
                              </a:solidFill>
                              <a:effectLst/>
                              <a:latin typeface="Times New Roman" panose="02020603050405020304" pitchFamily="18" charset="0"/>
                              <a:ea typeface="Times New Roman" panose="02020603050405020304" pitchFamily="18" charset="0"/>
                            </a:rPr>
                            <a:t>Điện cảm bộ dao động ảo</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Para xmlns:m="http://schemas.openxmlformats.org/officeDocument/2006/math">
                              <m:oMath>
                                <m:r>
                                  <a:rPr lang="vi-VN" sz="1800" i="1" kern="1200" smtClean="0">
                                    <a:solidFill>
                                      <a:srgbClr val="000000"/>
                                    </a:solidFill>
                                    <a:effectLst/>
                                    <a:latin typeface="Cambria Math" panose="02040503050406030204" pitchFamily="18" charset="0"/>
                                    <a:ea typeface="Times New Roman" panose="02020603050405020304" pitchFamily="18" charset="0"/>
                                  </a:rPr>
                                  <m:t>2</m:t>
                                </m:r>
                                <m:r>
                                  <a:rPr lang="vi-VN" sz="1800" b="0" i="1" kern="1200" smtClean="0">
                                    <a:solidFill>
                                      <a:srgbClr val="000000"/>
                                    </a:solidFill>
                                    <a:effectLst/>
                                    <a:latin typeface="Cambria Math" panose="02040503050406030204" pitchFamily="18" charset="0"/>
                                    <a:ea typeface="Times New Roman" panose="02020603050405020304" pitchFamily="18" charset="0"/>
                                  </a:rPr>
                                  <m:t>,03</m:t>
                                </m:r>
                                <m:r>
                                  <a:rPr lang="en-US" sz="1800" i="1" kern="1200">
                                    <a:solidFill>
                                      <a:srgbClr val="000000"/>
                                    </a:solidFill>
                                    <a:effectLst/>
                                    <a:latin typeface="Cambria Math" panose="02040503050406030204" pitchFamily="18" charset="0"/>
                                    <a:ea typeface="Times New Roman" panose="02020603050405020304" pitchFamily="18" charset="0"/>
                                  </a:rPr>
                                  <m:t>. </m:t>
                                </m:r>
                                <m:sSup>
                                  <m:sSupPr>
                                    <m:ctrlPr>
                                      <a:rPr lang="en-US" sz="1800" i="1" kern="0">
                                        <a:solidFill>
                                          <a:srgbClr val="000000"/>
                                        </a:solidFill>
                                        <a:effectLst/>
                                        <a:latin typeface="Cambria Math" panose="02040503050406030204" pitchFamily="18" charset="0"/>
                                        <a:ea typeface="Yu Mincho" panose="02020400000000000000" pitchFamily="18" charset="-128"/>
                                      </a:rPr>
                                    </m:ctrlPr>
                                  </m:sSupPr>
                                  <m:e>
                                    <m:r>
                                      <a:rPr lang="en-US" sz="1800" i="1" kern="0">
                                        <a:solidFill>
                                          <a:srgbClr val="000000"/>
                                        </a:solidFill>
                                        <a:effectLst/>
                                        <a:latin typeface="Cambria Math" panose="02040503050406030204" pitchFamily="18" charset="0"/>
                                        <a:ea typeface="Yu Mincho" panose="02020400000000000000" pitchFamily="18" charset="-128"/>
                                      </a:rPr>
                                      <m:t>10</m:t>
                                    </m:r>
                                  </m:e>
                                  <m:sup>
                                    <m:r>
                                      <a:rPr lang="en-US" sz="1800" i="1" kern="0">
                                        <a:solidFill>
                                          <a:srgbClr val="000000"/>
                                        </a:solidFill>
                                        <a:effectLst/>
                                        <a:latin typeface="Cambria Math" panose="02040503050406030204" pitchFamily="18" charset="0"/>
                                        <a:ea typeface="Yu Mincho" panose="02020400000000000000" pitchFamily="18" charset="-128"/>
                                      </a:rPr>
                                      <m:t>−</m:t>
                                    </m:r>
                                    <m:r>
                                      <a:rPr lang="en-US" sz="1800" b="0" i="1" kern="0" smtClean="0">
                                        <a:solidFill>
                                          <a:srgbClr val="000000"/>
                                        </a:solidFill>
                                        <a:effectLst/>
                                        <a:latin typeface="Cambria Math" panose="02040503050406030204" pitchFamily="18" charset="0"/>
                                        <a:ea typeface="Yu Mincho" panose="02020400000000000000" pitchFamily="18" charset="-128"/>
                                      </a:rPr>
                                      <m:t>4</m:t>
                                    </m:r>
                                  </m:sup>
                                </m:sSup>
                                <m:r>
                                  <a:rPr lang="en-US" sz="1800" i="1" kern="0">
                                    <a:solidFill>
                                      <a:srgbClr val="000000"/>
                                    </a:solidFill>
                                    <a:effectLst/>
                                    <a:latin typeface="Cambria Math" panose="02040503050406030204" pitchFamily="18" charset="0"/>
                                    <a:ea typeface="Yu Mincho" panose="02020400000000000000" pitchFamily="18" charset="-128"/>
                                  </a:rPr>
                                  <m:t> (</m:t>
                                </m:r>
                                <m:r>
                                  <a:rPr lang="en-US" sz="1800" i="1" kern="0">
                                    <a:solidFill>
                                      <a:srgbClr val="000000"/>
                                    </a:solidFill>
                                    <a:effectLst/>
                                    <a:latin typeface="Cambria Math" panose="02040503050406030204" pitchFamily="18" charset="0"/>
                                    <a:ea typeface="Yu Mincho" panose="02020400000000000000" pitchFamily="18" charset="-128"/>
                                  </a:rPr>
                                  <m:t>𝐻</m:t>
                                </m:r>
                                <m:r>
                                  <a:rPr lang="en-US" sz="1800" i="1" kern="0">
                                    <a:solidFill>
                                      <a:srgbClr val="000000"/>
                                    </a:solidFill>
                                    <a:effectLst/>
                                    <a:latin typeface="Cambria Math" panose="02040503050406030204" pitchFamily="18" charset="0"/>
                                    <a:ea typeface="Yu Mincho" panose="02020400000000000000" pitchFamily="18" charset="-128"/>
                                  </a:rPr>
                                  <m:t>)</m:t>
                                </m:r>
                              </m:oMath>
                            </m:oMathPara>
                          </a14:m>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14:m>
                            <m:oMathPara xmlns:m="http://schemas.openxmlformats.org/officeDocument/2006/math">
                              <m:oMath>
                                <m:r>
                                  <a:rPr lang="vi-VN" sz="1800" i="1" kern="1200" smtClean="0">
                                    <a:solidFill>
                                      <a:srgbClr val="000000"/>
                                    </a:solidFill>
                                    <a:effectLst/>
                                    <a:latin typeface="Cambria Math" panose="02040503050406030204" pitchFamily="18" charset="0"/>
                                    <a:ea typeface="Times New Roman" panose="02020603050405020304" pitchFamily="18" charset="0"/>
                                  </a:rPr>
                                  <m:t>2</m:t>
                                </m:r>
                                <m:r>
                                  <a:rPr lang="vi-VN" sz="1800" b="0" i="1" kern="1200" smtClean="0">
                                    <a:solidFill>
                                      <a:srgbClr val="000000"/>
                                    </a:solidFill>
                                    <a:effectLst/>
                                    <a:latin typeface="Cambria Math" panose="02040503050406030204" pitchFamily="18" charset="0"/>
                                    <a:ea typeface="Times New Roman" panose="02020603050405020304" pitchFamily="18" charset="0"/>
                                  </a:rPr>
                                  <m:t>,03</m:t>
                                </m:r>
                                <m:r>
                                  <a:rPr lang="en-US" sz="1800" i="1" kern="1200">
                                    <a:solidFill>
                                      <a:srgbClr val="000000"/>
                                    </a:solidFill>
                                    <a:effectLst/>
                                    <a:latin typeface="Cambria Math" panose="02040503050406030204" pitchFamily="18" charset="0"/>
                                    <a:ea typeface="Times New Roman" panose="02020603050405020304" pitchFamily="18" charset="0"/>
                                  </a:rPr>
                                  <m:t>. </m:t>
                                </m:r>
                                <m:sSup>
                                  <m:sSupPr>
                                    <m:ctrlPr>
                                      <a:rPr lang="en-US" sz="1800" i="1" kern="0">
                                        <a:solidFill>
                                          <a:srgbClr val="000000"/>
                                        </a:solidFill>
                                        <a:effectLst/>
                                        <a:latin typeface="Cambria Math" panose="02040503050406030204" pitchFamily="18" charset="0"/>
                                        <a:ea typeface="Yu Mincho" panose="02020400000000000000" pitchFamily="18" charset="-128"/>
                                      </a:rPr>
                                    </m:ctrlPr>
                                  </m:sSupPr>
                                  <m:e>
                                    <m:r>
                                      <a:rPr lang="en-US" sz="1800" i="1" kern="0">
                                        <a:solidFill>
                                          <a:srgbClr val="000000"/>
                                        </a:solidFill>
                                        <a:effectLst/>
                                        <a:latin typeface="Cambria Math" panose="02040503050406030204" pitchFamily="18" charset="0"/>
                                        <a:ea typeface="Yu Mincho" panose="02020400000000000000" pitchFamily="18" charset="-128"/>
                                      </a:rPr>
                                      <m:t>10</m:t>
                                    </m:r>
                                  </m:e>
                                  <m:sup>
                                    <m:r>
                                      <a:rPr lang="en-US" sz="1800" i="1" kern="0">
                                        <a:solidFill>
                                          <a:srgbClr val="000000"/>
                                        </a:solidFill>
                                        <a:effectLst/>
                                        <a:latin typeface="Cambria Math" panose="02040503050406030204" pitchFamily="18" charset="0"/>
                                        <a:ea typeface="Yu Mincho" panose="02020400000000000000" pitchFamily="18" charset="-128"/>
                                      </a:rPr>
                                      <m:t>−</m:t>
                                    </m:r>
                                    <m:r>
                                      <a:rPr lang="en-US" sz="1800" b="0" i="1" kern="0" smtClean="0">
                                        <a:solidFill>
                                          <a:srgbClr val="000000"/>
                                        </a:solidFill>
                                        <a:effectLst/>
                                        <a:latin typeface="Cambria Math" panose="02040503050406030204" pitchFamily="18" charset="0"/>
                                        <a:ea typeface="Yu Mincho" panose="02020400000000000000" pitchFamily="18" charset="-128"/>
                                      </a:rPr>
                                      <m:t>4</m:t>
                                    </m:r>
                                  </m:sup>
                                </m:sSup>
                                <m:r>
                                  <a:rPr lang="en-US" sz="1800" i="1" kern="0">
                                    <a:solidFill>
                                      <a:srgbClr val="000000"/>
                                    </a:solidFill>
                                    <a:effectLst/>
                                    <a:latin typeface="Cambria Math" panose="02040503050406030204" pitchFamily="18" charset="0"/>
                                    <a:ea typeface="Yu Mincho" panose="02020400000000000000" pitchFamily="18" charset="-128"/>
                                  </a:rPr>
                                  <m:t> (</m:t>
                                </m:r>
                                <m:r>
                                  <a:rPr lang="en-US" sz="1800" i="1" kern="0">
                                    <a:solidFill>
                                      <a:srgbClr val="000000"/>
                                    </a:solidFill>
                                    <a:effectLst/>
                                    <a:latin typeface="Cambria Math" panose="02040503050406030204" pitchFamily="18" charset="0"/>
                                    <a:ea typeface="Yu Mincho" panose="02020400000000000000" pitchFamily="18" charset="-128"/>
                                  </a:rPr>
                                  <m:t>𝐻</m:t>
                                </m:r>
                                <m:r>
                                  <a:rPr lang="en-US" sz="1800" i="1" kern="0">
                                    <a:solidFill>
                                      <a:srgbClr val="000000"/>
                                    </a:solidFill>
                                    <a:effectLst/>
                                    <a:latin typeface="Cambria Math" panose="02040503050406030204" pitchFamily="18" charset="0"/>
                                    <a:ea typeface="Yu Mincho" panose="02020400000000000000" pitchFamily="18" charset="-128"/>
                                  </a:rPr>
                                  <m:t>)</m:t>
                                </m:r>
                              </m:oMath>
                            </m:oMathPara>
                          </a14:m>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30702622"/>
                      </a:ext>
                    </a:extLst>
                  </a:tr>
                  <a:tr h="550405">
                    <a:tc>
                      <a:txBody>
                        <a:bodyPr/>
                        <a:lstStyle/>
                        <a:p>
                          <a:pPr marL="205740" marR="0" indent="-6350" algn="ctr">
                            <a:lnSpc>
                              <a:spcPct val="150000"/>
                            </a:lnSpc>
                            <a:spcBef>
                              <a:spcPts val="300"/>
                            </a:spcBef>
                            <a:spcAft>
                              <a:spcPts val="25"/>
                            </a:spcAft>
                          </a:pPr>
                          <a:r>
                            <a:rPr lang="en-US" sz="1800" b="1" kern="0">
                              <a:solidFill>
                                <a:srgbClr val="000000"/>
                              </a:solidFill>
                              <a:effectLst/>
                              <a:latin typeface="Times New Roman" panose="02020603050405020304" pitchFamily="18" charset="0"/>
                              <a:ea typeface="Times New Roman" panose="02020603050405020304" pitchFamily="18" charset="0"/>
                            </a:rPr>
                            <a:t>C</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1800" kern="0">
                              <a:solidFill>
                                <a:srgbClr val="000000"/>
                              </a:solidFill>
                              <a:effectLst/>
                              <a:latin typeface="Times New Roman" panose="02020603050405020304" pitchFamily="18" charset="0"/>
                              <a:ea typeface="Times New Roman" panose="02020603050405020304" pitchFamily="18" charset="0"/>
                            </a:rPr>
                            <a:t>Tụ điện bộ dao động ảo</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1800" kern="1200">
                              <a:solidFill>
                                <a:srgbClr val="000000"/>
                              </a:solidFill>
                              <a:effectLst/>
                              <a:latin typeface="Times New Roman" panose="02020603050405020304" pitchFamily="18" charset="0"/>
                              <a:ea typeface="Times New Roman" panose="02020603050405020304" pitchFamily="18" charset="0"/>
                            </a:rPr>
                            <a:t>0,0</a:t>
                          </a:r>
                          <a:r>
                            <a:rPr lang="vi-VN" sz="1800" kern="1200">
                              <a:solidFill>
                                <a:srgbClr val="000000"/>
                              </a:solidFill>
                              <a:effectLst/>
                              <a:latin typeface="Times New Roman" panose="02020603050405020304" pitchFamily="18" charset="0"/>
                              <a:ea typeface="Times New Roman" panose="02020603050405020304" pitchFamily="18" charset="0"/>
                            </a:rPr>
                            <a:t>5</a:t>
                          </a:r>
                          <a:r>
                            <a:rPr lang="en-US" sz="1800" kern="1200">
                              <a:solidFill>
                                <a:srgbClr val="000000"/>
                              </a:solidFill>
                              <a:effectLst/>
                              <a:latin typeface="Times New Roman" panose="02020603050405020304" pitchFamily="18" charset="0"/>
                              <a:ea typeface="Times New Roman" panose="02020603050405020304" pitchFamily="18" charset="0"/>
                            </a:rPr>
                            <a:t>(F)</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1800" kern="1200">
                              <a:solidFill>
                                <a:srgbClr val="000000"/>
                              </a:solidFill>
                              <a:effectLst/>
                              <a:latin typeface="Times New Roman" panose="02020603050405020304" pitchFamily="18" charset="0"/>
                              <a:ea typeface="Times New Roman" panose="02020603050405020304" pitchFamily="18" charset="0"/>
                            </a:rPr>
                            <a:t>0,0</a:t>
                          </a:r>
                          <a:r>
                            <a:rPr lang="vi-VN" sz="1800" kern="1200">
                              <a:solidFill>
                                <a:srgbClr val="000000"/>
                              </a:solidFill>
                              <a:effectLst/>
                              <a:latin typeface="Times New Roman" panose="02020603050405020304" pitchFamily="18" charset="0"/>
                              <a:ea typeface="Times New Roman" panose="02020603050405020304" pitchFamily="18" charset="0"/>
                            </a:rPr>
                            <a:t>5</a:t>
                          </a:r>
                          <a:r>
                            <a:rPr lang="en-US" sz="1800" kern="1200">
                              <a:solidFill>
                                <a:srgbClr val="000000"/>
                              </a:solidFill>
                              <a:effectLst/>
                              <a:latin typeface="Times New Roman" panose="02020603050405020304" pitchFamily="18" charset="0"/>
                              <a:ea typeface="Times New Roman" panose="02020603050405020304" pitchFamily="18" charset="0"/>
                            </a:rPr>
                            <a:t>(F)</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84395447"/>
                      </a:ext>
                    </a:extLst>
                  </a:tr>
                </a:tbl>
              </a:graphicData>
            </a:graphic>
          </p:graphicFrame>
        </mc:Choice>
        <mc:Fallback xmlns="">
          <p:graphicFrame>
            <p:nvGraphicFramePr>
              <p:cNvPr id="5" name="Table 4">
                <a:extLst>
                  <a:ext uri="{FF2B5EF4-FFF2-40B4-BE49-F238E27FC236}">
                    <a16:creationId xmlns:a16="http://schemas.microsoft.com/office/drawing/2014/main" id="{8C2A7C77-819F-0747-A6CE-05DF00E5E33A}"/>
                  </a:ext>
                </a:extLst>
              </p:cNvPr>
              <p:cNvGraphicFramePr>
                <a:graphicFrameLocks noGrp="1"/>
              </p:cNvGraphicFramePr>
              <p:nvPr>
                <p:extLst>
                  <p:ext uri="{D42A27DB-BD31-4B8C-83A1-F6EECF244321}">
                    <p14:modId xmlns:p14="http://schemas.microsoft.com/office/powerpoint/2010/main" val="4276248730"/>
                  </p:ext>
                </p:extLst>
              </p:nvPr>
            </p:nvGraphicFramePr>
            <p:xfrm>
              <a:off x="865487" y="1849442"/>
              <a:ext cx="10019764" cy="4568300"/>
            </p:xfrm>
            <a:graphic>
              <a:graphicData uri="http://schemas.openxmlformats.org/drawingml/2006/table">
                <a:tbl>
                  <a:tblPr firstRow="1" bandRow="1">
                    <a:tableStyleId>{7DF18680-E054-41AD-8BC1-D1AEF772440D}</a:tableStyleId>
                  </a:tblPr>
                  <a:tblGrid>
                    <a:gridCol w="1790164">
                      <a:extLst>
                        <a:ext uri="{9D8B030D-6E8A-4147-A177-3AD203B41FA5}">
                          <a16:colId xmlns:a16="http://schemas.microsoft.com/office/drawing/2014/main" val="2099080480"/>
                        </a:ext>
                      </a:extLst>
                    </a:gridCol>
                    <a:gridCol w="3394953">
                      <a:extLst>
                        <a:ext uri="{9D8B030D-6E8A-4147-A177-3AD203B41FA5}">
                          <a16:colId xmlns:a16="http://schemas.microsoft.com/office/drawing/2014/main" val="3807464349"/>
                        </a:ext>
                      </a:extLst>
                    </a:gridCol>
                    <a:gridCol w="2470826">
                      <a:extLst>
                        <a:ext uri="{9D8B030D-6E8A-4147-A177-3AD203B41FA5}">
                          <a16:colId xmlns:a16="http://schemas.microsoft.com/office/drawing/2014/main" val="2047883326"/>
                        </a:ext>
                      </a:extLst>
                    </a:gridCol>
                    <a:gridCol w="2363821">
                      <a:extLst>
                        <a:ext uri="{9D8B030D-6E8A-4147-A177-3AD203B41FA5}">
                          <a16:colId xmlns:a16="http://schemas.microsoft.com/office/drawing/2014/main" val="2230794826"/>
                        </a:ext>
                      </a:extLst>
                    </a:gridCol>
                  </a:tblGrid>
                  <a:tr h="550405">
                    <a:tc>
                      <a:txBody>
                        <a:bodyPr/>
                        <a:lstStyle/>
                        <a:p>
                          <a:pPr marL="205740" marR="0" indent="-6350" algn="ctr">
                            <a:lnSpc>
                              <a:spcPct val="150000"/>
                            </a:lnSpc>
                            <a:spcBef>
                              <a:spcPts val="300"/>
                            </a:spcBef>
                            <a:spcAft>
                              <a:spcPts val="25"/>
                            </a:spcAft>
                          </a:pPr>
                          <a:r>
                            <a:rPr lang="en-US" sz="1800" b="1" kern="0" dirty="0" err="1">
                              <a:solidFill>
                                <a:srgbClr val="000000"/>
                              </a:solidFill>
                              <a:effectLst/>
                              <a:latin typeface="Times New Roman" panose="02020603050405020304" pitchFamily="18" charset="0"/>
                              <a:ea typeface="Times New Roman" panose="02020603050405020304" pitchFamily="18" charset="0"/>
                            </a:rPr>
                            <a:t>Kí</a:t>
                          </a:r>
                          <a:r>
                            <a:rPr lang="en-US" sz="1800" b="1" kern="0" dirty="0">
                              <a:solidFill>
                                <a:srgbClr val="000000"/>
                              </a:solidFill>
                              <a:effectLst/>
                              <a:latin typeface="Times New Roman" panose="02020603050405020304" pitchFamily="18" charset="0"/>
                              <a:ea typeface="Times New Roman" panose="02020603050405020304" pitchFamily="18" charset="0"/>
                            </a:rPr>
                            <a:t> </a:t>
                          </a:r>
                          <a:r>
                            <a:rPr lang="en-US" sz="1800" b="1" kern="0" dirty="0" err="1">
                              <a:solidFill>
                                <a:srgbClr val="000000"/>
                              </a:solidFill>
                              <a:effectLst/>
                              <a:latin typeface="Times New Roman" panose="02020603050405020304" pitchFamily="18" charset="0"/>
                              <a:ea typeface="Times New Roman" panose="02020603050405020304" pitchFamily="18" charset="0"/>
                            </a:rPr>
                            <a:t>hiệu</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1800" b="1" kern="0" dirty="0" err="1">
                              <a:solidFill>
                                <a:srgbClr val="000000"/>
                              </a:solidFill>
                              <a:effectLst/>
                              <a:latin typeface="Times New Roman" panose="02020603050405020304" pitchFamily="18" charset="0"/>
                              <a:ea typeface="Times New Roman" panose="02020603050405020304" pitchFamily="18" charset="0"/>
                            </a:rPr>
                            <a:t>Tham</a:t>
                          </a:r>
                          <a:r>
                            <a:rPr lang="en-US" sz="1800" b="1" kern="0" dirty="0">
                              <a:solidFill>
                                <a:srgbClr val="000000"/>
                              </a:solidFill>
                              <a:effectLst/>
                              <a:latin typeface="Times New Roman" panose="02020603050405020304" pitchFamily="18" charset="0"/>
                              <a:ea typeface="Times New Roman" panose="02020603050405020304" pitchFamily="18" charset="0"/>
                            </a:rPr>
                            <a:t> </a:t>
                          </a:r>
                          <a:r>
                            <a:rPr lang="en-US" sz="1800" b="1" kern="0" dirty="0" err="1">
                              <a:solidFill>
                                <a:srgbClr val="000000"/>
                              </a:solidFill>
                              <a:effectLst/>
                              <a:latin typeface="Times New Roman" panose="02020603050405020304" pitchFamily="18" charset="0"/>
                              <a:ea typeface="Times New Roman" panose="02020603050405020304" pitchFamily="18" charset="0"/>
                            </a:rPr>
                            <a:t>số</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1800" b="1" kern="0" dirty="0">
                              <a:solidFill>
                                <a:srgbClr val="000000"/>
                              </a:solidFill>
                              <a:effectLst/>
                              <a:latin typeface="Times New Roman" panose="02020603050405020304" pitchFamily="18" charset="0"/>
                              <a:ea typeface="Times New Roman" panose="02020603050405020304" pitchFamily="18" charset="0"/>
                            </a:rPr>
                            <a:t>Inverter </a:t>
                          </a:r>
                          <a:r>
                            <a:rPr lang="vi-VN" sz="1800" b="1" kern="0" dirty="0">
                              <a:solidFill>
                                <a:srgbClr val="000000"/>
                              </a:solidFill>
                              <a:effectLst/>
                              <a:latin typeface="Times New Roman" panose="02020603050405020304" pitchFamily="18" charset="0"/>
                              <a:ea typeface="Times New Roman" panose="02020603050405020304" pitchFamily="18" charset="0"/>
                            </a:rPr>
                            <a:t>2</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marL="205740" marR="0" indent="-6350" algn="ctr">
                            <a:lnSpc>
                              <a:spcPct val="150000"/>
                            </a:lnSpc>
                            <a:spcBef>
                              <a:spcPts val="300"/>
                            </a:spcBef>
                            <a:spcAft>
                              <a:spcPts val="25"/>
                            </a:spcAft>
                          </a:pPr>
                          <a:r>
                            <a:rPr lang="en-US" sz="1800" b="1" kern="0" dirty="0">
                              <a:solidFill>
                                <a:srgbClr val="000000"/>
                              </a:solidFill>
                              <a:effectLst/>
                              <a:latin typeface="Times New Roman" panose="02020603050405020304" pitchFamily="18" charset="0"/>
                              <a:ea typeface="Times New Roman" panose="02020603050405020304" pitchFamily="18" charset="0"/>
                            </a:rPr>
                            <a:t>Inverter </a:t>
                          </a:r>
                          <a:r>
                            <a:rPr lang="vi-VN" sz="1800" b="1" kern="0" dirty="0">
                              <a:solidFill>
                                <a:srgbClr val="000000"/>
                              </a:solidFill>
                              <a:effectLst/>
                              <a:latin typeface="Times New Roman" panose="02020603050405020304" pitchFamily="18" charset="0"/>
                              <a:ea typeface="Times New Roman" panose="02020603050405020304" pitchFamily="18" charset="0"/>
                            </a:rPr>
                            <a:t>1</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extLst>
                      <a:ext uri="{0D108BD9-81ED-4DB2-BD59-A6C34878D82A}">
                        <a16:rowId xmlns:a16="http://schemas.microsoft.com/office/drawing/2014/main" val="1667104164"/>
                      </a:ext>
                    </a:extLst>
                  </a:tr>
                  <a:tr h="550405">
                    <a:tc>
                      <a:txBody>
                        <a:bodyPr/>
                        <a:lstStyle/>
                        <a:p>
                          <a:endParaRPr lang="vi-VN"/>
                        </a:p>
                      </a:txBody>
                      <a:tcPr marL="68580" marR="68580" marT="0" marB="0">
                        <a:blipFill>
                          <a:blip r:embed="rId3"/>
                          <a:stretch>
                            <a:fillRect l="-340" t="-100000" r="-460884" b="-627473"/>
                          </a:stretch>
                        </a:blipFill>
                      </a:tcPr>
                    </a:tc>
                    <a:tc>
                      <a:txBody>
                        <a:bodyPr/>
                        <a:lstStyle/>
                        <a:p>
                          <a:pPr marL="205740" marR="0" indent="-6350" algn="ctr">
                            <a:lnSpc>
                              <a:spcPct val="150000"/>
                            </a:lnSpc>
                            <a:spcBef>
                              <a:spcPts val="300"/>
                            </a:spcBef>
                            <a:spcAft>
                              <a:spcPts val="25"/>
                            </a:spcAft>
                          </a:pPr>
                          <a:r>
                            <a:rPr lang="en-US" sz="1800" kern="0" dirty="0" err="1">
                              <a:solidFill>
                                <a:srgbClr val="000000"/>
                              </a:solidFill>
                              <a:effectLst/>
                              <a:latin typeface="Times New Roman" panose="02020603050405020304" pitchFamily="18" charset="0"/>
                              <a:ea typeface="Times New Roman" panose="02020603050405020304" pitchFamily="18" charset="0"/>
                            </a:rPr>
                            <a:t>Hệ</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số</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căn</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chỉnh</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điện</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áp</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1800" kern="0" dirty="0">
                              <a:solidFill>
                                <a:srgbClr val="000000"/>
                              </a:solidFill>
                              <a:effectLst/>
                              <a:latin typeface="Cambria Math" panose="02040503050406030204" pitchFamily="18" charset="0"/>
                              <a:ea typeface="Times New Roman" panose="02020603050405020304" pitchFamily="18" charset="0"/>
                            </a:rPr>
                            <a:t>225</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1800" kern="0" dirty="0">
                              <a:solidFill>
                                <a:srgbClr val="000000"/>
                              </a:solidFill>
                              <a:effectLst/>
                              <a:latin typeface="Cambria Math" panose="02040503050406030204" pitchFamily="18" charset="0"/>
                              <a:ea typeface="Times New Roman" panose="02020603050405020304" pitchFamily="18" charset="0"/>
                            </a:rPr>
                            <a:t>225</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37835341"/>
                      </a:ext>
                    </a:extLst>
                  </a:tr>
                  <a:tr h="701767">
                    <a:tc>
                      <a:txBody>
                        <a:bodyPr/>
                        <a:lstStyle/>
                        <a:p>
                          <a:endParaRPr lang="vi-VN"/>
                        </a:p>
                      </a:txBody>
                      <a:tcPr marL="68580" marR="68580" marT="0" marB="0">
                        <a:blipFill>
                          <a:blip r:embed="rId3"/>
                          <a:stretch>
                            <a:fillRect l="-340" t="-158261" r="-460884" b="-396522"/>
                          </a:stretch>
                        </a:blipFill>
                      </a:tcPr>
                    </a:tc>
                    <a:tc>
                      <a:txBody>
                        <a:bodyPr/>
                        <a:lstStyle/>
                        <a:p>
                          <a:pPr marL="205740" marR="0" indent="-6350" algn="ctr">
                            <a:lnSpc>
                              <a:spcPct val="150000"/>
                            </a:lnSpc>
                            <a:spcBef>
                              <a:spcPts val="300"/>
                            </a:spcBef>
                            <a:spcAft>
                              <a:spcPts val="25"/>
                            </a:spcAft>
                          </a:pPr>
                          <a:r>
                            <a:rPr lang="en-US" sz="1800" kern="0" dirty="0" err="1">
                              <a:solidFill>
                                <a:srgbClr val="000000"/>
                              </a:solidFill>
                              <a:effectLst/>
                              <a:latin typeface="Times New Roman" panose="02020603050405020304" pitchFamily="18" charset="0"/>
                              <a:ea typeface="Times New Roman" panose="02020603050405020304" pitchFamily="18" charset="0"/>
                            </a:rPr>
                            <a:t>Hệ</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số</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căn</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chỉnh</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dòng</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điện</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vi-VN" sz="1800" kern="100" dirty="0">
                              <a:solidFill>
                                <a:srgbClr val="000000"/>
                              </a:solidFill>
                              <a:effectLst/>
                              <a:ea typeface="Times New Roman" panose="02020603050405020304" pitchFamily="18" charset="0"/>
                            </a:rPr>
                            <a:t>0.2</a:t>
                          </a:r>
                          <a:r>
                            <a:rPr lang="en-US" sz="1800" kern="100" dirty="0">
                              <a:solidFill>
                                <a:srgbClr val="000000"/>
                              </a:solidFill>
                              <a:effectLst/>
                              <a:ea typeface="Times New Roman" panose="02020603050405020304" pitchFamily="18" charset="0"/>
                            </a:rPr>
                            <a:t>2</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3"/>
                          <a:stretch>
                            <a:fillRect l="-324227" t="-158261" r="-1031" b="-396522"/>
                          </a:stretch>
                        </a:blipFill>
                      </a:tcPr>
                    </a:tc>
                    <a:extLst>
                      <a:ext uri="{0D108BD9-81ED-4DB2-BD59-A6C34878D82A}">
                        <a16:rowId xmlns:a16="http://schemas.microsoft.com/office/drawing/2014/main" val="1041384075"/>
                      </a:ext>
                    </a:extLst>
                  </a:tr>
                  <a:tr h="701767">
                    <a:tc>
                      <a:txBody>
                        <a:bodyPr/>
                        <a:lstStyle/>
                        <a:p>
                          <a:endParaRPr lang="vi-VN"/>
                        </a:p>
                      </a:txBody>
                      <a:tcPr marL="68580" marR="68580" marT="0" marB="0">
                        <a:blipFill>
                          <a:blip r:embed="rId3"/>
                          <a:stretch>
                            <a:fillRect l="-340" t="-258261" r="-460884" b="-296522"/>
                          </a:stretch>
                        </a:blipFill>
                      </a:tcPr>
                    </a:tc>
                    <a:tc>
                      <a:txBody>
                        <a:bodyPr/>
                        <a:lstStyle/>
                        <a:p>
                          <a:pPr marL="205740" marR="0" indent="-6350" algn="ctr">
                            <a:lnSpc>
                              <a:spcPct val="150000"/>
                            </a:lnSpc>
                            <a:spcBef>
                              <a:spcPts val="300"/>
                            </a:spcBef>
                            <a:spcAft>
                              <a:spcPts val="25"/>
                            </a:spcAft>
                          </a:pPr>
                          <a:r>
                            <a:rPr lang="en-US" sz="1800" kern="0">
                              <a:solidFill>
                                <a:srgbClr val="000000"/>
                              </a:solidFill>
                              <a:effectLst/>
                              <a:latin typeface="Times New Roman" panose="02020603050405020304" pitchFamily="18" charset="0"/>
                              <a:ea typeface="Times New Roman" panose="02020603050405020304" pitchFamily="18" charset="0"/>
                            </a:rPr>
                            <a:t>Hệ số nguồn dòng phụ thuộc</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3"/>
                          <a:stretch>
                            <a:fillRect l="-209852" t="-258261" r="-96552" b="-296522"/>
                          </a:stretch>
                        </a:blipFill>
                      </a:tcPr>
                    </a:tc>
                    <a:tc>
                      <a:txBody>
                        <a:bodyPr/>
                        <a:lstStyle/>
                        <a:p>
                          <a:endParaRPr lang="vi-VN"/>
                        </a:p>
                      </a:txBody>
                      <a:tcPr marL="68580" marR="68580" marT="0" marB="0">
                        <a:blipFill>
                          <a:blip r:embed="rId3"/>
                          <a:stretch>
                            <a:fillRect l="-324227" t="-258261" r="-1031" b="-296522"/>
                          </a:stretch>
                        </a:blipFill>
                      </a:tcPr>
                    </a:tc>
                    <a:extLst>
                      <a:ext uri="{0D108BD9-81ED-4DB2-BD59-A6C34878D82A}">
                        <a16:rowId xmlns:a16="http://schemas.microsoft.com/office/drawing/2014/main" val="603328144"/>
                      </a:ext>
                    </a:extLst>
                  </a:tr>
                  <a:tr h="811784">
                    <a:tc>
                      <a:txBody>
                        <a:bodyPr/>
                        <a:lstStyle/>
                        <a:p>
                          <a:endParaRPr lang="vi-VN"/>
                        </a:p>
                      </a:txBody>
                      <a:tcPr marL="68580" marR="68580" marT="0" marB="0">
                        <a:blipFill>
                          <a:blip r:embed="rId3"/>
                          <a:stretch>
                            <a:fillRect l="-340" t="-309774" r="-460884" b="-156391"/>
                          </a:stretch>
                        </a:blipFill>
                      </a:tcPr>
                    </a:tc>
                    <a:tc>
                      <a:txBody>
                        <a:bodyPr/>
                        <a:lstStyle/>
                        <a:p>
                          <a:pPr marL="205740" marR="0" indent="-6350" algn="ctr">
                            <a:lnSpc>
                              <a:spcPct val="150000"/>
                            </a:lnSpc>
                            <a:spcBef>
                              <a:spcPts val="300"/>
                            </a:spcBef>
                            <a:spcAft>
                              <a:spcPts val="25"/>
                            </a:spcAft>
                          </a:pPr>
                          <a:r>
                            <a:rPr lang="en-US" sz="1800" kern="0" dirty="0" err="1">
                              <a:solidFill>
                                <a:srgbClr val="000000"/>
                              </a:solidFill>
                              <a:effectLst/>
                              <a:latin typeface="Times New Roman" panose="02020603050405020304" pitchFamily="18" charset="0"/>
                              <a:ea typeface="Times New Roman" panose="02020603050405020304" pitchFamily="18" charset="0"/>
                            </a:rPr>
                            <a:t>Điện</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dẫn</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bộ</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dao</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động</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ảo</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3"/>
                          <a:stretch>
                            <a:fillRect l="-209852" t="-309774" r="-96552" b="-156391"/>
                          </a:stretch>
                        </a:blipFill>
                      </a:tcPr>
                    </a:tc>
                    <a:tc>
                      <a:txBody>
                        <a:bodyPr/>
                        <a:lstStyle/>
                        <a:p>
                          <a:endParaRPr lang="vi-VN"/>
                        </a:p>
                      </a:txBody>
                      <a:tcPr marL="68580" marR="68580" marT="0" marB="0">
                        <a:blipFill>
                          <a:blip r:embed="rId3"/>
                          <a:stretch>
                            <a:fillRect l="-324227" t="-309774" r="-1031" b="-156391"/>
                          </a:stretch>
                        </a:blipFill>
                      </a:tcPr>
                    </a:tc>
                    <a:extLst>
                      <a:ext uri="{0D108BD9-81ED-4DB2-BD59-A6C34878D82A}">
                        <a16:rowId xmlns:a16="http://schemas.microsoft.com/office/drawing/2014/main" val="196320218"/>
                      </a:ext>
                    </a:extLst>
                  </a:tr>
                  <a:tr h="701767">
                    <a:tc>
                      <a:txBody>
                        <a:bodyPr/>
                        <a:lstStyle/>
                        <a:p>
                          <a:pPr marL="205740" marR="0" indent="-6350" algn="ctr">
                            <a:lnSpc>
                              <a:spcPct val="150000"/>
                            </a:lnSpc>
                            <a:spcBef>
                              <a:spcPts val="300"/>
                            </a:spcBef>
                            <a:spcAft>
                              <a:spcPts val="25"/>
                            </a:spcAft>
                          </a:pPr>
                          <a:r>
                            <a:rPr lang="en-US" sz="1800" b="1" kern="0" dirty="0">
                              <a:solidFill>
                                <a:srgbClr val="000000"/>
                              </a:solidFill>
                              <a:effectLst/>
                              <a:latin typeface="Times New Roman" panose="02020603050405020304" pitchFamily="18" charset="0"/>
                              <a:ea typeface="Times New Roman" panose="02020603050405020304" pitchFamily="18" charset="0"/>
                            </a:rPr>
                            <a:t>L</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1800" kern="0">
                              <a:solidFill>
                                <a:srgbClr val="000000"/>
                              </a:solidFill>
                              <a:effectLst/>
                              <a:latin typeface="Times New Roman" panose="02020603050405020304" pitchFamily="18" charset="0"/>
                              <a:ea typeface="Times New Roman" panose="02020603050405020304" pitchFamily="18" charset="0"/>
                            </a:rPr>
                            <a:t>Điện cảm bộ dao động ảo</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vi-VN"/>
                        </a:p>
                      </a:txBody>
                      <a:tcPr marL="68580" marR="68580" marT="0" marB="0">
                        <a:blipFill>
                          <a:blip r:embed="rId3"/>
                          <a:stretch>
                            <a:fillRect l="-209852" t="-469828" r="-96552" b="-79310"/>
                          </a:stretch>
                        </a:blipFill>
                      </a:tcPr>
                    </a:tc>
                    <a:tc>
                      <a:txBody>
                        <a:bodyPr/>
                        <a:lstStyle/>
                        <a:p>
                          <a:endParaRPr lang="vi-VN"/>
                        </a:p>
                      </a:txBody>
                      <a:tcPr marL="68580" marR="68580" marT="0" marB="0">
                        <a:blipFill>
                          <a:blip r:embed="rId3"/>
                          <a:stretch>
                            <a:fillRect l="-324227" t="-469828" r="-1031" b="-79310"/>
                          </a:stretch>
                        </a:blipFill>
                      </a:tcPr>
                    </a:tc>
                    <a:extLst>
                      <a:ext uri="{0D108BD9-81ED-4DB2-BD59-A6C34878D82A}">
                        <a16:rowId xmlns:a16="http://schemas.microsoft.com/office/drawing/2014/main" val="3530702622"/>
                      </a:ext>
                    </a:extLst>
                  </a:tr>
                  <a:tr h="550405">
                    <a:tc>
                      <a:txBody>
                        <a:bodyPr/>
                        <a:lstStyle/>
                        <a:p>
                          <a:pPr marL="205740" marR="0" indent="-6350" algn="ctr">
                            <a:lnSpc>
                              <a:spcPct val="150000"/>
                            </a:lnSpc>
                            <a:spcBef>
                              <a:spcPts val="300"/>
                            </a:spcBef>
                            <a:spcAft>
                              <a:spcPts val="25"/>
                            </a:spcAft>
                          </a:pPr>
                          <a:r>
                            <a:rPr lang="en-US" sz="1800" b="1" kern="0">
                              <a:solidFill>
                                <a:srgbClr val="000000"/>
                              </a:solidFill>
                              <a:effectLst/>
                              <a:latin typeface="Times New Roman" panose="02020603050405020304" pitchFamily="18" charset="0"/>
                              <a:ea typeface="Times New Roman" panose="02020603050405020304" pitchFamily="18" charset="0"/>
                            </a:rPr>
                            <a:t>C</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1800" kern="0">
                              <a:solidFill>
                                <a:srgbClr val="000000"/>
                              </a:solidFill>
                              <a:effectLst/>
                              <a:latin typeface="Times New Roman" panose="02020603050405020304" pitchFamily="18" charset="0"/>
                              <a:ea typeface="Times New Roman" panose="02020603050405020304" pitchFamily="18" charset="0"/>
                            </a:rPr>
                            <a:t>Tụ điện bộ dao động ảo</a:t>
                          </a:r>
                          <a:endParaRPr lang="en-US" sz="1800" kern="1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1800" kern="1200" dirty="0">
                              <a:solidFill>
                                <a:srgbClr val="000000"/>
                              </a:solidFill>
                              <a:effectLst/>
                              <a:latin typeface="Times New Roman" panose="02020603050405020304" pitchFamily="18" charset="0"/>
                              <a:ea typeface="Times New Roman" panose="02020603050405020304" pitchFamily="18" charset="0"/>
                            </a:rPr>
                            <a:t>0,0</a:t>
                          </a:r>
                          <a:r>
                            <a:rPr lang="vi-VN" sz="1800" kern="1200" dirty="0">
                              <a:solidFill>
                                <a:srgbClr val="000000"/>
                              </a:solidFill>
                              <a:effectLst/>
                              <a:latin typeface="Times New Roman" panose="02020603050405020304" pitchFamily="18" charset="0"/>
                              <a:ea typeface="Times New Roman" panose="02020603050405020304" pitchFamily="18" charset="0"/>
                            </a:rPr>
                            <a:t>5</a:t>
                          </a:r>
                          <a:r>
                            <a:rPr lang="en-US" sz="1800" kern="1200" dirty="0">
                              <a:solidFill>
                                <a:srgbClr val="000000"/>
                              </a:solidFill>
                              <a:effectLst/>
                              <a:latin typeface="Times New Roman" panose="02020603050405020304" pitchFamily="18" charset="0"/>
                              <a:ea typeface="Times New Roman" panose="02020603050405020304" pitchFamily="18" charset="0"/>
                            </a:rPr>
                            <a:t>(F)</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205740" marR="0" indent="-6350" algn="ctr">
                            <a:lnSpc>
                              <a:spcPct val="150000"/>
                            </a:lnSpc>
                            <a:spcBef>
                              <a:spcPts val="300"/>
                            </a:spcBef>
                            <a:spcAft>
                              <a:spcPts val="25"/>
                            </a:spcAft>
                          </a:pPr>
                          <a:r>
                            <a:rPr lang="en-US" sz="1800" kern="1200" dirty="0">
                              <a:solidFill>
                                <a:srgbClr val="000000"/>
                              </a:solidFill>
                              <a:effectLst/>
                              <a:latin typeface="Times New Roman" panose="02020603050405020304" pitchFamily="18" charset="0"/>
                              <a:ea typeface="Times New Roman" panose="02020603050405020304" pitchFamily="18" charset="0"/>
                            </a:rPr>
                            <a:t>0,0</a:t>
                          </a:r>
                          <a:r>
                            <a:rPr lang="vi-VN" sz="1800" kern="1200" dirty="0">
                              <a:solidFill>
                                <a:srgbClr val="000000"/>
                              </a:solidFill>
                              <a:effectLst/>
                              <a:latin typeface="Times New Roman" panose="02020603050405020304" pitchFamily="18" charset="0"/>
                              <a:ea typeface="Times New Roman" panose="02020603050405020304" pitchFamily="18" charset="0"/>
                            </a:rPr>
                            <a:t>5</a:t>
                          </a:r>
                          <a:r>
                            <a:rPr lang="en-US" sz="1800" kern="1200" dirty="0">
                              <a:solidFill>
                                <a:srgbClr val="000000"/>
                              </a:solidFill>
                              <a:effectLst/>
                              <a:latin typeface="Times New Roman" panose="02020603050405020304" pitchFamily="18" charset="0"/>
                              <a:ea typeface="Times New Roman" panose="02020603050405020304" pitchFamily="18" charset="0"/>
                            </a:rPr>
                            <a:t>(F)</a:t>
                          </a:r>
                          <a:endParaRPr lang="en-US" sz="1800" kern="1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84395447"/>
                      </a:ext>
                    </a:extLst>
                  </a:tr>
                </a:tbl>
              </a:graphicData>
            </a:graphic>
          </p:graphicFrame>
        </mc:Fallback>
      </mc:AlternateContent>
    </p:spTree>
    <p:extLst>
      <p:ext uri="{BB962C8B-B14F-4D97-AF65-F5344CB8AC3E}">
        <p14:creationId xmlns:p14="http://schemas.microsoft.com/office/powerpoint/2010/main" val="385203878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F9E18-DF10-9409-CA4C-0FE556583B1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2B99D3D-0AC5-3E9E-B954-484B99C0561F}"/>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6CD16628-E5B8-8204-6784-D04E47B96AE1}"/>
              </a:ext>
            </a:extLst>
          </p:cNvPr>
          <p:cNvSpPr>
            <a:spLocks noGrp="1"/>
          </p:cNvSpPr>
          <p:nvPr>
            <p:ph type="sldNum" sz="quarter" idx="12"/>
          </p:nvPr>
        </p:nvSpPr>
        <p:spPr/>
        <p:txBody>
          <a:bodyPr/>
          <a:lstStyle/>
          <a:p>
            <a:fld id="{931DD963-FD40-4A6D-88A9-402A489E81DE}" type="slidenum">
              <a:rPr lang="en-US" smtClean="0"/>
              <a:t>101</a:t>
            </a:fld>
            <a:endParaRPr lang="en-US"/>
          </a:p>
        </p:txBody>
      </p:sp>
      <p:grpSp>
        <p:nvGrpSpPr>
          <p:cNvPr id="10" name="Group 9">
            <a:extLst>
              <a:ext uri="{FF2B5EF4-FFF2-40B4-BE49-F238E27FC236}">
                <a16:creationId xmlns:a16="http://schemas.microsoft.com/office/drawing/2014/main" id="{684C3257-37D1-85DE-EF5E-14CF05CEFDC6}"/>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9B896F01-8AF1-3BCD-E19D-7AFF1AF08CDA}"/>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5: </a:t>
              </a:r>
              <a:r>
                <a:rPr lang="vi-VN" sz="2133" b="1">
                  <a:latin typeface="Arial (Body)"/>
                </a:rPr>
                <a:t>GIẢI PHÁP CẢI TIẾN BỘ DAO ĐỘNG VANDERPOL</a:t>
              </a:r>
              <a:endParaRPr lang="en-US" sz="2133" b="1">
                <a:latin typeface="Arial (Body)"/>
              </a:endParaRPr>
            </a:p>
          </p:txBody>
        </p:sp>
        <p:sp>
          <p:nvSpPr>
            <p:cNvPr id="13" name="Rectangle 12">
              <a:extLst>
                <a:ext uri="{FF2B5EF4-FFF2-40B4-BE49-F238E27FC236}">
                  <a16:creationId xmlns:a16="http://schemas.microsoft.com/office/drawing/2014/main" id="{01D9A3F4-6207-B30A-D47E-F5663A787BA5}"/>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a:t>
              </a:r>
            </a:p>
          </p:txBody>
        </p:sp>
      </p:grpSp>
      <p:sp>
        <p:nvSpPr>
          <p:cNvPr id="6" name="Hộp Văn bản 5">
            <a:extLst>
              <a:ext uri="{FF2B5EF4-FFF2-40B4-BE49-F238E27FC236}">
                <a16:creationId xmlns:a16="http://schemas.microsoft.com/office/drawing/2014/main" id="{F5E07247-DDA0-0806-0F17-5245B6AA2F05}"/>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1">
                <a:solidFill>
                  <a:prstClr val="black"/>
                </a:solidFill>
                <a:latin typeface="Times New Roman" panose="02020603050405020304" pitchFamily="18" charset="0"/>
                <a:cs typeface="Times New Roman" panose="02020603050405020304" pitchFamily="18" charset="0"/>
              </a:rPr>
              <a:t>5.2</a:t>
            </a: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a:t>
            </a:r>
            <a:r>
              <a:rPr kumimoji="0" lang="vi-VN"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5" name="Picture 8">
            <a:extLst>
              <a:ext uri="{FF2B5EF4-FFF2-40B4-BE49-F238E27FC236}">
                <a16:creationId xmlns:a16="http://schemas.microsoft.com/office/drawing/2014/main" id="{D7743A8E-9E89-273B-F2F3-0DE5DA8CB012}"/>
              </a:ext>
            </a:extLst>
          </p:cNvPr>
          <p:cNvPicPr>
            <a:picLocks noChangeAspect="1"/>
          </p:cNvPicPr>
          <p:nvPr/>
        </p:nvPicPr>
        <p:blipFill>
          <a:blip r:embed="rId2"/>
          <a:stretch>
            <a:fillRect/>
          </a:stretch>
        </p:blipFill>
        <p:spPr>
          <a:xfrm>
            <a:off x="413529" y="1606377"/>
            <a:ext cx="5682471" cy="2854688"/>
          </a:xfrm>
          <a:prstGeom prst="rect">
            <a:avLst/>
          </a:prstGeom>
        </p:spPr>
      </p:pic>
      <p:pic>
        <p:nvPicPr>
          <p:cNvPr id="7" name="Picture 4">
            <a:extLst>
              <a:ext uri="{FF2B5EF4-FFF2-40B4-BE49-F238E27FC236}">
                <a16:creationId xmlns:a16="http://schemas.microsoft.com/office/drawing/2014/main" id="{1FFA3362-D5E5-4E82-0CEA-8D2EF9619A1F}"/>
              </a:ext>
            </a:extLst>
          </p:cNvPr>
          <p:cNvPicPr>
            <a:picLocks noChangeAspect="1"/>
          </p:cNvPicPr>
          <p:nvPr/>
        </p:nvPicPr>
        <p:blipFill>
          <a:blip r:embed="rId3"/>
          <a:stretch>
            <a:fillRect/>
          </a:stretch>
        </p:blipFill>
        <p:spPr>
          <a:xfrm>
            <a:off x="6101891" y="1536771"/>
            <a:ext cx="5903753" cy="3570449"/>
          </a:xfrm>
          <a:prstGeom prst="rect">
            <a:avLst/>
          </a:prstGeom>
        </p:spPr>
      </p:pic>
      <p:sp>
        <p:nvSpPr>
          <p:cNvPr id="8" name="TextBox 9">
            <a:extLst>
              <a:ext uri="{FF2B5EF4-FFF2-40B4-BE49-F238E27FC236}">
                <a16:creationId xmlns:a16="http://schemas.microsoft.com/office/drawing/2014/main" id="{AADCB86C-7C27-3408-7A09-0E4A0499C244}"/>
              </a:ext>
            </a:extLst>
          </p:cNvPr>
          <p:cNvSpPr txBox="1"/>
          <p:nvPr/>
        </p:nvSpPr>
        <p:spPr>
          <a:xfrm>
            <a:off x="2832100" y="5580944"/>
            <a:ext cx="6739917" cy="400110"/>
          </a:xfrm>
          <a:prstGeom prst="rect">
            <a:avLst/>
          </a:prstGeom>
          <a:noFill/>
        </p:spPr>
        <p:txBody>
          <a:bodyPr wrap="square" rtlCol="0">
            <a:spAutoFit/>
          </a:bodyPr>
          <a:lstStyle/>
          <a:p>
            <a:r>
              <a:rPr lang="vi-VN" sz="2000"/>
              <a:t>Điện áp đầu ra và phổ sóng hài điện áp 2 bộ nghịch lưu</a:t>
            </a:r>
            <a:endParaRPr lang="en-ID" sz="2000"/>
          </a:p>
        </p:txBody>
      </p:sp>
    </p:spTree>
    <p:extLst>
      <p:ext uri="{BB962C8B-B14F-4D97-AF65-F5344CB8AC3E}">
        <p14:creationId xmlns:p14="http://schemas.microsoft.com/office/powerpoint/2010/main" val="76231197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63B0C-4C4E-65EC-C080-175D2644C42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F83A775-403B-8B7E-CD83-E32613889C24}"/>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9BA63100-416D-DE2B-5408-1E699871BF4D}"/>
              </a:ext>
            </a:extLst>
          </p:cNvPr>
          <p:cNvSpPr>
            <a:spLocks noGrp="1"/>
          </p:cNvSpPr>
          <p:nvPr>
            <p:ph type="sldNum" sz="quarter" idx="12"/>
          </p:nvPr>
        </p:nvSpPr>
        <p:spPr/>
        <p:txBody>
          <a:bodyPr/>
          <a:lstStyle/>
          <a:p>
            <a:fld id="{931DD963-FD40-4A6D-88A9-402A489E81DE}" type="slidenum">
              <a:rPr lang="en-US" smtClean="0"/>
              <a:t>102</a:t>
            </a:fld>
            <a:endParaRPr lang="en-US"/>
          </a:p>
        </p:txBody>
      </p:sp>
      <p:grpSp>
        <p:nvGrpSpPr>
          <p:cNvPr id="10" name="Group 9">
            <a:extLst>
              <a:ext uri="{FF2B5EF4-FFF2-40B4-BE49-F238E27FC236}">
                <a16:creationId xmlns:a16="http://schemas.microsoft.com/office/drawing/2014/main" id="{8F30E436-B347-150C-8BE1-B8D1918E0589}"/>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B0F21156-B0A1-8E85-CDAC-C8F7DB1840C5}"/>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5: </a:t>
              </a:r>
              <a:r>
                <a:rPr lang="vi-VN" sz="2133" b="1">
                  <a:latin typeface="Arial (Body)"/>
                </a:rPr>
                <a:t>GIẢI PHÁP CẢI TIẾN BỘ DAO ĐỘNG VANDERPOL</a:t>
              </a:r>
              <a:endParaRPr lang="en-US" sz="2133" b="1">
                <a:latin typeface="Arial (Body)"/>
              </a:endParaRPr>
            </a:p>
          </p:txBody>
        </p:sp>
        <p:sp>
          <p:nvSpPr>
            <p:cNvPr id="13" name="Rectangle 12">
              <a:extLst>
                <a:ext uri="{FF2B5EF4-FFF2-40B4-BE49-F238E27FC236}">
                  <a16:creationId xmlns:a16="http://schemas.microsoft.com/office/drawing/2014/main" id="{578155C6-6698-40CC-A92D-8FAE43C08D65}"/>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a:t>
              </a:r>
            </a:p>
          </p:txBody>
        </p:sp>
      </p:grpSp>
      <p:sp>
        <p:nvSpPr>
          <p:cNvPr id="6" name="Hộp Văn bản 5">
            <a:extLst>
              <a:ext uri="{FF2B5EF4-FFF2-40B4-BE49-F238E27FC236}">
                <a16:creationId xmlns:a16="http://schemas.microsoft.com/office/drawing/2014/main" id="{5490E9AC-EDB1-3700-53E3-74FED06584BC}"/>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1">
                <a:solidFill>
                  <a:prstClr val="black"/>
                </a:solidFill>
                <a:latin typeface="Times New Roman" panose="02020603050405020304" pitchFamily="18" charset="0"/>
                <a:cs typeface="Times New Roman" panose="02020603050405020304" pitchFamily="18" charset="0"/>
              </a:rPr>
              <a:t>5.2</a:t>
            </a: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a:t>
            </a:r>
            <a:r>
              <a:rPr kumimoji="0" lang="vi-VN"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36751C62-CC17-3E4D-1EFC-B8FDAAD6EDB4}"/>
                  </a:ext>
                </a:extLst>
              </p:cNvPr>
              <p:cNvGraphicFramePr>
                <a:graphicFrameLocks noGrp="1"/>
              </p:cNvGraphicFramePr>
              <p:nvPr>
                <p:extLst>
                  <p:ext uri="{D42A27DB-BD31-4B8C-83A1-F6EECF244321}">
                    <p14:modId xmlns:p14="http://schemas.microsoft.com/office/powerpoint/2010/main" val="1911348131"/>
                  </p:ext>
                </p:extLst>
              </p:nvPr>
            </p:nvGraphicFramePr>
            <p:xfrm>
              <a:off x="1021404" y="1663430"/>
              <a:ext cx="9721455" cy="4750246"/>
            </p:xfrm>
            <a:graphic>
              <a:graphicData uri="http://schemas.openxmlformats.org/drawingml/2006/table">
                <a:tbl>
                  <a:tblPr firstRow="1" bandRow="1">
                    <a:tableStyleId>{5C22544A-7EE6-4342-B048-85BDC9FD1C3A}</a:tableStyleId>
                  </a:tblPr>
                  <a:tblGrid>
                    <a:gridCol w="4774090">
                      <a:extLst>
                        <a:ext uri="{9D8B030D-6E8A-4147-A177-3AD203B41FA5}">
                          <a16:colId xmlns:a16="http://schemas.microsoft.com/office/drawing/2014/main" val="527422896"/>
                        </a:ext>
                      </a:extLst>
                    </a:gridCol>
                    <a:gridCol w="1604376">
                      <a:extLst>
                        <a:ext uri="{9D8B030D-6E8A-4147-A177-3AD203B41FA5}">
                          <a16:colId xmlns:a16="http://schemas.microsoft.com/office/drawing/2014/main" val="4129299613"/>
                        </a:ext>
                      </a:extLst>
                    </a:gridCol>
                    <a:gridCol w="1850446">
                      <a:extLst>
                        <a:ext uri="{9D8B030D-6E8A-4147-A177-3AD203B41FA5}">
                          <a16:colId xmlns:a16="http://schemas.microsoft.com/office/drawing/2014/main" val="578916864"/>
                        </a:ext>
                      </a:extLst>
                    </a:gridCol>
                    <a:gridCol w="1492543">
                      <a:extLst>
                        <a:ext uri="{9D8B030D-6E8A-4147-A177-3AD203B41FA5}">
                          <a16:colId xmlns:a16="http://schemas.microsoft.com/office/drawing/2014/main" val="1085022361"/>
                        </a:ext>
                      </a:extLst>
                    </a:gridCol>
                  </a:tblGrid>
                  <a:tr h="845383">
                    <a:tc>
                      <a:txBody>
                        <a:bodyPr/>
                        <a:lstStyle/>
                        <a:p>
                          <a:pPr algn="ctr"/>
                          <a:r>
                            <a:rPr lang="vi-VN" sz="1800"/>
                            <a:t>Tham số</a:t>
                          </a:r>
                          <a:endParaRPr lang="en-ID" sz="1800"/>
                        </a:p>
                      </a:txBody>
                      <a:tcPr/>
                    </a:tc>
                    <a:tc>
                      <a:txBody>
                        <a:bodyPr/>
                        <a:lstStyle/>
                        <a:p>
                          <a:r>
                            <a:rPr lang="vi-VN" sz="1800"/>
                            <a:t>Mô phỏng</a:t>
                          </a:r>
                          <a:endParaRPr lang="en-ID" sz="1800"/>
                        </a:p>
                      </a:txBody>
                      <a:tcPr/>
                    </a:tc>
                    <a:tc>
                      <a:txBody>
                        <a:bodyPr/>
                        <a:lstStyle/>
                        <a:p>
                          <a:r>
                            <a:rPr lang="vi-VN" sz="1800"/>
                            <a:t>Lí thuyết</a:t>
                          </a:r>
                          <a:endParaRPr lang="en-ID" sz="1800"/>
                        </a:p>
                      </a:txBody>
                      <a:tcPr/>
                    </a:tc>
                    <a:tc>
                      <a:txBody>
                        <a:bodyPr/>
                        <a:lstStyle/>
                        <a:p>
                          <a:r>
                            <a:rPr lang="vi-VN" sz="1800"/>
                            <a:t>Sai số</a:t>
                          </a:r>
                          <a:endParaRPr lang="en-ID" sz="1800"/>
                        </a:p>
                      </a:txBody>
                      <a:tcPr/>
                    </a:tc>
                    <a:extLst>
                      <a:ext uri="{0D108BD9-81ED-4DB2-BD59-A6C34878D82A}">
                        <a16:rowId xmlns:a16="http://schemas.microsoft.com/office/drawing/2014/main" val="3699664687"/>
                      </a:ext>
                    </a:extLst>
                  </a:tr>
                  <a:tr h="84538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vi-VN" sz="1800" kern="0">
                              <a:solidFill>
                                <a:srgbClr val="000000"/>
                              </a:solidFill>
                              <a:effectLst/>
                              <a:latin typeface="Times New Roman" panose="02020603050405020304" pitchFamily="18" charset="0"/>
                              <a:ea typeface="Times New Roman" panose="02020603050405020304" pitchFamily="18" charset="0"/>
                            </a:rPr>
                            <a:t>Điện áp tại công suất định mức</a:t>
                          </a:r>
                          <a:endParaRPr lang="en-US" sz="1800" kern="100">
                            <a:solidFill>
                              <a:srgbClr val="000000"/>
                            </a:solidFill>
                            <a:effectLst/>
                            <a:latin typeface="Times New Roman" panose="02020603050405020304" pitchFamily="18" charset="0"/>
                            <a:ea typeface="Times New Roman" panose="02020603050405020304" pitchFamily="18" charset="0"/>
                          </a:endParaRPr>
                        </a:p>
                        <a:p>
                          <a:r>
                            <a:rPr lang="vi-VN" sz="1800"/>
                            <a:t>(</a:t>
                          </a:r>
                          <a14:m>
                            <m:oMath xmlns:m="http://schemas.openxmlformats.org/officeDocument/2006/math">
                              <m:sSub>
                                <m:sSubPr>
                                  <m:ctrlPr>
                                    <a:rPr lang="en-US" sz="1800" i="1" kern="100">
                                      <a:solidFill>
                                        <a:srgbClr val="000000"/>
                                      </a:solidFill>
                                      <a:effectLst/>
                                      <a:latin typeface="Cambria Math" panose="02040503050406030204" pitchFamily="18" charset="0"/>
                                      <a:ea typeface="Yu Mincho" panose="02020400000000000000" pitchFamily="18" charset="-128"/>
                                    </a:rPr>
                                  </m:ctrlPr>
                                </m:sSubPr>
                                <m:e>
                                  <m:acc>
                                    <m:accPr>
                                      <m:chr m:val="̅"/>
                                      <m:ctrlPr>
                                        <a:rPr lang="en-US" sz="1800" i="1" kern="0">
                                          <a:solidFill>
                                            <a:srgbClr val="000000"/>
                                          </a:solidFill>
                                          <a:effectLst/>
                                          <a:latin typeface="Cambria Math" panose="02040503050406030204" pitchFamily="18" charset="0"/>
                                          <a:ea typeface="Yu Mincho" panose="02020400000000000000" pitchFamily="18" charset="-128"/>
                                        </a:rPr>
                                      </m:ctrlPr>
                                    </m:accPr>
                                    <m:e>
                                      <m:r>
                                        <a:rPr lang="en-US" sz="1800" i="1" kern="0">
                                          <a:solidFill>
                                            <a:srgbClr val="000000"/>
                                          </a:solidFill>
                                          <a:effectLst/>
                                          <a:latin typeface="Cambria Math" panose="02040503050406030204" pitchFamily="18" charset="0"/>
                                          <a:ea typeface="Yu Mincho" panose="02020400000000000000" pitchFamily="18" charset="-128"/>
                                        </a:rPr>
                                        <m:t>𝑉</m:t>
                                      </m:r>
                                    </m:e>
                                  </m:acc>
                                </m:e>
                                <m:sub>
                                  <m:r>
                                    <a:rPr lang="en-US" sz="1800" i="1" kern="0">
                                      <a:solidFill>
                                        <a:srgbClr val="000000"/>
                                      </a:solidFill>
                                      <a:effectLst/>
                                      <a:latin typeface="Cambria Math" panose="02040503050406030204" pitchFamily="18" charset="0"/>
                                      <a:ea typeface="Yu Mincho" panose="02020400000000000000" pitchFamily="18" charset="-128"/>
                                    </a:rPr>
                                    <m:t>𝑚𝑖𝑛</m:t>
                                  </m:r>
                                </m:sub>
                              </m:sSub>
                            </m:oMath>
                          </a14:m>
                          <a:r>
                            <a:rPr lang="vi-VN" sz="1800"/>
                            <a:t>)</a:t>
                          </a:r>
                          <a:endParaRPr lang="en-ID" sz="1800"/>
                        </a:p>
                      </a:txBody>
                      <a:tcPr/>
                    </a:tc>
                    <a:tc>
                      <a:txBody>
                        <a:bodyPr/>
                        <a:lstStyle/>
                        <a:p>
                          <a:r>
                            <a:rPr lang="vi-VN" sz="1800"/>
                            <a:t>220.1 V</a:t>
                          </a:r>
                          <a:endParaRPr lang="en-ID" sz="1800"/>
                        </a:p>
                      </a:txBody>
                      <a:tcPr/>
                    </a:tc>
                    <a:tc>
                      <a:txBody>
                        <a:bodyPr/>
                        <a:lstStyle/>
                        <a:p>
                          <a:r>
                            <a:rPr lang="vi-VN" sz="1800"/>
                            <a:t>220V</a:t>
                          </a:r>
                          <a:endParaRPr lang="en-ID" sz="1800"/>
                        </a:p>
                      </a:txBody>
                      <a:tcPr/>
                    </a:tc>
                    <a:tc>
                      <a:txBody>
                        <a:bodyPr/>
                        <a:lstStyle/>
                        <a:p>
                          <a:r>
                            <a:rPr lang="vi-VN" sz="1800"/>
                            <a:t>0.045%</a:t>
                          </a:r>
                          <a:endParaRPr lang="en-ID" sz="1800"/>
                        </a:p>
                      </a:txBody>
                      <a:tcPr/>
                    </a:tc>
                    <a:extLst>
                      <a:ext uri="{0D108BD9-81ED-4DB2-BD59-A6C34878D82A}">
                        <a16:rowId xmlns:a16="http://schemas.microsoft.com/office/drawing/2014/main" val="2676850091"/>
                      </a:ext>
                    </a:extLst>
                  </a:tr>
                  <a:tr h="76487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vi-VN" sz="1800" kern="0">
                              <a:solidFill>
                                <a:srgbClr val="000000"/>
                              </a:solidFill>
                              <a:effectLst/>
                              <a:latin typeface="Times New Roman" panose="02020603050405020304" pitchFamily="18" charset="0"/>
                              <a:ea typeface="Times New Roman" panose="02020603050405020304" pitchFamily="18" charset="0"/>
                            </a:rPr>
                            <a:t>Công suất tác dụng định mức (</a:t>
                          </a:r>
                          <a14:m>
                            <m:oMath xmlns:m="http://schemas.openxmlformats.org/officeDocument/2006/math">
                              <m:sSub>
                                <m:sSubPr>
                                  <m:ctrlPr>
                                    <a:rPr lang="en-US" sz="1800" i="1" kern="100">
                                      <a:solidFill>
                                        <a:srgbClr val="000000"/>
                                      </a:solidFill>
                                      <a:effectLst/>
                                      <a:latin typeface="Cambria Math" panose="02040503050406030204" pitchFamily="18" charset="0"/>
                                      <a:ea typeface="Yu Mincho" panose="02020400000000000000" pitchFamily="18" charset="-128"/>
                                    </a:rPr>
                                  </m:ctrlPr>
                                </m:sSubPr>
                                <m:e>
                                  <m:acc>
                                    <m:accPr>
                                      <m:chr m:val="̅"/>
                                      <m:ctrlPr>
                                        <a:rPr lang="en-US" sz="1800" i="1" kern="0">
                                          <a:solidFill>
                                            <a:srgbClr val="000000"/>
                                          </a:solidFill>
                                          <a:effectLst/>
                                          <a:latin typeface="Cambria Math" panose="02040503050406030204" pitchFamily="18" charset="0"/>
                                          <a:ea typeface="Yu Mincho" panose="02020400000000000000" pitchFamily="18" charset="-128"/>
                                        </a:rPr>
                                      </m:ctrlPr>
                                    </m:accPr>
                                    <m:e>
                                      <m:r>
                                        <a:rPr lang="en-US" sz="1800" i="1" kern="0">
                                          <a:solidFill>
                                            <a:srgbClr val="000000"/>
                                          </a:solidFill>
                                          <a:effectLst/>
                                          <a:latin typeface="Cambria Math" panose="02040503050406030204" pitchFamily="18" charset="0"/>
                                          <a:ea typeface="Yu Mincho" panose="02020400000000000000" pitchFamily="18" charset="-128"/>
                                        </a:rPr>
                                        <m:t>𝑃</m:t>
                                      </m:r>
                                    </m:e>
                                  </m:acc>
                                </m:e>
                                <m:sub>
                                  <m:r>
                                    <a:rPr lang="en-US" sz="1800" i="1" kern="0">
                                      <a:solidFill>
                                        <a:srgbClr val="000000"/>
                                      </a:solidFill>
                                      <a:effectLst/>
                                      <a:latin typeface="Cambria Math" panose="02040503050406030204" pitchFamily="18" charset="0"/>
                                      <a:ea typeface="Yu Mincho" panose="02020400000000000000" pitchFamily="18" charset="-128"/>
                                    </a:rPr>
                                    <m:t>𝑟𝑎𝑡𝑒</m:t>
                                  </m:r>
                                </m:sub>
                              </m:sSub>
                            </m:oMath>
                          </a14:m>
                          <a:r>
                            <a:rPr lang="vi-VN" sz="1800" kern="100">
                              <a:solidFill>
                                <a:srgbClr val="000000"/>
                              </a:solidFill>
                              <a:effectLst/>
                              <a:latin typeface="Times New Roman" panose="02020603050405020304" pitchFamily="18" charset="0"/>
                              <a:ea typeface="Times New Roman" panose="02020603050405020304" pitchFamily="18" charset="0"/>
                            </a:rPr>
                            <a:t>)</a:t>
                          </a:r>
                          <a:endParaRPr lang="en-US" sz="1800" kern="100">
                            <a:solidFill>
                              <a:srgbClr val="000000"/>
                            </a:solidFill>
                            <a:effectLst/>
                            <a:latin typeface="Times New Roman" panose="02020603050405020304" pitchFamily="18" charset="0"/>
                            <a:ea typeface="Times New Roman" panose="02020603050405020304" pitchFamily="18" charset="0"/>
                          </a:endParaRPr>
                        </a:p>
                        <a:p>
                          <a:endParaRPr lang="en-ID" sz="1800"/>
                        </a:p>
                      </a:txBody>
                      <a:tcPr/>
                    </a:tc>
                    <a:tc>
                      <a:txBody>
                        <a:bodyPr/>
                        <a:lstStyle/>
                        <a:p>
                          <a:r>
                            <a:rPr lang="vi-VN" sz="1800"/>
                            <a:t>501 W</a:t>
                          </a:r>
                          <a:endParaRPr lang="en-ID" sz="1800"/>
                        </a:p>
                      </a:txBody>
                      <a:tcPr/>
                    </a:tc>
                    <a:tc>
                      <a:txBody>
                        <a:bodyPr/>
                        <a:lstStyle/>
                        <a:p>
                          <a:r>
                            <a:rPr lang="vi-VN" sz="1800"/>
                            <a:t>500 W</a:t>
                          </a:r>
                          <a:endParaRPr lang="en-ID" sz="1800"/>
                        </a:p>
                      </a:txBody>
                      <a:tcPr/>
                    </a:tc>
                    <a:tc>
                      <a:txBody>
                        <a:bodyPr/>
                        <a:lstStyle/>
                        <a:p>
                          <a:r>
                            <a:rPr lang="vi-VN" sz="1800"/>
                            <a:t>0.2 %</a:t>
                          </a:r>
                          <a:endParaRPr lang="en-ID" sz="1800"/>
                        </a:p>
                      </a:txBody>
                      <a:tcPr/>
                    </a:tc>
                    <a:extLst>
                      <a:ext uri="{0D108BD9-81ED-4DB2-BD59-A6C34878D82A}">
                        <a16:rowId xmlns:a16="http://schemas.microsoft.com/office/drawing/2014/main" val="571676659"/>
                      </a:ext>
                    </a:extLst>
                  </a:tr>
                  <a:tr h="76487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kern="0" err="1">
                              <a:solidFill>
                                <a:srgbClr val="000000"/>
                              </a:solidFill>
                              <a:effectLst/>
                              <a:latin typeface="Times New Roman" panose="02020603050405020304" pitchFamily="18" charset="0"/>
                              <a:ea typeface="Times New Roman" panose="02020603050405020304" pitchFamily="18" charset="0"/>
                            </a:rPr>
                            <a:t>Tần</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số</a:t>
                          </a:r>
                          <a:r>
                            <a:rPr lang="en-US" sz="1800" kern="0">
                              <a:solidFill>
                                <a:srgbClr val="000000"/>
                              </a:solidFill>
                              <a:effectLst/>
                              <a:latin typeface="Times New Roman" panose="02020603050405020304" pitchFamily="18" charset="0"/>
                              <a:ea typeface="Times New Roman" panose="02020603050405020304" pitchFamily="18" charset="0"/>
                            </a:rPr>
                            <a:t> </a:t>
                          </a:r>
                          <a:r>
                            <a:rPr lang="vi-VN" sz="1800" kern="0">
                              <a:solidFill>
                                <a:srgbClr val="000000"/>
                              </a:solidFill>
                              <a:effectLst/>
                              <a:latin typeface="Times New Roman" panose="02020603050405020304" pitchFamily="18" charset="0"/>
                              <a:ea typeface="Times New Roman" panose="02020603050405020304" pitchFamily="18" charset="0"/>
                            </a:rPr>
                            <a:t>góc (w)</a:t>
                          </a:r>
                          <a:endParaRPr lang="en-US" sz="1800" kern="100">
                            <a:solidFill>
                              <a:srgbClr val="000000"/>
                            </a:solidFill>
                            <a:effectLst/>
                            <a:latin typeface="Times New Roman" panose="02020603050405020304" pitchFamily="18" charset="0"/>
                            <a:ea typeface="Times New Roman" panose="02020603050405020304" pitchFamily="18" charset="0"/>
                          </a:endParaRPr>
                        </a:p>
                        <a:p>
                          <a:endParaRPr lang="en-ID" sz="1800"/>
                        </a:p>
                      </a:txBody>
                      <a:tcPr/>
                    </a:tc>
                    <a:tc>
                      <a:txBody>
                        <a:bodyPr/>
                        <a:lstStyle/>
                        <a:p>
                          <a:r>
                            <a:rPr lang="vi-VN" sz="1800"/>
                            <a:t>50 Hz</a:t>
                          </a:r>
                          <a:endParaRPr lang="en-ID" sz="1800"/>
                        </a:p>
                      </a:txBody>
                      <a:tcPr/>
                    </a:tc>
                    <a:tc>
                      <a:txBody>
                        <a:bodyPr/>
                        <a:lstStyle/>
                        <a:p>
                          <a:r>
                            <a:rPr lang="vi-VN" sz="1800"/>
                            <a:t>50 Hz</a:t>
                          </a:r>
                          <a:endParaRPr lang="en-ID" sz="1800"/>
                        </a:p>
                      </a:txBody>
                      <a:tcPr/>
                    </a:tc>
                    <a:tc>
                      <a:txBody>
                        <a:bodyPr/>
                        <a:lstStyle/>
                        <a:p>
                          <a:endParaRPr lang="en-ID" sz="1800"/>
                        </a:p>
                      </a:txBody>
                      <a:tcPr/>
                    </a:tc>
                    <a:extLst>
                      <a:ext uri="{0D108BD9-81ED-4DB2-BD59-A6C34878D82A}">
                        <a16:rowId xmlns:a16="http://schemas.microsoft.com/office/drawing/2014/main" val="3271077123"/>
                      </a:ext>
                    </a:extLst>
                  </a:tr>
                  <a:tr h="76487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kern="0" err="1">
                              <a:solidFill>
                                <a:srgbClr val="000000"/>
                              </a:solidFill>
                              <a:effectLst/>
                              <a:latin typeface="Times New Roman" panose="02020603050405020304" pitchFamily="18" charset="0"/>
                              <a:ea typeface="Times New Roman" panose="02020603050405020304" pitchFamily="18" charset="0"/>
                            </a:rPr>
                            <a:t>Thời</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gian</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đáp</a:t>
                          </a:r>
                          <a:r>
                            <a:rPr lang="en-US" sz="1800" kern="0">
                              <a:solidFill>
                                <a:srgbClr val="000000"/>
                              </a:solidFill>
                              <a:effectLst/>
                              <a:latin typeface="Times New Roman" panose="02020603050405020304" pitchFamily="18" charset="0"/>
                              <a:ea typeface="Times New Roman" panose="02020603050405020304" pitchFamily="18" charset="0"/>
                            </a:rPr>
                            <a:t> </a:t>
                          </a:r>
                          <a:r>
                            <a:rPr lang="en-US" sz="1800" kern="0" err="1">
                              <a:solidFill>
                                <a:srgbClr val="000000"/>
                              </a:solidFill>
                              <a:effectLst/>
                              <a:latin typeface="Times New Roman" panose="02020603050405020304" pitchFamily="18" charset="0"/>
                              <a:ea typeface="Times New Roman" panose="02020603050405020304" pitchFamily="18" charset="0"/>
                            </a:rPr>
                            <a:t>ứng</a:t>
                          </a:r>
                          <a:r>
                            <a:rPr lang="vi-VN" sz="1800" kern="0">
                              <a:solidFill>
                                <a:srgbClr val="000000"/>
                              </a:solidFill>
                              <a:effectLst/>
                              <a:latin typeface="Times New Roman" panose="02020603050405020304" pitchFamily="18" charset="0"/>
                              <a:ea typeface="Times New Roman" panose="02020603050405020304" pitchFamily="18" charset="0"/>
                            </a:rPr>
                            <a:t> ( t</a:t>
                          </a:r>
                          <a:r>
                            <a:rPr lang="vi-VN" sz="1800" kern="0" baseline="-25000">
                              <a:solidFill>
                                <a:srgbClr val="000000"/>
                              </a:solidFill>
                              <a:effectLst/>
                              <a:latin typeface="Times New Roman" panose="02020603050405020304" pitchFamily="18" charset="0"/>
                              <a:ea typeface="Times New Roman" panose="02020603050405020304" pitchFamily="18" charset="0"/>
                            </a:rPr>
                            <a:t>rise</a:t>
                          </a:r>
                          <a:r>
                            <a:rPr lang="vi-VN" sz="1800" kern="0">
                              <a:solidFill>
                                <a:srgbClr val="000000"/>
                              </a:solidFill>
                              <a:effectLst/>
                              <a:latin typeface="Times New Roman" panose="02020603050405020304" pitchFamily="18" charset="0"/>
                              <a:ea typeface="Times New Roman" panose="02020603050405020304" pitchFamily="18" charset="0"/>
                            </a:rPr>
                            <a:t>)</a:t>
                          </a:r>
                          <a:endParaRPr lang="en-US" sz="1800" kern="100">
                            <a:solidFill>
                              <a:srgbClr val="000000"/>
                            </a:solidFill>
                            <a:effectLst/>
                            <a:latin typeface="Times New Roman" panose="02020603050405020304" pitchFamily="18" charset="0"/>
                            <a:ea typeface="Times New Roman" panose="02020603050405020304" pitchFamily="18" charset="0"/>
                          </a:endParaRPr>
                        </a:p>
                        <a:p>
                          <a:endParaRPr lang="en-ID" sz="1800"/>
                        </a:p>
                      </a:txBody>
                      <a:tcPr/>
                    </a:tc>
                    <a:tc>
                      <a:txBody>
                        <a:bodyPr/>
                        <a:lstStyle/>
                        <a:p>
                          <a:r>
                            <a:rPr lang="vi-VN" sz="1800"/>
                            <a:t>0.05 s</a:t>
                          </a:r>
                          <a:endParaRPr lang="en-ID" sz="1800"/>
                        </a:p>
                      </a:txBody>
                      <a:tcPr/>
                    </a:tc>
                    <a:tc>
                      <a:txBody>
                        <a:bodyPr/>
                        <a:lstStyle/>
                        <a:p>
                          <a:r>
                            <a:rPr lang="vi-VN" sz="1800"/>
                            <a:t>0.05 s</a:t>
                          </a:r>
                          <a:endParaRPr lang="en-ID" sz="1800"/>
                        </a:p>
                      </a:txBody>
                      <a:tcPr/>
                    </a:tc>
                    <a:tc>
                      <a:txBody>
                        <a:bodyPr/>
                        <a:lstStyle/>
                        <a:p>
                          <a:endParaRPr lang="en-ID" sz="1800"/>
                        </a:p>
                      </a:txBody>
                      <a:tcPr/>
                    </a:tc>
                    <a:extLst>
                      <a:ext uri="{0D108BD9-81ED-4DB2-BD59-A6C34878D82A}">
                        <a16:rowId xmlns:a16="http://schemas.microsoft.com/office/drawing/2014/main" val="144465318"/>
                      </a:ext>
                    </a:extLst>
                  </a:tr>
                  <a:tr h="76487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vi-VN" sz="1800" kern="0">
                              <a:solidFill>
                                <a:srgbClr val="000000"/>
                              </a:solidFill>
                              <a:effectLst/>
                              <a:latin typeface="Times New Roman" panose="02020603050405020304" pitchFamily="18" charset="0"/>
                              <a:ea typeface="Times New Roman" panose="02020603050405020304" pitchFamily="18" charset="0"/>
                            </a:rPr>
                            <a:t>Tỉ lệ song hài bậc ba với bậc nhất</a:t>
                          </a:r>
                          <a:endParaRPr lang="en-US" sz="1800" kern="100">
                            <a:solidFill>
                              <a:srgbClr val="000000"/>
                            </a:solidFill>
                            <a:effectLst/>
                            <a:latin typeface="Times New Roman" panose="02020603050405020304" pitchFamily="18" charset="0"/>
                            <a:ea typeface="Times New Roman" panose="02020603050405020304" pitchFamily="18" charset="0"/>
                          </a:endParaRPr>
                        </a:p>
                        <a:p>
                          <a:endParaRPr lang="en-ID" sz="1800"/>
                        </a:p>
                      </a:txBody>
                      <a:tcPr/>
                    </a:tc>
                    <a:tc>
                      <a:txBody>
                        <a:bodyPr/>
                        <a:lstStyle/>
                        <a:p>
                          <a:r>
                            <a:rPr lang="vi-VN" sz="1800"/>
                            <a:t>0%</a:t>
                          </a:r>
                          <a:endParaRPr lang="en-ID" sz="1800"/>
                        </a:p>
                      </a:txBody>
                      <a:tcPr/>
                    </a:tc>
                    <a:tc>
                      <a:txBody>
                        <a:bodyPr/>
                        <a:lstStyle/>
                        <a:p>
                          <a:r>
                            <a:rPr lang="vi-VN" sz="1800"/>
                            <a:t>0.01 %</a:t>
                          </a:r>
                          <a:endParaRPr lang="en-ID" sz="1800"/>
                        </a:p>
                      </a:txBody>
                      <a:tcPr/>
                    </a:tc>
                    <a:tc>
                      <a:txBody>
                        <a:bodyPr/>
                        <a:lstStyle/>
                        <a:p>
                          <a:endParaRPr lang="en-ID" sz="1800"/>
                        </a:p>
                      </a:txBody>
                      <a:tcPr/>
                    </a:tc>
                    <a:extLst>
                      <a:ext uri="{0D108BD9-81ED-4DB2-BD59-A6C34878D82A}">
                        <a16:rowId xmlns:a16="http://schemas.microsoft.com/office/drawing/2014/main" val="3567635395"/>
                      </a:ext>
                    </a:extLst>
                  </a:tr>
                </a:tbl>
              </a:graphicData>
            </a:graphic>
          </p:graphicFrame>
        </mc:Choice>
        <mc:Fallback xmlns="">
          <p:graphicFrame>
            <p:nvGraphicFramePr>
              <p:cNvPr id="4" name="Table 4">
                <a:extLst>
                  <a:ext uri="{FF2B5EF4-FFF2-40B4-BE49-F238E27FC236}">
                    <a16:creationId xmlns:a16="http://schemas.microsoft.com/office/drawing/2014/main" id="{36751C62-CC17-3E4D-1EFC-B8FDAAD6EDB4}"/>
                  </a:ext>
                </a:extLst>
              </p:cNvPr>
              <p:cNvGraphicFramePr>
                <a:graphicFrameLocks noGrp="1"/>
              </p:cNvGraphicFramePr>
              <p:nvPr>
                <p:extLst>
                  <p:ext uri="{D42A27DB-BD31-4B8C-83A1-F6EECF244321}">
                    <p14:modId xmlns:p14="http://schemas.microsoft.com/office/powerpoint/2010/main" val="1911348131"/>
                  </p:ext>
                </p:extLst>
              </p:nvPr>
            </p:nvGraphicFramePr>
            <p:xfrm>
              <a:off x="1021404" y="1663430"/>
              <a:ext cx="9721455" cy="4750246"/>
            </p:xfrm>
            <a:graphic>
              <a:graphicData uri="http://schemas.openxmlformats.org/drawingml/2006/table">
                <a:tbl>
                  <a:tblPr firstRow="1" bandRow="1">
                    <a:tableStyleId>{5C22544A-7EE6-4342-B048-85BDC9FD1C3A}</a:tableStyleId>
                  </a:tblPr>
                  <a:tblGrid>
                    <a:gridCol w="4774090">
                      <a:extLst>
                        <a:ext uri="{9D8B030D-6E8A-4147-A177-3AD203B41FA5}">
                          <a16:colId xmlns:a16="http://schemas.microsoft.com/office/drawing/2014/main" val="527422896"/>
                        </a:ext>
                      </a:extLst>
                    </a:gridCol>
                    <a:gridCol w="1604376">
                      <a:extLst>
                        <a:ext uri="{9D8B030D-6E8A-4147-A177-3AD203B41FA5}">
                          <a16:colId xmlns:a16="http://schemas.microsoft.com/office/drawing/2014/main" val="4129299613"/>
                        </a:ext>
                      </a:extLst>
                    </a:gridCol>
                    <a:gridCol w="1850446">
                      <a:extLst>
                        <a:ext uri="{9D8B030D-6E8A-4147-A177-3AD203B41FA5}">
                          <a16:colId xmlns:a16="http://schemas.microsoft.com/office/drawing/2014/main" val="578916864"/>
                        </a:ext>
                      </a:extLst>
                    </a:gridCol>
                    <a:gridCol w="1492543">
                      <a:extLst>
                        <a:ext uri="{9D8B030D-6E8A-4147-A177-3AD203B41FA5}">
                          <a16:colId xmlns:a16="http://schemas.microsoft.com/office/drawing/2014/main" val="1085022361"/>
                        </a:ext>
                      </a:extLst>
                    </a:gridCol>
                  </a:tblGrid>
                  <a:tr h="845383">
                    <a:tc>
                      <a:txBody>
                        <a:bodyPr/>
                        <a:lstStyle/>
                        <a:p>
                          <a:pPr algn="ctr"/>
                          <a:r>
                            <a:rPr lang="vi-VN" sz="1800" dirty="0"/>
                            <a:t>Tham số</a:t>
                          </a:r>
                          <a:endParaRPr lang="en-ID" sz="1800" dirty="0"/>
                        </a:p>
                      </a:txBody>
                      <a:tcPr/>
                    </a:tc>
                    <a:tc>
                      <a:txBody>
                        <a:bodyPr/>
                        <a:lstStyle/>
                        <a:p>
                          <a:r>
                            <a:rPr lang="vi-VN" sz="1800" dirty="0"/>
                            <a:t>Mô phỏng</a:t>
                          </a:r>
                          <a:endParaRPr lang="en-ID" sz="1800" dirty="0"/>
                        </a:p>
                      </a:txBody>
                      <a:tcPr/>
                    </a:tc>
                    <a:tc>
                      <a:txBody>
                        <a:bodyPr/>
                        <a:lstStyle/>
                        <a:p>
                          <a:r>
                            <a:rPr lang="vi-VN" sz="1800" dirty="0"/>
                            <a:t>Lí thuyết</a:t>
                          </a:r>
                          <a:endParaRPr lang="en-ID" sz="1800" dirty="0"/>
                        </a:p>
                      </a:txBody>
                      <a:tcPr/>
                    </a:tc>
                    <a:tc>
                      <a:txBody>
                        <a:bodyPr/>
                        <a:lstStyle/>
                        <a:p>
                          <a:r>
                            <a:rPr lang="vi-VN" sz="1800" dirty="0"/>
                            <a:t>Sai số</a:t>
                          </a:r>
                          <a:endParaRPr lang="en-ID" sz="1800" dirty="0"/>
                        </a:p>
                      </a:txBody>
                      <a:tcPr/>
                    </a:tc>
                    <a:extLst>
                      <a:ext uri="{0D108BD9-81ED-4DB2-BD59-A6C34878D82A}">
                        <a16:rowId xmlns:a16="http://schemas.microsoft.com/office/drawing/2014/main" val="3699664687"/>
                      </a:ext>
                    </a:extLst>
                  </a:tr>
                  <a:tr h="845383">
                    <a:tc>
                      <a:txBody>
                        <a:bodyPr/>
                        <a:lstStyle/>
                        <a:p>
                          <a:endParaRPr lang="vi-VN"/>
                        </a:p>
                      </a:txBody>
                      <a:tcPr>
                        <a:blipFill>
                          <a:blip r:embed="rId2"/>
                          <a:stretch>
                            <a:fillRect l="-128" t="-104317" r="-104082" b="-363309"/>
                          </a:stretch>
                        </a:blipFill>
                      </a:tcPr>
                    </a:tc>
                    <a:tc>
                      <a:txBody>
                        <a:bodyPr/>
                        <a:lstStyle/>
                        <a:p>
                          <a:r>
                            <a:rPr lang="vi-VN" sz="1800" dirty="0"/>
                            <a:t>220.1 V</a:t>
                          </a:r>
                          <a:endParaRPr lang="en-ID" sz="1800" dirty="0"/>
                        </a:p>
                      </a:txBody>
                      <a:tcPr/>
                    </a:tc>
                    <a:tc>
                      <a:txBody>
                        <a:bodyPr/>
                        <a:lstStyle/>
                        <a:p>
                          <a:r>
                            <a:rPr lang="vi-VN" sz="1800" dirty="0"/>
                            <a:t>220V</a:t>
                          </a:r>
                          <a:endParaRPr lang="en-ID" sz="1800" dirty="0"/>
                        </a:p>
                      </a:txBody>
                      <a:tcPr/>
                    </a:tc>
                    <a:tc>
                      <a:txBody>
                        <a:bodyPr/>
                        <a:lstStyle/>
                        <a:p>
                          <a:r>
                            <a:rPr lang="vi-VN" sz="1800" dirty="0"/>
                            <a:t>0.045%</a:t>
                          </a:r>
                          <a:endParaRPr lang="en-ID" sz="1800" dirty="0"/>
                        </a:p>
                      </a:txBody>
                      <a:tcPr/>
                    </a:tc>
                    <a:extLst>
                      <a:ext uri="{0D108BD9-81ED-4DB2-BD59-A6C34878D82A}">
                        <a16:rowId xmlns:a16="http://schemas.microsoft.com/office/drawing/2014/main" val="2676850091"/>
                      </a:ext>
                    </a:extLst>
                  </a:tr>
                  <a:tr h="764870">
                    <a:tc>
                      <a:txBody>
                        <a:bodyPr/>
                        <a:lstStyle/>
                        <a:p>
                          <a:endParaRPr lang="vi-VN"/>
                        </a:p>
                      </a:txBody>
                      <a:tcPr>
                        <a:blipFill>
                          <a:blip r:embed="rId2"/>
                          <a:stretch>
                            <a:fillRect l="-128" t="-225397" r="-104082" b="-300794"/>
                          </a:stretch>
                        </a:blipFill>
                      </a:tcPr>
                    </a:tc>
                    <a:tc>
                      <a:txBody>
                        <a:bodyPr/>
                        <a:lstStyle/>
                        <a:p>
                          <a:r>
                            <a:rPr lang="vi-VN" sz="1800" dirty="0"/>
                            <a:t>501 W</a:t>
                          </a:r>
                          <a:endParaRPr lang="en-ID" sz="1800" dirty="0"/>
                        </a:p>
                      </a:txBody>
                      <a:tcPr/>
                    </a:tc>
                    <a:tc>
                      <a:txBody>
                        <a:bodyPr/>
                        <a:lstStyle/>
                        <a:p>
                          <a:r>
                            <a:rPr lang="vi-VN" sz="1800" dirty="0"/>
                            <a:t>500 W</a:t>
                          </a:r>
                          <a:endParaRPr lang="en-ID" sz="1800" dirty="0"/>
                        </a:p>
                      </a:txBody>
                      <a:tcPr/>
                    </a:tc>
                    <a:tc>
                      <a:txBody>
                        <a:bodyPr/>
                        <a:lstStyle/>
                        <a:p>
                          <a:r>
                            <a:rPr lang="vi-VN" sz="1800" dirty="0"/>
                            <a:t>0.2 %</a:t>
                          </a:r>
                          <a:endParaRPr lang="en-ID" sz="1800" dirty="0"/>
                        </a:p>
                      </a:txBody>
                      <a:tcPr/>
                    </a:tc>
                    <a:extLst>
                      <a:ext uri="{0D108BD9-81ED-4DB2-BD59-A6C34878D82A}">
                        <a16:rowId xmlns:a16="http://schemas.microsoft.com/office/drawing/2014/main" val="571676659"/>
                      </a:ext>
                    </a:extLst>
                  </a:tr>
                  <a:tr h="76487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kern="0" dirty="0" err="1">
                              <a:solidFill>
                                <a:srgbClr val="000000"/>
                              </a:solidFill>
                              <a:effectLst/>
                              <a:latin typeface="Times New Roman" panose="02020603050405020304" pitchFamily="18" charset="0"/>
                              <a:ea typeface="Times New Roman" panose="02020603050405020304" pitchFamily="18" charset="0"/>
                            </a:rPr>
                            <a:t>Tần</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số</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vi-VN" sz="1800" kern="0" dirty="0">
                              <a:solidFill>
                                <a:srgbClr val="000000"/>
                              </a:solidFill>
                              <a:effectLst/>
                              <a:latin typeface="Times New Roman" panose="02020603050405020304" pitchFamily="18" charset="0"/>
                              <a:ea typeface="Times New Roman" panose="02020603050405020304" pitchFamily="18" charset="0"/>
                            </a:rPr>
                            <a:t>góc (w)</a:t>
                          </a:r>
                          <a:endParaRPr lang="en-US" sz="1800" kern="100" dirty="0">
                            <a:solidFill>
                              <a:srgbClr val="000000"/>
                            </a:solidFill>
                            <a:effectLst/>
                            <a:latin typeface="Times New Roman" panose="02020603050405020304" pitchFamily="18" charset="0"/>
                            <a:ea typeface="Times New Roman" panose="02020603050405020304" pitchFamily="18" charset="0"/>
                          </a:endParaRPr>
                        </a:p>
                        <a:p>
                          <a:endParaRPr lang="en-ID" sz="1800" dirty="0"/>
                        </a:p>
                      </a:txBody>
                      <a:tcPr/>
                    </a:tc>
                    <a:tc>
                      <a:txBody>
                        <a:bodyPr/>
                        <a:lstStyle/>
                        <a:p>
                          <a:r>
                            <a:rPr lang="vi-VN" sz="1800" dirty="0"/>
                            <a:t>50 Hz</a:t>
                          </a:r>
                          <a:endParaRPr lang="en-ID" sz="1800" dirty="0"/>
                        </a:p>
                      </a:txBody>
                      <a:tcPr/>
                    </a:tc>
                    <a:tc>
                      <a:txBody>
                        <a:bodyPr/>
                        <a:lstStyle/>
                        <a:p>
                          <a:r>
                            <a:rPr lang="vi-VN" sz="1800" dirty="0"/>
                            <a:t>50 Hz</a:t>
                          </a:r>
                          <a:endParaRPr lang="en-ID" sz="1800" dirty="0"/>
                        </a:p>
                      </a:txBody>
                      <a:tcPr/>
                    </a:tc>
                    <a:tc>
                      <a:txBody>
                        <a:bodyPr/>
                        <a:lstStyle/>
                        <a:p>
                          <a:endParaRPr lang="en-ID" sz="1800" dirty="0"/>
                        </a:p>
                      </a:txBody>
                      <a:tcPr/>
                    </a:tc>
                    <a:extLst>
                      <a:ext uri="{0D108BD9-81ED-4DB2-BD59-A6C34878D82A}">
                        <a16:rowId xmlns:a16="http://schemas.microsoft.com/office/drawing/2014/main" val="3271077123"/>
                      </a:ext>
                    </a:extLst>
                  </a:tr>
                  <a:tr h="76487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kern="0" dirty="0" err="1">
                              <a:solidFill>
                                <a:srgbClr val="000000"/>
                              </a:solidFill>
                              <a:effectLst/>
                              <a:latin typeface="Times New Roman" panose="02020603050405020304" pitchFamily="18" charset="0"/>
                              <a:ea typeface="Times New Roman" panose="02020603050405020304" pitchFamily="18" charset="0"/>
                            </a:rPr>
                            <a:t>Thời</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gian</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đáp</a:t>
                          </a:r>
                          <a:r>
                            <a:rPr lang="en-US" sz="1800" kern="0" dirty="0">
                              <a:solidFill>
                                <a:srgbClr val="000000"/>
                              </a:solidFill>
                              <a:effectLst/>
                              <a:latin typeface="Times New Roman" panose="02020603050405020304" pitchFamily="18" charset="0"/>
                              <a:ea typeface="Times New Roman" panose="02020603050405020304" pitchFamily="18" charset="0"/>
                            </a:rPr>
                            <a:t> </a:t>
                          </a:r>
                          <a:r>
                            <a:rPr lang="en-US" sz="1800" kern="0" dirty="0" err="1">
                              <a:solidFill>
                                <a:srgbClr val="000000"/>
                              </a:solidFill>
                              <a:effectLst/>
                              <a:latin typeface="Times New Roman" panose="02020603050405020304" pitchFamily="18" charset="0"/>
                              <a:ea typeface="Times New Roman" panose="02020603050405020304" pitchFamily="18" charset="0"/>
                            </a:rPr>
                            <a:t>ứng</a:t>
                          </a:r>
                          <a:r>
                            <a:rPr lang="vi-VN" sz="1800" kern="0" dirty="0">
                              <a:solidFill>
                                <a:srgbClr val="000000"/>
                              </a:solidFill>
                              <a:effectLst/>
                              <a:latin typeface="Times New Roman" panose="02020603050405020304" pitchFamily="18" charset="0"/>
                              <a:ea typeface="Times New Roman" panose="02020603050405020304" pitchFamily="18" charset="0"/>
                            </a:rPr>
                            <a:t> ( t</a:t>
                          </a:r>
                          <a:r>
                            <a:rPr lang="vi-VN" sz="1800" kern="0" baseline="-25000" dirty="0">
                              <a:solidFill>
                                <a:srgbClr val="000000"/>
                              </a:solidFill>
                              <a:effectLst/>
                              <a:latin typeface="Times New Roman" panose="02020603050405020304" pitchFamily="18" charset="0"/>
                              <a:ea typeface="Times New Roman" panose="02020603050405020304" pitchFamily="18" charset="0"/>
                            </a:rPr>
                            <a:t>rise</a:t>
                          </a:r>
                          <a:r>
                            <a:rPr lang="vi-VN" sz="1800" kern="0" dirty="0">
                              <a:solidFill>
                                <a:srgbClr val="000000"/>
                              </a:solidFill>
                              <a:effectLst/>
                              <a:latin typeface="Times New Roman" panose="02020603050405020304" pitchFamily="18" charset="0"/>
                              <a:ea typeface="Times New Roman" panose="02020603050405020304" pitchFamily="18" charset="0"/>
                            </a:rPr>
                            <a:t>)</a:t>
                          </a:r>
                          <a:endParaRPr lang="en-US" sz="1800" kern="100" dirty="0">
                            <a:solidFill>
                              <a:srgbClr val="000000"/>
                            </a:solidFill>
                            <a:effectLst/>
                            <a:latin typeface="Times New Roman" panose="02020603050405020304" pitchFamily="18" charset="0"/>
                            <a:ea typeface="Times New Roman" panose="02020603050405020304" pitchFamily="18" charset="0"/>
                          </a:endParaRPr>
                        </a:p>
                        <a:p>
                          <a:endParaRPr lang="en-ID" sz="1800" dirty="0"/>
                        </a:p>
                      </a:txBody>
                      <a:tcPr/>
                    </a:tc>
                    <a:tc>
                      <a:txBody>
                        <a:bodyPr/>
                        <a:lstStyle/>
                        <a:p>
                          <a:r>
                            <a:rPr lang="vi-VN" sz="1800" dirty="0"/>
                            <a:t>0.05 s</a:t>
                          </a:r>
                          <a:endParaRPr lang="en-ID" sz="1800" dirty="0"/>
                        </a:p>
                      </a:txBody>
                      <a:tcPr/>
                    </a:tc>
                    <a:tc>
                      <a:txBody>
                        <a:bodyPr/>
                        <a:lstStyle/>
                        <a:p>
                          <a:r>
                            <a:rPr lang="vi-VN" sz="1800" dirty="0"/>
                            <a:t>0.05 s</a:t>
                          </a:r>
                          <a:endParaRPr lang="en-ID" sz="1800" dirty="0"/>
                        </a:p>
                      </a:txBody>
                      <a:tcPr/>
                    </a:tc>
                    <a:tc>
                      <a:txBody>
                        <a:bodyPr/>
                        <a:lstStyle/>
                        <a:p>
                          <a:endParaRPr lang="en-ID" sz="1800" dirty="0"/>
                        </a:p>
                      </a:txBody>
                      <a:tcPr/>
                    </a:tc>
                    <a:extLst>
                      <a:ext uri="{0D108BD9-81ED-4DB2-BD59-A6C34878D82A}">
                        <a16:rowId xmlns:a16="http://schemas.microsoft.com/office/drawing/2014/main" val="144465318"/>
                      </a:ext>
                    </a:extLst>
                  </a:tr>
                  <a:tr h="76487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vi-VN" sz="1800" kern="0" dirty="0">
                              <a:solidFill>
                                <a:srgbClr val="000000"/>
                              </a:solidFill>
                              <a:effectLst/>
                              <a:latin typeface="Times New Roman" panose="02020603050405020304" pitchFamily="18" charset="0"/>
                              <a:ea typeface="Times New Roman" panose="02020603050405020304" pitchFamily="18" charset="0"/>
                            </a:rPr>
                            <a:t>Tỉ lệ song hài bậc ba với bậc nhất</a:t>
                          </a:r>
                          <a:endParaRPr lang="en-US" sz="1800" kern="100" dirty="0">
                            <a:solidFill>
                              <a:srgbClr val="000000"/>
                            </a:solidFill>
                            <a:effectLst/>
                            <a:latin typeface="Times New Roman" panose="02020603050405020304" pitchFamily="18" charset="0"/>
                            <a:ea typeface="Times New Roman" panose="02020603050405020304" pitchFamily="18" charset="0"/>
                          </a:endParaRPr>
                        </a:p>
                        <a:p>
                          <a:endParaRPr lang="en-ID" sz="1800" dirty="0"/>
                        </a:p>
                      </a:txBody>
                      <a:tcPr/>
                    </a:tc>
                    <a:tc>
                      <a:txBody>
                        <a:bodyPr/>
                        <a:lstStyle/>
                        <a:p>
                          <a:r>
                            <a:rPr lang="vi-VN" sz="1800" dirty="0"/>
                            <a:t>0%</a:t>
                          </a:r>
                          <a:endParaRPr lang="en-ID" sz="1800" dirty="0"/>
                        </a:p>
                      </a:txBody>
                      <a:tcPr/>
                    </a:tc>
                    <a:tc>
                      <a:txBody>
                        <a:bodyPr/>
                        <a:lstStyle/>
                        <a:p>
                          <a:r>
                            <a:rPr lang="vi-VN" sz="1800" dirty="0"/>
                            <a:t>0.01 %</a:t>
                          </a:r>
                          <a:endParaRPr lang="en-ID" sz="1800" dirty="0"/>
                        </a:p>
                      </a:txBody>
                      <a:tcPr/>
                    </a:tc>
                    <a:tc>
                      <a:txBody>
                        <a:bodyPr/>
                        <a:lstStyle/>
                        <a:p>
                          <a:endParaRPr lang="en-ID" sz="1800" dirty="0"/>
                        </a:p>
                      </a:txBody>
                      <a:tcPr/>
                    </a:tc>
                    <a:extLst>
                      <a:ext uri="{0D108BD9-81ED-4DB2-BD59-A6C34878D82A}">
                        <a16:rowId xmlns:a16="http://schemas.microsoft.com/office/drawing/2014/main" val="3567635395"/>
                      </a:ext>
                    </a:extLst>
                  </a:tr>
                </a:tbl>
              </a:graphicData>
            </a:graphic>
          </p:graphicFrame>
        </mc:Fallback>
      </mc:AlternateContent>
      <p:sp>
        <p:nvSpPr>
          <p:cNvPr id="5" name="TextBox 4">
            <a:extLst>
              <a:ext uri="{FF2B5EF4-FFF2-40B4-BE49-F238E27FC236}">
                <a16:creationId xmlns:a16="http://schemas.microsoft.com/office/drawing/2014/main" id="{BE05B374-E238-4E06-0171-17D40B053D17}"/>
              </a:ext>
            </a:extLst>
          </p:cNvPr>
          <p:cNvSpPr txBox="1"/>
          <p:nvPr/>
        </p:nvSpPr>
        <p:spPr>
          <a:xfrm>
            <a:off x="5520465" y="1196356"/>
            <a:ext cx="723331" cy="369332"/>
          </a:xfrm>
          <a:prstGeom prst="rect">
            <a:avLst/>
          </a:prstGeom>
          <a:noFill/>
        </p:spPr>
        <p:txBody>
          <a:bodyPr wrap="square" rtlCol="0">
            <a:spAutoFit/>
          </a:bodyPr>
          <a:lstStyle/>
          <a:p>
            <a:r>
              <a:rPr lang="vi-VN"/>
              <a:t>Bộ 1</a:t>
            </a:r>
            <a:endParaRPr lang="en-ID"/>
          </a:p>
        </p:txBody>
      </p:sp>
    </p:spTree>
    <p:extLst>
      <p:ext uri="{BB962C8B-B14F-4D97-AF65-F5344CB8AC3E}">
        <p14:creationId xmlns:p14="http://schemas.microsoft.com/office/powerpoint/2010/main" val="136837903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5CA46-BA9F-7237-D839-39B99EC93C5F}"/>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A766B7E-1145-5C0C-7EB7-2FCB904AACAC}"/>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EEF6B80A-6D38-56FF-8836-87337FEDA882}"/>
              </a:ext>
            </a:extLst>
          </p:cNvPr>
          <p:cNvSpPr>
            <a:spLocks noGrp="1"/>
          </p:cNvSpPr>
          <p:nvPr>
            <p:ph type="sldNum" sz="quarter" idx="12"/>
          </p:nvPr>
        </p:nvSpPr>
        <p:spPr/>
        <p:txBody>
          <a:bodyPr/>
          <a:lstStyle/>
          <a:p>
            <a:fld id="{931DD963-FD40-4A6D-88A9-402A489E81DE}" type="slidenum">
              <a:rPr lang="en-US" smtClean="0"/>
              <a:t>103</a:t>
            </a:fld>
            <a:endParaRPr lang="en-US"/>
          </a:p>
        </p:txBody>
      </p:sp>
      <p:grpSp>
        <p:nvGrpSpPr>
          <p:cNvPr id="10" name="Group 9">
            <a:extLst>
              <a:ext uri="{FF2B5EF4-FFF2-40B4-BE49-F238E27FC236}">
                <a16:creationId xmlns:a16="http://schemas.microsoft.com/office/drawing/2014/main" id="{53F9B173-AA55-C9B3-7ED5-99BB6B5B0C68}"/>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840036D2-483D-8607-710D-7B30BA692D9D}"/>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5: </a:t>
              </a:r>
              <a:r>
                <a:rPr lang="vi-VN" sz="2133" b="1">
                  <a:latin typeface="Arial (Body)"/>
                </a:rPr>
                <a:t>GIẢI PHÁP CẢI TIẾN BỘ DAO ĐỘNG VANDERPOL</a:t>
              </a:r>
              <a:endParaRPr lang="en-US" sz="2133" b="1">
                <a:latin typeface="Arial (Body)"/>
              </a:endParaRPr>
            </a:p>
          </p:txBody>
        </p:sp>
        <p:sp>
          <p:nvSpPr>
            <p:cNvPr id="13" name="Rectangle 12">
              <a:extLst>
                <a:ext uri="{FF2B5EF4-FFF2-40B4-BE49-F238E27FC236}">
                  <a16:creationId xmlns:a16="http://schemas.microsoft.com/office/drawing/2014/main" id="{67FA7616-549D-93D5-E3D9-EE7F17680FFB}"/>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a:t>
              </a:r>
            </a:p>
          </p:txBody>
        </p:sp>
      </p:grpSp>
      <p:sp>
        <p:nvSpPr>
          <p:cNvPr id="6" name="Hộp Văn bản 5">
            <a:extLst>
              <a:ext uri="{FF2B5EF4-FFF2-40B4-BE49-F238E27FC236}">
                <a16:creationId xmlns:a16="http://schemas.microsoft.com/office/drawing/2014/main" id="{BE296E46-FE5C-7055-4E06-51A9DC910830}"/>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1">
                <a:solidFill>
                  <a:prstClr val="black"/>
                </a:solidFill>
                <a:latin typeface="Times New Roman" panose="02020603050405020304" pitchFamily="18" charset="0"/>
                <a:cs typeface="Times New Roman" panose="02020603050405020304" pitchFamily="18" charset="0"/>
              </a:rPr>
              <a:t>5.2</a:t>
            </a: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a:t>
            </a:r>
            <a:r>
              <a:rPr kumimoji="0" lang="vi-VN"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F441652A-48C3-573E-A12E-EAE9625C164E}"/>
                  </a:ext>
                </a:extLst>
              </p:cNvPr>
              <p:cNvGraphicFramePr>
                <a:graphicFrameLocks noGrp="1"/>
              </p:cNvGraphicFramePr>
              <p:nvPr>
                <p:extLst>
                  <p:ext uri="{D42A27DB-BD31-4B8C-83A1-F6EECF244321}">
                    <p14:modId xmlns:p14="http://schemas.microsoft.com/office/powerpoint/2010/main" val="2718336396"/>
                  </p:ext>
                </p:extLst>
              </p:nvPr>
            </p:nvGraphicFramePr>
            <p:xfrm>
              <a:off x="650018" y="1587915"/>
              <a:ext cx="10794509" cy="4907967"/>
            </p:xfrm>
            <a:graphic>
              <a:graphicData uri="http://schemas.openxmlformats.org/drawingml/2006/table">
                <a:tbl>
                  <a:tblPr firstRow="1" bandRow="1">
                    <a:tableStyleId>{5C22544A-7EE6-4342-B048-85BDC9FD1C3A}</a:tableStyleId>
                  </a:tblPr>
                  <a:tblGrid>
                    <a:gridCol w="5206033">
                      <a:extLst>
                        <a:ext uri="{9D8B030D-6E8A-4147-A177-3AD203B41FA5}">
                          <a16:colId xmlns:a16="http://schemas.microsoft.com/office/drawing/2014/main" val="527422896"/>
                        </a:ext>
                      </a:extLst>
                    </a:gridCol>
                    <a:gridCol w="1731523">
                      <a:extLst>
                        <a:ext uri="{9D8B030D-6E8A-4147-A177-3AD203B41FA5}">
                          <a16:colId xmlns:a16="http://schemas.microsoft.com/office/drawing/2014/main" val="4129299613"/>
                        </a:ext>
                      </a:extLst>
                    </a:gridCol>
                    <a:gridCol w="1984443">
                      <a:extLst>
                        <a:ext uri="{9D8B030D-6E8A-4147-A177-3AD203B41FA5}">
                          <a16:colId xmlns:a16="http://schemas.microsoft.com/office/drawing/2014/main" val="578916864"/>
                        </a:ext>
                      </a:extLst>
                    </a:gridCol>
                    <a:gridCol w="1872510">
                      <a:extLst>
                        <a:ext uri="{9D8B030D-6E8A-4147-A177-3AD203B41FA5}">
                          <a16:colId xmlns:a16="http://schemas.microsoft.com/office/drawing/2014/main" val="1085022361"/>
                        </a:ext>
                      </a:extLst>
                    </a:gridCol>
                  </a:tblGrid>
                  <a:tr h="858894">
                    <a:tc>
                      <a:txBody>
                        <a:bodyPr/>
                        <a:lstStyle/>
                        <a:p>
                          <a:r>
                            <a:rPr lang="vi-VN" sz="2000"/>
                            <a:t>Tham số</a:t>
                          </a:r>
                          <a:endParaRPr lang="en-ID" sz="2000"/>
                        </a:p>
                      </a:txBody>
                      <a:tcPr/>
                    </a:tc>
                    <a:tc>
                      <a:txBody>
                        <a:bodyPr/>
                        <a:lstStyle/>
                        <a:p>
                          <a:r>
                            <a:rPr lang="vi-VN" sz="2000"/>
                            <a:t>Mô phỏng</a:t>
                          </a:r>
                          <a:endParaRPr lang="en-ID" sz="2000"/>
                        </a:p>
                      </a:txBody>
                      <a:tcPr/>
                    </a:tc>
                    <a:tc>
                      <a:txBody>
                        <a:bodyPr/>
                        <a:lstStyle/>
                        <a:p>
                          <a:r>
                            <a:rPr lang="vi-VN" sz="2000"/>
                            <a:t>Lí thuyết</a:t>
                          </a:r>
                          <a:endParaRPr lang="en-ID" sz="2000"/>
                        </a:p>
                      </a:txBody>
                      <a:tcPr/>
                    </a:tc>
                    <a:tc>
                      <a:txBody>
                        <a:bodyPr/>
                        <a:lstStyle/>
                        <a:p>
                          <a:r>
                            <a:rPr lang="vi-VN" sz="2000"/>
                            <a:t>Sai số</a:t>
                          </a:r>
                          <a:endParaRPr lang="en-ID" sz="2000"/>
                        </a:p>
                      </a:txBody>
                      <a:tcPr/>
                    </a:tc>
                    <a:extLst>
                      <a:ext uri="{0D108BD9-81ED-4DB2-BD59-A6C34878D82A}">
                        <a16:rowId xmlns:a16="http://schemas.microsoft.com/office/drawing/2014/main" val="3699664687"/>
                      </a:ext>
                    </a:extLst>
                  </a:tr>
                  <a:tr h="85889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vi-VN" sz="2000" kern="0">
                              <a:solidFill>
                                <a:srgbClr val="000000"/>
                              </a:solidFill>
                              <a:effectLst/>
                              <a:latin typeface="Times New Roman" panose="02020603050405020304" pitchFamily="18" charset="0"/>
                              <a:ea typeface="Times New Roman" panose="02020603050405020304" pitchFamily="18" charset="0"/>
                            </a:rPr>
                            <a:t>Điện áp tại công suất định mức</a:t>
                          </a:r>
                          <a:endParaRPr lang="en-US" sz="2000" kern="100">
                            <a:solidFill>
                              <a:srgbClr val="000000"/>
                            </a:solidFill>
                            <a:effectLst/>
                            <a:latin typeface="Times New Roman" panose="02020603050405020304" pitchFamily="18" charset="0"/>
                            <a:ea typeface="Times New Roman" panose="02020603050405020304" pitchFamily="18" charset="0"/>
                          </a:endParaRPr>
                        </a:p>
                        <a:p>
                          <a:r>
                            <a:rPr lang="vi-VN" sz="2000"/>
                            <a:t>(</a:t>
                          </a:r>
                          <a14:m>
                            <m:oMath xmlns:m="http://schemas.openxmlformats.org/officeDocument/2006/math">
                              <m:sSub>
                                <m:sSubPr>
                                  <m:ctrlPr>
                                    <a:rPr lang="en-US" sz="2000" i="1" kern="100">
                                      <a:solidFill>
                                        <a:srgbClr val="000000"/>
                                      </a:solidFill>
                                      <a:effectLst/>
                                      <a:latin typeface="Cambria Math" panose="02040503050406030204" pitchFamily="18" charset="0"/>
                                      <a:ea typeface="Yu Mincho" panose="02020400000000000000" pitchFamily="18" charset="-128"/>
                                    </a:rPr>
                                  </m:ctrlPr>
                                </m:sSubPr>
                                <m:e>
                                  <m:acc>
                                    <m:accPr>
                                      <m:chr m:val="̅"/>
                                      <m:ctrlPr>
                                        <a:rPr lang="en-US" sz="2000" i="1" kern="0">
                                          <a:solidFill>
                                            <a:srgbClr val="000000"/>
                                          </a:solidFill>
                                          <a:effectLst/>
                                          <a:latin typeface="Cambria Math" panose="02040503050406030204" pitchFamily="18" charset="0"/>
                                          <a:ea typeface="Yu Mincho" panose="02020400000000000000" pitchFamily="18" charset="-128"/>
                                        </a:rPr>
                                      </m:ctrlPr>
                                    </m:accPr>
                                    <m:e>
                                      <m:r>
                                        <a:rPr lang="en-US" sz="2000" i="1" kern="0">
                                          <a:solidFill>
                                            <a:srgbClr val="000000"/>
                                          </a:solidFill>
                                          <a:effectLst/>
                                          <a:latin typeface="Cambria Math" panose="02040503050406030204" pitchFamily="18" charset="0"/>
                                          <a:ea typeface="Yu Mincho" panose="02020400000000000000" pitchFamily="18" charset="-128"/>
                                        </a:rPr>
                                        <m:t>𝑉</m:t>
                                      </m:r>
                                    </m:e>
                                  </m:acc>
                                </m:e>
                                <m:sub>
                                  <m:r>
                                    <a:rPr lang="en-US" sz="2000" i="1" kern="0">
                                      <a:solidFill>
                                        <a:srgbClr val="000000"/>
                                      </a:solidFill>
                                      <a:effectLst/>
                                      <a:latin typeface="Cambria Math" panose="02040503050406030204" pitchFamily="18" charset="0"/>
                                      <a:ea typeface="Yu Mincho" panose="02020400000000000000" pitchFamily="18" charset="-128"/>
                                    </a:rPr>
                                    <m:t>𝑚𝑖𝑛</m:t>
                                  </m:r>
                                </m:sub>
                              </m:sSub>
                            </m:oMath>
                          </a14:m>
                          <a:r>
                            <a:rPr lang="vi-VN" sz="2000"/>
                            <a:t>)</a:t>
                          </a:r>
                          <a:endParaRPr lang="en-ID" sz="2000"/>
                        </a:p>
                      </a:txBody>
                      <a:tcPr/>
                    </a:tc>
                    <a:tc>
                      <a:txBody>
                        <a:bodyPr/>
                        <a:lstStyle/>
                        <a:p>
                          <a:r>
                            <a:rPr lang="vi-VN" sz="2000"/>
                            <a:t>220.1 V</a:t>
                          </a:r>
                          <a:endParaRPr lang="en-ID" sz="2000"/>
                        </a:p>
                      </a:txBody>
                      <a:tcPr/>
                    </a:tc>
                    <a:tc>
                      <a:txBody>
                        <a:bodyPr/>
                        <a:lstStyle/>
                        <a:p>
                          <a:r>
                            <a:rPr lang="vi-VN" sz="2000"/>
                            <a:t>220V</a:t>
                          </a:r>
                          <a:endParaRPr lang="en-ID" sz="2000"/>
                        </a:p>
                      </a:txBody>
                      <a:tcPr/>
                    </a:tc>
                    <a:tc>
                      <a:txBody>
                        <a:bodyPr/>
                        <a:lstStyle/>
                        <a:p>
                          <a:r>
                            <a:rPr lang="vi-VN" sz="2000"/>
                            <a:t>0.045%</a:t>
                          </a:r>
                          <a:endParaRPr lang="en-ID" sz="2000"/>
                        </a:p>
                      </a:txBody>
                      <a:tcPr/>
                    </a:tc>
                    <a:extLst>
                      <a:ext uri="{0D108BD9-81ED-4DB2-BD59-A6C34878D82A}">
                        <a16:rowId xmlns:a16="http://schemas.microsoft.com/office/drawing/2014/main" val="2676850091"/>
                      </a:ext>
                    </a:extLst>
                  </a:tr>
                  <a:tr h="85889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vi-VN" sz="2000" kern="0">
                              <a:solidFill>
                                <a:srgbClr val="000000"/>
                              </a:solidFill>
                              <a:effectLst/>
                              <a:latin typeface="Times New Roman" panose="02020603050405020304" pitchFamily="18" charset="0"/>
                              <a:ea typeface="Times New Roman" panose="02020603050405020304" pitchFamily="18" charset="0"/>
                            </a:rPr>
                            <a:t>Công suất tác dụng định mức (</a:t>
                          </a:r>
                          <a14:m>
                            <m:oMath xmlns:m="http://schemas.openxmlformats.org/officeDocument/2006/math">
                              <m:sSub>
                                <m:sSubPr>
                                  <m:ctrlPr>
                                    <a:rPr lang="en-US" sz="2000" i="1" kern="100">
                                      <a:solidFill>
                                        <a:srgbClr val="000000"/>
                                      </a:solidFill>
                                      <a:effectLst/>
                                      <a:latin typeface="Cambria Math" panose="02040503050406030204" pitchFamily="18" charset="0"/>
                                      <a:ea typeface="Yu Mincho" panose="02020400000000000000" pitchFamily="18" charset="-128"/>
                                    </a:rPr>
                                  </m:ctrlPr>
                                </m:sSubPr>
                                <m:e>
                                  <m:acc>
                                    <m:accPr>
                                      <m:chr m:val="̅"/>
                                      <m:ctrlPr>
                                        <a:rPr lang="en-US" sz="2000" i="1" kern="0">
                                          <a:solidFill>
                                            <a:srgbClr val="000000"/>
                                          </a:solidFill>
                                          <a:effectLst/>
                                          <a:latin typeface="Cambria Math" panose="02040503050406030204" pitchFamily="18" charset="0"/>
                                          <a:ea typeface="Yu Mincho" panose="02020400000000000000" pitchFamily="18" charset="-128"/>
                                        </a:rPr>
                                      </m:ctrlPr>
                                    </m:accPr>
                                    <m:e>
                                      <m:r>
                                        <a:rPr lang="en-US" sz="2000" i="1" kern="0">
                                          <a:solidFill>
                                            <a:srgbClr val="000000"/>
                                          </a:solidFill>
                                          <a:effectLst/>
                                          <a:latin typeface="Cambria Math" panose="02040503050406030204" pitchFamily="18" charset="0"/>
                                          <a:ea typeface="Yu Mincho" panose="02020400000000000000" pitchFamily="18" charset="-128"/>
                                        </a:rPr>
                                        <m:t>𝑃</m:t>
                                      </m:r>
                                    </m:e>
                                  </m:acc>
                                </m:e>
                                <m:sub>
                                  <m:r>
                                    <a:rPr lang="en-US" sz="2000" i="1" kern="0">
                                      <a:solidFill>
                                        <a:srgbClr val="000000"/>
                                      </a:solidFill>
                                      <a:effectLst/>
                                      <a:latin typeface="Cambria Math" panose="02040503050406030204" pitchFamily="18" charset="0"/>
                                      <a:ea typeface="Yu Mincho" panose="02020400000000000000" pitchFamily="18" charset="-128"/>
                                    </a:rPr>
                                    <m:t>𝑟𝑎𝑡𝑒</m:t>
                                  </m:r>
                                </m:sub>
                              </m:sSub>
                            </m:oMath>
                          </a14:m>
                          <a:r>
                            <a:rPr lang="vi-VN" sz="2000" kern="100">
                              <a:solidFill>
                                <a:srgbClr val="000000"/>
                              </a:solidFill>
                              <a:effectLst/>
                              <a:latin typeface="Times New Roman" panose="02020603050405020304" pitchFamily="18" charset="0"/>
                              <a:ea typeface="Times New Roman" panose="02020603050405020304" pitchFamily="18" charset="0"/>
                            </a:rPr>
                            <a:t>)</a:t>
                          </a:r>
                          <a:endParaRPr lang="en-US" sz="2000" kern="100">
                            <a:solidFill>
                              <a:srgbClr val="000000"/>
                            </a:solidFill>
                            <a:effectLst/>
                            <a:latin typeface="Times New Roman" panose="02020603050405020304" pitchFamily="18" charset="0"/>
                            <a:ea typeface="Times New Roman" panose="02020603050405020304" pitchFamily="18" charset="0"/>
                          </a:endParaRPr>
                        </a:p>
                      </a:txBody>
                      <a:tcPr/>
                    </a:tc>
                    <a:tc>
                      <a:txBody>
                        <a:bodyPr/>
                        <a:lstStyle/>
                        <a:p>
                          <a:r>
                            <a:rPr lang="vi-VN" sz="2000"/>
                            <a:t>1002 W</a:t>
                          </a:r>
                          <a:endParaRPr lang="en-ID" sz="2000"/>
                        </a:p>
                      </a:txBody>
                      <a:tcPr/>
                    </a:tc>
                    <a:tc>
                      <a:txBody>
                        <a:bodyPr/>
                        <a:lstStyle/>
                        <a:p>
                          <a:r>
                            <a:rPr lang="vi-VN" sz="2000"/>
                            <a:t>1000 W</a:t>
                          </a:r>
                          <a:endParaRPr lang="en-ID" sz="2000"/>
                        </a:p>
                      </a:txBody>
                      <a:tcPr/>
                    </a:tc>
                    <a:tc>
                      <a:txBody>
                        <a:bodyPr/>
                        <a:lstStyle/>
                        <a:p>
                          <a:r>
                            <a:rPr lang="vi-VN" sz="2000"/>
                            <a:t>0.2 %</a:t>
                          </a:r>
                          <a:endParaRPr lang="en-ID" sz="2000"/>
                        </a:p>
                      </a:txBody>
                      <a:tcPr/>
                    </a:tc>
                    <a:extLst>
                      <a:ext uri="{0D108BD9-81ED-4DB2-BD59-A6C34878D82A}">
                        <a16:rowId xmlns:a16="http://schemas.microsoft.com/office/drawing/2014/main" val="571676659"/>
                      </a:ext>
                    </a:extLst>
                  </a:tr>
                  <a:tr h="77709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kern="0" err="1">
                              <a:solidFill>
                                <a:srgbClr val="000000"/>
                              </a:solidFill>
                              <a:effectLst/>
                              <a:latin typeface="Times New Roman" panose="02020603050405020304" pitchFamily="18" charset="0"/>
                              <a:ea typeface="Times New Roman" panose="02020603050405020304" pitchFamily="18" charset="0"/>
                            </a:rPr>
                            <a:t>Tần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số</a:t>
                          </a:r>
                          <a:r>
                            <a:rPr lang="en-US" sz="2000" kern="0">
                              <a:solidFill>
                                <a:srgbClr val="000000"/>
                              </a:solidFill>
                              <a:effectLst/>
                              <a:latin typeface="Times New Roman" panose="02020603050405020304" pitchFamily="18" charset="0"/>
                              <a:ea typeface="Times New Roman" panose="02020603050405020304" pitchFamily="18" charset="0"/>
                            </a:rPr>
                            <a:t> </a:t>
                          </a:r>
                          <a:r>
                            <a:rPr lang="vi-VN" sz="2000" kern="0">
                              <a:solidFill>
                                <a:srgbClr val="000000"/>
                              </a:solidFill>
                              <a:effectLst/>
                              <a:latin typeface="Times New Roman" panose="02020603050405020304" pitchFamily="18" charset="0"/>
                              <a:ea typeface="Times New Roman" panose="02020603050405020304" pitchFamily="18" charset="0"/>
                            </a:rPr>
                            <a:t>góc (w)</a:t>
                          </a:r>
                          <a:endParaRPr lang="en-US" sz="2000" kern="100">
                            <a:solidFill>
                              <a:srgbClr val="000000"/>
                            </a:solidFill>
                            <a:effectLst/>
                            <a:latin typeface="Times New Roman" panose="02020603050405020304" pitchFamily="18" charset="0"/>
                            <a:ea typeface="Times New Roman" panose="02020603050405020304" pitchFamily="18" charset="0"/>
                          </a:endParaRPr>
                        </a:p>
                        <a:p>
                          <a:endParaRPr lang="en-ID" sz="2000"/>
                        </a:p>
                      </a:txBody>
                      <a:tcPr/>
                    </a:tc>
                    <a:tc>
                      <a:txBody>
                        <a:bodyPr/>
                        <a:lstStyle/>
                        <a:p>
                          <a:r>
                            <a:rPr lang="vi-VN" sz="2000"/>
                            <a:t>50 Hz</a:t>
                          </a:r>
                          <a:endParaRPr lang="en-ID" sz="2000"/>
                        </a:p>
                      </a:txBody>
                      <a:tcPr/>
                    </a:tc>
                    <a:tc>
                      <a:txBody>
                        <a:bodyPr/>
                        <a:lstStyle/>
                        <a:p>
                          <a:r>
                            <a:rPr lang="vi-VN" sz="2000"/>
                            <a:t>50 Hz</a:t>
                          </a:r>
                          <a:endParaRPr lang="en-ID" sz="2000"/>
                        </a:p>
                      </a:txBody>
                      <a:tcPr/>
                    </a:tc>
                    <a:tc>
                      <a:txBody>
                        <a:bodyPr/>
                        <a:lstStyle/>
                        <a:p>
                          <a:endParaRPr lang="en-ID" sz="2000"/>
                        </a:p>
                      </a:txBody>
                      <a:tcPr/>
                    </a:tc>
                    <a:extLst>
                      <a:ext uri="{0D108BD9-81ED-4DB2-BD59-A6C34878D82A}">
                        <a16:rowId xmlns:a16="http://schemas.microsoft.com/office/drawing/2014/main" val="3271077123"/>
                      </a:ext>
                    </a:extLst>
                  </a:tr>
                  <a:tr h="77709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kern="0" err="1">
                              <a:solidFill>
                                <a:srgbClr val="000000"/>
                              </a:solidFill>
                              <a:effectLst/>
                              <a:latin typeface="Times New Roman" panose="02020603050405020304" pitchFamily="18" charset="0"/>
                              <a:ea typeface="Times New Roman" panose="02020603050405020304" pitchFamily="18" charset="0"/>
                            </a:rPr>
                            <a:t>Thời</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gian</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đáp</a:t>
                          </a:r>
                          <a:r>
                            <a:rPr lang="en-US" sz="2000" kern="0">
                              <a:solidFill>
                                <a:srgbClr val="000000"/>
                              </a:solidFill>
                              <a:effectLst/>
                              <a:latin typeface="Times New Roman" panose="02020603050405020304" pitchFamily="18" charset="0"/>
                              <a:ea typeface="Times New Roman" panose="02020603050405020304" pitchFamily="18" charset="0"/>
                            </a:rPr>
                            <a:t> </a:t>
                          </a:r>
                          <a:r>
                            <a:rPr lang="en-US" sz="2000" kern="0" err="1">
                              <a:solidFill>
                                <a:srgbClr val="000000"/>
                              </a:solidFill>
                              <a:effectLst/>
                              <a:latin typeface="Times New Roman" panose="02020603050405020304" pitchFamily="18" charset="0"/>
                              <a:ea typeface="Times New Roman" panose="02020603050405020304" pitchFamily="18" charset="0"/>
                            </a:rPr>
                            <a:t>ứng</a:t>
                          </a:r>
                          <a:r>
                            <a:rPr lang="vi-VN" sz="2000" kern="0">
                              <a:solidFill>
                                <a:srgbClr val="000000"/>
                              </a:solidFill>
                              <a:effectLst/>
                              <a:latin typeface="Times New Roman" panose="02020603050405020304" pitchFamily="18" charset="0"/>
                              <a:ea typeface="Times New Roman" panose="02020603050405020304" pitchFamily="18" charset="0"/>
                            </a:rPr>
                            <a:t> ( t</a:t>
                          </a:r>
                          <a:r>
                            <a:rPr lang="vi-VN" sz="2000" kern="0" baseline="-25000">
                              <a:solidFill>
                                <a:srgbClr val="000000"/>
                              </a:solidFill>
                              <a:effectLst/>
                              <a:latin typeface="Times New Roman" panose="02020603050405020304" pitchFamily="18" charset="0"/>
                              <a:ea typeface="Times New Roman" panose="02020603050405020304" pitchFamily="18" charset="0"/>
                            </a:rPr>
                            <a:t>rise</a:t>
                          </a:r>
                          <a:r>
                            <a:rPr lang="vi-VN" sz="2000" kern="0">
                              <a:solidFill>
                                <a:srgbClr val="000000"/>
                              </a:solidFill>
                              <a:effectLst/>
                              <a:latin typeface="Times New Roman" panose="02020603050405020304" pitchFamily="18" charset="0"/>
                              <a:ea typeface="Times New Roman" panose="02020603050405020304" pitchFamily="18" charset="0"/>
                            </a:rPr>
                            <a:t>)</a:t>
                          </a:r>
                          <a:endParaRPr lang="en-US" sz="2000" kern="100">
                            <a:solidFill>
                              <a:srgbClr val="000000"/>
                            </a:solidFill>
                            <a:effectLst/>
                            <a:latin typeface="Times New Roman" panose="02020603050405020304" pitchFamily="18" charset="0"/>
                            <a:ea typeface="Times New Roman" panose="02020603050405020304" pitchFamily="18" charset="0"/>
                          </a:endParaRPr>
                        </a:p>
                        <a:p>
                          <a:endParaRPr lang="en-ID" sz="2000"/>
                        </a:p>
                      </a:txBody>
                      <a:tcPr/>
                    </a:tc>
                    <a:tc>
                      <a:txBody>
                        <a:bodyPr/>
                        <a:lstStyle/>
                        <a:p>
                          <a:r>
                            <a:rPr lang="vi-VN" sz="2000"/>
                            <a:t>0.05 s</a:t>
                          </a:r>
                          <a:endParaRPr lang="en-ID" sz="2000"/>
                        </a:p>
                      </a:txBody>
                      <a:tcPr/>
                    </a:tc>
                    <a:tc>
                      <a:txBody>
                        <a:bodyPr/>
                        <a:lstStyle/>
                        <a:p>
                          <a:r>
                            <a:rPr lang="vi-VN" sz="2000"/>
                            <a:t>0.05 s</a:t>
                          </a:r>
                          <a:endParaRPr lang="en-ID" sz="2000"/>
                        </a:p>
                      </a:txBody>
                      <a:tcPr/>
                    </a:tc>
                    <a:tc>
                      <a:txBody>
                        <a:bodyPr/>
                        <a:lstStyle/>
                        <a:p>
                          <a:endParaRPr lang="en-ID" sz="2000"/>
                        </a:p>
                      </a:txBody>
                      <a:tcPr/>
                    </a:tc>
                    <a:extLst>
                      <a:ext uri="{0D108BD9-81ED-4DB2-BD59-A6C34878D82A}">
                        <a16:rowId xmlns:a16="http://schemas.microsoft.com/office/drawing/2014/main" val="144465318"/>
                      </a:ext>
                    </a:extLst>
                  </a:tr>
                  <a:tr h="77709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vi-VN" sz="2000" kern="0">
                              <a:solidFill>
                                <a:srgbClr val="000000"/>
                              </a:solidFill>
                              <a:effectLst/>
                              <a:latin typeface="Times New Roman" panose="02020603050405020304" pitchFamily="18" charset="0"/>
                              <a:ea typeface="Times New Roman" panose="02020603050405020304" pitchFamily="18" charset="0"/>
                            </a:rPr>
                            <a:t>Tỉ lệ song hài bậc ba với bậc nhất</a:t>
                          </a:r>
                          <a:endParaRPr lang="en-US" sz="2000" kern="100">
                            <a:solidFill>
                              <a:srgbClr val="000000"/>
                            </a:solidFill>
                            <a:effectLst/>
                            <a:latin typeface="Times New Roman" panose="02020603050405020304" pitchFamily="18" charset="0"/>
                            <a:ea typeface="Times New Roman" panose="02020603050405020304" pitchFamily="18" charset="0"/>
                          </a:endParaRPr>
                        </a:p>
                        <a:p>
                          <a:endParaRPr lang="en-ID" sz="2000"/>
                        </a:p>
                      </a:txBody>
                      <a:tcPr/>
                    </a:tc>
                    <a:tc>
                      <a:txBody>
                        <a:bodyPr/>
                        <a:lstStyle/>
                        <a:p>
                          <a:r>
                            <a:rPr lang="vi-VN" sz="2000"/>
                            <a:t>0%</a:t>
                          </a:r>
                          <a:endParaRPr lang="en-ID" sz="2000"/>
                        </a:p>
                      </a:txBody>
                      <a:tcPr/>
                    </a:tc>
                    <a:tc>
                      <a:txBody>
                        <a:bodyPr/>
                        <a:lstStyle/>
                        <a:p>
                          <a:r>
                            <a:rPr lang="vi-VN" sz="2000"/>
                            <a:t>0.01 %</a:t>
                          </a:r>
                          <a:endParaRPr lang="en-ID" sz="2000"/>
                        </a:p>
                      </a:txBody>
                      <a:tcPr/>
                    </a:tc>
                    <a:tc>
                      <a:txBody>
                        <a:bodyPr/>
                        <a:lstStyle/>
                        <a:p>
                          <a:endParaRPr lang="en-ID" sz="2000"/>
                        </a:p>
                      </a:txBody>
                      <a:tcPr/>
                    </a:tc>
                    <a:extLst>
                      <a:ext uri="{0D108BD9-81ED-4DB2-BD59-A6C34878D82A}">
                        <a16:rowId xmlns:a16="http://schemas.microsoft.com/office/drawing/2014/main" val="3567635395"/>
                      </a:ext>
                    </a:extLst>
                  </a:tr>
                </a:tbl>
              </a:graphicData>
            </a:graphic>
          </p:graphicFrame>
        </mc:Choice>
        <mc:Fallback xmlns="">
          <p:graphicFrame>
            <p:nvGraphicFramePr>
              <p:cNvPr id="4" name="Table 4">
                <a:extLst>
                  <a:ext uri="{FF2B5EF4-FFF2-40B4-BE49-F238E27FC236}">
                    <a16:creationId xmlns:a16="http://schemas.microsoft.com/office/drawing/2014/main" id="{F441652A-48C3-573E-A12E-EAE9625C164E}"/>
                  </a:ext>
                </a:extLst>
              </p:cNvPr>
              <p:cNvGraphicFramePr>
                <a:graphicFrameLocks noGrp="1"/>
              </p:cNvGraphicFramePr>
              <p:nvPr>
                <p:extLst>
                  <p:ext uri="{D42A27DB-BD31-4B8C-83A1-F6EECF244321}">
                    <p14:modId xmlns:p14="http://schemas.microsoft.com/office/powerpoint/2010/main" val="2718336396"/>
                  </p:ext>
                </p:extLst>
              </p:nvPr>
            </p:nvGraphicFramePr>
            <p:xfrm>
              <a:off x="650018" y="1587915"/>
              <a:ext cx="10794509" cy="4907967"/>
            </p:xfrm>
            <a:graphic>
              <a:graphicData uri="http://schemas.openxmlformats.org/drawingml/2006/table">
                <a:tbl>
                  <a:tblPr firstRow="1" bandRow="1">
                    <a:tableStyleId>{5C22544A-7EE6-4342-B048-85BDC9FD1C3A}</a:tableStyleId>
                  </a:tblPr>
                  <a:tblGrid>
                    <a:gridCol w="5206033">
                      <a:extLst>
                        <a:ext uri="{9D8B030D-6E8A-4147-A177-3AD203B41FA5}">
                          <a16:colId xmlns:a16="http://schemas.microsoft.com/office/drawing/2014/main" val="527422896"/>
                        </a:ext>
                      </a:extLst>
                    </a:gridCol>
                    <a:gridCol w="1731523">
                      <a:extLst>
                        <a:ext uri="{9D8B030D-6E8A-4147-A177-3AD203B41FA5}">
                          <a16:colId xmlns:a16="http://schemas.microsoft.com/office/drawing/2014/main" val="4129299613"/>
                        </a:ext>
                      </a:extLst>
                    </a:gridCol>
                    <a:gridCol w="1984443">
                      <a:extLst>
                        <a:ext uri="{9D8B030D-6E8A-4147-A177-3AD203B41FA5}">
                          <a16:colId xmlns:a16="http://schemas.microsoft.com/office/drawing/2014/main" val="578916864"/>
                        </a:ext>
                      </a:extLst>
                    </a:gridCol>
                    <a:gridCol w="1872510">
                      <a:extLst>
                        <a:ext uri="{9D8B030D-6E8A-4147-A177-3AD203B41FA5}">
                          <a16:colId xmlns:a16="http://schemas.microsoft.com/office/drawing/2014/main" val="1085022361"/>
                        </a:ext>
                      </a:extLst>
                    </a:gridCol>
                  </a:tblGrid>
                  <a:tr h="858894">
                    <a:tc>
                      <a:txBody>
                        <a:bodyPr/>
                        <a:lstStyle/>
                        <a:p>
                          <a:r>
                            <a:rPr lang="vi-VN" sz="2000" dirty="0"/>
                            <a:t>Tham số</a:t>
                          </a:r>
                          <a:endParaRPr lang="en-ID" sz="2000" dirty="0"/>
                        </a:p>
                      </a:txBody>
                      <a:tcPr/>
                    </a:tc>
                    <a:tc>
                      <a:txBody>
                        <a:bodyPr/>
                        <a:lstStyle/>
                        <a:p>
                          <a:r>
                            <a:rPr lang="vi-VN" sz="2000" dirty="0"/>
                            <a:t>Mô phỏng</a:t>
                          </a:r>
                          <a:endParaRPr lang="en-ID" sz="2000" dirty="0"/>
                        </a:p>
                      </a:txBody>
                      <a:tcPr/>
                    </a:tc>
                    <a:tc>
                      <a:txBody>
                        <a:bodyPr/>
                        <a:lstStyle/>
                        <a:p>
                          <a:r>
                            <a:rPr lang="vi-VN" sz="2000" dirty="0"/>
                            <a:t>Lí thuyết</a:t>
                          </a:r>
                          <a:endParaRPr lang="en-ID" sz="2000" dirty="0"/>
                        </a:p>
                      </a:txBody>
                      <a:tcPr/>
                    </a:tc>
                    <a:tc>
                      <a:txBody>
                        <a:bodyPr/>
                        <a:lstStyle/>
                        <a:p>
                          <a:r>
                            <a:rPr lang="vi-VN" sz="2000" dirty="0"/>
                            <a:t>Sai số</a:t>
                          </a:r>
                          <a:endParaRPr lang="en-ID" sz="2000" dirty="0"/>
                        </a:p>
                      </a:txBody>
                      <a:tcPr/>
                    </a:tc>
                    <a:extLst>
                      <a:ext uri="{0D108BD9-81ED-4DB2-BD59-A6C34878D82A}">
                        <a16:rowId xmlns:a16="http://schemas.microsoft.com/office/drawing/2014/main" val="3699664687"/>
                      </a:ext>
                    </a:extLst>
                  </a:tr>
                  <a:tr h="858894">
                    <a:tc>
                      <a:txBody>
                        <a:bodyPr/>
                        <a:lstStyle/>
                        <a:p>
                          <a:endParaRPr lang="vi-VN"/>
                        </a:p>
                      </a:txBody>
                      <a:tcPr>
                        <a:blipFill>
                          <a:blip r:embed="rId2"/>
                          <a:stretch>
                            <a:fillRect l="-117" t="-104255" r="-107719" b="-373050"/>
                          </a:stretch>
                        </a:blipFill>
                      </a:tcPr>
                    </a:tc>
                    <a:tc>
                      <a:txBody>
                        <a:bodyPr/>
                        <a:lstStyle/>
                        <a:p>
                          <a:r>
                            <a:rPr lang="vi-VN" sz="2000" dirty="0"/>
                            <a:t>220.1 V</a:t>
                          </a:r>
                          <a:endParaRPr lang="en-ID" sz="2000" dirty="0"/>
                        </a:p>
                      </a:txBody>
                      <a:tcPr/>
                    </a:tc>
                    <a:tc>
                      <a:txBody>
                        <a:bodyPr/>
                        <a:lstStyle/>
                        <a:p>
                          <a:r>
                            <a:rPr lang="vi-VN" sz="2000" dirty="0"/>
                            <a:t>220V</a:t>
                          </a:r>
                          <a:endParaRPr lang="en-ID" sz="2000" dirty="0"/>
                        </a:p>
                      </a:txBody>
                      <a:tcPr/>
                    </a:tc>
                    <a:tc>
                      <a:txBody>
                        <a:bodyPr/>
                        <a:lstStyle/>
                        <a:p>
                          <a:r>
                            <a:rPr lang="vi-VN" sz="2000" dirty="0"/>
                            <a:t>0.045%</a:t>
                          </a:r>
                          <a:endParaRPr lang="en-ID" sz="2000" dirty="0"/>
                        </a:p>
                      </a:txBody>
                      <a:tcPr/>
                    </a:tc>
                    <a:extLst>
                      <a:ext uri="{0D108BD9-81ED-4DB2-BD59-A6C34878D82A}">
                        <a16:rowId xmlns:a16="http://schemas.microsoft.com/office/drawing/2014/main" val="2676850091"/>
                      </a:ext>
                    </a:extLst>
                  </a:tr>
                  <a:tr h="858894">
                    <a:tc>
                      <a:txBody>
                        <a:bodyPr/>
                        <a:lstStyle/>
                        <a:p>
                          <a:endParaRPr lang="vi-VN"/>
                        </a:p>
                      </a:txBody>
                      <a:tcPr>
                        <a:blipFill>
                          <a:blip r:embed="rId2"/>
                          <a:stretch>
                            <a:fillRect l="-117" t="-204255" r="-107719" b="-273050"/>
                          </a:stretch>
                        </a:blipFill>
                      </a:tcPr>
                    </a:tc>
                    <a:tc>
                      <a:txBody>
                        <a:bodyPr/>
                        <a:lstStyle/>
                        <a:p>
                          <a:r>
                            <a:rPr lang="vi-VN" sz="2000" dirty="0"/>
                            <a:t>1002 W</a:t>
                          </a:r>
                          <a:endParaRPr lang="en-ID" sz="2000" dirty="0"/>
                        </a:p>
                      </a:txBody>
                      <a:tcPr/>
                    </a:tc>
                    <a:tc>
                      <a:txBody>
                        <a:bodyPr/>
                        <a:lstStyle/>
                        <a:p>
                          <a:r>
                            <a:rPr lang="vi-VN" sz="2000" dirty="0"/>
                            <a:t>1000 W</a:t>
                          </a:r>
                          <a:endParaRPr lang="en-ID" sz="2000" dirty="0"/>
                        </a:p>
                      </a:txBody>
                      <a:tcPr/>
                    </a:tc>
                    <a:tc>
                      <a:txBody>
                        <a:bodyPr/>
                        <a:lstStyle/>
                        <a:p>
                          <a:r>
                            <a:rPr lang="vi-VN" sz="2000" dirty="0"/>
                            <a:t>0.2 %</a:t>
                          </a:r>
                          <a:endParaRPr lang="en-ID" sz="2000" dirty="0"/>
                        </a:p>
                      </a:txBody>
                      <a:tcPr/>
                    </a:tc>
                    <a:extLst>
                      <a:ext uri="{0D108BD9-81ED-4DB2-BD59-A6C34878D82A}">
                        <a16:rowId xmlns:a16="http://schemas.microsoft.com/office/drawing/2014/main" val="571676659"/>
                      </a:ext>
                    </a:extLst>
                  </a:tr>
                  <a:tr h="77709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kern="0" dirty="0" err="1">
                              <a:solidFill>
                                <a:srgbClr val="000000"/>
                              </a:solidFill>
                              <a:effectLst/>
                              <a:latin typeface="Times New Roman" panose="02020603050405020304" pitchFamily="18" charset="0"/>
                              <a:ea typeface="Times New Roman" panose="02020603050405020304" pitchFamily="18" charset="0"/>
                            </a:rPr>
                            <a:t>Tần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số</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vi-VN" sz="2000" kern="0" dirty="0">
                              <a:solidFill>
                                <a:srgbClr val="000000"/>
                              </a:solidFill>
                              <a:effectLst/>
                              <a:latin typeface="Times New Roman" panose="02020603050405020304" pitchFamily="18" charset="0"/>
                              <a:ea typeface="Times New Roman" panose="02020603050405020304" pitchFamily="18" charset="0"/>
                            </a:rPr>
                            <a:t>góc (w)</a:t>
                          </a:r>
                          <a:endParaRPr lang="en-US" sz="2000" kern="100" dirty="0">
                            <a:solidFill>
                              <a:srgbClr val="000000"/>
                            </a:solidFill>
                            <a:effectLst/>
                            <a:latin typeface="Times New Roman" panose="02020603050405020304" pitchFamily="18" charset="0"/>
                            <a:ea typeface="Times New Roman" panose="02020603050405020304" pitchFamily="18" charset="0"/>
                          </a:endParaRPr>
                        </a:p>
                        <a:p>
                          <a:endParaRPr lang="en-ID" sz="2000" dirty="0"/>
                        </a:p>
                      </a:txBody>
                      <a:tcPr/>
                    </a:tc>
                    <a:tc>
                      <a:txBody>
                        <a:bodyPr/>
                        <a:lstStyle/>
                        <a:p>
                          <a:r>
                            <a:rPr lang="vi-VN" sz="2000" dirty="0"/>
                            <a:t>50 Hz</a:t>
                          </a:r>
                          <a:endParaRPr lang="en-ID" sz="2000" dirty="0"/>
                        </a:p>
                      </a:txBody>
                      <a:tcPr/>
                    </a:tc>
                    <a:tc>
                      <a:txBody>
                        <a:bodyPr/>
                        <a:lstStyle/>
                        <a:p>
                          <a:r>
                            <a:rPr lang="vi-VN" sz="2000" dirty="0"/>
                            <a:t>50 Hz</a:t>
                          </a:r>
                          <a:endParaRPr lang="en-ID" sz="2000" dirty="0"/>
                        </a:p>
                      </a:txBody>
                      <a:tcPr/>
                    </a:tc>
                    <a:tc>
                      <a:txBody>
                        <a:bodyPr/>
                        <a:lstStyle/>
                        <a:p>
                          <a:endParaRPr lang="en-ID" sz="2000" dirty="0"/>
                        </a:p>
                      </a:txBody>
                      <a:tcPr/>
                    </a:tc>
                    <a:extLst>
                      <a:ext uri="{0D108BD9-81ED-4DB2-BD59-A6C34878D82A}">
                        <a16:rowId xmlns:a16="http://schemas.microsoft.com/office/drawing/2014/main" val="3271077123"/>
                      </a:ext>
                    </a:extLst>
                  </a:tr>
                  <a:tr h="77709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kern="0" dirty="0" err="1">
                              <a:solidFill>
                                <a:srgbClr val="000000"/>
                              </a:solidFill>
                              <a:effectLst/>
                              <a:latin typeface="Times New Roman" panose="02020603050405020304" pitchFamily="18" charset="0"/>
                              <a:ea typeface="Times New Roman" panose="02020603050405020304" pitchFamily="18" charset="0"/>
                            </a:rPr>
                            <a:t>Thời</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gian</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đáp</a:t>
                          </a:r>
                          <a:r>
                            <a:rPr lang="en-US" sz="2000" kern="0" dirty="0">
                              <a:solidFill>
                                <a:srgbClr val="000000"/>
                              </a:solidFill>
                              <a:effectLst/>
                              <a:latin typeface="Times New Roman" panose="02020603050405020304" pitchFamily="18" charset="0"/>
                              <a:ea typeface="Times New Roman" panose="02020603050405020304" pitchFamily="18" charset="0"/>
                            </a:rPr>
                            <a:t> </a:t>
                          </a:r>
                          <a:r>
                            <a:rPr lang="en-US" sz="2000" kern="0" dirty="0" err="1">
                              <a:solidFill>
                                <a:srgbClr val="000000"/>
                              </a:solidFill>
                              <a:effectLst/>
                              <a:latin typeface="Times New Roman" panose="02020603050405020304" pitchFamily="18" charset="0"/>
                              <a:ea typeface="Times New Roman" panose="02020603050405020304" pitchFamily="18" charset="0"/>
                            </a:rPr>
                            <a:t>ứng</a:t>
                          </a:r>
                          <a:r>
                            <a:rPr lang="vi-VN" sz="2000" kern="0" dirty="0">
                              <a:solidFill>
                                <a:srgbClr val="000000"/>
                              </a:solidFill>
                              <a:effectLst/>
                              <a:latin typeface="Times New Roman" panose="02020603050405020304" pitchFamily="18" charset="0"/>
                              <a:ea typeface="Times New Roman" panose="02020603050405020304" pitchFamily="18" charset="0"/>
                            </a:rPr>
                            <a:t> ( t</a:t>
                          </a:r>
                          <a:r>
                            <a:rPr lang="vi-VN" sz="2000" kern="0" baseline="-25000" dirty="0">
                              <a:solidFill>
                                <a:srgbClr val="000000"/>
                              </a:solidFill>
                              <a:effectLst/>
                              <a:latin typeface="Times New Roman" panose="02020603050405020304" pitchFamily="18" charset="0"/>
                              <a:ea typeface="Times New Roman" panose="02020603050405020304" pitchFamily="18" charset="0"/>
                            </a:rPr>
                            <a:t>rise</a:t>
                          </a:r>
                          <a:r>
                            <a:rPr lang="vi-VN" sz="2000" kern="0" dirty="0">
                              <a:solidFill>
                                <a:srgbClr val="000000"/>
                              </a:solidFill>
                              <a:effectLst/>
                              <a:latin typeface="Times New Roman" panose="02020603050405020304" pitchFamily="18" charset="0"/>
                              <a:ea typeface="Times New Roman" panose="02020603050405020304" pitchFamily="18" charset="0"/>
                            </a:rPr>
                            <a:t>)</a:t>
                          </a:r>
                          <a:endParaRPr lang="en-US" sz="2000" kern="100" dirty="0">
                            <a:solidFill>
                              <a:srgbClr val="000000"/>
                            </a:solidFill>
                            <a:effectLst/>
                            <a:latin typeface="Times New Roman" panose="02020603050405020304" pitchFamily="18" charset="0"/>
                            <a:ea typeface="Times New Roman" panose="02020603050405020304" pitchFamily="18" charset="0"/>
                          </a:endParaRPr>
                        </a:p>
                        <a:p>
                          <a:endParaRPr lang="en-ID" sz="2000" dirty="0"/>
                        </a:p>
                      </a:txBody>
                      <a:tcPr/>
                    </a:tc>
                    <a:tc>
                      <a:txBody>
                        <a:bodyPr/>
                        <a:lstStyle/>
                        <a:p>
                          <a:r>
                            <a:rPr lang="vi-VN" sz="2000" dirty="0"/>
                            <a:t>0.05 s</a:t>
                          </a:r>
                          <a:endParaRPr lang="en-ID" sz="2000" dirty="0"/>
                        </a:p>
                      </a:txBody>
                      <a:tcPr/>
                    </a:tc>
                    <a:tc>
                      <a:txBody>
                        <a:bodyPr/>
                        <a:lstStyle/>
                        <a:p>
                          <a:r>
                            <a:rPr lang="vi-VN" sz="2000" dirty="0"/>
                            <a:t>0.05 s</a:t>
                          </a:r>
                          <a:endParaRPr lang="en-ID" sz="2000" dirty="0"/>
                        </a:p>
                      </a:txBody>
                      <a:tcPr/>
                    </a:tc>
                    <a:tc>
                      <a:txBody>
                        <a:bodyPr/>
                        <a:lstStyle/>
                        <a:p>
                          <a:endParaRPr lang="en-ID" sz="2000" dirty="0"/>
                        </a:p>
                      </a:txBody>
                      <a:tcPr/>
                    </a:tc>
                    <a:extLst>
                      <a:ext uri="{0D108BD9-81ED-4DB2-BD59-A6C34878D82A}">
                        <a16:rowId xmlns:a16="http://schemas.microsoft.com/office/drawing/2014/main" val="144465318"/>
                      </a:ext>
                    </a:extLst>
                  </a:tr>
                  <a:tr h="77709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vi-VN" sz="2000" kern="0" dirty="0">
                              <a:solidFill>
                                <a:srgbClr val="000000"/>
                              </a:solidFill>
                              <a:effectLst/>
                              <a:latin typeface="Times New Roman" panose="02020603050405020304" pitchFamily="18" charset="0"/>
                              <a:ea typeface="Times New Roman" panose="02020603050405020304" pitchFamily="18" charset="0"/>
                            </a:rPr>
                            <a:t>Tỉ lệ song hài bậc ba với bậc nhất</a:t>
                          </a:r>
                          <a:endParaRPr lang="en-US" sz="2000" kern="100" dirty="0">
                            <a:solidFill>
                              <a:srgbClr val="000000"/>
                            </a:solidFill>
                            <a:effectLst/>
                            <a:latin typeface="Times New Roman" panose="02020603050405020304" pitchFamily="18" charset="0"/>
                            <a:ea typeface="Times New Roman" panose="02020603050405020304" pitchFamily="18" charset="0"/>
                          </a:endParaRPr>
                        </a:p>
                        <a:p>
                          <a:endParaRPr lang="en-ID" sz="2000" dirty="0"/>
                        </a:p>
                      </a:txBody>
                      <a:tcPr/>
                    </a:tc>
                    <a:tc>
                      <a:txBody>
                        <a:bodyPr/>
                        <a:lstStyle/>
                        <a:p>
                          <a:r>
                            <a:rPr lang="vi-VN" sz="2000" dirty="0"/>
                            <a:t>0%</a:t>
                          </a:r>
                          <a:endParaRPr lang="en-ID" sz="2000" dirty="0"/>
                        </a:p>
                      </a:txBody>
                      <a:tcPr/>
                    </a:tc>
                    <a:tc>
                      <a:txBody>
                        <a:bodyPr/>
                        <a:lstStyle/>
                        <a:p>
                          <a:r>
                            <a:rPr lang="vi-VN" sz="2000" dirty="0"/>
                            <a:t>0.01 %</a:t>
                          </a:r>
                          <a:endParaRPr lang="en-ID" sz="2000" dirty="0"/>
                        </a:p>
                      </a:txBody>
                      <a:tcPr/>
                    </a:tc>
                    <a:tc>
                      <a:txBody>
                        <a:bodyPr/>
                        <a:lstStyle/>
                        <a:p>
                          <a:endParaRPr lang="en-ID" sz="2000" dirty="0"/>
                        </a:p>
                      </a:txBody>
                      <a:tcPr/>
                    </a:tc>
                    <a:extLst>
                      <a:ext uri="{0D108BD9-81ED-4DB2-BD59-A6C34878D82A}">
                        <a16:rowId xmlns:a16="http://schemas.microsoft.com/office/drawing/2014/main" val="3567635395"/>
                      </a:ext>
                    </a:extLst>
                  </a:tr>
                </a:tbl>
              </a:graphicData>
            </a:graphic>
          </p:graphicFrame>
        </mc:Fallback>
      </mc:AlternateContent>
      <p:sp>
        <p:nvSpPr>
          <p:cNvPr id="5" name="TextBox 9">
            <a:extLst>
              <a:ext uri="{FF2B5EF4-FFF2-40B4-BE49-F238E27FC236}">
                <a16:creationId xmlns:a16="http://schemas.microsoft.com/office/drawing/2014/main" id="{5695079E-156D-A6D4-F6A7-F56F8C3B359C}"/>
              </a:ext>
            </a:extLst>
          </p:cNvPr>
          <p:cNvSpPr txBox="1"/>
          <p:nvPr/>
        </p:nvSpPr>
        <p:spPr>
          <a:xfrm>
            <a:off x="5671735" y="1148838"/>
            <a:ext cx="1047819" cy="369332"/>
          </a:xfrm>
          <a:prstGeom prst="rect">
            <a:avLst/>
          </a:prstGeom>
          <a:noFill/>
        </p:spPr>
        <p:txBody>
          <a:bodyPr wrap="square" rtlCol="0">
            <a:spAutoFit/>
          </a:bodyPr>
          <a:lstStyle/>
          <a:p>
            <a:r>
              <a:rPr lang="vi-VN"/>
              <a:t>Bộ 2</a:t>
            </a:r>
            <a:endParaRPr lang="en-ID"/>
          </a:p>
        </p:txBody>
      </p:sp>
    </p:spTree>
    <p:extLst>
      <p:ext uri="{BB962C8B-B14F-4D97-AF65-F5344CB8AC3E}">
        <p14:creationId xmlns:p14="http://schemas.microsoft.com/office/powerpoint/2010/main" val="262908249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EB1C5-3280-C3E6-9498-A332354C805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94C0FC0-4C91-6A37-5482-80B5A0E24D62}"/>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3D91634-9207-6022-3294-D9C5C9144DD9}"/>
              </a:ext>
            </a:extLst>
          </p:cNvPr>
          <p:cNvSpPr>
            <a:spLocks noGrp="1"/>
          </p:cNvSpPr>
          <p:nvPr>
            <p:ph type="sldNum" sz="quarter" idx="12"/>
          </p:nvPr>
        </p:nvSpPr>
        <p:spPr/>
        <p:txBody>
          <a:bodyPr/>
          <a:lstStyle/>
          <a:p>
            <a:fld id="{931DD963-FD40-4A6D-88A9-402A489E81DE}" type="slidenum">
              <a:rPr lang="en-US" smtClean="0"/>
              <a:t>104</a:t>
            </a:fld>
            <a:endParaRPr lang="en-US"/>
          </a:p>
        </p:txBody>
      </p:sp>
      <p:grpSp>
        <p:nvGrpSpPr>
          <p:cNvPr id="10" name="Group 9">
            <a:extLst>
              <a:ext uri="{FF2B5EF4-FFF2-40B4-BE49-F238E27FC236}">
                <a16:creationId xmlns:a16="http://schemas.microsoft.com/office/drawing/2014/main" id="{CFF4C2DB-8E9B-3EE4-D75C-84B3FEC9E902}"/>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00D68A8F-E6B5-02AB-8B6C-ED8CD182D906}"/>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5: </a:t>
              </a:r>
              <a:r>
                <a:rPr lang="vi-VN" sz="2133" b="1">
                  <a:latin typeface="Arial (Body)"/>
                </a:rPr>
                <a:t>GIẢI PHÁP CẢI TIẾN BỘ DAO ĐỘNG VANDERPOL</a:t>
              </a:r>
              <a:endParaRPr lang="en-US" sz="2133" b="1">
                <a:latin typeface="Arial (Body)"/>
              </a:endParaRPr>
            </a:p>
          </p:txBody>
        </p:sp>
        <p:sp>
          <p:nvSpPr>
            <p:cNvPr id="13" name="Rectangle 12">
              <a:extLst>
                <a:ext uri="{FF2B5EF4-FFF2-40B4-BE49-F238E27FC236}">
                  <a16:creationId xmlns:a16="http://schemas.microsoft.com/office/drawing/2014/main" id="{14033F28-9B46-0CB3-47D9-3A44354B53FA}"/>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a:t>
              </a:r>
            </a:p>
          </p:txBody>
        </p:sp>
      </p:grpSp>
      <p:sp>
        <p:nvSpPr>
          <p:cNvPr id="6" name="Hộp Văn bản 5">
            <a:extLst>
              <a:ext uri="{FF2B5EF4-FFF2-40B4-BE49-F238E27FC236}">
                <a16:creationId xmlns:a16="http://schemas.microsoft.com/office/drawing/2014/main" id="{FEF893EE-B343-B9C3-6219-24C062B86243}"/>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1">
                <a:solidFill>
                  <a:prstClr val="black"/>
                </a:solidFill>
                <a:latin typeface="Times New Roman" panose="02020603050405020304" pitchFamily="18" charset="0"/>
                <a:cs typeface="Times New Roman" panose="02020603050405020304" pitchFamily="18" charset="0"/>
              </a:rPr>
              <a:t>5.2</a:t>
            </a: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a:t>
            </a:r>
            <a:r>
              <a:rPr kumimoji="0" lang="vi-VN"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 name="Hộp Văn bản 4">
            <a:extLst>
              <a:ext uri="{FF2B5EF4-FFF2-40B4-BE49-F238E27FC236}">
                <a16:creationId xmlns:a16="http://schemas.microsoft.com/office/drawing/2014/main" id="{71C35F0D-6301-F62F-8FCA-A3C770F60677}"/>
              </a:ext>
            </a:extLst>
          </p:cNvPr>
          <p:cNvSpPr txBox="1"/>
          <p:nvPr/>
        </p:nvSpPr>
        <p:spPr>
          <a:xfrm>
            <a:off x="482275" y="1422124"/>
            <a:ext cx="11385470" cy="1938992"/>
          </a:xfrm>
          <a:prstGeom prst="rect">
            <a:avLst/>
          </a:prstGeom>
          <a:noFill/>
        </p:spPr>
        <p:txBody>
          <a:bodyPr wrap="square">
            <a:spAutoFit/>
          </a:bodyPr>
          <a:lstStyle/>
          <a:p>
            <a:r>
              <a:rPr lang="vi-VN" sz="2000"/>
              <a:t>Nhận xét</a:t>
            </a:r>
          </a:p>
          <a:p>
            <a:pPr marL="342900" indent="-342900">
              <a:buFontTx/>
              <a:buChar char="-"/>
            </a:pPr>
            <a:r>
              <a:rPr lang="vi-VN" sz="2000"/>
              <a:t>Ở kịch bản 1, với cùng thời gian </a:t>
            </a:r>
            <a:r>
              <a:rPr lang="vi-VN" sz="2000" err="1"/>
              <a:t>trise</a:t>
            </a:r>
            <a:r>
              <a:rPr lang="vi-VN" sz="2000"/>
              <a:t> như nhau nhưng đối với bộ dao động ảo kiểu mới thì thành phàn sóng hài bậc 3 là 0.03% đã bị suy giảm đáng kể so với bộ dao động ảo truyền thống 2.23%</a:t>
            </a:r>
          </a:p>
          <a:p>
            <a:pPr marL="342900" indent="-342900">
              <a:buFontTx/>
              <a:buChar char="-"/>
            </a:pPr>
            <a:r>
              <a:rPr lang="vi-VN" sz="2000"/>
              <a:t>Ở kịch bản 2, bộ dao động kiểu mới thể hiện sự cải thiện vượt trội khi sóng hài điện áp bậc 3 (=0,1%) thấp hơn nhiều so với bộ dao động truyền thống (=15,37%).</a:t>
            </a:r>
          </a:p>
        </p:txBody>
      </p:sp>
    </p:spTree>
    <p:extLst>
      <p:ext uri="{BB962C8B-B14F-4D97-AF65-F5344CB8AC3E}">
        <p14:creationId xmlns:p14="http://schemas.microsoft.com/office/powerpoint/2010/main" val="379850939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B555B-0CC1-91A2-AA37-1F7B48BD40A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EBCB69B7-166A-3773-1C26-4672153D9D79}"/>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E813181D-B3EF-7516-5D6B-C07E9A139BF0}"/>
              </a:ext>
            </a:extLst>
          </p:cNvPr>
          <p:cNvSpPr>
            <a:spLocks noGrp="1"/>
          </p:cNvSpPr>
          <p:nvPr>
            <p:ph type="sldNum" sz="quarter" idx="12"/>
          </p:nvPr>
        </p:nvSpPr>
        <p:spPr/>
        <p:txBody>
          <a:bodyPr/>
          <a:lstStyle/>
          <a:p>
            <a:fld id="{931DD963-FD40-4A6D-88A9-402A489E81DE}" type="slidenum">
              <a:rPr lang="en-US" smtClean="0"/>
              <a:t>105</a:t>
            </a:fld>
            <a:endParaRPr lang="en-US"/>
          </a:p>
        </p:txBody>
      </p:sp>
      <p:grpSp>
        <p:nvGrpSpPr>
          <p:cNvPr id="10" name="Group 9">
            <a:extLst>
              <a:ext uri="{FF2B5EF4-FFF2-40B4-BE49-F238E27FC236}">
                <a16:creationId xmlns:a16="http://schemas.microsoft.com/office/drawing/2014/main" id="{4FED3A09-B172-5506-CCAA-71D7E357C3BD}"/>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F6CF033B-79E1-41AD-B4D5-AE7D6EDDBB9C}"/>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77EBE4F9-0E1C-5C0D-64E6-EC015023CEC1}"/>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
        <p:nvSpPr>
          <p:cNvPr id="4" name="Hộp Văn bản 3">
            <a:extLst>
              <a:ext uri="{FF2B5EF4-FFF2-40B4-BE49-F238E27FC236}">
                <a16:creationId xmlns:a16="http://schemas.microsoft.com/office/drawing/2014/main" id="{EFB92438-CCF6-D6CE-93C7-3B0FAB25835B}"/>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vi-VN" sz="2000" b="1">
                <a:solidFill>
                  <a:prstClr val="black"/>
                </a:solidFill>
                <a:latin typeface="Times New Roman" panose="02020603050405020304" pitchFamily="18" charset="0"/>
                <a:cs typeface="Times New Roman" panose="02020603050405020304" pitchFamily="18" charset="0"/>
              </a:rPr>
              <a:t>6.1. Lý thuyết</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 name="Hộp Văn bản 6">
            <a:extLst>
              <a:ext uri="{FF2B5EF4-FFF2-40B4-BE49-F238E27FC236}">
                <a16:creationId xmlns:a16="http://schemas.microsoft.com/office/drawing/2014/main" id="{B74E9359-4433-7596-77E6-027E7538DEB2}"/>
              </a:ext>
            </a:extLst>
          </p:cNvPr>
          <p:cNvSpPr txBox="1"/>
          <p:nvPr/>
        </p:nvSpPr>
        <p:spPr>
          <a:xfrm>
            <a:off x="482275" y="1422124"/>
            <a:ext cx="11385470" cy="707886"/>
          </a:xfrm>
          <a:prstGeom prst="rect">
            <a:avLst/>
          </a:prstGeom>
          <a:noFill/>
        </p:spPr>
        <p:txBody>
          <a:bodyPr wrap="square">
            <a:spAutoFit/>
          </a:bodyPr>
          <a:lstStyle/>
          <a:p>
            <a:r>
              <a:rPr lang="vi-VN" sz="2000"/>
              <a:t>- Trong các bộ </a:t>
            </a:r>
            <a:r>
              <a:rPr lang="vi-VN" sz="2000" err="1"/>
              <a:t>inverter</a:t>
            </a:r>
            <a:r>
              <a:rPr lang="vi-VN" sz="2000"/>
              <a:t>, người ta hạn chế đo dòng tải mà sẽ </a:t>
            </a:r>
            <a:r>
              <a:rPr lang="vi-VN" sz="2000" err="1"/>
              <a:t>thuờng</a:t>
            </a:r>
            <a:r>
              <a:rPr lang="vi-VN" sz="2000"/>
              <a:t> ước lượng dòng tải qua 2 giá trị: Điện áp trên tụ lọc </a:t>
            </a:r>
            <a:r>
              <a:rPr lang="vi-VN" sz="2000" err="1"/>
              <a:t>Uc</a:t>
            </a:r>
            <a:r>
              <a:rPr lang="vi-VN" sz="2000"/>
              <a:t> và dòng đầu ra </a:t>
            </a:r>
            <a:r>
              <a:rPr lang="vi-VN" sz="2000" err="1"/>
              <a:t>inverter</a:t>
            </a:r>
            <a:r>
              <a:rPr lang="vi-VN" sz="2000"/>
              <a:t> IL</a:t>
            </a:r>
          </a:p>
        </p:txBody>
      </p:sp>
      <p:sp>
        <p:nvSpPr>
          <p:cNvPr id="9" name="Hình chữ nhật 8">
            <a:extLst>
              <a:ext uri="{FF2B5EF4-FFF2-40B4-BE49-F238E27FC236}">
                <a16:creationId xmlns:a16="http://schemas.microsoft.com/office/drawing/2014/main" id="{9FB09BF6-E657-68EF-3D41-1643D505039C}"/>
              </a:ext>
            </a:extLst>
          </p:cNvPr>
          <p:cNvSpPr/>
          <p:nvPr/>
        </p:nvSpPr>
        <p:spPr>
          <a:xfrm>
            <a:off x="7869685" y="3200400"/>
            <a:ext cx="1583879" cy="17996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vi-VN"/>
          </a:p>
        </p:txBody>
      </p:sp>
      <p:sp>
        <p:nvSpPr>
          <p:cNvPr id="11" name="Hộp Văn bản 10">
            <a:extLst>
              <a:ext uri="{FF2B5EF4-FFF2-40B4-BE49-F238E27FC236}">
                <a16:creationId xmlns:a16="http://schemas.microsoft.com/office/drawing/2014/main" id="{749F8037-3F08-F7C1-0F4C-349040934A56}"/>
              </a:ext>
            </a:extLst>
          </p:cNvPr>
          <p:cNvSpPr txBox="1"/>
          <p:nvPr/>
        </p:nvSpPr>
        <p:spPr>
          <a:xfrm>
            <a:off x="8346340" y="3852153"/>
            <a:ext cx="904672" cy="369332"/>
          </a:xfrm>
          <a:prstGeom prst="rect">
            <a:avLst/>
          </a:prstGeom>
          <a:noFill/>
        </p:spPr>
        <p:txBody>
          <a:bodyPr wrap="square" rtlCol="0">
            <a:spAutoFit/>
          </a:bodyPr>
          <a:lstStyle/>
          <a:p>
            <a:r>
              <a:rPr lang="vi-VN"/>
              <a:t>DOB</a:t>
            </a:r>
          </a:p>
        </p:txBody>
      </p:sp>
      <p:cxnSp>
        <p:nvCxnSpPr>
          <p:cNvPr id="15" name="Đường kết nối Mũi tên Thẳng 14">
            <a:extLst>
              <a:ext uri="{FF2B5EF4-FFF2-40B4-BE49-F238E27FC236}">
                <a16:creationId xmlns:a16="http://schemas.microsoft.com/office/drawing/2014/main" id="{BAF8F473-7D6D-13EF-8355-0D6FF8BFCE5F}"/>
              </a:ext>
            </a:extLst>
          </p:cNvPr>
          <p:cNvCxnSpPr/>
          <p:nvPr/>
        </p:nvCxnSpPr>
        <p:spPr>
          <a:xfrm>
            <a:off x="6352170" y="3618689"/>
            <a:ext cx="15175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Hộp Văn bản 15">
            <a:extLst>
              <a:ext uri="{FF2B5EF4-FFF2-40B4-BE49-F238E27FC236}">
                <a16:creationId xmlns:a16="http://schemas.microsoft.com/office/drawing/2014/main" id="{C461A73D-783B-6CD1-87D0-682EC47F07B7}"/>
              </a:ext>
            </a:extLst>
          </p:cNvPr>
          <p:cNvSpPr txBox="1"/>
          <p:nvPr/>
        </p:nvSpPr>
        <p:spPr>
          <a:xfrm>
            <a:off x="6108978" y="3200400"/>
            <a:ext cx="622571" cy="369332"/>
          </a:xfrm>
          <a:prstGeom prst="rect">
            <a:avLst/>
          </a:prstGeom>
          <a:noFill/>
        </p:spPr>
        <p:txBody>
          <a:bodyPr wrap="square" rtlCol="0">
            <a:spAutoFit/>
          </a:bodyPr>
          <a:lstStyle/>
          <a:p>
            <a:r>
              <a:rPr lang="vi-VN" err="1"/>
              <a:t>U</a:t>
            </a:r>
            <a:r>
              <a:rPr lang="vi-VN" sz="1400" err="1"/>
              <a:t>c</a:t>
            </a:r>
            <a:endParaRPr lang="vi-VN"/>
          </a:p>
        </p:txBody>
      </p:sp>
      <p:cxnSp>
        <p:nvCxnSpPr>
          <p:cNvPr id="17" name="Đường kết nối Mũi tên Thẳng 16">
            <a:extLst>
              <a:ext uri="{FF2B5EF4-FFF2-40B4-BE49-F238E27FC236}">
                <a16:creationId xmlns:a16="http://schemas.microsoft.com/office/drawing/2014/main" id="{955590D0-2549-6F0A-CF58-0AC897834C8A}"/>
              </a:ext>
            </a:extLst>
          </p:cNvPr>
          <p:cNvCxnSpPr/>
          <p:nvPr/>
        </p:nvCxnSpPr>
        <p:spPr>
          <a:xfrm>
            <a:off x="6339197" y="4597942"/>
            <a:ext cx="15175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Hộp Văn bản 17">
            <a:extLst>
              <a:ext uri="{FF2B5EF4-FFF2-40B4-BE49-F238E27FC236}">
                <a16:creationId xmlns:a16="http://schemas.microsoft.com/office/drawing/2014/main" id="{3BFE1029-1104-E26B-8413-0D21546D9D21}"/>
              </a:ext>
            </a:extLst>
          </p:cNvPr>
          <p:cNvSpPr txBox="1"/>
          <p:nvPr/>
        </p:nvSpPr>
        <p:spPr>
          <a:xfrm>
            <a:off x="6027911" y="4179652"/>
            <a:ext cx="622571" cy="369332"/>
          </a:xfrm>
          <a:prstGeom prst="rect">
            <a:avLst/>
          </a:prstGeom>
          <a:noFill/>
        </p:spPr>
        <p:txBody>
          <a:bodyPr wrap="square" rtlCol="0">
            <a:spAutoFit/>
          </a:bodyPr>
          <a:lstStyle/>
          <a:p>
            <a:pPr algn="ctr"/>
            <a:r>
              <a:rPr lang="vi-VN"/>
              <a:t>I</a:t>
            </a:r>
            <a:r>
              <a:rPr lang="vi-VN" sz="1200"/>
              <a:t>L</a:t>
            </a:r>
            <a:endParaRPr lang="vi-VN"/>
          </a:p>
        </p:txBody>
      </p:sp>
      <p:cxnSp>
        <p:nvCxnSpPr>
          <p:cNvPr id="19" name="Đường kết nối Mũi tên Thẳng 18">
            <a:extLst>
              <a:ext uri="{FF2B5EF4-FFF2-40B4-BE49-F238E27FC236}">
                <a16:creationId xmlns:a16="http://schemas.microsoft.com/office/drawing/2014/main" id="{6C42A5DE-6593-776A-1687-5BC487C64B3A}"/>
              </a:ext>
            </a:extLst>
          </p:cNvPr>
          <p:cNvCxnSpPr/>
          <p:nvPr/>
        </p:nvCxnSpPr>
        <p:spPr>
          <a:xfrm>
            <a:off x="9466537" y="4147225"/>
            <a:ext cx="15175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Hộp Văn bản 19">
            <a:extLst>
              <a:ext uri="{FF2B5EF4-FFF2-40B4-BE49-F238E27FC236}">
                <a16:creationId xmlns:a16="http://schemas.microsoft.com/office/drawing/2014/main" id="{37D3CB37-2DE9-DE23-9B4D-72450AD0444B}"/>
              </a:ext>
            </a:extLst>
          </p:cNvPr>
          <p:cNvSpPr txBox="1"/>
          <p:nvPr/>
        </p:nvSpPr>
        <p:spPr>
          <a:xfrm>
            <a:off x="10591700" y="3670724"/>
            <a:ext cx="622571" cy="369332"/>
          </a:xfrm>
          <a:prstGeom prst="rect">
            <a:avLst/>
          </a:prstGeom>
          <a:noFill/>
        </p:spPr>
        <p:txBody>
          <a:bodyPr wrap="square" rtlCol="0">
            <a:spAutoFit/>
          </a:bodyPr>
          <a:lstStyle/>
          <a:p>
            <a:r>
              <a:rPr lang="vi-VN" err="1"/>
              <a:t>Io</a:t>
            </a:r>
            <a:endParaRPr lang="vi-VN"/>
          </a:p>
        </p:txBody>
      </p:sp>
      <p:pic>
        <p:nvPicPr>
          <p:cNvPr id="23" name="Hình ảnh 22">
            <a:extLst>
              <a:ext uri="{FF2B5EF4-FFF2-40B4-BE49-F238E27FC236}">
                <a16:creationId xmlns:a16="http://schemas.microsoft.com/office/drawing/2014/main" id="{B374988E-8902-48E6-A129-1732864BDB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490" y="2994333"/>
            <a:ext cx="4265757" cy="1799616"/>
          </a:xfrm>
          <a:prstGeom prst="rect">
            <a:avLst/>
          </a:prstGeom>
        </p:spPr>
      </p:pic>
    </p:spTree>
    <p:extLst>
      <p:ext uri="{BB962C8B-B14F-4D97-AF65-F5344CB8AC3E}">
        <p14:creationId xmlns:p14="http://schemas.microsoft.com/office/powerpoint/2010/main" val="234722256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DFB5A-BF79-774C-C859-43DF24DD2032}"/>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63E481C-9901-89B5-57F2-3BAAAD4A8F56}"/>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FC919C4-A153-7C1F-1F25-F03EE4CDCBF8}"/>
              </a:ext>
            </a:extLst>
          </p:cNvPr>
          <p:cNvSpPr>
            <a:spLocks noGrp="1"/>
          </p:cNvSpPr>
          <p:nvPr>
            <p:ph type="sldNum" sz="quarter" idx="12"/>
          </p:nvPr>
        </p:nvSpPr>
        <p:spPr/>
        <p:txBody>
          <a:bodyPr/>
          <a:lstStyle/>
          <a:p>
            <a:fld id="{931DD963-FD40-4A6D-88A9-402A489E81DE}" type="slidenum">
              <a:rPr lang="en-US" smtClean="0"/>
              <a:t>106</a:t>
            </a:fld>
            <a:endParaRPr lang="en-US"/>
          </a:p>
        </p:txBody>
      </p:sp>
      <p:grpSp>
        <p:nvGrpSpPr>
          <p:cNvPr id="10" name="Group 9">
            <a:extLst>
              <a:ext uri="{FF2B5EF4-FFF2-40B4-BE49-F238E27FC236}">
                <a16:creationId xmlns:a16="http://schemas.microsoft.com/office/drawing/2014/main" id="{14FBF872-BFB6-A811-4DA1-8D98A6CC46D9}"/>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F192BECC-132A-754B-34C1-F7F8E241956C}"/>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16F59F87-87E2-AF52-1C53-DBC25782015A}"/>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
        <p:nvSpPr>
          <p:cNvPr id="4" name="Hộp Văn bản 3">
            <a:extLst>
              <a:ext uri="{FF2B5EF4-FFF2-40B4-BE49-F238E27FC236}">
                <a16:creationId xmlns:a16="http://schemas.microsoft.com/office/drawing/2014/main" id="{A52B3344-214F-F849-2F67-671672096B86}"/>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vi-VN" sz="2000" b="1">
                <a:solidFill>
                  <a:prstClr val="black"/>
                </a:solidFill>
                <a:latin typeface="Times New Roman" panose="02020603050405020304" pitchFamily="18" charset="0"/>
                <a:cs typeface="Times New Roman" panose="02020603050405020304" pitchFamily="18" charset="0"/>
              </a:rPr>
              <a:t>6.1. Lý thuyết</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Hộp Văn bản 4">
                <a:extLst>
                  <a:ext uri="{FF2B5EF4-FFF2-40B4-BE49-F238E27FC236}">
                    <a16:creationId xmlns:a16="http://schemas.microsoft.com/office/drawing/2014/main" id="{31979641-D6F0-0350-5325-36DE09704F24}"/>
                  </a:ext>
                </a:extLst>
              </p:cNvPr>
              <p:cNvSpPr txBox="1"/>
              <p:nvPr/>
            </p:nvSpPr>
            <p:spPr>
              <a:xfrm>
                <a:off x="135754" y="1325662"/>
                <a:ext cx="11920491" cy="1106841"/>
              </a:xfrm>
              <a:prstGeom prst="rect">
                <a:avLst/>
              </a:prstGeom>
              <a:noFill/>
            </p:spPr>
            <p:txBody>
              <a:bodyPr wrap="square">
                <a:spAutoFit/>
              </a:bodyPr>
              <a:lstStyle/>
              <a:p>
                <a:r>
                  <a:rPr lang="vi-VN" sz="2000"/>
                  <a:t>Theo định luật </a:t>
                </a:r>
                <a:r>
                  <a:rPr lang="vi-VN" sz="2000" err="1"/>
                  <a:t>Kirchoff</a:t>
                </a:r>
                <a:r>
                  <a:rPr lang="vi-VN" sz="2000"/>
                  <a:t>: </a:t>
                </a:r>
                <a14:m>
                  <m:oMath xmlns:m="http://schemas.openxmlformats.org/officeDocument/2006/math">
                    <m:sSub>
                      <m:sSubPr>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sSubPr>
                      <m:e>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𝐼</m:t>
                        </m:r>
                      </m:e>
                      <m:sub>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𝐿</m:t>
                        </m:r>
                      </m:sub>
                    </m:sSub>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m:t>
                    </m:r>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𝑡</m:t>
                    </m:r>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m:t>
                    </m:r>
                    <m:sSub>
                      <m:sSubPr>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sSubPr>
                      <m:e>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𝐼</m:t>
                        </m:r>
                      </m:e>
                      <m:sub>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𝑜</m:t>
                        </m:r>
                      </m:sub>
                    </m:sSub>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m:t>
                    </m:r>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𝑡</m:t>
                    </m:r>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m:t>
                    </m:r>
                    <m:sSub>
                      <m:sSubPr>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sSubPr>
                      <m:e>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𝐼</m:t>
                        </m:r>
                      </m:e>
                      <m:sub>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𝑐</m:t>
                        </m:r>
                      </m:sub>
                    </m:sSub>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m:t>
                    </m:r>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𝑡</m:t>
                    </m:r>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m:t>
                    </m:r>
                  </m:oMath>
                </a14:m>
                <a:endParaRPr lang="vi-VN" sz="1800" kern="100">
                  <a:effectLst/>
                  <a:latin typeface="Arial" panose="020B0604020202020204" pitchFamily="34" charset="0"/>
                  <a:ea typeface="Yu Mincho" panose="02020400000000000000" pitchFamily="18" charset="-128"/>
                  <a:cs typeface="Times New Roman" panose="02020603050405020304" pitchFamily="18" charset="0"/>
                </a:endParaRPr>
              </a:p>
              <a:p>
                <a:r>
                  <a:rPr lang="vi-VN" sz="2000" kern="100">
                    <a:effectLst/>
                    <a:latin typeface="Arial" panose="020B0604020202020204" pitchFamily="34" charset="0"/>
                    <a:ea typeface="Yu Mincho" panose="02020400000000000000" pitchFamily="18" charset="-128"/>
                    <a:cs typeface="Times New Roman" panose="02020603050405020304" pitchFamily="18" charset="0"/>
                  </a:rPr>
                  <a:t>Mà</a:t>
                </a:r>
                <a:r>
                  <a:rPr lang="vi-VN" sz="1800" kern="100">
                    <a:effectLst/>
                    <a:latin typeface="Arial" panose="020B0604020202020204" pitchFamily="34" charset="0"/>
                    <a:ea typeface="Yu Mincho" panose="02020400000000000000" pitchFamily="18" charset="-128"/>
                    <a:cs typeface="Times New Roman" panose="02020603050405020304" pitchFamily="18" charset="0"/>
                  </a:rPr>
                  <a:t> </a:t>
                </a:r>
                <a14:m>
                  <m:oMath xmlns:m="http://schemas.openxmlformats.org/officeDocument/2006/math">
                    <m:sSub>
                      <m:sSubPr>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sSubPr>
                      <m:e>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𝐼</m:t>
                        </m:r>
                      </m:e>
                      <m:sub>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𝑐</m:t>
                        </m:r>
                      </m:sub>
                    </m:sSub>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m:t>
                    </m:r>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𝑡</m:t>
                    </m:r>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m:t>
                    </m:r>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𝐶</m:t>
                    </m:r>
                    <m:f>
                      <m:fPr>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fPr>
                      <m:num>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𝑑</m:t>
                        </m:r>
                        <m:sSub>
                          <m:sSubPr>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sSubPr>
                          <m:e>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𝑈</m:t>
                            </m:r>
                          </m:e>
                          <m:sub>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𝑐</m:t>
                            </m:r>
                          </m:sub>
                        </m:sSub>
                      </m:num>
                      <m:den>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𝑑𝑡</m:t>
                        </m:r>
                      </m:den>
                    </m:f>
                  </m:oMath>
                </a14:m>
                <a:r>
                  <a:rPr lang="vi-VN" sz="1800" kern="100">
                    <a:effectLst/>
                    <a:latin typeface="Arial" panose="020B0604020202020204" pitchFamily="34" charset="0"/>
                    <a:ea typeface="Yu Mincho" panose="02020400000000000000" pitchFamily="18" charset="-128"/>
                    <a:cs typeface="Times New Roman" panose="02020603050405020304" pitchFamily="18" charset="0"/>
                  </a:rPr>
                  <a:t>, nên </a:t>
                </a:r>
                <a14:m>
                  <m:oMath xmlns:m="http://schemas.openxmlformats.org/officeDocument/2006/math">
                    <m:sSub>
                      <m:sSubPr>
                        <m:ctrlPr>
                          <a:rPr lang="vi-VN" i="1" kern="100">
                            <a:latin typeface="Cambria Math" panose="02040503050406030204" pitchFamily="18" charset="0"/>
                            <a:ea typeface="Yu Mincho" panose="02020400000000000000" pitchFamily="18" charset="-128"/>
                            <a:cs typeface="Times New Roman" panose="02020603050405020304" pitchFamily="18" charset="0"/>
                          </a:rPr>
                        </m:ctrlPr>
                      </m:sSubPr>
                      <m:e>
                        <m:r>
                          <a:rPr lang="vi-VN" i="1" kern="100">
                            <a:latin typeface="Cambria Math" panose="02040503050406030204" pitchFamily="18" charset="0"/>
                            <a:ea typeface="Yu Mincho" panose="02020400000000000000" pitchFamily="18" charset="-128"/>
                            <a:cs typeface="Times New Roman" panose="02020603050405020304" pitchFamily="18" charset="0"/>
                          </a:rPr>
                          <m:t>𝐼</m:t>
                        </m:r>
                      </m:e>
                      <m:sub>
                        <m:r>
                          <a:rPr lang="vi-VN" i="1" kern="100">
                            <a:latin typeface="Cambria Math" panose="02040503050406030204" pitchFamily="18" charset="0"/>
                            <a:ea typeface="Yu Mincho" panose="02020400000000000000" pitchFamily="18" charset="-128"/>
                            <a:cs typeface="Times New Roman" panose="02020603050405020304" pitchFamily="18" charset="0"/>
                          </a:rPr>
                          <m:t>𝑜</m:t>
                        </m:r>
                      </m:sub>
                    </m:sSub>
                    <m:d>
                      <m:dPr>
                        <m:ctrlPr>
                          <a:rPr lang="vi-VN" i="1" kern="100">
                            <a:latin typeface="Cambria Math" panose="02040503050406030204" pitchFamily="18" charset="0"/>
                            <a:ea typeface="Yu Mincho" panose="02020400000000000000" pitchFamily="18" charset="-128"/>
                            <a:cs typeface="Times New Roman" panose="02020603050405020304" pitchFamily="18" charset="0"/>
                          </a:rPr>
                        </m:ctrlPr>
                      </m:dPr>
                      <m:e>
                        <m:r>
                          <a:rPr lang="vi-VN" i="1" kern="100">
                            <a:latin typeface="Cambria Math" panose="02040503050406030204" pitchFamily="18" charset="0"/>
                            <a:ea typeface="Yu Mincho" panose="02020400000000000000" pitchFamily="18" charset="-128"/>
                            <a:cs typeface="Times New Roman" panose="02020603050405020304" pitchFamily="18" charset="0"/>
                          </a:rPr>
                          <m:t>𝑡</m:t>
                        </m:r>
                      </m:e>
                    </m:d>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m:t>
                    </m:r>
                    <m:sSub>
                      <m:sSubPr>
                        <m:ctrlPr>
                          <a:rPr lang="vi-VN" i="1" kern="100">
                            <a:latin typeface="Cambria Math" panose="02040503050406030204" pitchFamily="18" charset="0"/>
                            <a:ea typeface="Yu Mincho" panose="02020400000000000000" pitchFamily="18" charset="-128"/>
                            <a:cs typeface="Times New Roman" panose="02020603050405020304" pitchFamily="18" charset="0"/>
                          </a:rPr>
                        </m:ctrlPr>
                      </m:sSubPr>
                      <m:e>
                        <m:r>
                          <a:rPr lang="vi-VN" i="1" kern="100">
                            <a:latin typeface="Cambria Math" panose="02040503050406030204" pitchFamily="18" charset="0"/>
                            <a:ea typeface="Yu Mincho" panose="02020400000000000000" pitchFamily="18" charset="-128"/>
                            <a:cs typeface="Times New Roman" panose="02020603050405020304" pitchFamily="18" charset="0"/>
                          </a:rPr>
                          <m:t>𝐼</m:t>
                        </m:r>
                      </m:e>
                      <m:sub>
                        <m:r>
                          <a:rPr lang="vi-VN" i="1" kern="100">
                            <a:latin typeface="Cambria Math" panose="02040503050406030204" pitchFamily="18" charset="0"/>
                            <a:ea typeface="Yu Mincho" panose="02020400000000000000" pitchFamily="18" charset="-128"/>
                            <a:cs typeface="Times New Roman" panose="02020603050405020304" pitchFamily="18" charset="0"/>
                          </a:rPr>
                          <m:t>𝐿</m:t>
                        </m:r>
                      </m:sub>
                    </m:sSub>
                    <m:d>
                      <m:dPr>
                        <m:ctrlPr>
                          <a:rPr lang="vi-VN" i="1" kern="100">
                            <a:latin typeface="Cambria Math" panose="02040503050406030204" pitchFamily="18" charset="0"/>
                            <a:ea typeface="Yu Mincho" panose="02020400000000000000" pitchFamily="18" charset="-128"/>
                            <a:cs typeface="Times New Roman" panose="02020603050405020304" pitchFamily="18" charset="0"/>
                          </a:rPr>
                        </m:ctrlPr>
                      </m:dPr>
                      <m:e>
                        <m:r>
                          <a:rPr lang="vi-VN" i="1" kern="100">
                            <a:latin typeface="Cambria Math" panose="02040503050406030204" pitchFamily="18" charset="0"/>
                            <a:ea typeface="Yu Mincho" panose="02020400000000000000" pitchFamily="18" charset="-128"/>
                            <a:cs typeface="Times New Roman" panose="02020603050405020304" pitchFamily="18" charset="0"/>
                          </a:rPr>
                          <m:t>𝑡</m:t>
                        </m:r>
                      </m:e>
                    </m:d>
                    <m:r>
                      <a:rPr lang="vi-VN" b="0" i="1" kern="100" smtClean="0">
                        <a:latin typeface="Cambria Math" panose="02040503050406030204" pitchFamily="18" charset="0"/>
                        <a:ea typeface="Yu Mincho" panose="02020400000000000000" pitchFamily="18" charset="-128"/>
                        <a:cs typeface="Times New Roman" panose="02020603050405020304" pitchFamily="18" charset="0"/>
                      </a:rPr>
                      <m:t>−</m:t>
                    </m:r>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𝐶</m:t>
                    </m:r>
                    <m:f>
                      <m:fPr>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fPr>
                      <m:num>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𝑑</m:t>
                        </m:r>
                        <m:sSub>
                          <m:sSubPr>
                            <m:ctrlP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ctrlPr>
                          </m:sSubPr>
                          <m:e>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𝑈</m:t>
                            </m:r>
                          </m:e>
                          <m:sub>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𝑐</m:t>
                            </m:r>
                          </m:sub>
                        </m:sSub>
                      </m:num>
                      <m:den>
                        <m:r>
                          <a:rPr lang="vi-VN" sz="1800" i="1" kern="100">
                            <a:effectLst/>
                            <a:latin typeface="Cambria Math" panose="02040503050406030204" pitchFamily="18" charset="0"/>
                            <a:ea typeface="Yu Mincho" panose="02020400000000000000" pitchFamily="18" charset="-128"/>
                            <a:cs typeface="Times New Roman" panose="02020603050405020304" pitchFamily="18" charset="0"/>
                          </a:rPr>
                          <m:t>𝑑𝑡</m:t>
                        </m:r>
                      </m:den>
                    </m:f>
                  </m:oMath>
                </a14:m>
                <a:endParaRPr lang="vi-VN" sz="1800" kern="100">
                  <a:effectLst/>
                  <a:latin typeface="Arial" panose="020B0604020202020204" pitchFamily="34" charset="0"/>
                  <a:ea typeface="Yu Mincho" panose="02020400000000000000" pitchFamily="18" charset="-128"/>
                  <a:cs typeface="Times New Roman" panose="02020603050405020304" pitchFamily="18" charset="0"/>
                </a:endParaRPr>
              </a:p>
              <a:p>
                <a:r>
                  <a:rPr lang="vi-VN" sz="2000"/>
                  <a:t>Ta sử dụng các bộ lọc thông dải để trích các tín hiệu có tần số 50Hz từ IL và </a:t>
                </a:r>
                <a:r>
                  <a:rPr lang="vi-VN" sz="2000" err="1"/>
                  <a:t>Uc</a:t>
                </a:r>
                <a:r>
                  <a:rPr lang="vi-VN" sz="2000"/>
                  <a:t>. Mô hình trên MATLAB:</a:t>
                </a:r>
              </a:p>
            </p:txBody>
          </p:sp>
        </mc:Choice>
        <mc:Fallback xmlns="">
          <p:sp>
            <p:nvSpPr>
              <p:cNvPr id="5" name="Hộp Văn bản 4">
                <a:extLst>
                  <a:ext uri="{FF2B5EF4-FFF2-40B4-BE49-F238E27FC236}">
                    <a16:creationId xmlns:a16="http://schemas.microsoft.com/office/drawing/2014/main" id="{31979641-D6F0-0350-5325-36DE09704F24}"/>
                  </a:ext>
                </a:extLst>
              </p:cNvPr>
              <p:cNvSpPr txBox="1">
                <a:spLocks noRot="1" noChangeAspect="1" noMove="1" noResize="1" noEditPoints="1" noAdjustHandles="1" noChangeArrowheads="1" noChangeShapeType="1" noTextEdit="1"/>
              </p:cNvSpPr>
              <p:nvPr/>
            </p:nvSpPr>
            <p:spPr>
              <a:xfrm>
                <a:off x="135754" y="1325662"/>
                <a:ext cx="11920491" cy="1106841"/>
              </a:xfrm>
              <a:prstGeom prst="rect">
                <a:avLst/>
              </a:prstGeom>
              <a:blipFill>
                <a:blip r:embed="rId2"/>
                <a:stretch>
                  <a:fillRect l="-511" t="-2198" b="-8791"/>
                </a:stretch>
              </a:blipFill>
            </p:spPr>
            <p:txBody>
              <a:bodyPr/>
              <a:lstStyle/>
              <a:p>
                <a:r>
                  <a:rPr lang="vi-VN">
                    <a:noFill/>
                  </a:rPr>
                  <a:t> </a:t>
                </a:r>
              </a:p>
            </p:txBody>
          </p:sp>
        </mc:Fallback>
      </mc:AlternateContent>
    </p:spTree>
    <p:extLst>
      <p:ext uri="{BB962C8B-B14F-4D97-AF65-F5344CB8AC3E}">
        <p14:creationId xmlns:p14="http://schemas.microsoft.com/office/powerpoint/2010/main" val="260714236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B8C31-6811-2A74-A08B-874C341187F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5953E51-62D0-EA58-F93C-91CB24DC9B64}"/>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A6387424-CB2D-F10B-91CA-D81256C654B3}"/>
              </a:ext>
            </a:extLst>
          </p:cNvPr>
          <p:cNvSpPr>
            <a:spLocks noGrp="1"/>
          </p:cNvSpPr>
          <p:nvPr>
            <p:ph type="sldNum" sz="quarter" idx="12"/>
          </p:nvPr>
        </p:nvSpPr>
        <p:spPr/>
        <p:txBody>
          <a:bodyPr/>
          <a:lstStyle/>
          <a:p>
            <a:fld id="{931DD963-FD40-4A6D-88A9-402A489E81DE}" type="slidenum">
              <a:rPr lang="en-US" smtClean="0"/>
              <a:t>107</a:t>
            </a:fld>
            <a:endParaRPr lang="en-US"/>
          </a:p>
        </p:txBody>
      </p:sp>
      <p:grpSp>
        <p:nvGrpSpPr>
          <p:cNvPr id="10" name="Group 9">
            <a:extLst>
              <a:ext uri="{FF2B5EF4-FFF2-40B4-BE49-F238E27FC236}">
                <a16:creationId xmlns:a16="http://schemas.microsoft.com/office/drawing/2014/main" id="{0A743D8E-34AB-14A8-760B-5D78866A7BCB}"/>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0982277F-E7BA-EB27-0121-71B17D332799}"/>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E6D79C41-65B9-F3D6-4B9B-2FD4D0ED83F6}"/>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pic>
        <p:nvPicPr>
          <p:cNvPr id="5" name="Hình ảnh 4">
            <a:extLst>
              <a:ext uri="{FF2B5EF4-FFF2-40B4-BE49-F238E27FC236}">
                <a16:creationId xmlns:a16="http://schemas.microsoft.com/office/drawing/2014/main" id="{A0B4A26A-EED2-B923-8384-7EFDFE4EECCC}"/>
              </a:ext>
            </a:extLst>
          </p:cNvPr>
          <p:cNvPicPr>
            <a:picLocks noChangeAspect="1"/>
          </p:cNvPicPr>
          <p:nvPr/>
        </p:nvPicPr>
        <p:blipFill>
          <a:blip r:embed="rId2"/>
          <a:stretch>
            <a:fillRect/>
          </a:stretch>
        </p:blipFill>
        <p:spPr>
          <a:xfrm>
            <a:off x="496110" y="1157422"/>
            <a:ext cx="11199779" cy="2868766"/>
          </a:xfrm>
          <a:prstGeom prst="rect">
            <a:avLst/>
          </a:prstGeom>
        </p:spPr>
      </p:pic>
      <p:cxnSp>
        <p:nvCxnSpPr>
          <p:cNvPr id="7" name="Đường kết nối Mũi tên Thẳng 6">
            <a:extLst>
              <a:ext uri="{FF2B5EF4-FFF2-40B4-BE49-F238E27FC236}">
                <a16:creationId xmlns:a16="http://schemas.microsoft.com/office/drawing/2014/main" id="{7CFC73C3-A4AB-3B5B-2669-32DA6292AAA7}"/>
              </a:ext>
            </a:extLst>
          </p:cNvPr>
          <p:cNvCxnSpPr>
            <a:cxnSpLocks/>
          </p:cNvCxnSpPr>
          <p:nvPr/>
        </p:nvCxnSpPr>
        <p:spPr>
          <a:xfrm flipH="1">
            <a:off x="2431915" y="3599234"/>
            <a:ext cx="593387" cy="15620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Đường kết nối Mũi tên Thẳng 7">
            <a:extLst>
              <a:ext uri="{FF2B5EF4-FFF2-40B4-BE49-F238E27FC236}">
                <a16:creationId xmlns:a16="http://schemas.microsoft.com/office/drawing/2014/main" id="{20B1C1CC-E351-EBB7-488A-E3B9B65A6502}"/>
              </a:ext>
            </a:extLst>
          </p:cNvPr>
          <p:cNvCxnSpPr>
            <a:cxnSpLocks/>
          </p:cNvCxnSpPr>
          <p:nvPr/>
        </p:nvCxnSpPr>
        <p:spPr>
          <a:xfrm>
            <a:off x="4124528" y="3599234"/>
            <a:ext cx="729574" cy="1488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Hình ảnh 15">
            <a:extLst>
              <a:ext uri="{FF2B5EF4-FFF2-40B4-BE49-F238E27FC236}">
                <a16:creationId xmlns:a16="http://schemas.microsoft.com/office/drawing/2014/main" id="{17F02DD1-0EF1-631A-BF9E-F10F4E0B1C4B}"/>
              </a:ext>
            </a:extLst>
          </p:cNvPr>
          <p:cNvPicPr>
            <a:picLocks noChangeAspect="1"/>
          </p:cNvPicPr>
          <p:nvPr/>
        </p:nvPicPr>
        <p:blipFill>
          <a:blip r:embed="rId3"/>
          <a:stretch>
            <a:fillRect/>
          </a:stretch>
        </p:blipFill>
        <p:spPr>
          <a:xfrm>
            <a:off x="2431915" y="4991805"/>
            <a:ext cx="2676899" cy="1047896"/>
          </a:xfrm>
          <a:prstGeom prst="rect">
            <a:avLst/>
          </a:prstGeom>
        </p:spPr>
      </p:pic>
    </p:spTree>
    <p:extLst>
      <p:ext uri="{BB962C8B-B14F-4D97-AF65-F5344CB8AC3E}">
        <p14:creationId xmlns:p14="http://schemas.microsoft.com/office/powerpoint/2010/main" val="81870687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6168F-B209-B1A2-4563-BE6EDBBC3B2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D1B51AA-21BC-743D-C4C5-1D471F3BEB38}"/>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5021716D-C11D-FE38-0D4D-561E7CA0A0C8}"/>
              </a:ext>
            </a:extLst>
          </p:cNvPr>
          <p:cNvSpPr>
            <a:spLocks noGrp="1"/>
          </p:cNvSpPr>
          <p:nvPr>
            <p:ph type="sldNum" sz="quarter" idx="12"/>
          </p:nvPr>
        </p:nvSpPr>
        <p:spPr/>
        <p:txBody>
          <a:bodyPr/>
          <a:lstStyle/>
          <a:p>
            <a:fld id="{931DD963-FD40-4A6D-88A9-402A489E81DE}" type="slidenum">
              <a:rPr lang="en-US" smtClean="0"/>
              <a:t>108</a:t>
            </a:fld>
            <a:endParaRPr lang="en-US"/>
          </a:p>
        </p:txBody>
      </p:sp>
      <p:grpSp>
        <p:nvGrpSpPr>
          <p:cNvPr id="10" name="Group 9">
            <a:extLst>
              <a:ext uri="{FF2B5EF4-FFF2-40B4-BE49-F238E27FC236}">
                <a16:creationId xmlns:a16="http://schemas.microsoft.com/office/drawing/2014/main" id="{21354EC1-D03F-B39D-EB45-CF369405628F}"/>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A40BB329-40E7-BC85-C66F-D6B21ED3DD0A}"/>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CF933456-0C73-1B8D-E75F-6A54A9A2D675}"/>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
        <p:nvSpPr>
          <p:cNvPr id="4" name="Hộp Văn bản 3">
            <a:extLst>
              <a:ext uri="{FF2B5EF4-FFF2-40B4-BE49-F238E27FC236}">
                <a16:creationId xmlns:a16="http://schemas.microsoft.com/office/drawing/2014/main" id="{AD07EDBE-5CE9-1682-9F18-EF4000E163F1}"/>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vi-VN" sz="2000" b="1">
                <a:solidFill>
                  <a:prstClr val="black"/>
                </a:solidFill>
                <a:latin typeface="Times New Roman" panose="02020603050405020304" pitchFamily="18" charset="0"/>
                <a:cs typeface="Times New Roman" panose="02020603050405020304" pitchFamily="18" charset="0"/>
              </a:rPr>
              <a:t>6.2.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E364D99-94F2-726B-B26B-165D44E60A0A}"/>
              </a:ext>
            </a:extLst>
          </p:cNvPr>
          <p:cNvSpPr txBox="1"/>
          <p:nvPr/>
        </p:nvSpPr>
        <p:spPr>
          <a:xfrm>
            <a:off x="413529" y="1333504"/>
            <a:ext cx="11182350" cy="369332"/>
          </a:xfrm>
          <a:prstGeom prst="rect">
            <a:avLst/>
          </a:prstGeom>
          <a:noFill/>
        </p:spPr>
        <p:txBody>
          <a:bodyPr wrap="square" rtlCol="0">
            <a:spAutoFit/>
          </a:bodyPr>
          <a:lstStyle/>
          <a:p>
            <a:r>
              <a:rPr lang="vi-VN"/>
              <a:t>Kịch bản 1: Mô phỏng 2 inverter làm việc song song với tải công suất 4000 W. Tỉ lệ chia sẻ công suất 1:1</a:t>
            </a:r>
            <a:endParaRPr lang="en-ID"/>
          </a:p>
        </p:txBody>
      </p:sp>
      <p:pic>
        <p:nvPicPr>
          <p:cNvPr id="7" name="Hình ảnh 6">
            <a:extLst>
              <a:ext uri="{FF2B5EF4-FFF2-40B4-BE49-F238E27FC236}">
                <a16:creationId xmlns:a16="http://schemas.microsoft.com/office/drawing/2014/main" id="{121B5804-28AB-6090-8F53-BF3EA6139990}"/>
              </a:ext>
            </a:extLst>
          </p:cNvPr>
          <p:cNvPicPr>
            <a:picLocks noChangeAspect="1"/>
          </p:cNvPicPr>
          <p:nvPr/>
        </p:nvPicPr>
        <p:blipFill>
          <a:blip r:embed="rId2"/>
          <a:stretch>
            <a:fillRect/>
          </a:stretch>
        </p:blipFill>
        <p:spPr>
          <a:xfrm>
            <a:off x="262646" y="1733614"/>
            <a:ext cx="11694269" cy="4808370"/>
          </a:xfrm>
          <a:prstGeom prst="rect">
            <a:avLst/>
          </a:prstGeom>
        </p:spPr>
      </p:pic>
    </p:spTree>
    <p:extLst>
      <p:ext uri="{BB962C8B-B14F-4D97-AF65-F5344CB8AC3E}">
        <p14:creationId xmlns:p14="http://schemas.microsoft.com/office/powerpoint/2010/main" val="54788758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85A8B-FD3D-31CC-49EF-8767C27814E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648CF471-51D9-7CAF-A31B-0886A67E6973}"/>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BCBE3DEF-3C90-7B57-AB5A-F898DDBF735F}"/>
              </a:ext>
            </a:extLst>
          </p:cNvPr>
          <p:cNvSpPr>
            <a:spLocks noGrp="1"/>
          </p:cNvSpPr>
          <p:nvPr>
            <p:ph type="sldNum" sz="quarter" idx="12"/>
          </p:nvPr>
        </p:nvSpPr>
        <p:spPr/>
        <p:txBody>
          <a:bodyPr/>
          <a:lstStyle/>
          <a:p>
            <a:fld id="{931DD963-FD40-4A6D-88A9-402A489E81DE}" type="slidenum">
              <a:rPr lang="en-US" smtClean="0"/>
              <a:t>109</a:t>
            </a:fld>
            <a:endParaRPr lang="en-US"/>
          </a:p>
        </p:txBody>
      </p:sp>
      <p:grpSp>
        <p:nvGrpSpPr>
          <p:cNvPr id="10" name="Group 9">
            <a:extLst>
              <a:ext uri="{FF2B5EF4-FFF2-40B4-BE49-F238E27FC236}">
                <a16:creationId xmlns:a16="http://schemas.microsoft.com/office/drawing/2014/main" id="{51203393-7CDE-14C5-7EED-A60A560348B5}"/>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7C6C998C-17BE-C59C-497A-3F3ACE954384}"/>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9F2B6B99-C67C-C81C-E6D4-C62A1090C1CF}"/>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
        <p:nvSpPr>
          <p:cNvPr id="4" name="Hộp Văn bản 3">
            <a:extLst>
              <a:ext uri="{FF2B5EF4-FFF2-40B4-BE49-F238E27FC236}">
                <a16:creationId xmlns:a16="http://schemas.microsoft.com/office/drawing/2014/main" id="{EB1DF1A5-4BA2-1718-F236-6CF19536A96B}"/>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vi-VN" sz="2000" b="1">
                <a:solidFill>
                  <a:prstClr val="black"/>
                </a:solidFill>
                <a:latin typeface="Times New Roman" panose="02020603050405020304" pitchFamily="18" charset="0"/>
                <a:cs typeface="Times New Roman" panose="02020603050405020304" pitchFamily="18" charset="0"/>
              </a:rPr>
              <a:t>6.2.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6" name="Hộp Văn bản 5">
            <a:extLst>
              <a:ext uri="{FF2B5EF4-FFF2-40B4-BE49-F238E27FC236}">
                <a16:creationId xmlns:a16="http://schemas.microsoft.com/office/drawing/2014/main" id="{D39B584D-F4F0-0BF3-671A-56CD9211C96D}"/>
              </a:ext>
            </a:extLst>
          </p:cNvPr>
          <p:cNvSpPr txBox="1"/>
          <p:nvPr/>
        </p:nvSpPr>
        <p:spPr>
          <a:xfrm>
            <a:off x="413529" y="1333504"/>
            <a:ext cx="6094378" cy="369332"/>
          </a:xfrm>
          <a:prstGeom prst="rect">
            <a:avLst/>
          </a:prstGeom>
          <a:noFill/>
        </p:spPr>
        <p:txBody>
          <a:bodyPr wrap="square">
            <a:spAutoFit/>
          </a:bodyPr>
          <a:lstStyle/>
          <a:p>
            <a:r>
              <a:rPr lang="vi-VN"/>
              <a:t>Kết quả:</a:t>
            </a:r>
            <a:endParaRPr lang="en-ID"/>
          </a:p>
        </p:txBody>
      </p:sp>
      <p:sp>
        <p:nvSpPr>
          <p:cNvPr id="11" name="Hộp Văn bản 10">
            <a:extLst>
              <a:ext uri="{FF2B5EF4-FFF2-40B4-BE49-F238E27FC236}">
                <a16:creationId xmlns:a16="http://schemas.microsoft.com/office/drawing/2014/main" id="{BAB23603-E5ED-B8FC-AE57-CA0C31A2B5CA}"/>
              </a:ext>
            </a:extLst>
          </p:cNvPr>
          <p:cNvSpPr txBox="1"/>
          <p:nvPr/>
        </p:nvSpPr>
        <p:spPr>
          <a:xfrm>
            <a:off x="4146415" y="6371829"/>
            <a:ext cx="4987857" cy="369332"/>
          </a:xfrm>
          <a:prstGeom prst="rect">
            <a:avLst/>
          </a:prstGeom>
          <a:noFill/>
        </p:spPr>
        <p:txBody>
          <a:bodyPr wrap="square">
            <a:spAutoFit/>
          </a:bodyPr>
          <a:lstStyle/>
          <a:p>
            <a:r>
              <a:rPr lang="vi-VN"/>
              <a:t>So sánh đáp ứng dòng và đầu ra bộ DOB</a:t>
            </a:r>
            <a:endParaRPr lang="en-ID"/>
          </a:p>
        </p:txBody>
      </p:sp>
      <p:pic>
        <p:nvPicPr>
          <p:cNvPr id="7" name="Hình ảnh 6">
            <a:extLst>
              <a:ext uri="{FF2B5EF4-FFF2-40B4-BE49-F238E27FC236}">
                <a16:creationId xmlns:a16="http://schemas.microsoft.com/office/drawing/2014/main" id="{DB71C43A-C865-4D9D-4F84-CEF41B44077F}"/>
              </a:ext>
            </a:extLst>
          </p:cNvPr>
          <p:cNvPicPr>
            <a:picLocks noChangeAspect="1"/>
          </p:cNvPicPr>
          <p:nvPr/>
        </p:nvPicPr>
        <p:blipFill>
          <a:blip r:embed="rId2"/>
          <a:stretch>
            <a:fillRect/>
          </a:stretch>
        </p:blipFill>
        <p:spPr>
          <a:xfrm>
            <a:off x="1264596" y="1702836"/>
            <a:ext cx="9876815" cy="4645189"/>
          </a:xfrm>
          <a:prstGeom prst="rect">
            <a:avLst/>
          </a:prstGeom>
        </p:spPr>
      </p:pic>
    </p:spTree>
    <p:extLst>
      <p:ext uri="{BB962C8B-B14F-4D97-AF65-F5344CB8AC3E}">
        <p14:creationId xmlns:p14="http://schemas.microsoft.com/office/powerpoint/2010/main" val="219518545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B30E8-43A1-04A4-9215-52219DB56417}"/>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605B03D-3029-7C63-178B-7EB439BF4BBE}"/>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C68322C3-E775-F427-AD21-D08EAB9362AB}"/>
              </a:ext>
            </a:extLst>
          </p:cNvPr>
          <p:cNvSpPr>
            <a:spLocks noGrp="1"/>
          </p:cNvSpPr>
          <p:nvPr>
            <p:ph type="sldNum" sz="quarter" idx="12"/>
          </p:nvPr>
        </p:nvSpPr>
        <p:spPr/>
        <p:txBody>
          <a:bodyPr/>
          <a:lstStyle/>
          <a:p>
            <a:fld id="{931DD963-FD40-4A6D-88A9-402A489E81DE}" type="slidenum">
              <a:rPr lang="en-US" smtClean="0"/>
              <a:t>110</a:t>
            </a:fld>
            <a:endParaRPr lang="en-US"/>
          </a:p>
        </p:txBody>
      </p:sp>
      <p:grpSp>
        <p:nvGrpSpPr>
          <p:cNvPr id="10" name="Group 9">
            <a:extLst>
              <a:ext uri="{FF2B5EF4-FFF2-40B4-BE49-F238E27FC236}">
                <a16:creationId xmlns:a16="http://schemas.microsoft.com/office/drawing/2014/main" id="{816205CF-5AA2-17A6-474A-244EEE4580EB}"/>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261CAE0D-1257-8000-FA5B-23F9AFB92012}"/>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2BAB5302-64E6-C8B0-5285-1B7A484192DA}"/>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
        <p:nvSpPr>
          <p:cNvPr id="4" name="Hộp Văn bản 3">
            <a:extLst>
              <a:ext uri="{FF2B5EF4-FFF2-40B4-BE49-F238E27FC236}">
                <a16:creationId xmlns:a16="http://schemas.microsoft.com/office/drawing/2014/main" id="{6FE49CC9-CB67-AF5B-2D3C-2B0AEE673253}"/>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vi-VN" sz="2000" b="1">
                <a:solidFill>
                  <a:prstClr val="black"/>
                </a:solidFill>
                <a:latin typeface="Times New Roman" panose="02020603050405020304" pitchFamily="18" charset="0"/>
                <a:cs typeface="Times New Roman" panose="02020603050405020304" pitchFamily="18" charset="0"/>
              </a:rPr>
              <a:t>6.2.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 name="Hộp Văn bản 6">
            <a:extLst>
              <a:ext uri="{FF2B5EF4-FFF2-40B4-BE49-F238E27FC236}">
                <a16:creationId xmlns:a16="http://schemas.microsoft.com/office/drawing/2014/main" id="{6625F4C4-F445-E64A-482D-2BAA1C058B5D}"/>
              </a:ext>
            </a:extLst>
          </p:cNvPr>
          <p:cNvSpPr txBox="1"/>
          <p:nvPr/>
        </p:nvSpPr>
        <p:spPr>
          <a:xfrm>
            <a:off x="4000501" y="6270113"/>
            <a:ext cx="4987857" cy="369332"/>
          </a:xfrm>
          <a:prstGeom prst="rect">
            <a:avLst/>
          </a:prstGeom>
          <a:noFill/>
        </p:spPr>
        <p:txBody>
          <a:bodyPr wrap="square">
            <a:spAutoFit/>
          </a:bodyPr>
          <a:lstStyle/>
          <a:p>
            <a:pPr algn="ctr"/>
            <a:r>
              <a:rPr lang="vi-VN"/>
              <a:t>Đáp ứng điện áp đầu ra</a:t>
            </a:r>
            <a:endParaRPr lang="en-ID"/>
          </a:p>
        </p:txBody>
      </p:sp>
      <p:pic>
        <p:nvPicPr>
          <p:cNvPr id="8" name="Hình ảnh 7">
            <a:extLst>
              <a:ext uri="{FF2B5EF4-FFF2-40B4-BE49-F238E27FC236}">
                <a16:creationId xmlns:a16="http://schemas.microsoft.com/office/drawing/2014/main" id="{08200CA8-3AA8-B701-E408-CA4D734BB60B}"/>
              </a:ext>
            </a:extLst>
          </p:cNvPr>
          <p:cNvPicPr>
            <a:picLocks noChangeAspect="1"/>
          </p:cNvPicPr>
          <p:nvPr/>
        </p:nvPicPr>
        <p:blipFill>
          <a:blip r:embed="rId2"/>
          <a:stretch>
            <a:fillRect/>
          </a:stretch>
        </p:blipFill>
        <p:spPr>
          <a:xfrm>
            <a:off x="953309" y="1484309"/>
            <a:ext cx="10061643" cy="4732116"/>
          </a:xfrm>
          <a:prstGeom prst="rect">
            <a:avLst/>
          </a:prstGeom>
        </p:spPr>
      </p:pic>
    </p:spTree>
    <p:extLst>
      <p:ext uri="{BB962C8B-B14F-4D97-AF65-F5344CB8AC3E}">
        <p14:creationId xmlns:p14="http://schemas.microsoft.com/office/powerpoint/2010/main" val="63229170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91DD5-03B8-3236-221B-3B93CC04D2A9}"/>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5132557-355F-758C-B2EA-13DB023C5563}"/>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3B74F4B6-C3E2-1CF9-31AB-8E4BB465320B}"/>
              </a:ext>
            </a:extLst>
          </p:cNvPr>
          <p:cNvSpPr>
            <a:spLocks noGrp="1"/>
          </p:cNvSpPr>
          <p:nvPr>
            <p:ph type="sldNum" sz="quarter" idx="12"/>
          </p:nvPr>
        </p:nvSpPr>
        <p:spPr/>
        <p:txBody>
          <a:bodyPr/>
          <a:lstStyle/>
          <a:p>
            <a:fld id="{931DD963-FD40-4A6D-88A9-402A489E81DE}" type="slidenum">
              <a:rPr lang="en-US" smtClean="0"/>
              <a:t>111</a:t>
            </a:fld>
            <a:endParaRPr lang="en-US"/>
          </a:p>
        </p:txBody>
      </p:sp>
      <p:grpSp>
        <p:nvGrpSpPr>
          <p:cNvPr id="10" name="Group 9">
            <a:extLst>
              <a:ext uri="{FF2B5EF4-FFF2-40B4-BE49-F238E27FC236}">
                <a16:creationId xmlns:a16="http://schemas.microsoft.com/office/drawing/2014/main" id="{2CFAFF46-B07A-9449-A960-EE8716FA9140}"/>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FAED4F98-8455-A7EC-1F82-FBA2FF08B719}"/>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E5D6B6B8-7039-9C2E-7B0E-D1E122067DAB}"/>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
        <p:nvSpPr>
          <p:cNvPr id="4" name="Hộp Văn bản 3">
            <a:extLst>
              <a:ext uri="{FF2B5EF4-FFF2-40B4-BE49-F238E27FC236}">
                <a16:creationId xmlns:a16="http://schemas.microsoft.com/office/drawing/2014/main" id="{6BADCB59-7288-E7D6-AB76-393574AD7CEA}"/>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vi-VN" sz="2000" b="1">
                <a:solidFill>
                  <a:prstClr val="black"/>
                </a:solidFill>
                <a:latin typeface="Times New Roman" panose="02020603050405020304" pitchFamily="18" charset="0"/>
                <a:cs typeface="Times New Roman" panose="02020603050405020304" pitchFamily="18" charset="0"/>
              </a:rPr>
              <a:t>6.2.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 name="Hộp Văn bản 6">
            <a:extLst>
              <a:ext uri="{FF2B5EF4-FFF2-40B4-BE49-F238E27FC236}">
                <a16:creationId xmlns:a16="http://schemas.microsoft.com/office/drawing/2014/main" id="{D2A9543F-4A6A-782A-9458-E05D9F41BA61}"/>
              </a:ext>
            </a:extLst>
          </p:cNvPr>
          <p:cNvSpPr txBox="1"/>
          <p:nvPr/>
        </p:nvSpPr>
        <p:spPr>
          <a:xfrm>
            <a:off x="4000501" y="6270113"/>
            <a:ext cx="4987857" cy="369332"/>
          </a:xfrm>
          <a:prstGeom prst="rect">
            <a:avLst/>
          </a:prstGeom>
          <a:noFill/>
        </p:spPr>
        <p:txBody>
          <a:bodyPr wrap="square">
            <a:spAutoFit/>
          </a:bodyPr>
          <a:lstStyle/>
          <a:p>
            <a:pPr algn="ctr"/>
            <a:r>
              <a:rPr lang="vi-VN"/>
              <a:t>Công suất tác dụng đầu ra</a:t>
            </a:r>
            <a:endParaRPr lang="en-ID"/>
          </a:p>
        </p:txBody>
      </p:sp>
      <p:pic>
        <p:nvPicPr>
          <p:cNvPr id="6" name="Hình ảnh 5">
            <a:extLst>
              <a:ext uri="{FF2B5EF4-FFF2-40B4-BE49-F238E27FC236}">
                <a16:creationId xmlns:a16="http://schemas.microsoft.com/office/drawing/2014/main" id="{837697E6-0110-E52B-F7C9-E8E5E49D7A0F}"/>
              </a:ext>
            </a:extLst>
          </p:cNvPr>
          <p:cNvPicPr>
            <a:picLocks noChangeAspect="1"/>
          </p:cNvPicPr>
          <p:nvPr/>
        </p:nvPicPr>
        <p:blipFill>
          <a:blip r:embed="rId2"/>
          <a:stretch>
            <a:fillRect/>
          </a:stretch>
        </p:blipFill>
        <p:spPr>
          <a:xfrm>
            <a:off x="1342089" y="1524489"/>
            <a:ext cx="10178374" cy="4739305"/>
          </a:xfrm>
          <a:prstGeom prst="rect">
            <a:avLst/>
          </a:prstGeom>
        </p:spPr>
      </p:pic>
    </p:spTree>
    <p:extLst>
      <p:ext uri="{BB962C8B-B14F-4D97-AF65-F5344CB8AC3E}">
        <p14:creationId xmlns:p14="http://schemas.microsoft.com/office/powerpoint/2010/main" val="119636937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DF713-875F-A69A-8670-247591A1C618}"/>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D0A8C2E5-6AC2-9CA3-1C60-671AB3A501C2}"/>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56F672C8-28F9-8F7C-4804-106E167AB0F9}"/>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4" name="Rectangle 27">
              <a:extLst>
                <a:ext uri="{FF2B5EF4-FFF2-40B4-BE49-F238E27FC236}">
                  <a16:creationId xmlns:a16="http://schemas.microsoft.com/office/drawing/2014/main" id="{335AC059-9235-C192-80F1-F55638C343A8}"/>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graphicFrame>
        <p:nvGraphicFramePr>
          <p:cNvPr id="6" name="Table 13">
            <a:extLst>
              <a:ext uri="{FF2B5EF4-FFF2-40B4-BE49-F238E27FC236}">
                <a16:creationId xmlns:a16="http://schemas.microsoft.com/office/drawing/2014/main" id="{EA7213C7-6C82-2598-0086-817BF055ECA2}"/>
              </a:ext>
            </a:extLst>
          </p:cNvPr>
          <p:cNvGraphicFramePr>
            <a:graphicFrameLocks noGrp="1"/>
          </p:cNvGraphicFramePr>
          <p:nvPr>
            <p:extLst>
              <p:ext uri="{D42A27DB-BD31-4B8C-83A1-F6EECF244321}">
                <p14:modId xmlns:p14="http://schemas.microsoft.com/office/powerpoint/2010/main" val="3711951671"/>
              </p:ext>
            </p:extLst>
          </p:nvPr>
        </p:nvGraphicFramePr>
        <p:xfrm>
          <a:off x="365616" y="3536181"/>
          <a:ext cx="6917019" cy="1715151"/>
        </p:xfrm>
        <a:graphic>
          <a:graphicData uri="http://schemas.openxmlformats.org/drawingml/2006/table">
            <a:tbl>
              <a:tblPr firstRow="1" bandRow="1">
                <a:tableStyleId>{5C22544A-7EE6-4342-B048-85BDC9FD1C3A}</a:tableStyleId>
              </a:tblPr>
              <a:tblGrid>
                <a:gridCol w="691029">
                  <a:extLst>
                    <a:ext uri="{9D8B030D-6E8A-4147-A177-3AD203B41FA5}">
                      <a16:colId xmlns:a16="http://schemas.microsoft.com/office/drawing/2014/main" val="3998854459"/>
                    </a:ext>
                  </a:extLst>
                </a:gridCol>
                <a:gridCol w="3321424">
                  <a:extLst>
                    <a:ext uri="{9D8B030D-6E8A-4147-A177-3AD203B41FA5}">
                      <a16:colId xmlns:a16="http://schemas.microsoft.com/office/drawing/2014/main" val="3372512979"/>
                    </a:ext>
                  </a:extLst>
                </a:gridCol>
                <a:gridCol w="860612">
                  <a:extLst>
                    <a:ext uri="{9D8B030D-6E8A-4147-A177-3AD203B41FA5}">
                      <a16:colId xmlns:a16="http://schemas.microsoft.com/office/drawing/2014/main" val="1462865521"/>
                    </a:ext>
                  </a:extLst>
                </a:gridCol>
                <a:gridCol w="981635">
                  <a:extLst>
                    <a:ext uri="{9D8B030D-6E8A-4147-A177-3AD203B41FA5}">
                      <a16:colId xmlns:a16="http://schemas.microsoft.com/office/drawing/2014/main" val="156630398"/>
                    </a:ext>
                  </a:extLst>
                </a:gridCol>
                <a:gridCol w="1062319">
                  <a:extLst>
                    <a:ext uri="{9D8B030D-6E8A-4147-A177-3AD203B41FA5}">
                      <a16:colId xmlns:a16="http://schemas.microsoft.com/office/drawing/2014/main" val="3496083406"/>
                    </a:ext>
                  </a:extLst>
                </a:gridCol>
              </a:tblGrid>
              <a:tr h="761234">
                <a:tc>
                  <a:txBody>
                    <a:bodyPr/>
                    <a:lstStyle/>
                    <a:p>
                      <a:pPr algn="ctr"/>
                      <a:r>
                        <a:rPr lang="en-US"/>
                        <a:t>Kết quả</a:t>
                      </a:r>
                    </a:p>
                  </a:txBody>
                  <a:tcPr anchor="ctr"/>
                </a:tc>
                <a:tc>
                  <a:txBody>
                    <a:bodyPr/>
                    <a:lstStyle/>
                    <a:p>
                      <a:pPr algn="ctr"/>
                      <a:r>
                        <a:rPr lang="en-US"/>
                        <a:t>Tham số</a:t>
                      </a:r>
                    </a:p>
                  </a:txBody>
                  <a:tcPr anchor="ctr"/>
                </a:tc>
                <a:tc>
                  <a:txBody>
                    <a:bodyPr/>
                    <a:lstStyle/>
                    <a:p>
                      <a:pPr algn="ctr"/>
                      <a:r>
                        <a:rPr lang="en-US"/>
                        <a:t>GT lý thuyết (W)</a:t>
                      </a:r>
                    </a:p>
                  </a:txBody>
                  <a:tcPr anchor="ctr"/>
                </a:tc>
                <a:tc>
                  <a:txBody>
                    <a:bodyPr/>
                    <a:lstStyle/>
                    <a:p>
                      <a:pPr algn="ctr"/>
                      <a:r>
                        <a:rPr lang="en-US"/>
                        <a:t>GT mô phỏng </a:t>
                      </a:r>
                    </a:p>
                    <a:p>
                      <a:pPr algn="ctr"/>
                      <a:r>
                        <a:rPr lang="en-US"/>
                        <a:t>(W)</a:t>
                      </a:r>
                    </a:p>
                  </a:txBody>
                  <a:tcPr anchor="ctr"/>
                </a:tc>
                <a:tc>
                  <a:txBody>
                    <a:bodyPr/>
                    <a:lstStyle/>
                    <a:p>
                      <a:pPr algn="ctr"/>
                      <a:r>
                        <a:rPr lang="en-US"/>
                        <a:t>Sai số</a:t>
                      </a:r>
                    </a:p>
                  </a:txBody>
                  <a:tcPr anchor="ctr"/>
                </a:tc>
                <a:extLst>
                  <a:ext uri="{0D108BD9-81ED-4DB2-BD59-A6C34878D82A}">
                    <a16:rowId xmlns:a16="http://schemas.microsoft.com/office/drawing/2014/main" val="305514116"/>
                  </a:ext>
                </a:extLst>
              </a:tr>
              <a:tr h="434991">
                <a:tc>
                  <a:txBody>
                    <a:bodyPr/>
                    <a:lstStyle/>
                    <a:p>
                      <a:pPr algn="ctr"/>
                      <a:r>
                        <a:rPr lang="en-US"/>
                        <a:t>P1</a:t>
                      </a:r>
                    </a:p>
                  </a:txBody>
                  <a:tcPr anchor="ctr"/>
                </a:tc>
                <a:tc>
                  <a:txBody>
                    <a:bodyPr/>
                    <a:lstStyle/>
                    <a:p>
                      <a:pPr algn="ctr"/>
                      <a:r>
                        <a:rPr lang="en-US"/>
                        <a:t>Công suất bộ 1 ban đầu</a:t>
                      </a:r>
                    </a:p>
                  </a:txBody>
                  <a:tcPr anchor="ctr"/>
                </a:tc>
                <a:tc>
                  <a:txBody>
                    <a:bodyPr/>
                    <a:lstStyle/>
                    <a:p>
                      <a:pPr algn="ctr"/>
                      <a:r>
                        <a:rPr lang="en-US"/>
                        <a:t>2000</a:t>
                      </a:r>
                    </a:p>
                  </a:txBody>
                  <a:tcPr anchor="ctr"/>
                </a:tc>
                <a:tc>
                  <a:txBody>
                    <a:bodyPr/>
                    <a:lstStyle/>
                    <a:p>
                      <a:pPr algn="ctr"/>
                      <a:r>
                        <a:rPr lang="en-US"/>
                        <a:t>2000</a:t>
                      </a:r>
                    </a:p>
                  </a:txBody>
                  <a:tcPr anchor="ctr"/>
                </a:tc>
                <a:tc>
                  <a:txBody>
                    <a:bodyPr/>
                    <a:lstStyle/>
                    <a:p>
                      <a:pPr algn="ctr"/>
                      <a:r>
                        <a:rPr lang="en-US"/>
                        <a:t>0%</a:t>
                      </a:r>
                    </a:p>
                  </a:txBody>
                  <a:tcPr anchor="ctr"/>
                </a:tc>
                <a:extLst>
                  <a:ext uri="{0D108BD9-81ED-4DB2-BD59-A6C34878D82A}">
                    <a16:rowId xmlns:a16="http://schemas.microsoft.com/office/drawing/2014/main" val="2136588521"/>
                  </a:ext>
                </a:extLst>
              </a:tr>
              <a:tr h="217496">
                <a:tc>
                  <a:txBody>
                    <a:bodyPr/>
                    <a:lstStyle/>
                    <a:p>
                      <a:pPr algn="ctr"/>
                      <a:r>
                        <a:rPr lang="en-US"/>
                        <a:t>P2</a:t>
                      </a:r>
                    </a:p>
                  </a:txBody>
                  <a:tcPr anchor="ctr"/>
                </a:tc>
                <a:tc>
                  <a:txBody>
                    <a:bodyPr/>
                    <a:lstStyle/>
                    <a:p>
                      <a:pPr algn="ctr"/>
                      <a:r>
                        <a:rPr lang="en-US"/>
                        <a:t>Công suất bộ 2 ban đầu</a:t>
                      </a:r>
                    </a:p>
                  </a:txBody>
                  <a:tcPr anchor="ctr"/>
                </a:tc>
                <a:tc>
                  <a:txBody>
                    <a:bodyPr/>
                    <a:lstStyle/>
                    <a:p>
                      <a:pPr algn="ctr"/>
                      <a:r>
                        <a:rPr lang="en-US"/>
                        <a:t>2000</a:t>
                      </a:r>
                    </a:p>
                  </a:txBody>
                  <a:tcPr anchor="ctr"/>
                </a:tc>
                <a:tc>
                  <a:txBody>
                    <a:bodyPr/>
                    <a:lstStyle/>
                    <a:p>
                      <a:pPr algn="ctr"/>
                      <a:r>
                        <a:rPr lang="en-US"/>
                        <a:t>2000</a:t>
                      </a:r>
                    </a:p>
                  </a:txBody>
                  <a:tcPr anchor="ctr"/>
                </a:tc>
                <a:tc>
                  <a:txBody>
                    <a:bodyPr/>
                    <a:lstStyle/>
                    <a:p>
                      <a:pPr algn="ctr"/>
                      <a:r>
                        <a:rPr lang="en-US"/>
                        <a:t>0%</a:t>
                      </a:r>
                    </a:p>
                  </a:txBody>
                  <a:tcPr anchor="ctr"/>
                </a:tc>
                <a:extLst>
                  <a:ext uri="{0D108BD9-81ED-4DB2-BD59-A6C34878D82A}">
                    <a16:rowId xmlns:a16="http://schemas.microsoft.com/office/drawing/2014/main" val="2469670652"/>
                  </a:ext>
                </a:extLst>
              </a:tr>
            </a:tbl>
          </a:graphicData>
        </a:graphic>
      </p:graphicFrame>
      <p:graphicFrame>
        <p:nvGraphicFramePr>
          <p:cNvPr id="7" name="Table 10">
            <a:extLst>
              <a:ext uri="{FF2B5EF4-FFF2-40B4-BE49-F238E27FC236}">
                <a16:creationId xmlns:a16="http://schemas.microsoft.com/office/drawing/2014/main" id="{C15F185D-3939-A39B-CE3D-69D56A3994CD}"/>
              </a:ext>
            </a:extLst>
          </p:cNvPr>
          <p:cNvGraphicFramePr>
            <a:graphicFrameLocks noGrp="1"/>
          </p:cNvGraphicFramePr>
          <p:nvPr>
            <p:extLst>
              <p:ext uri="{D42A27DB-BD31-4B8C-83A1-F6EECF244321}">
                <p14:modId xmlns:p14="http://schemas.microsoft.com/office/powerpoint/2010/main" val="2994014462"/>
              </p:ext>
            </p:extLst>
          </p:nvPr>
        </p:nvGraphicFramePr>
        <p:xfrm>
          <a:off x="365616" y="1759835"/>
          <a:ext cx="8025348" cy="1561985"/>
        </p:xfrm>
        <a:graphic>
          <a:graphicData uri="http://schemas.openxmlformats.org/drawingml/2006/table">
            <a:tbl>
              <a:tblPr firstRow="1" bandRow="1">
                <a:tableStyleId>{5C22544A-7EE6-4342-B048-85BDC9FD1C3A}</a:tableStyleId>
              </a:tblPr>
              <a:tblGrid>
                <a:gridCol w="801754">
                  <a:extLst>
                    <a:ext uri="{9D8B030D-6E8A-4147-A177-3AD203B41FA5}">
                      <a16:colId xmlns:a16="http://schemas.microsoft.com/office/drawing/2014/main" val="3998854459"/>
                    </a:ext>
                  </a:extLst>
                </a:gridCol>
                <a:gridCol w="2991666">
                  <a:extLst>
                    <a:ext uri="{9D8B030D-6E8A-4147-A177-3AD203B41FA5}">
                      <a16:colId xmlns:a16="http://schemas.microsoft.com/office/drawing/2014/main" val="3372512979"/>
                    </a:ext>
                  </a:extLst>
                </a:gridCol>
                <a:gridCol w="1695429">
                  <a:extLst>
                    <a:ext uri="{9D8B030D-6E8A-4147-A177-3AD203B41FA5}">
                      <a16:colId xmlns:a16="http://schemas.microsoft.com/office/drawing/2014/main" val="1462865521"/>
                    </a:ext>
                  </a:extLst>
                </a:gridCol>
                <a:gridCol w="1689335">
                  <a:extLst>
                    <a:ext uri="{9D8B030D-6E8A-4147-A177-3AD203B41FA5}">
                      <a16:colId xmlns:a16="http://schemas.microsoft.com/office/drawing/2014/main" val="156630398"/>
                    </a:ext>
                  </a:extLst>
                </a:gridCol>
                <a:gridCol w="847164">
                  <a:extLst>
                    <a:ext uri="{9D8B030D-6E8A-4147-A177-3AD203B41FA5}">
                      <a16:colId xmlns:a16="http://schemas.microsoft.com/office/drawing/2014/main" val="3496083406"/>
                    </a:ext>
                  </a:extLst>
                </a:gridCol>
              </a:tblGrid>
              <a:tr h="761234">
                <a:tc>
                  <a:txBody>
                    <a:bodyPr/>
                    <a:lstStyle/>
                    <a:p>
                      <a:pPr algn="ctr"/>
                      <a:r>
                        <a:rPr lang="en-US"/>
                        <a:t>Kết quả</a:t>
                      </a:r>
                    </a:p>
                  </a:txBody>
                  <a:tcPr anchor="ctr"/>
                </a:tc>
                <a:tc>
                  <a:txBody>
                    <a:bodyPr/>
                    <a:lstStyle/>
                    <a:p>
                      <a:pPr algn="ctr"/>
                      <a:r>
                        <a:rPr lang="en-US"/>
                        <a:t>Tham </a:t>
                      </a:r>
                      <a:r>
                        <a:rPr lang="en-US" err="1"/>
                        <a:t>số</a:t>
                      </a:r>
                      <a:endParaRPr lang="en-US"/>
                    </a:p>
                  </a:txBody>
                  <a:tcPr anchor="ctr"/>
                </a:tc>
                <a:tc>
                  <a:txBody>
                    <a:bodyPr/>
                    <a:lstStyle/>
                    <a:p>
                      <a:pPr algn="ctr"/>
                      <a:r>
                        <a:rPr lang="en-US"/>
                        <a:t>GT lý thuyết</a:t>
                      </a:r>
                    </a:p>
                  </a:txBody>
                  <a:tcPr anchor="ctr"/>
                </a:tc>
                <a:tc>
                  <a:txBody>
                    <a:bodyPr/>
                    <a:lstStyle/>
                    <a:p>
                      <a:pPr algn="ctr"/>
                      <a:r>
                        <a:rPr lang="en-US"/>
                        <a:t>GT mô phỏng </a:t>
                      </a:r>
                    </a:p>
                  </a:txBody>
                  <a:tcPr anchor="ctr"/>
                </a:tc>
                <a:tc>
                  <a:txBody>
                    <a:bodyPr/>
                    <a:lstStyle/>
                    <a:p>
                      <a:pPr algn="ctr"/>
                      <a:r>
                        <a:rPr lang="en-US"/>
                        <a:t>Sai số</a:t>
                      </a:r>
                    </a:p>
                  </a:txBody>
                  <a:tcPr anchor="ctr"/>
                </a:tc>
                <a:extLst>
                  <a:ext uri="{0D108BD9-81ED-4DB2-BD59-A6C34878D82A}">
                    <a16:rowId xmlns:a16="http://schemas.microsoft.com/office/drawing/2014/main" val="305514116"/>
                  </a:ext>
                </a:extLst>
              </a:tr>
              <a:tr h="434991">
                <a:tc>
                  <a:txBody>
                    <a:bodyPr/>
                    <a:lstStyle/>
                    <a:p>
                      <a:pPr algn="ctr"/>
                      <a:r>
                        <a:rPr lang="en-US" i="1" err="1">
                          <a:latin typeface="Times New Roman" panose="02020603050405020304" pitchFamily="18" charset="0"/>
                          <a:cs typeface="Times New Roman" panose="02020603050405020304" pitchFamily="18" charset="0"/>
                        </a:rPr>
                        <a:t>V</a:t>
                      </a:r>
                      <a:r>
                        <a:rPr lang="en-US" i="1" baseline="-25000" err="1">
                          <a:latin typeface="Times New Roman" panose="02020603050405020304" pitchFamily="18" charset="0"/>
                          <a:cs typeface="Times New Roman" panose="02020603050405020304" pitchFamily="18" charset="0"/>
                        </a:rPr>
                        <a:t>oc</a:t>
                      </a:r>
                      <a:endParaRPr lang="en-US" i="1">
                        <a:latin typeface="Times New Roman" panose="02020603050405020304" pitchFamily="18" charset="0"/>
                        <a:cs typeface="Times New Roman" panose="02020603050405020304" pitchFamily="18" charset="0"/>
                      </a:endParaRPr>
                    </a:p>
                  </a:txBody>
                  <a:tcPr anchor="ctr"/>
                </a:tc>
                <a:tc>
                  <a:txBody>
                    <a:bodyPr/>
                    <a:lstStyle/>
                    <a:p>
                      <a:pPr algn="ctr"/>
                      <a:r>
                        <a:rPr lang="en-US" err="1"/>
                        <a:t>Điện</a:t>
                      </a:r>
                      <a:r>
                        <a:rPr lang="en-US"/>
                        <a:t> </a:t>
                      </a:r>
                      <a:r>
                        <a:rPr lang="en-US" err="1"/>
                        <a:t>áp</a:t>
                      </a:r>
                      <a:r>
                        <a:rPr lang="en-US"/>
                        <a:t> </a:t>
                      </a:r>
                      <a:r>
                        <a:rPr lang="en-US" err="1"/>
                        <a:t>hở</a:t>
                      </a:r>
                      <a:r>
                        <a:rPr lang="en-US"/>
                        <a:t> </a:t>
                      </a:r>
                      <a:r>
                        <a:rPr lang="en-US" err="1"/>
                        <a:t>mạch</a:t>
                      </a:r>
                      <a:endParaRPr lang="en-US"/>
                    </a:p>
                  </a:txBody>
                  <a:tcPr anchor="ctr"/>
                </a:tc>
                <a:tc>
                  <a:txBody>
                    <a:bodyPr/>
                    <a:lstStyle/>
                    <a:p>
                      <a:pPr algn="ctr"/>
                      <a:r>
                        <a:rPr lang="en-US"/>
                        <a:t>220 V</a:t>
                      </a:r>
                    </a:p>
                  </a:txBody>
                  <a:tcPr anchor="ctr"/>
                </a:tc>
                <a:tc>
                  <a:txBody>
                    <a:bodyPr/>
                    <a:lstStyle/>
                    <a:p>
                      <a:pPr algn="ctr"/>
                      <a:r>
                        <a:rPr lang="en-US"/>
                        <a:t>220 V</a:t>
                      </a:r>
                    </a:p>
                  </a:txBody>
                  <a:tcPr anchor="ctr"/>
                </a:tc>
                <a:tc>
                  <a:txBody>
                    <a:bodyPr/>
                    <a:lstStyle/>
                    <a:p>
                      <a:pPr algn="ctr"/>
                      <a:r>
                        <a:rPr lang="en-US"/>
                        <a:t>0%</a:t>
                      </a:r>
                    </a:p>
                  </a:txBody>
                  <a:tcPr anchor="ctr"/>
                </a:tc>
                <a:extLst>
                  <a:ext uri="{0D108BD9-81ED-4DB2-BD59-A6C34878D82A}">
                    <a16:rowId xmlns:a16="http://schemas.microsoft.com/office/drawing/2014/main" val="2136588521"/>
                  </a:ext>
                </a:extLst>
              </a:tr>
              <a:tr h="217496">
                <a:tc>
                  <a:txBody>
                    <a:bodyPr/>
                    <a:lstStyle/>
                    <a:p>
                      <a:pPr algn="ctr"/>
                      <a:r>
                        <a:rPr lang="en-US" i="1">
                          <a:latin typeface="Times New Roman" panose="02020603050405020304" pitchFamily="18" charset="0"/>
                          <a:cs typeface="Times New Roman" panose="02020603050405020304" pitchFamily="18" charset="0"/>
                        </a:rPr>
                        <a:t>t</a:t>
                      </a:r>
                      <a:r>
                        <a:rPr lang="en-US" i="1" baseline="-25000">
                          <a:latin typeface="Times New Roman" panose="02020603050405020304" pitchFamily="18" charset="0"/>
                          <a:cs typeface="Times New Roman" panose="02020603050405020304" pitchFamily="18" charset="0"/>
                        </a:rPr>
                        <a:t>rise</a:t>
                      </a:r>
                      <a:endParaRPr lang="en-US" i="1">
                        <a:latin typeface="Times New Roman" panose="02020603050405020304" pitchFamily="18" charset="0"/>
                        <a:cs typeface="Times New Roman" panose="02020603050405020304" pitchFamily="18" charset="0"/>
                      </a:endParaRPr>
                    </a:p>
                  </a:txBody>
                  <a:tcPr anchor="ctr"/>
                </a:tc>
                <a:tc>
                  <a:txBody>
                    <a:bodyPr/>
                    <a:lstStyle/>
                    <a:p>
                      <a:pPr algn="ctr"/>
                      <a:r>
                        <a:rPr lang="en-US" err="1"/>
                        <a:t>Thời</a:t>
                      </a:r>
                      <a:r>
                        <a:rPr lang="en-US"/>
                        <a:t> </a:t>
                      </a:r>
                      <a:r>
                        <a:rPr lang="en-US" err="1"/>
                        <a:t>gian</a:t>
                      </a:r>
                      <a:r>
                        <a:rPr lang="en-US"/>
                        <a:t> </a:t>
                      </a:r>
                      <a:r>
                        <a:rPr lang="en-US" err="1"/>
                        <a:t>tăng</a:t>
                      </a:r>
                      <a:r>
                        <a:rPr lang="en-US"/>
                        <a:t> </a:t>
                      </a:r>
                      <a:r>
                        <a:rPr lang="en-US" err="1"/>
                        <a:t>điện</a:t>
                      </a:r>
                      <a:r>
                        <a:rPr lang="en-US"/>
                        <a:t> </a:t>
                      </a:r>
                      <a:r>
                        <a:rPr lang="en-US" err="1"/>
                        <a:t>áp</a:t>
                      </a: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err="1">
                          <a:latin typeface="Times New Roman" panose="02020603050405020304" pitchFamily="18" charset="0"/>
                          <a:cs typeface="Times New Roman" panose="02020603050405020304" pitchFamily="18" charset="0"/>
                        </a:rPr>
                        <a:t>t</a:t>
                      </a:r>
                      <a:r>
                        <a:rPr lang="en-US" i="1" baseline="-25000" err="1">
                          <a:latin typeface="Times New Roman" panose="02020603050405020304" pitchFamily="18" charset="0"/>
                          <a:cs typeface="Times New Roman" panose="02020603050405020304" pitchFamily="18" charset="0"/>
                        </a:rPr>
                        <a:t>rise</a:t>
                      </a:r>
                      <a:r>
                        <a:rPr lang="en-US" i="1" baseline="-25000">
                          <a:latin typeface="Times New Roman" panose="02020603050405020304" pitchFamily="18" charset="0"/>
                          <a:cs typeface="Times New Roman" panose="02020603050405020304" pitchFamily="18" charset="0"/>
                        </a:rPr>
                        <a:t>  </a:t>
                      </a:r>
                      <a:r>
                        <a:rPr lang="en-US"/>
                        <a:t>&lt; 0.1s</a:t>
                      </a:r>
                    </a:p>
                  </a:txBody>
                  <a:tcPr anchor="ctr"/>
                </a:tc>
                <a:tc>
                  <a:txBody>
                    <a:bodyPr/>
                    <a:lstStyle/>
                    <a:p>
                      <a:pPr algn="ctr"/>
                      <a:r>
                        <a:rPr lang="en-US"/>
                        <a:t>0,1s</a:t>
                      </a:r>
                    </a:p>
                  </a:txBody>
                  <a:tcPr anchor="ctr"/>
                </a:tc>
                <a:tc>
                  <a:txBody>
                    <a:bodyPr/>
                    <a:lstStyle/>
                    <a:p>
                      <a:pPr algn="ctr"/>
                      <a:r>
                        <a:rPr lang="en-US"/>
                        <a:t>0</a:t>
                      </a:r>
                    </a:p>
                  </a:txBody>
                  <a:tcPr anchor="ctr"/>
                </a:tc>
                <a:extLst>
                  <a:ext uri="{0D108BD9-81ED-4DB2-BD59-A6C34878D82A}">
                    <a16:rowId xmlns:a16="http://schemas.microsoft.com/office/drawing/2014/main" val="2469670652"/>
                  </a:ext>
                </a:extLst>
              </a:tr>
            </a:tbl>
          </a:graphicData>
        </a:graphic>
      </p:graphicFrame>
      <p:sp>
        <p:nvSpPr>
          <p:cNvPr id="8" name="TextBox 3">
            <a:extLst>
              <a:ext uri="{FF2B5EF4-FFF2-40B4-BE49-F238E27FC236}">
                <a16:creationId xmlns:a16="http://schemas.microsoft.com/office/drawing/2014/main" id="{6DC20C6A-B910-D425-8CCC-FE738AB1193A}"/>
              </a:ext>
            </a:extLst>
          </p:cNvPr>
          <p:cNvSpPr txBox="1"/>
          <p:nvPr/>
        </p:nvSpPr>
        <p:spPr>
          <a:xfrm>
            <a:off x="7466141" y="3536181"/>
            <a:ext cx="4360243" cy="1938992"/>
          </a:xfrm>
          <a:prstGeom prst="rect">
            <a:avLst/>
          </a:prstGeom>
          <a:noFill/>
        </p:spPr>
        <p:txBody>
          <a:bodyPr wrap="square" rtlCol="0">
            <a:spAutoFit/>
          </a:bodyPr>
          <a:lstStyle/>
          <a:p>
            <a:r>
              <a:rPr lang="en-US" sz="2000" b="1" err="1">
                <a:latin typeface="Times New Roman" panose="02020603050405020304" pitchFamily="18" charset="0"/>
                <a:cs typeface="Times New Roman" panose="02020603050405020304" pitchFamily="18" charset="0"/>
              </a:rPr>
              <a:t>Nhận</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xét</a:t>
            </a:r>
            <a:r>
              <a:rPr lang="en-US" sz="2000" b="1">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Ta </a:t>
            </a:r>
            <a:r>
              <a:rPr lang="en-US" sz="2000" err="1">
                <a:latin typeface="Times New Roman" panose="02020603050405020304" pitchFamily="18" charset="0"/>
                <a:cs typeface="Times New Roman" panose="02020603050405020304" pitchFamily="18" charset="0"/>
              </a:rPr>
              <a:t>thấy</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tổng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công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suất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đầu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ra</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của</a:t>
            </a:r>
            <a:r>
              <a:rPr lang="en-US" sz="2000">
                <a:latin typeface="Times New Roman" panose="02020603050405020304" pitchFamily="18" charset="0"/>
                <a:cs typeface="Times New Roman" panose="02020603050405020304" pitchFamily="18" charset="0"/>
              </a:rPr>
              <a:t> 2 </a:t>
            </a:r>
            <a:r>
              <a:rPr lang="en-US" sz="2000" err="1">
                <a:latin typeface="Times New Roman" panose="02020603050405020304" pitchFamily="18" charset="0"/>
                <a:cs typeface="Times New Roman" panose="02020603050405020304" pitchFamily="18" charset="0"/>
              </a:rPr>
              <a:t>bộ</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nghịch</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lưu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bám</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sát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giá</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trị</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đặt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sai</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số</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nhỏ</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đảm</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bảo</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tỷ</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lệ</a:t>
            </a:r>
            <a:r>
              <a:rPr lang="en-US" sz="2000">
                <a:latin typeface="Times New Roman" panose="02020603050405020304" pitchFamily="18" charset="0"/>
                <a:cs typeface="Times New Roman" panose="02020603050405020304" pitchFamily="18" charset="0"/>
              </a:rPr>
              <a:t> chia </a:t>
            </a:r>
            <a:r>
              <a:rPr lang="en-US" sz="2000" err="1">
                <a:latin typeface="Times New Roman" panose="02020603050405020304" pitchFamily="18" charset="0"/>
                <a:cs typeface="Times New Roman" panose="02020603050405020304" pitchFamily="18" charset="0"/>
              </a:rPr>
              <a:t>sẻ</a:t>
            </a:r>
            <a:r>
              <a:rPr lang="en-US" sz="2000">
                <a:latin typeface="Times New Roman" panose="02020603050405020304" pitchFamily="18" charset="0"/>
                <a:cs typeface="Times New Roman" panose="02020603050405020304" pitchFamily="18" charset="0"/>
              </a:rPr>
              <a:t> 1:1</a:t>
            </a:r>
          </a:p>
          <a:p>
            <a:pPr marL="342900" indent="-342900">
              <a:buFont typeface="Arial" panose="020B0604020202020204" pitchFamily="34" charset="0"/>
              <a:buChar char="•"/>
            </a:pPr>
            <a:r>
              <a:rPr lang="en-US" sz="2000" err="1">
                <a:latin typeface="Times New Roman" panose="02020603050405020304" pitchFamily="18" charset="0"/>
                <a:cs typeface="Times New Roman" panose="02020603050405020304" pitchFamily="18" charset="0"/>
              </a:rPr>
              <a:t>Điện</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áp</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đầu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ra</a:t>
            </a:r>
            <a:r>
              <a:rPr lang="en-US" sz="2000">
                <a:latin typeface="Times New Roman" panose="02020603050405020304" pitchFamily="18" charset="0"/>
                <a:cs typeface="Times New Roman" panose="02020603050405020304" pitchFamily="18" charset="0"/>
              </a:rPr>
              <a:t> 2 </a:t>
            </a:r>
            <a:r>
              <a:rPr lang="en-US" sz="2000" err="1">
                <a:latin typeface="Times New Roman" panose="02020603050405020304" pitchFamily="18" charset="0"/>
                <a:cs typeface="Times New Roman" panose="02020603050405020304" pitchFamily="18" charset="0"/>
              </a:rPr>
              <a:t>bộ</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không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thay</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đổi</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trong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suốt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quá</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trình</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mô</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phỏng</a:t>
            </a:r>
            <a:endParaRPr lang="en-US" sz="2000">
              <a:latin typeface="Times New Roman" panose="02020603050405020304" pitchFamily="18" charset="0"/>
              <a:cs typeface="Times New Roman" panose="02020603050405020304" pitchFamily="18" charset="0"/>
            </a:endParaRPr>
          </a:p>
        </p:txBody>
      </p:sp>
      <p:sp>
        <p:nvSpPr>
          <p:cNvPr id="5" name="Hộp Văn bản 4">
            <a:extLst>
              <a:ext uri="{FF2B5EF4-FFF2-40B4-BE49-F238E27FC236}">
                <a16:creationId xmlns:a16="http://schemas.microsoft.com/office/drawing/2014/main" id="{A1100860-62C9-0DD0-C426-4BF66B812ABC}"/>
              </a:ext>
            </a:extLst>
          </p:cNvPr>
          <p:cNvSpPr txBox="1"/>
          <p:nvPr/>
        </p:nvSpPr>
        <p:spPr>
          <a:xfrm>
            <a:off x="510284" y="833516"/>
            <a:ext cx="6055886" cy="369332"/>
          </a:xfrm>
          <a:prstGeom prst="rect">
            <a:avLst/>
          </a:prstGeom>
          <a:noFill/>
        </p:spPr>
        <p:txBody>
          <a:bodyPr wrap="square">
            <a:spAutoFit/>
          </a:bodyPr>
          <a:lstStyle/>
          <a:p>
            <a:r>
              <a:rPr lang="vi-VN" b="1"/>
              <a:t>6.2. Mô phỏng</a:t>
            </a:r>
            <a:endParaRPr lang="en-ID" b="1"/>
          </a:p>
        </p:txBody>
      </p:sp>
    </p:spTree>
    <p:extLst>
      <p:ext uri="{BB962C8B-B14F-4D97-AF65-F5344CB8AC3E}">
        <p14:creationId xmlns:p14="http://schemas.microsoft.com/office/powerpoint/2010/main" val="199097604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59834-8948-32BC-AAF3-7FD1707233B9}"/>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031F0BC-CA7A-B6FD-E957-8854B335E25D}"/>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F130DCA9-4388-D2B3-080C-1311BA187A71}"/>
              </a:ext>
            </a:extLst>
          </p:cNvPr>
          <p:cNvSpPr>
            <a:spLocks noGrp="1"/>
          </p:cNvSpPr>
          <p:nvPr>
            <p:ph type="sldNum" sz="quarter" idx="12"/>
          </p:nvPr>
        </p:nvSpPr>
        <p:spPr/>
        <p:txBody>
          <a:bodyPr/>
          <a:lstStyle/>
          <a:p>
            <a:fld id="{931DD963-FD40-4A6D-88A9-402A489E81DE}" type="slidenum">
              <a:rPr lang="en-US" smtClean="0"/>
              <a:t>113</a:t>
            </a:fld>
            <a:endParaRPr lang="en-US"/>
          </a:p>
        </p:txBody>
      </p:sp>
      <p:grpSp>
        <p:nvGrpSpPr>
          <p:cNvPr id="10" name="Group 9">
            <a:extLst>
              <a:ext uri="{FF2B5EF4-FFF2-40B4-BE49-F238E27FC236}">
                <a16:creationId xmlns:a16="http://schemas.microsoft.com/office/drawing/2014/main" id="{A8768C98-CDA6-AA58-E584-404703D241F6}"/>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790F6620-B4D9-EA1E-0672-009843BE9F52}"/>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51713881-1630-05C1-FE61-A8F629EC11EF}"/>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
        <p:nvSpPr>
          <p:cNvPr id="4" name="Hộp Văn bản 3">
            <a:extLst>
              <a:ext uri="{FF2B5EF4-FFF2-40B4-BE49-F238E27FC236}">
                <a16:creationId xmlns:a16="http://schemas.microsoft.com/office/drawing/2014/main" id="{3CD46D7B-ACD4-2CAA-87E1-9D4DC3B67EEC}"/>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vi-VN" sz="2000" b="1">
                <a:solidFill>
                  <a:prstClr val="black"/>
                </a:solidFill>
                <a:latin typeface="Times New Roman" panose="02020603050405020304" pitchFamily="18" charset="0"/>
                <a:cs typeface="Times New Roman" panose="02020603050405020304" pitchFamily="18" charset="0"/>
              </a:rPr>
              <a:t>6.2.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F806281-BEE9-513D-7A3C-4EC5B843A64E}"/>
              </a:ext>
            </a:extLst>
          </p:cNvPr>
          <p:cNvSpPr txBox="1"/>
          <p:nvPr/>
        </p:nvSpPr>
        <p:spPr>
          <a:xfrm>
            <a:off x="413529" y="1333504"/>
            <a:ext cx="11182350" cy="646331"/>
          </a:xfrm>
          <a:prstGeom prst="rect">
            <a:avLst/>
          </a:prstGeom>
          <a:noFill/>
        </p:spPr>
        <p:txBody>
          <a:bodyPr wrap="square" rtlCol="0">
            <a:spAutoFit/>
          </a:bodyPr>
          <a:lstStyle/>
          <a:p>
            <a:r>
              <a:rPr lang="vi-VN"/>
              <a:t>Kịch bản 2: Mô phỏng 2 inverter làm việc song song với tải công suất 4000W + 2000VA. Tỉ lệ chia sẻ công suất 1:1</a:t>
            </a:r>
            <a:endParaRPr lang="en-ID"/>
          </a:p>
        </p:txBody>
      </p:sp>
      <p:pic>
        <p:nvPicPr>
          <p:cNvPr id="7" name="Hình ảnh 6">
            <a:extLst>
              <a:ext uri="{FF2B5EF4-FFF2-40B4-BE49-F238E27FC236}">
                <a16:creationId xmlns:a16="http://schemas.microsoft.com/office/drawing/2014/main" id="{2E2D92E7-F41A-1F41-E6DE-E98BDEB23678}"/>
              </a:ext>
            </a:extLst>
          </p:cNvPr>
          <p:cNvPicPr>
            <a:picLocks noChangeAspect="1"/>
          </p:cNvPicPr>
          <p:nvPr/>
        </p:nvPicPr>
        <p:blipFill>
          <a:blip r:embed="rId2"/>
          <a:stretch>
            <a:fillRect/>
          </a:stretch>
        </p:blipFill>
        <p:spPr>
          <a:xfrm>
            <a:off x="596121" y="1974971"/>
            <a:ext cx="10731230" cy="4412394"/>
          </a:xfrm>
          <a:prstGeom prst="rect">
            <a:avLst/>
          </a:prstGeom>
        </p:spPr>
      </p:pic>
    </p:spTree>
    <p:extLst>
      <p:ext uri="{BB962C8B-B14F-4D97-AF65-F5344CB8AC3E}">
        <p14:creationId xmlns:p14="http://schemas.microsoft.com/office/powerpoint/2010/main" val="20642913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24C23-9894-52D7-EA4B-7E32C680DF2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6EF41B1-337C-57B8-1333-4CF2F9A0A5EC}"/>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FB75FC43-4706-DF56-EE2D-2B90006C2A20}"/>
              </a:ext>
            </a:extLst>
          </p:cNvPr>
          <p:cNvSpPr>
            <a:spLocks noGrp="1"/>
          </p:cNvSpPr>
          <p:nvPr>
            <p:ph type="sldNum" sz="quarter" idx="12"/>
          </p:nvPr>
        </p:nvSpPr>
        <p:spPr/>
        <p:txBody>
          <a:bodyPr/>
          <a:lstStyle/>
          <a:p>
            <a:fld id="{931DD963-FD40-4A6D-88A9-402A489E81DE}" type="slidenum">
              <a:rPr lang="en-US" smtClean="0"/>
              <a:t>114</a:t>
            </a:fld>
            <a:endParaRPr lang="en-US"/>
          </a:p>
        </p:txBody>
      </p:sp>
      <p:grpSp>
        <p:nvGrpSpPr>
          <p:cNvPr id="10" name="Group 9">
            <a:extLst>
              <a:ext uri="{FF2B5EF4-FFF2-40B4-BE49-F238E27FC236}">
                <a16:creationId xmlns:a16="http://schemas.microsoft.com/office/drawing/2014/main" id="{1F215A44-E30C-BFEB-17AA-98CB6BB1BA2C}"/>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D963533B-C579-147E-764B-4F36447AFEC8}"/>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01F7F7B3-E327-3890-4521-94310B95F31C}"/>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
        <p:nvSpPr>
          <p:cNvPr id="4" name="Hộp Văn bản 3">
            <a:extLst>
              <a:ext uri="{FF2B5EF4-FFF2-40B4-BE49-F238E27FC236}">
                <a16:creationId xmlns:a16="http://schemas.microsoft.com/office/drawing/2014/main" id="{DAC8D6A9-5105-AEC2-FFA4-BAD375B4B08C}"/>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vi-VN" sz="2000" b="1">
                <a:solidFill>
                  <a:prstClr val="black"/>
                </a:solidFill>
                <a:latin typeface="Times New Roman" panose="02020603050405020304" pitchFamily="18" charset="0"/>
                <a:cs typeface="Times New Roman" panose="02020603050405020304" pitchFamily="18" charset="0"/>
              </a:rPr>
              <a:t>6.2.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6" name="Hộp Văn bản 5">
            <a:extLst>
              <a:ext uri="{FF2B5EF4-FFF2-40B4-BE49-F238E27FC236}">
                <a16:creationId xmlns:a16="http://schemas.microsoft.com/office/drawing/2014/main" id="{9242F171-D953-4B9A-B4B2-983A18B80CAE}"/>
              </a:ext>
            </a:extLst>
          </p:cNvPr>
          <p:cNvSpPr txBox="1"/>
          <p:nvPr/>
        </p:nvSpPr>
        <p:spPr>
          <a:xfrm>
            <a:off x="413529" y="1333504"/>
            <a:ext cx="6094378" cy="369332"/>
          </a:xfrm>
          <a:prstGeom prst="rect">
            <a:avLst/>
          </a:prstGeom>
          <a:noFill/>
        </p:spPr>
        <p:txBody>
          <a:bodyPr wrap="square">
            <a:spAutoFit/>
          </a:bodyPr>
          <a:lstStyle/>
          <a:p>
            <a:r>
              <a:rPr lang="vi-VN"/>
              <a:t>Kết quả:</a:t>
            </a:r>
            <a:endParaRPr lang="en-ID"/>
          </a:p>
        </p:txBody>
      </p:sp>
      <p:pic>
        <p:nvPicPr>
          <p:cNvPr id="8" name="Hình ảnh 7">
            <a:extLst>
              <a:ext uri="{FF2B5EF4-FFF2-40B4-BE49-F238E27FC236}">
                <a16:creationId xmlns:a16="http://schemas.microsoft.com/office/drawing/2014/main" id="{5DE84774-7D4A-E7E2-5C83-BB90F9C0D707}"/>
              </a:ext>
            </a:extLst>
          </p:cNvPr>
          <p:cNvPicPr>
            <a:picLocks noChangeAspect="1"/>
          </p:cNvPicPr>
          <p:nvPr/>
        </p:nvPicPr>
        <p:blipFill>
          <a:blip r:embed="rId2"/>
          <a:stretch>
            <a:fillRect/>
          </a:stretch>
        </p:blipFill>
        <p:spPr>
          <a:xfrm>
            <a:off x="1135124" y="1733614"/>
            <a:ext cx="10028573" cy="4638215"/>
          </a:xfrm>
          <a:prstGeom prst="rect">
            <a:avLst/>
          </a:prstGeom>
        </p:spPr>
      </p:pic>
      <p:sp>
        <p:nvSpPr>
          <p:cNvPr id="11" name="Hộp Văn bản 10">
            <a:extLst>
              <a:ext uri="{FF2B5EF4-FFF2-40B4-BE49-F238E27FC236}">
                <a16:creationId xmlns:a16="http://schemas.microsoft.com/office/drawing/2014/main" id="{4E0FBEAC-6891-5467-CEDE-4FF7FB911F60}"/>
              </a:ext>
            </a:extLst>
          </p:cNvPr>
          <p:cNvSpPr txBox="1"/>
          <p:nvPr/>
        </p:nvSpPr>
        <p:spPr>
          <a:xfrm>
            <a:off x="4146415" y="6371829"/>
            <a:ext cx="4987857" cy="369332"/>
          </a:xfrm>
          <a:prstGeom prst="rect">
            <a:avLst/>
          </a:prstGeom>
          <a:noFill/>
        </p:spPr>
        <p:txBody>
          <a:bodyPr wrap="square">
            <a:spAutoFit/>
          </a:bodyPr>
          <a:lstStyle/>
          <a:p>
            <a:r>
              <a:rPr lang="vi-VN"/>
              <a:t>So sánh đáp ứng dòng và đầu ra bộ DOB</a:t>
            </a:r>
            <a:endParaRPr lang="en-ID"/>
          </a:p>
        </p:txBody>
      </p:sp>
    </p:spTree>
    <p:extLst>
      <p:ext uri="{BB962C8B-B14F-4D97-AF65-F5344CB8AC3E}">
        <p14:creationId xmlns:p14="http://schemas.microsoft.com/office/powerpoint/2010/main" val="125993229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D617D-2EA8-BDDC-019E-97E50048D60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FCCCBB1-91FC-87DC-E764-6D3C7219F945}"/>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156EC87C-C69A-1300-D080-65DEC1025FFE}"/>
              </a:ext>
            </a:extLst>
          </p:cNvPr>
          <p:cNvSpPr>
            <a:spLocks noGrp="1"/>
          </p:cNvSpPr>
          <p:nvPr>
            <p:ph type="sldNum" sz="quarter" idx="12"/>
          </p:nvPr>
        </p:nvSpPr>
        <p:spPr/>
        <p:txBody>
          <a:bodyPr/>
          <a:lstStyle/>
          <a:p>
            <a:fld id="{931DD963-FD40-4A6D-88A9-402A489E81DE}" type="slidenum">
              <a:rPr lang="en-US" smtClean="0"/>
              <a:t>115</a:t>
            </a:fld>
            <a:endParaRPr lang="en-US"/>
          </a:p>
        </p:txBody>
      </p:sp>
      <p:grpSp>
        <p:nvGrpSpPr>
          <p:cNvPr id="10" name="Group 9">
            <a:extLst>
              <a:ext uri="{FF2B5EF4-FFF2-40B4-BE49-F238E27FC236}">
                <a16:creationId xmlns:a16="http://schemas.microsoft.com/office/drawing/2014/main" id="{DED7D3A6-550F-AA80-5D36-D38964287379}"/>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A1A5E89A-770A-6FE6-C568-00D274DB59B7}"/>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8E423E4B-86FF-158A-4EC2-82363DEDE176}"/>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
        <p:nvSpPr>
          <p:cNvPr id="4" name="Hộp Văn bản 3">
            <a:extLst>
              <a:ext uri="{FF2B5EF4-FFF2-40B4-BE49-F238E27FC236}">
                <a16:creationId xmlns:a16="http://schemas.microsoft.com/office/drawing/2014/main" id="{B9D5286F-550C-D51A-3B9A-E5406BC88CE7}"/>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vi-VN" sz="2000" b="1">
                <a:solidFill>
                  <a:prstClr val="black"/>
                </a:solidFill>
                <a:latin typeface="Times New Roman" panose="02020603050405020304" pitchFamily="18" charset="0"/>
                <a:cs typeface="Times New Roman" panose="02020603050405020304" pitchFamily="18" charset="0"/>
              </a:rPr>
              <a:t>6.2.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6" name="Hình ảnh 5">
            <a:extLst>
              <a:ext uri="{FF2B5EF4-FFF2-40B4-BE49-F238E27FC236}">
                <a16:creationId xmlns:a16="http://schemas.microsoft.com/office/drawing/2014/main" id="{441D8E56-4D3D-58F2-7D7C-09DE5032B895}"/>
              </a:ext>
            </a:extLst>
          </p:cNvPr>
          <p:cNvPicPr>
            <a:picLocks noChangeAspect="1"/>
          </p:cNvPicPr>
          <p:nvPr/>
        </p:nvPicPr>
        <p:blipFill>
          <a:blip r:embed="rId2"/>
          <a:stretch>
            <a:fillRect/>
          </a:stretch>
        </p:blipFill>
        <p:spPr>
          <a:xfrm>
            <a:off x="690663" y="1333504"/>
            <a:ext cx="10557753" cy="4907512"/>
          </a:xfrm>
          <a:prstGeom prst="rect">
            <a:avLst/>
          </a:prstGeom>
        </p:spPr>
      </p:pic>
      <p:sp>
        <p:nvSpPr>
          <p:cNvPr id="7" name="Hộp Văn bản 6">
            <a:extLst>
              <a:ext uri="{FF2B5EF4-FFF2-40B4-BE49-F238E27FC236}">
                <a16:creationId xmlns:a16="http://schemas.microsoft.com/office/drawing/2014/main" id="{96F7B345-1A1B-D9DB-DA0C-5071812413A8}"/>
              </a:ext>
            </a:extLst>
          </p:cNvPr>
          <p:cNvSpPr txBox="1"/>
          <p:nvPr/>
        </p:nvSpPr>
        <p:spPr>
          <a:xfrm>
            <a:off x="4000501" y="6270113"/>
            <a:ext cx="4987857" cy="369332"/>
          </a:xfrm>
          <a:prstGeom prst="rect">
            <a:avLst/>
          </a:prstGeom>
          <a:noFill/>
        </p:spPr>
        <p:txBody>
          <a:bodyPr wrap="square">
            <a:spAutoFit/>
          </a:bodyPr>
          <a:lstStyle/>
          <a:p>
            <a:pPr algn="ctr"/>
            <a:r>
              <a:rPr lang="vi-VN"/>
              <a:t>Đáp ứng điện áp đầu ra</a:t>
            </a:r>
            <a:endParaRPr lang="en-ID"/>
          </a:p>
        </p:txBody>
      </p:sp>
    </p:spTree>
    <p:extLst>
      <p:ext uri="{BB962C8B-B14F-4D97-AF65-F5344CB8AC3E}">
        <p14:creationId xmlns:p14="http://schemas.microsoft.com/office/powerpoint/2010/main" val="90437549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66309-178F-BA50-08E9-E0D918D52E1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8329F25-D090-9CF0-3E0C-A5E645E2AFC8}"/>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A5AC8228-075B-4E02-627D-3F94E904A748}"/>
              </a:ext>
            </a:extLst>
          </p:cNvPr>
          <p:cNvSpPr>
            <a:spLocks noGrp="1"/>
          </p:cNvSpPr>
          <p:nvPr>
            <p:ph type="sldNum" sz="quarter" idx="12"/>
          </p:nvPr>
        </p:nvSpPr>
        <p:spPr/>
        <p:txBody>
          <a:bodyPr/>
          <a:lstStyle/>
          <a:p>
            <a:fld id="{931DD963-FD40-4A6D-88A9-402A489E81DE}" type="slidenum">
              <a:rPr lang="en-US" smtClean="0"/>
              <a:t>116</a:t>
            </a:fld>
            <a:endParaRPr lang="en-US"/>
          </a:p>
        </p:txBody>
      </p:sp>
      <p:grpSp>
        <p:nvGrpSpPr>
          <p:cNvPr id="10" name="Group 9">
            <a:extLst>
              <a:ext uri="{FF2B5EF4-FFF2-40B4-BE49-F238E27FC236}">
                <a16:creationId xmlns:a16="http://schemas.microsoft.com/office/drawing/2014/main" id="{2837F62B-CC42-A1B6-A434-4349EC3DB9E0}"/>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1A66885F-0053-61A1-207F-125C9FA5CC45}"/>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CE03DDA6-51C0-2FC8-3DEC-2F78FFA582A2}"/>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
        <p:nvSpPr>
          <p:cNvPr id="4" name="Hộp Văn bản 3">
            <a:extLst>
              <a:ext uri="{FF2B5EF4-FFF2-40B4-BE49-F238E27FC236}">
                <a16:creationId xmlns:a16="http://schemas.microsoft.com/office/drawing/2014/main" id="{DB069A2E-26DA-A157-AC77-B3615FF338C0}"/>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vi-VN" sz="2000" b="1">
                <a:solidFill>
                  <a:prstClr val="black"/>
                </a:solidFill>
                <a:latin typeface="Times New Roman" panose="02020603050405020304" pitchFamily="18" charset="0"/>
                <a:cs typeface="Times New Roman" panose="02020603050405020304" pitchFamily="18" charset="0"/>
              </a:rPr>
              <a:t>6.2.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 name="Hộp Văn bản 6">
            <a:extLst>
              <a:ext uri="{FF2B5EF4-FFF2-40B4-BE49-F238E27FC236}">
                <a16:creationId xmlns:a16="http://schemas.microsoft.com/office/drawing/2014/main" id="{53B240BF-0716-43A2-A4C1-6A71A936D965}"/>
              </a:ext>
            </a:extLst>
          </p:cNvPr>
          <p:cNvSpPr txBox="1"/>
          <p:nvPr/>
        </p:nvSpPr>
        <p:spPr>
          <a:xfrm>
            <a:off x="4000501" y="6270113"/>
            <a:ext cx="4987857" cy="369332"/>
          </a:xfrm>
          <a:prstGeom prst="rect">
            <a:avLst/>
          </a:prstGeom>
          <a:noFill/>
        </p:spPr>
        <p:txBody>
          <a:bodyPr wrap="square">
            <a:spAutoFit/>
          </a:bodyPr>
          <a:lstStyle/>
          <a:p>
            <a:pPr algn="ctr"/>
            <a:r>
              <a:rPr lang="vi-VN"/>
              <a:t>Công suất tác dụng đầu ra</a:t>
            </a:r>
            <a:endParaRPr lang="en-ID"/>
          </a:p>
        </p:txBody>
      </p:sp>
      <p:pic>
        <p:nvPicPr>
          <p:cNvPr id="6" name="Hình ảnh 5">
            <a:extLst>
              <a:ext uri="{FF2B5EF4-FFF2-40B4-BE49-F238E27FC236}">
                <a16:creationId xmlns:a16="http://schemas.microsoft.com/office/drawing/2014/main" id="{4EBC15A5-B222-1ECC-4FC4-3BEE52D76DD9}"/>
              </a:ext>
            </a:extLst>
          </p:cNvPr>
          <p:cNvPicPr>
            <a:picLocks noChangeAspect="1"/>
          </p:cNvPicPr>
          <p:nvPr/>
        </p:nvPicPr>
        <p:blipFill>
          <a:blip r:embed="rId2"/>
          <a:stretch>
            <a:fillRect/>
          </a:stretch>
        </p:blipFill>
        <p:spPr>
          <a:xfrm>
            <a:off x="1342089" y="1524489"/>
            <a:ext cx="10178374" cy="4739305"/>
          </a:xfrm>
          <a:prstGeom prst="rect">
            <a:avLst/>
          </a:prstGeom>
        </p:spPr>
      </p:pic>
    </p:spTree>
    <p:extLst>
      <p:ext uri="{BB962C8B-B14F-4D97-AF65-F5344CB8AC3E}">
        <p14:creationId xmlns:p14="http://schemas.microsoft.com/office/powerpoint/2010/main" val="382905515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FAD79-F0B5-3E2C-C850-BD6EF32012A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2A7E349-80B7-2A17-F533-6F1CDFCF289C}"/>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86117B79-EADC-59DF-DC26-5E439EA764C1}"/>
              </a:ext>
            </a:extLst>
          </p:cNvPr>
          <p:cNvSpPr>
            <a:spLocks noGrp="1"/>
          </p:cNvSpPr>
          <p:nvPr>
            <p:ph type="sldNum" sz="quarter" idx="12"/>
          </p:nvPr>
        </p:nvSpPr>
        <p:spPr/>
        <p:txBody>
          <a:bodyPr/>
          <a:lstStyle/>
          <a:p>
            <a:fld id="{931DD963-FD40-4A6D-88A9-402A489E81DE}" type="slidenum">
              <a:rPr lang="en-US" smtClean="0"/>
              <a:t>117</a:t>
            </a:fld>
            <a:endParaRPr lang="en-US"/>
          </a:p>
        </p:txBody>
      </p:sp>
      <p:grpSp>
        <p:nvGrpSpPr>
          <p:cNvPr id="10" name="Group 9">
            <a:extLst>
              <a:ext uri="{FF2B5EF4-FFF2-40B4-BE49-F238E27FC236}">
                <a16:creationId xmlns:a16="http://schemas.microsoft.com/office/drawing/2014/main" id="{7853EEEC-51D9-C71F-D1EA-275F2FEC91A9}"/>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BF280104-1AAB-4558-98BF-F421AF480D50}"/>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053F0FA3-92CA-3ACF-B867-7AED9DC860FC}"/>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
        <p:nvSpPr>
          <p:cNvPr id="4" name="Hộp Văn bản 3">
            <a:extLst>
              <a:ext uri="{FF2B5EF4-FFF2-40B4-BE49-F238E27FC236}">
                <a16:creationId xmlns:a16="http://schemas.microsoft.com/office/drawing/2014/main" id="{CDAE29B1-86A7-B248-00EB-89562EAE57F5}"/>
              </a:ext>
            </a:extLst>
          </p:cNvPr>
          <p:cNvSpPr txBox="1"/>
          <p:nvPr/>
        </p:nvSpPr>
        <p:spPr>
          <a:xfrm>
            <a:off x="413529" y="933394"/>
            <a:ext cx="5032231"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vi-VN" sz="2000" b="1">
                <a:solidFill>
                  <a:prstClr val="black"/>
                </a:solidFill>
                <a:latin typeface="Times New Roman" panose="02020603050405020304" pitchFamily="18" charset="0"/>
                <a:cs typeface="Times New Roman" panose="02020603050405020304" pitchFamily="18" charset="0"/>
              </a:rPr>
              <a:t>6.2. Mô phỏng</a:t>
            </a:r>
            <a:endParaRPr kumimoji="0" lang="en-US" sz="20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 name="Hộp Văn bản 6">
            <a:extLst>
              <a:ext uri="{FF2B5EF4-FFF2-40B4-BE49-F238E27FC236}">
                <a16:creationId xmlns:a16="http://schemas.microsoft.com/office/drawing/2014/main" id="{9C68E742-411C-0991-827E-AF971D38F175}"/>
              </a:ext>
            </a:extLst>
          </p:cNvPr>
          <p:cNvSpPr txBox="1"/>
          <p:nvPr/>
        </p:nvSpPr>
        <p:spPr>
          <a:xfrm>
            <a:off x="4000501" y="6270113"/>
            <a:ext cx="4987857" cy="369332"/>
          </a:xfrm>
          <a:prstGeom prst="rect">
            <a:avLst/>
          </a:prstGeom>
          <a:noFill/>
        </p:spPr>
        <p:txBody>
          <a:bodyPr wrap="square">
            <a:spAutoFit/>
          </a:bodyPr>
          <a:lstStyle/>
          <a:p>
            <a:pPr algn="ctr"/>
            <a:r>
              <a:rPr lang="vi-VN"/>
              <a:t>Công suất phản kháng</a:t>
            </a:r>
            <a:endParaRPr lang="en-ID"/>
          </a:p>
        </p:txBody>
      </p:sp>
      <p:pic>
        <p:nvPicPr>
          <p:cNvPr id="8" name="Hình ảnh 7">
            <a:extLst>
              <a:ext uri="{FF2B5EF4-FFF2-40B4-BE49-F238E27FC236}">
                <a16:creationId xmlns:a16="http://schemas.microsoft.com/office/drawing/2014/main" id="{02B45FFA-882A-5E9D-F893-61FC4BA83A08}"/>
              </a:ext>
            </a:extLst>
          </p:cNvPr>
          <p:cNvPicPr>
            <a:picLocks noChangeAspect="1"/>
          </p:cNvPicPr>
          <p:nvPr/>
        </p:nvPicPr>
        <p:blipFill>
          <a:blip r:embed="rId2"/>
          <a:stretch>
            <a:fillRect/>
          </a:stretch>
        </p:blipFill>
        <p:spPr>
          <a:xfrm>
            <a:off x="987358" y="1333504"/>
            <a:ext cx="10456550" cy="4912400"/>
          </a:xfrm>
          <a:prstGeom prst="rect">
            <a:avLst/>
          </a:prstGeom>
        </p:spPr>
      </p:pic>
    </p:spTree>
    <p:extLst>
      <p:ext uri="{BB962C8B-B14F-4D97-AF65-F5344CB8AC3E}">
        <p14:creationId xmlns:p14="http://schemas.microsoft.com/office/powerpoint/2010/main" val="399641782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7FCDE-236C-7E0D-E4E8-05E07E5721CE}"/>
            </a:ext>
          </a:extLst>
        </p:cNvPr>
        <p:cNvGrpSpPr/>
        <p:nvPr/>
      </p:nvGrpSpPr>
      <p:grpSpPr>
        <a:xfrm>
          <a:off x="0" y="0"/>
          <a:ext cx="0" cy="0"/>
          <a:chOff x="0" y="0"/>
          <a:chExt cx="0" cy="0"/>
        </a:xfrm>
      </p:grpSpPr>
      <p:grpSp>
        <p:nvGrpSpPr>
          <p:cNvPr id="2" name="Group 17">
            <a:extLst>
              <a:ext uri="{FF2B5EF4-FFF2-40B4-BE49-F238E27FC236}">
                <a16:creationId xmlns:a16="http://schemas.microsoft.com/office/drawing/2014/main" id="{91EFFF64-4662-A87A-51E1-A688617F499E}"/>
              </a:ext>
            </a:extLst>
          </p:cNvPr>
          <p:cNvGrpSpPr/>
          <p:nvPr/>
        </p:nvGrpSpPr>
        <p:grpSpPr>
          <a:xfrm>
            <a:off x="510284" y="324254"/>
            <a:ext cx="9501431" cy="461667"/>
            <a:chOff x="1793005" y="1746584"/>
            <a:chExt cx="9501431" cy="461666"/>
          </a:xfrm>
        </p:grpSpPr>
        <p:sp>
          <p:nvSpPr>
            <p:cNvPr id="3" name="TextBox 26">
              <a:extLst>
                <a:ext uri="{FF2B5EF4-FFF2-40B4-BE49-F238E27FC236}">
                  <a16:creationId xmlns:a16="http://schemas.microsoft.com/office/drawing/2014/main" id="{71C2229E-5A2C-1BAA-5639-BD0DA9344014}"/>
                </a:ext>
              </a:extLst>
            </p:cNvPr>
            <p:cNvSpPr txBox="1"/>
            <p:nvPr/>
          </p:nvSpPr>
          <p:spPr>
            <a:xfrm>
              <a:off x="2721565" y="1746585"/>
              <a:ext cx="8572871" cy="420563"/>
            </a:xfrm>
            <a:prstGeom prst="rect">
              <a:avLst/>
            </a:prstGeom>
            <a:noFill/>
          </p:spPr>
          <p:txBody>
            <a:bodyPr wrap="square" rtlCol="0">
              <a:spAutoFit/>
            </a:bodyPr>
            <a:lstStyle/>
            <a:p>
              <a:r>
                <a:rPr lang="en-US" sz="2133" b="1">
                  <a:latin typeface="Arial (Body)"/>
                </a:rPr>
                <a:t>CHƯƠNG 3: </a:t>
              </a:r>
              <a:r>
                <a:rPr lang="vi-VN" sz="2133" b="1">
                  <a:latin typeface="Arial (Body)"/>
                </a:rPr>
                <a:t>MÔ PHỎNG</a:t>
              </a:r>
              <a:endParaRPr lang="en-US" sz="2133" b="1">
                <a:latin typeface="Arial (Body)"/>
              </a:endParaRPr>
            </a:p>
          </p:txBody>
        </p:sp>
        <p:sp>
          <p:nvSpPr>
            <p:cNvPr id="4" name="Rectangle 27">
              <a:extLst>
                <a:ext uri="{FF2B5EF4-FFF2-40B4-BE49-F238E27FC236}">
                  <a16:creationId xmlns:a16="http://schemas.microsoft.com/office/drawing/2014/main" id="{E162332F-A7AA-2245-55A3-C3B143FF3A30}"/>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III</a:t>
              </a:r>
            </a:p>
          </p:txBody>
        </p:sp>
      </p:grpSp>
      <p:graphicFrame>
        <p:nvGraphicFramePr>
          <p:cNvPr id="6" name="Table 13">
            <a:extLst>
              <a:ext uri="{FF2B5EF4-FFF2-40B4-BE49-F238E27FC236}">
                <a16:creationId xmlns:a16="http://schemas.microsoft.com/office/drawing/2014/main" id="{C7088323-2736-9AFA-08C5-1182AB6D7D2F}"/>
              </a:ext>
            </a:extLst>
          </p:cNvPr>
          <p:cNvGraphicFramePr>
            <a:graphicFrameLocks noGrp="1"/>
          </p:cNvGraphicFramePr>
          <p:nvPr>
            <p:extLst>
              <p:ext uri="{D42A27DB-BD31-4B8C-83A1-F6EECF244321}">
                <p14:modId xmlns:p14="http://schemas.microsoft.com/office/powerpoint/2010/main" val="3303710167"/>
              </p:ext>
            </p:extLst>
          </p:nvPr>
        </p:nvGraphicFramePr>
        <p:xfrm>
          <a:off x="365616" y="3536181"/>
          <a:ext cx="6917019" cy="2995311"/>
        </p:xfrm>
        <a:graphic>
          <a:graphicData uri="http://schemas.openxmlformats.org/drawingml/2006/table">
            <a:tbl>
              <a:tblPr firstRow="1" bandRow="1">
                <a:tableStyleId>{5C22544A-7EE6-4342-B048-85BDC9FD1C3A}</a:tableStyleId>
              </a:tblPr>
              <a:tblGrid>
                <a:gridCol w="691029">
                  <a:extLst>
                    <a:ext uri="{9D8B030D-6E8A-4147-A177-3AD203B41FA5}">
                      <a16:colId xmlns:a16="http://schemas.microsoft.com/office/drawing/2014/main" val="3998854459"/>
                    </a:ext>
                  </a:extLst>
                </a:gridCol>
                <a:gridCol w="3321424">
                  <a:extLst>
                    <a:ext uri="{9D8B030D-6E8A-4147-A177-3AD203B41FA5}">
                      <a16:colId xmlns:a16="http://schemas.microsoft.com/office/drawing/2014/main" val="3372512979"/>
                    </a:ext>
                  </a:extLst>
                </a:gridCol>
                <a:gridCol w="860612">
                  <a:extLst>
                    <a:ext uri="{9D8B030D-6E8A-4147-A177-3AD203B41FA5}">
                      <a16:colId xmlns:a16="http://schemas.microsoft.com/office/drawing/2014/main" val="1462865521"/>
                    </a:ext>
                  </a:extLst>
                </a:gridCol>
                <a:gridCol w="981635">
                  <a:extLst>
                    <a:ext uri="{9D8B030D-6E8A-4147-A177-3AD203B41FA5}">
                      <a16:colId xmlns:a16="http://schemas.microsoft.com/office/drawing/2014/main" val="156630398"/>
                    </a:ext>
                  </a:extLst>
                </a:gridCol>
                <a:gridCol w="1062319">
                  <a:extLst>
                    <a:ext uri="{9D8B030D-6E8A-4147-A177-3AD203B41FA5}">
                      <a16:colId xmlns:a16="http://schemas.microsoft.com/office/drawing/2014/main" val="3496083406"/>
                    </a:ext>
                  </a:extLst>
                </a:gridCol>
              </a:tblGrid>
              <a:tr h="761234">
                <a:tc>
                  <a:txBody>
                    <a:bodyPr/>
                    <a:lstStyle/>
                    <a:p>
                      <a:pPr algn="ctr"/>
                      <a:r>
                        <a:rPr lang="en-US"/>
                        <a:t>Kết quả</a:t>
                      </a:r>
                    </a:p>
                  </a:txBody>
                  <a:tcPr anchor="ctr"/>
                </a:tc>
                <a:tc>
                  <a:txBody>
                    <a:bodyPr/>
                    <a:lstStyle/>
                    <a:p>
                      <a:pPr algn="ctr"/>
                      <a:r>
                        <a:rPr lang="en-US"/>
                        <a:t>Tham số</a:t>
                      </a:r>
                    </a:p>
                  </a:txBody>
                  <a:tcPr anchor="ctr"/>
                </a:tc>
                <a:tc>
                  <a:txBody>
                    <a:bodyPr/>
                    <a:lstStyle/>
                    <a:p>
                      <a:pPr algn="ctr"/>
                      <a:r>
                        <a:rPr lang="en-US"/>
                        <a:t>GT </a:t>
                      </a:r>
                      <a:r>
                        <a:rPr lang="en-US" err="1"/>
                        <a:t>lý</a:t>
                      </a:r>
                      <a:r>
                        <a:rPr lang="en-US"/>
                        <a:t> </a:t>
                      </a:r>
                      <a:r>
                        <a:rPr lang="en-US" err="1"/>
                        <a:t>thuyết</a:t>
                      </a:r>
                      <a:r>
                        <a:rPr lang="en-US"/>
                        <a:t> (W)</a:t>
                      </a:r>
                    </a:p>
                  </a:txBody>
                  <a:tcPr anchor="ctr"/>
                </a:tc>
                <a:tc>
                  <a:txBody>
                    <a:bodyPr/>
                    <a:lstStyle/>
                    <a:p>
                      <a:pPr algn="ctr"/>
                      <a:r>
                        <a:rPr lang="en-US"/>
                        <a:t>GT mô phỏng </a:t>
                      </a:r>
                    </a:p>
                    <a:p>
                      <a:pPr algn="ctr"/>
                      <a:r>
                        <a:rPr lang="en-US"/>
                        <a:t>(W)</a:t>
                      </a:r>
                    </a:p>
                  </a:txBody>
                  <a:tcPr anchor="ctr"/>
                </a:tc>
                <a:tc>
                  <a:txBody>
                    <a:bodyPr/>
                    <a:lstStyle/>
                    <a:p>
                      <a:pPr algn="ctr"/>
                      <a:r>
                        <a:rPr lang="en-US"/>
                        <a:t>Sai số</a:t>
                      </a:r>
                    </a:p>
                  </a:txBody>
                  <a:tcPr anchor="ctr"/>
                </a:tc>
                <a:extLst>
                  <a:ext uri="{0D108BD9-81ED-4DB2-BD59-A6C34878D82A}">
                    <a16:rowId xmlns:a16="http://schemas.microsoft.com/office/drawing/2014/main" val="305514116"/>
                  </a:ext>
                </a:extLst>
              </a:tr>
              <a:tr h="434991">
                <a:tc>
                  <a:txBody>
                    <a:bodyPr/>
                    <a:lstStyle/>
                    <a:p>
                      <a:pPr algn="ctr"/>
                      <a:r>
                        <a:rPr lang="en-US"/>
                        <a:t>P1</a:t>
                      </a:r>
                    </a:p>
                  </a:txBody>
                  <a:tcPr anchor="ctr"/>
                </a:tc>
                <a:tc>
                  <a:txBody>
                    <a:bodyPr/>
                    <a:lstStyle/>
                    <a:p>
                      <a:pPr algn="ctr"/>
                      <a:r>
                        <a:rPr lang="en-US" err="1"/>
                        <a:t>Công</a:t>
                      </a:r>
                      <a:r>
                        <a:rPr lang="en-US"/>
                        <a:t> </a:t>
                      </a:r>
                      <a:r>
                        <a:rPr lang="en-US" err="1"/>
                        <a:t>suất</a:t>
                      </a:r>
                      <a:r>
                        <a:rPr lang="en-US"/>
                        <a:t> </a:t>
                      </a:r>
                      <a:r>
                        <a:rPr lang="vi-VN"/>
                        <a:t>tác dụng </a:t>
                      </a:r>
                      <a:r>
                        <a:rPr lang="en-US" err="1"/>
                        <a:t>bộ</a:t>
                      </a:r>
                      <a:r>
                        <a:rPr lang="en-US"/>
                        <a:t> 1 ban </a:t>
                      </a:r>
                      <a:r>
                        <a:rPr lang="en-US" err="1"/>
                        <a:t>đầu</a:t>
                      </a:r>
                      <a:endParaRPr lang="en-US"/>
                    </a:p>
                  </a:txBody>
                  <a:tcPr anchor="ctr"/>
                </a:tc>
                <a:tc>
                  <a:txBody>
                    <a:bodyPr/>
                    <a:lstStyle/>
                    <a:p>
                      <a:pPr algn="ctr"/>
                      <a:r>
                        <a:rPr lang="en-US"/>
                        <a:t>2000</a:t>
                      </a:r>
                    </a:p>
                  </a:txBody>
                  <a:tcPr anchor="ctr"/>
                </a:tc>
                <a:tc>
                  <a:txBody>
                    <a:bodyPr/>
                    <a:lstStyle/>
                    <a:p>
                      <a:pPr algn="ctr"/>
                      <a:r>
                        <a:rPr lang="en-US"/>
                        <a:t>2000</a:t>
                      </a:r>
                    </a:p>
                  </a:txBody>
                  <a:tcPr anchor="ctr"/>
                </a:tc>
                <a:tc>
                  <a:txBody>
                    <a:bodyPr/>
                    <a:lstStyle/>
                    <a:p>
                      <a:pPr algn="ctr"/>
                      <a:r>
                        <a:rPr lang="en-US"/>
                        <a:t>0%</a:t>
                      </a:r>
                    </a:p>
                  </a:txBody>
                  <a:tcPr anchor="ctr"/>
                </a:tc>
                <a:extLst>
                  <a:ext uri="{0D108BD9-81ED-4DB2-BD59-A6C34878D82A}">
                    <a16:rowId xmlns:a16="http://schemas.microsoft.com/office/drawing/2014/main" val="2136588521"/>
                  </a:ext>
                </a:extLst>
              </a:tr>
              <a:tr h="217496">
                <a:tc>
                  <a:txBody>
                    <a:bodyPr/>
                    <a:lstStyle/>
                    <a:p>
                      <a:pPr algn="ctr"/>
                      <a:r>
                        <a:rPr lang="en-US"/>
                        <a:t>P2</a:t>
                      </a:r>
                    </a:p>
                  </a:txBody>
                  <a:tcPr anchor="ctr"/>
                </a:tc>
                <a:tc>
                  <a:txBody>
                    <a:bodyPr/>
                    <a:lstStyle/>
                    <a:p>
                      <a:pPr algn="ctr"/>
                      <a:r>
                        <a:rPr lang="en-US" err="1"/>
                        <a:t>Công</a:t>
                      </a:r>
                      <a:r>
                        <a:rPr lang="en-US"/>
                        <a:t> </a:t>
                      </a:r>
                      <a:r>
                        <a:rPr lang="en-US" err="1"/>
                        <a:t>suất</a:t>
                      </a:r>
                      <a:r>
                        <a:rPr lang="en-US"/>
                        <a:t> </a:t>
                      </a:r>
                      <a:r>
                        <a:rPr lang="vi-VN"/>
                        <a:t>tác dụng </a:t>
                      </a:r>
                      <a:r>
                        <a:rPr lang="en-US" err="1"/>
                        <a:t>bộ</a:t>
                      </a:r>
                      <a:r>
                        <a:rPr lang="en-US"/>
                        <a:t> 2 ban </a:t>
                      </a:r>
                      <a:r>
                        <a:rPr lang="en-US" err="1"/>
                        <a:t>đầu</a:t>
                      </a:r>
                      <a:endParaRPr lang="en-US"/>
                    </a:p>
                  </a:txBody>
                  <a:tcPr anchor="ctr"/>
                </a:tc>
                <a:tc>
                  <a:txBody>
                    <a:bodyPr/>
                    <a:lstStyle/>
                    <a:p>
                      <a:pPr algn="ctr"/>
                      <a:r>
                        <a:rPr lang="en-US"/>
                        <a:t>2000</a:t>
                      </a:r>
                    </a:p>
                  </a:txBody>
                  <a:tcPr anchor="ctr"/>
                </a:tc>
                <a:tc>
                  <a:txBody>
                    <a:bodyPr/>
                    <a:lstStyle/>
                    <a:p>
                      <a:pPr algn="ctr"/>
                      <a:r>
                        <a:rPr lang="en-US"/>
                        <a:t>2000</a:t>
                      </a:r>
                    </a:p>
                  </a:txBody>
                  <a:tcPr anchor="ctr"/>
                </a:tc>
                <a:tc>
                  <a:txBody>
                    <a:bodyPr/>
                    <a:lstStyle/>
                    <a:p>
                      <a:pPr algn="ctr"/>
                      <a:r>
                        <a:rPr lang="en-US"/>
                        <a:t>0%</a:t>
                      </a:r>
                    </a:p>
                  </a:txBody>
                  <a:tcPr anchor="ctr"/>
                </a:tc>
                <a:extLst>
                  <a:ext uri="{0D108BD9-81ED-4DB2-BD59-A6C34878D82A}">
                    <a16:rowId xmlns:a16="http://schemas.microsoft.com/office/drawing/2014/main" val="2469670652"/>
                  </a:ext>
                </a:extLst>
              </a:tr>
              <a:tr h="217496">
                <a:tc>
                  <a:txBody>
                    <a:bodyPr/>
                    <a:lstStyle/>
                    <a:p>
                      <a:pPr algn="ctr"/>
                      <a:r>
                        <a:rPr lang="en-US"/>
                        <a:t>Q1</a:t>
                      </a:r>
                    </a:p>
                  </a:txBody>
                  <a:tcPr anchor="ctr"/>
                </a:tc>
                <a:tc>
                  <a:txBody>
                    <a:bodyPr/>
                    <a:lstStyle/>
                    <a:p>
                      <a:pPr algn="ctr"/>
                      <a:r>
                        <a:rPr lang="vi-VN"/>
                        <a:t>Công suất phản kháng bộ 1 ban đầu</a:t>
                      </a:r>
                      <a:endParaRPr lang="en-US"/>
                    </a:p>
                  </a:txBody>
                  <a:tcPr anchor="ctr"/>
                </a:tc>
                <a:tc>
                  <a:txBody>
                    <a:bodyPr/>
                    <a:lstStyle/>
                    <a:p>
                      <a:pPr algn="ctr"/>
                      <a:r>
                        <a:rPr lang="en-US"/>
                        <a:t>1000</a:t>
                      </a:r>
                    </a:p>
                  </a:txBody>
                  <a:tcPr anchor="ctr"/>
                </a:tc>
                <a:tc>
                  <a:txBody>
                    <a:bodyPr/>
                    <a:lstStyle/>
                    <a:p>
                      <a:pPr algn="ctr"/>
                      <a:r>
                        <a:rPr lang="en-US"/>
                        <a:t>1000</a:t>
                      </a:r>
                    </a:p>
                  </a:txBody>
                  <a:tcPr anchor="ctr"/>
                </a:tc>
                <a:tc>
                  <a:txBody>
                    <a:bodyPr/>
                    <a:lstStyle/>
                    <a:p>
                      <a:pPr algn="ctr"/>
                      <a:r>
                        <a:rPr lang="en-US"/>
                        <a:t>0%</a:t>
                      </a:r>
                    </a:p>
                  </a:txBody>
                  <a:tcPr anchor="ctr"/>
                </a:tc>
                <a:extLst>
                  <a:ext uri="{0D108BD9-81ED-4DB2-BD59-A6C34878D82A}">
                    <a16:rowId xmlns:a16="http://schemas.microsoft.com/office/drawing/2014/main" val="3049088813"/>
                  </a:ext>
                </a:extLst>
              </a:tr>
              <a:tr h="217496">
                <a:tc>
                  <a:txBody>
                    <a:bodyPr/>
                    <a:lstStyle/>
                    <a:p>
                      <a:pPr algn="ctr"/>
                      <a:r>
                        <a:rPr lang="vi-VN"/>
                        <a:t>Q2</a:t>
                      </a: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a:t>Công suất phản kháng bộ 2 ban đầu</a:t>
                      </a:r>
                      <a:endParaRPr lang="en-US"/>
                    </a:p>
                  </a:txBody>
                  <a:tcPr anchor="ctr"/>
                </a:tc>
                <a:tc>
                  <a:txBody>
                    <a:bodyPr/>
                    <a:lstStyle/>
                    <a:p>
                      <a:pPr algn="ctr"/>
                      <a:r>
                        <a:rPr lang="en-US"/>
                        <a:t>1000</a:t>
                      </a:r>
                    </a:p>
                  </a:txBody>
                  <a:tcPr anchor="ctr"/>
                </a:tc>
                <a:tc>
                  <a:txBody>
                    <a:bodyPr/>
                    <a:lstStyle/>
                    <a:p>
                      <a:pPr algn="ctr"/>
                      <a:r>
                        <a:rPr lang="en-US"/>
                        <a:t>1000</a:t>
                      </a:r>
                    </a:p>
                  </a:txBody>
                  <a:tcPr anchor="ctr"/>
                </a:tc>
                <a:tc>
                  <a:txBody>
                    <a:bodyPr/>
                    <a:lstStyle/>
                    <a:p>
                      <a:pPr algn="ctr"/>
                      <a:r>
                        <a:rPr lang="en-US"/>
                        <a:t>0%</a:t>
                      </a:r>
                    </a:p>
                  </a:txBody>
                  <a:tcPr anchor="ctr"/>
                </a:tc>
                <a:extLst>
                  <a:ext uri="{0D108BD9-81ED-4DB2-BD59-A6C34878D82A}">
                    <a16:rowId xmlns:a16="http://schemas.microsoft.com/office/drawing/2014/main" val="2754239363"/>
                  </a:ext>
                </a:extLst>
              </a:tr>
            </a:tbl>
          </a:graphicData>
        </a:graphic>
      </p:graphicFrame>
      <p:graphicFrame>
        <p:nvGraphicFramePr>
          <p:cNvPr id="7" name="Table 10">
            <a:extLst>
              <a:ext uri="{FF2B5EF4-FFF2-40B4-BE49-F238E27FC236}">
                <a16:creationId xmlns:a16="http://schemas.microsoft.com/office/drawing/2014/main" id="{C733C2EC-8E7B-B3F9-59EC-FB6445595153}"/>
              </a:ext>
            </a:extLst>
          </p:cNvPr>
          <p:cNvGraphicFramePr>
            <a:graphicFrameLocks noGrp="1"/>
          </p:cNvGraphicFramePr>
          <p:nvPr/>
        </p:nvGraphicFramePr>
        <p:xfrm>
          <a:off x="365616" y="1759835"/>
          <a:ext cx="8025348" cy="1561985"/>
        </p:xfrm>
        <a:graphic>
          <a:graphicData uri="http://schemas.openxmlformats.org/drawingml/2006/table">
            <a:tbl>
              <a:tblPr firstRow="1" bandRow="1">
                <a:tableStyleId>{5C22544A-7EE6-4342-B048-85BDC9FD1C3A}</a:tableStyleId>
              </a:tblPr>
              <a:tblGrid>
                <a:gridCol w="801754">
                  <a:extLst>
                    <a:ext uri="{9D8B030D-6E8A-4147-A177-3AD203B41FA5}">
                      <a16:colId xmlns:a16="http://schemas.microsoft.com/office/drawing/2014/main" val="3998854459"/>
                    </a:ext>
                  </a:extLst>
                </a:gridCol>
                <a:gridCol w="2991666">
                  <a:extLst>
                    <a:ext uri="{9D8B030D-6E8A-4147-A177-3AD203B41FA5}">
                      <a16:colId xmlns:a16="http://schemas.microsoft.com/office/drawing/2014/main" val="3372512979"/>
                    </a:ext>
                  </a:extLst>
                </a:gridCol>
                <a:gridCol w="1695429">
                  <a:extLst>
                    <a:ext uri="{9D8B030D-6E8A-4147-A177-3AD203B41FA5}">
                      <a16:colId xmlns:a16="http://schemas.microsoft.com/office/drawing/2014/main" val="1462865521"/>
                    </a:ext>
                  </a:extLst>
                </a:gridCol>
                <a:gridCol w="1689335">
                  <a:extLst>
                    <a:ext uri="{9D8B030D-6E8A-4147-A177-3AD203B41FA5}">
                      <a16:colId xmlns:a16="http://schemas.microsoft.com/office/drawing/2014/main" val="156630398"/>
                    </a:ext>
                  </a:extLst>
                </a:gridCol>
                <a:gridCol w="847164">
                  <a:extLst>
                    <a:ext uri="{9D8B030D-6E8A-4147-A177-3AD203B41FA5}">
                      <a16:colId xmlns:a16="http://schemas.microsoft.com/office/drawing/2014/main" val="3496083406"/>
                    </a:ext>
                  </a:extLst>
                </a:gridCol>
              </a:tblGrid>
              <a:tr h="761234">
                <a:tc>
                  <a:txBody>
                    <a:bodyPr/>
                    <a:lstStyle/>
                    <a:p>
                      <a:pPr algn="ctr"/>
                      <a:r>
                        <a:rPr lang="en-US"/>
                        <a:t>Kết quả</a:t>
                      </a:r>
                    </a:p>
                  </a:txBody>
                  <a:tcPr anchor="ctr"/>
                </a:tc>
                <a:tc>
                  <a:txBody>
                    <a:bodyPr/>
                    <a:lstStyle/>
                    <a:p>
                      <a:pPr algn="ctr"/>
                      <a:r>
                        <a:rPr lang="en-US"/>
                        <a:t>Tham </a:t>
                      </a:r>
                      <a:r>
                        <a:rPr lang="en-US" err="1"/>
                        <a:t>số</a:t>
                      </a:r>
                      <a:endParaRPr lang="en-US"/>
                    </a:p>
                  </a:txBody>
                  <a:tcPr anchor="ctr"/>
                </a:tc>
                <a:tc>
                  <a:txBody>
                    <a:bodyPr/>
                    <a:lstStyle/>
                    <a:p>
                      <a:pPr algn="ctr"/>
                      <a:r>
                        <a:rPr lang="en-US"/>
                        <a:t>GT lý thuyết</a:t>
                      </a:r>
                    </a:p>
                  </a:txBody>
                  <a:tcPr anchor="ctr"/>
                </a:tc>
                <a:tc>
                  <a:txBody>
                    <a:bodyPr/>
                    <a:lstStyle/>
                    <a:p>
                      <a:pPr algn="ctr"/>
                      <a:r>
                        <a:rPr lang="en-US"/>
                        <a:t>GT mô phỏng </a:t>
                      </a:r>
                    </a:p>
                  </a:txBody>
                  <a:tcPr anchor="ctr"/>
                </a:tc>
                <a:tc>
                  <a:txBody>
                    <a:bodyPr/>
                    <a:lstStyle/>
                    <a:p>
                      <a:pPr algn="ctr"/>
                      <a:r>
                        <a:rPr lang="en-US"/>
                        <a:t>Sai số</a:t>
                      </a:r>
                    </a:p>
                  </a:txBody>
                  <a:tcPr anchor="ctr"/>
                </a:tc>
                <a:extLst>
                  <a:ext uri="{0D108BD9-81ED-4DB2-BD59-A6C34878D82A}">
                    <a16:rowId xmlns:a16="http://schemas.microsoft.com/office/drawing/2014/main" val="305514116"/>
                  </a:ext>
                </a:extLst>
              </a:tr>
              <a:tr h="434991">
                <a:tc>
                  <a:txBody>
                    <a:bodyPr/>
                    <a:lstStyle/>
                    <a:p>
                      <a:pPr algn="ctr"/>
                      <a:r>
                        <a:rPr lang="en-US" i="1" err="1">
                          <a:latin typeface="Times New Roman" panose="02020603050405020304" pitchFamily="18" charset="0"/>
                          <a:cs typeface="Times New Roman" panose="02020603050405020304" pitchFamily="18" charset="0"/>
                        </a:rPr>
                        <a:t>V</a:t>
                      </a:r>
                      <a:r>
                        <a:rPr lang="en-US" i="1" baseline="-25000" err="1">
                          <a:latin typeface="Times New Roman" panose="02020603050405020304" pitchFamily="18" charset="0"/>
                          <a:cs typeface="Times New Roman" panose="02020603050405020304" pitchFamily="18" charset="0"/>
                        </a:rPr>
                        <a:t>oc</a:t>
                      </a:r>
                      <a:endParaRPr lang="en-US" i="1">
                        <a:latin typeface="Times New Roman" panose="02020603050405020304" pitchFamily="18" charset="0"/>
                        <a:cs typeface="Times New Roman" panose="02020603050405020304" pitchFamily="18" charset="0"/>
                      </a:endParaRPr>
                    </a:p>
                  </a:txBody>
                  <a:tcPr anchor="ctr"/>
                </a:tc>
                <a:tc>
                  <a:txBody>
                    <a:bodyPr/>
                    <a:lstStyle/>
                    <a:p>
                      <a:pPr algn="ctr"/>
                      <a:r>
                        <a:rPr lang="en-US" err="1"/>
                        <a:t>Điện</a:t>
                      </a:r>
                      <a:r>
                        <a:rPr lang="en-US"/>
                        <a:t> </a:t>
                      </a:r>
                      <a:r>
                        <a:rPr lang="en-US" err="1"/>
                        <a:t>áp</a:t>
                      </a:r>
                      <a:r>
                        <a:rPr lang="en-US"/>
                        <a:t> </a:t>
                      </a:r>
                      <a:r>
                        <a:rPr lang="en-US" err="1"/>
                        <a:t>hở</a:t>
                      </a:r>
                      <a:r>
                        <a:rPr lang="en-US"/>
                        <a:t> </a:t>
                      </a:r>
                      <a:r>
                        <a:rPr lang="en-US" err="1"/>
                        <a:t>mạch</a:t>
                      </a:r>
                      <a:endParaRPr lang="en-US"/>
                    </a:p>
                  </a:txBody>
                  <a:tcPr anchor="ctr"/>
                </a:tc>
                <a:tc>
                  <a:txBody>
                    <a:bodyPr/>
                    <a:lstStyle/>
                    <a:p>
                      <a:pPr algn="ctr"/>
                      <a:r>
                        <a:rPr lang="en-US"/>
                        <a:t>220 V</a:t>
                      </a:r>
                    </a:p>
                  </a:txBody>
                  <a:tcPr anchor="ctr"/>
                </a:tc>
                <a:tc>
                  <a:txBody>
                    <a:bodyPr/>
                    <a:lstStyle/>
                    <a:p>
                      <a:pPr algn="ctr"/>
                      <a:r>
                        <a:rPr lang="en-US"/>
                        <a:t>220 V</a:t>
                      </a:r>
                    </a:p>
                  </a:txBody>
                  <a:tcPr anchor="ctr"/>
                </a:tc>
                <a:tc>
                  <a:txBody>
                    <a:bodyPr/>
                    <a:lstStyle/>
                    <a:p>
                      <a:pPr algn="ctr"/>
                      <a:r>
                        <a:rPr lang="en-US"/>
                        <a:t>0%</a:t>
                      </a:r>
                    </a:p>
                  </a:txBody>
                  <a:tcPr anchor="ctr"/>
                </a:tc>
                <a:extLst>
                  <a:ext uri="{0D108BD9-81ED-4DB2-BD59-A6C34878D82A}">
                    <a16:rowId xmlns:a16="http://schemas.microsoft.com/office/drawing/2014/main" val="2136588521"/>
                  </a:ext>
                </a:extLst>
              </a:tr>
              <a:tr h="217496">
                <a:tc>
                  <a:txBody>
                    <a:bodyPr/>
                    <a:lstStyle/>
                    <a:p>
                      <a:pPr algn="ctr"/>
                      <a:r>
                        <a:rPr lang="en-US" i="1">
                          <a:latin typeface="Times New Roman" panose="02020603050405020304" pitchFamily="18" charset="0"/>
                          <a:cs typeface="Times New Roman" panose="02020603050405020304" pitchFamily="18" charset="0"/>
                        </a:rPr>
                        <a:t>t</a:t>
                      </a:r>
                      <a:r>
                        <a:rPr lang="en-US" i="1" baseline="-25000">
                          <a:latin typeface="Times New Roman" panose="02020603050405020304" pitchFamily="18" charset="0"/>
                          <a:cs typeface="Times New Roman" panose="02020603050405020304" pitchFamily="18" charset="0"/>
                        </a:rPr>
                        <a:t>rise</a:t>
                      </a:r>
                      <a:endParaRPr lang="en-US" i="1">
                        <a:latin typeface="Times New Roman" panose="02020603050405020304" pitchFamily="18" charset="0"/>
                        <a:cs typeface="Times New Roman" panose="02020603050405020304" pitchFamily="18" charset="0"/>
                      </a:endParaRPr>
                    </a:p>
                  </a:txBody>
                  <a:tcPr anchor="ctr"/>
                </a:tc>
                <a:tc>
                  <a:txBody>
                    <a:bodyPr/>
                    <a:lstStyle/>
                    <a:p>
                      <a:pPr algn="ctr"/>
                      <a:r>
                        <a:rPr lang="en-US" err="1"/>
                        <a:t>Thời</a:t>
                      </a:r>
                      <a:r>
                        <a:rPr lang="en-US"/>
                        <a:t> </a:t>
                      </a:r>
                      <a:r>
                        <a:rPr lang="en-US" err="1"/>
                        <a:t>gian</a:t>
                      </a:r>
                      <a:r>
                        <a:rPr lang="en-US"/>
                        <a:t> </a:t>
                      </a:r>
                      <a:r>
                        <a:rPr lang="en-US" err="1"/>
                        <a:t>tăng</a:t>
                      </a:r>
                      <a:r>
                        <a:rPr lang="en-US"/>
                        <a:t> </a:t>
                      </a:r>
                      <a:r>
                        <a:rPr lang="en-US" err="1"/>
                        <a:t>điện</a:t>
                      </a:r>
                      <a:r>
                        <a:rPr lang="en-US"/>
                        <a:t> </a:t>
                      </a:r>
                      <a:r>
                        <a:rPr lang="en-US" err="1"/>
                        <a:t>áp</a:t>
                      </a: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err="1">
                          <a:latin typeface="Times New Roman" panose="02020603050405020304" pitchFamily="18" charset="0"/>
                          <a:cs typeface="Times New Roman" panose="02020603050405020304" pitchFamily="18" charset="0"/>
                        </a:rPr>
                        <a:t>t</a:t>
                      </a:r>
                      <a:r>
                        <a:rPr lang="en-US" i="1" baseline="-25000" err="1">
                          <a:latin typeface="Times New Roman" panose="02020603050405020304" pitchFamily="18" charset="0"/>
                          <a:cs typeface="Times New Roman" panose="02020603050405020304" pitchFamily="18" charset="0"/>
                        </a:rPr>
                        <a:t>rise</a:t>
                      </a:r>
                      <a:r>
                        <a:rPr lang="en-US" i="1" baseline="-25000">
                          <a:latin typeface="Times New Roman" panose="02020603050405020304" pitchFamily="18" charset="0"/>
                          <a:cs typeface="Times New Roman" panose="02020603050405020304" pitchFamily="18" charset="0"/>
                        </a:rPr>
                        <a:t>  </a:t>
                      </a:r>
                      <a:r>
                        <a:rPr lang="en-US"/>
                        <a:t>&lt; 0.05s</a:t>
                      </a:r>
                    </a:p>
                  </a:txBody>
                  <a:tcPr anchor="ctr"/>
                </a:tc>
                <a:tc>
                  <a:txBody>
                    <a:bodyPr/>
                    <a:lstStyle/>
                    <a:p>
                      <a:pPr algn="ctr"/>
                      <a:r>
                        <a:rPr lang="en-US"/>
                        <a:t>0,05s</a:t>
                      </a:r>
                    </a:p>
                  </a:txBody>
                  <a:tcPr anchor="ctr"/>
                </a:tc>
                <a:tc>
                  <a:txBody>
                    <a:bodyPr/>
                    <a:lstStyle/>
                    <a:p>
                      <a:pPr algn="ctr"/>
                      <a:r>
                        <a:rPr lang="en-US"/>
                        <a:t>0</a:t>
                      </a:r>
                    </a:p>
                  </a:txBody>
                  <a:tcPr anchor="ctr"/>
                </a:tc>
                <a:extLst>
                  <a:ext uri="{0D108BD9-81ED-4DB2-BD59-A6C34878D82A}">
                    <a16:rowId xmlns:a16="http://schemas.microsoft.com/office/drawing/2014/main" val="2469670652"/>
                  </a:ext>
                </a:extLst>
              </a:tr>
            </a:tbl>
          </a:graphicData>
        </a:graphic>
      </p:graphicFrame>
      <p:sp>
        <p:nvSpPr>
          <p:cNvPr id="8" name="TextBox 3">
            <a:extLst>
              <a:ext uri="{FF2B5EF4-FFF2-40B4-BE49-F238E27FC236}">
                <a16:creationId xmlns:a16="http://schemas.microsoft.com/office/drawing/2014/main" id="{3299FCB8-8774-FFC2-88C1-9820FCD3B560}"/>
              </a:ext>
            </a:extLst>
          </p:cNvPr>
          <p:cNvSpPr txBox="1"/>
          <p:nvPr/>
        </p:nvSpPr>
        <p:spPr>
          <a:xfrm>
            <a:off x="7466141" y="3536181"/>
            <a:ext cx="4360243" cy="1938992"/>
          </a:xfrm>
          <a:prstGeom prst="rect">
            <a:avLst/>
          </a:prstGeom>
          <a:noFill/>
        </p:spPr>
        <p:txBody>
          <a:bodyPr wrap="square" rtlCol="0">
            <a:spAutoFit/>
          </a:bodyPr>
          <a:lstStyle/>
          <a:p>
            <a:r>
              <a:rPr lang="en-US" sz="2000" b="1" err="1">
                <a:latin typeface="Times New Roman" panose="02020603050405020304" pitchFamily="18" charset="0"/>
                <a:cs typeface="Times New Roman" panose="02020603050405020304" pitchFamily="18" charset="0"/>
              </a:rPr>
              <a:t>Nhận</a:t>
            </a:r>
            <a:r>
              <a:rPr lang="en-US" sz="2000" b="1">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xét</a:t>
            </a:r>
            <a:r>
              <a:rPr lang="en-US" sz="2000" b="1">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Ta </a:t>
            </a:r>
            <a:r>
              <a:rPr lang="en-US" sz="2000" err="1">
                <a:latin typeface="Times New Roman" panose="02020603050405020304" pitchFamily="18" charset="0"/>
                <a:cs typeface="Times New Roman" panose="02020603050405020304" pitchFamily="18" charset="0"/>
              </a:rPr>
              <a:t>thấy</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tổng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công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suất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đầu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ra</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của</a:t>
            </a:r>
            <a:r>
              <a:rPr lang="en-US" sz="2000">
                <a:latin typeface="Times New Roman" panose="02020603050405020304" pitchFamily="18" charset="0"/>
                <a:cs typeface="Times New Roman" panose="02020603050405020304" pitchFamily="18" charset="0"/>
              </a:rPr>
              <a:t> 2 </a:t>
            </a:r>
            <a:r>
              <a:rPr lang="en-US" sz="2000" err="1">
                <a:latin typeface="Times New Roman" panose="02020603050405020304" pitchFamily="18" charset="0"/>
                <a:cs typeface="Times New Roman" panose="02020603050405020304" pitchFamily="18" charset="0"/>
              </a:rPr>
              <a:t>bộ</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nghịch</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lưu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bám</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sát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giá</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trị</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đặt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sai</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số</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nhỏ</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đảm</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bảo</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tỷ</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lệ</a:t>
            </a:r>
            <a:r>
              <a:rPr lang="en-US" sz="2000">
                <a:latin typeface="Times New Roman" panose="02020603050405020304" pitchFamily="18" charset="0"/>
                <a:cs typeface="Times New Roman" panose="02020603050405020304" pitchFamily="18" charset="0"/>
              </a:rPr>
              <a:t> chia </a:t>
            </a:r>
            <a:r>
              <a:rPr lang="en-US" sz="2000" err="1">
                <a:latin typeface="Times New Roman" panose="02020603050405020304" pitchFamily="18" charset="0"/>
                <a:cs typeface="Times New Roman" panose="02020603050405020304" pitchFamily="18" charset="0"/>
              </a:rPr>
              <a:t>sẻ</a:t>
            </a:r>
            <a:r>
              <a:rPr lang="en-US" sz="2000">
                <a:latin typeface="Times New Roman" panose="02020603050405020304" pitchFamily="18" charset="0"/>
                <a:cs typeface="Times New Roman" panose="02020603050405020304" pitchFamily="18" charset="0"/>
              </a:rPr>
              <a:t> 1:1</a:t>
            </a:r>
          </a:p>
          <a:p>
            <a:pPr marL="342900" indent="-342900">
              <a:buFont typeface="Arial" panose="020B0604020202020204" pitchFamily="34" charset="0"/>
              <a:buChar char="•"/>
            </a:pPr>
            <a:r>
              <a:rPr lang="en-US" sz="2000" err="1">
                <a:latin typeface="Times New Roman" panose="02020603050405020304" pitchFamily="18" charset="0"/>
                <a:cs typeface="Times New Roman" panose="02020603050405020304" pitchFamily="18" charset="0"/>
              </a:rPr>
              <a:t>Điện</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áp</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đầu</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ra</a:t>
            </a:r>
            <a:r>
              <a:rPr lang="en-US" sz="2000">
                <a:latin typeface="Times New Roman" panose="02020603050405020304" pitchFamily="18" charset="0"/>
                <a:cs typeface="Times New Roman" panose="02020603050405020304" pitchFamily="18" charset="0"/>
              </a:rPr>
              <a:t> 2 </a:t>
            </a:r>
            <a:r>
              <a:rPr lang="en-US" sz="2000" err="1">
                <a:latin typeface="Times New Roman" panose="02020603050405020304" pitchFamily="18" charset="0"/>
                <a:cs typeface="Times New Roman" panose="02020603050405020304" pitchFamily="18" charset="0"/>
              </a:rPr>
              <a:t>bộ</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không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thay</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đổi</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trong</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suốt</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quá</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trình</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mô</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phỏng</a:t>
            </a:r>
            <a:endParaRPr lang="en-US" sz="2000">
              <a:latin typeface="Times New Roman" panose="02020603050405020304" pitchFamily="18" charset="0"/>
              <a:cs typeface="Times New Roman" panose="02020603050405020304" pitchFamily="18" charset="0"/>
            </a:endParaRPr>
          </a:p>
        </p:txBody>
      </p:sp>
      <p:sp>
        <p:nvSpPr>
          <p:cNvPr id="5" name="Hộp Văn bản 4">
            <a:extLst>
              <a:ext uri="{FF2B5EF4-FFF2-40B4-BE49-F238E27FC236}">
                <a16:creationId xmlns:a16="http://schemas.microsoft.com/office/drawing/2014/main" id="{269CF888-E92B-C9E5-F454-BE6DFA3ECB31}"/>
              </a:ext>
            </a:extLst>
          </p:cNvPr>
          <p:cNvSpPr txBox="1"/>
          <p:nvPr/>
        </p:nvSpPr>
        <p:spPr>
          <a:xfrm>
            <a:off x="510284" y="833516"/>
            <a:ext cx="6055886" cy="369332"/>
          </a:xfrm>
          <a:prstGeom prst="rect">
            <a:avLst/>
          </a:prstGeom>
          <a:noFill/>
        </p:spPr>
        <p:txBody>
          <a:bodyPr wrap="square">
            <a:spAutoFit/>
          </a:bodyPr>
          <a:lstStyle/>
          <a:p>
            <a:r>
              <a:rPr lang="vi-VN" b="1"/>
              <a:t>3.1. Mô phỏng trên miền liên tục</a:t>
            </a:r>
            <a:endParaRPr lang="en-ID" b="1"/>
          </a:p>
        </p:txBody>
      </p:sp>
    </p:spTree>
    <p:extLst>
      <p:ext uri="{BB962C8B-B14F-4D97-AF65-F5344CB8AC3E}">
        <p14:creationId xmlns:p14="http://schemas.microsoft.com/office/powerpoint/2010/main" val="253872319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0EA3C-26E3-B252-2074-DDC6F5C9BD8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F257BB9-B105-EA44-CB3D-BFDFAD1DE1B9}"/>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3A518BF1-41B5-B7B5-55F6-5EF51C680278}"/>
              </a:ext>
            </a:extLst>
          </p:cNvPr>
          <p:cNvSpPr>
            <a:spLocks noGrp="1"/>
          </p:cNvSpPr>
          <p:nvPr>
            <p:ph type="sldNum" sz="quarter" idx="12"/>
          </p:nvPr>
        </p:nvSpPr>
        <p:spPr/>
        <p:txBody>
          <a:bodyPr/>
          <a:lstStyle/>
          <a:p>
            <a:fld id="{931DD963-FD40-4A6D-88A9-402A489E81DE}" type="slidenum">
              <a:rPr lang="en-US" smtClean="0"/>
              <a:t>119</a:t>
            </a:fld>
            <a:endParaRPr lang="en-US"/>
          </a:p>
        </p:txBody>
      </p:sp>
      <p:grpSp>
        <p:nvGrpSpPr>
          <p:cNvPr id="10" name="Group 9">
            <a:extLst>
              <a:ext uri="{FF2B5EF4-FFF2-40B4-BE49-F238E27FC236}">
                <a16:creationId xmlns:a16="http://schemas.microsoft.com/office/drawing/2014/main" id="{00F9E112-04A3-6B38-F8CF-F460FF520F88}"/>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90666D24-72BB-F453-5FCC-9E07E3E3E862}"/>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2BBE9187-0034-D7A0-F3B9-F6ABB6EAB9F9}"/>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Tree>
    <p:extLst>
      <p:ext uri="{BB962C8B-B14F-4D97-AF65-F5344CB8AC3E}">
        <p14:creationId xmlns:p14="http://schemas.microsoft.com/office/powerpoint/2010/main" val="155969803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801A0-FAEB-D05D-CED7-AC28C51D1E1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E78C67D0-57E4-9A62-2D25-FEB6B7D8EFEA}"/>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3190D406-AD0B-4824-4DA6-929D2BC49033}"/>
              </a:ext>
            </a:extLst>
          </p:cNvPr>
          <p:cNvSpPr>
            <a:spLocks noGrp="1"/>
          </p:cNvSpPr>
          <p:nvPr>
            <p:ph type="sldNum" sz="quarter" idx="12"/>
          </p:nvPr>
        </p:nvSpPr>
        <p:spPr/>
        <p:txBody>
          <a:bodyPr/>
          <a:lstStyle/>
          <a:p>
            <a:fld id="{931DD963-FD40-4A6D-88A9-402A489E81DE}" type="slidenum">
              <a:rPr lang="en-US" smtClean="0"/>
              <a:t>120</a:t>
            </a:fld>
            <a:endParaRPr lang="en-US"/>
          </a:p>
        </p:txBody>
      </p:sp>
      <p:grpSp>
        <p:nvGrpSpPr>
          <p:cNvPr id="10" name="Group 9">
            <a:extLst>
              <a:ext uri="{FF2B5EF4-FFF2-40B4-BE49-F238E27FC236}">
                <a16:creationId xmlns:a16="http://schemas.microsoft.com/office/drawing/2014/main" id="{FF3FA6BA-A757-031D-7754-77FA6FD757F6}"/>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A998D283-9700-7322-3667-C985D94E4460}"/>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7D54FD1E-21E4-C92C-2ECC-6024573D5D82}"/>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Tree>
    <p:extLst>
      <p:ext uri="{BB962C8B-B14F-4D97-AF65-F5344CB8AC3E}">
        <p14:creationId xmlns:p14="http://schemas.microsoft.com/office/powerpoint/2010/main" val="281568493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97B91-D4C5-6414-0E8A-7ADEDDA0AF57}"/>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426904AB-B973-9EE1-9887-F8887C51FA0C}"/>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8AB32CE8-66F8-93A4-CC62-F7B2BD675786}"/>
              </a:ext>
            </a:extLst>
          </p:cNvPr>
          <p:cNvSpPr>
            <a:spLocks noGrp="1"/>
          </p:cNvSpPr>
          <p:nvPr>
            <p:ph type="sldNum" sz="quarter" idx="12"/>
          </p:nvPr>
        </p:nvSpPr>
        <p:spPr/>
        <p:txBody>
          <a:bodyPr/>
          <a:lstStyle/>
          <a:p>
            <a:fld id="{931DD963-FD40-4A6D-88A9-402A489E81DE}" type="slidenum">
              <a:rPr lang="en-US" smtClean="0"/>
              <a:t>121</a:t>
            </a:fld>
            <a:endParaRPr lang="en-US"/>
          </a:p>
        </p:txBody>
      </p:sp>
      <p:grpSp>
        <p:nvGrpSpPr>
          <p:cNvPr id="10" name="Group 9">
            <a:extLst>
              <a:ext uri="{FF2B5EF4-FFF2-40B4-BE49-F238E27FC236}">
                <a16:creationId xmlns:a16="http://schemas.microsoft.com/office/drawing/2014/main" id="{A7987B11-0015-A86F-8354-A7056E3D2006}"/>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F8E8744F-4C0D-E825-BCFC-94C623F7BE29}"/>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F556A41B-666D-5BD2-474B-FBBB57381399}"/>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Tree>
    <p:extLst>
      <p:ext uri="{BB962C8B-B14F-4D97-AF65-F5344CB8AC3E}">
        <p14:creationId xmlns:p14="http://schemas.microsoft.com/office/powerpoint/2010/main" val="102772173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4C770-05AC-A5F0-6002-3A6B18EF71E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4B86D58-A0D6-52BA-537F-987F84B15111}"/>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0D936532-BC88-7D51-0B74-DA950A811B04}"/>
              </a:ext>
            </a:extLst>
          </p:cNvPr>
          <p:cNvSpPr>
            <a:spLocks noGrp="1"/>
          </p:cNvSpPr>
          <p:nvPr>
            <p:ph type="sldNum" sz="quarter" idx="12"/>
          </p:nvPr>
        </p:nvSpPr>
        <p:spPr/>
        <p:txBody>
          <a:bodyPr/>
          <a:lstStyle/>
          <a:p>
            <a:fld id="{931DD963-FD40-4A6D-88A9-402A489E81DE}" type="slidenum">
              <a:rPr lang="en-US" smtClean="0"/>
              <a:t>122</a:t>
            </a:fld>
            <a:endParaRPr lang="en-US"/>
          </a:p>
        </p:txBody>
      </p:sp>
      <p:grpSp>
        <p:nvGrpSpPr>
          <p:cNvPr id="10" name="Group 9">
            <a:extLst>
              <a:ext uri="{FF2B5EF4-FFF2-40B4-BE49-F238E27FC236}">
                <a16:creationId xmlns:a16="http://schemas.microsoft.com/office/drawing/2014/main" id="{E0F4E21B-DE9A-31B3-4E18-79D3557CB2AD}"/>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04589FF4-C007-6C5E-8A3B-8A76C9C70CCA}"/>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FAAF8953-FC3F-11B3-9FAC-DE6BFEB68BFB}"/>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Tree>
    <p:extLst>
      <p:ext uri="{BB962C8B-B14F-4D97-AF65-F5344CB8AC3E}">
        <p14:creationId xmlns:p14="http://schemas.microsoft.com/office/powerpoint/2010/main" val="55466042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220BD-C7C5-CF81-B196-11CE8014842B}"/>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9CF53D4-BE6C-5317-F56B-1BA3835F7AC5}"/>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4D204C8F-7C94-31E1-2C41-19AAA1D22EE3}"/>
              </a:ext>
            </a:extLst>
          </p:cNvPr>
          <p:cNvSpPr>
            <a:spLocks noGrp="1"/>
          </p:cNvSpPr>
          <p:nvPr>
            <p:ph type="sldNum" sz="quarter" idx="12"/>
          </p:nvPr>
        </p:nvSpPr>
        <p:spPr/>
        <p:txBody>
          <a:bodyPr/>
          <a:lstStyle/>
          <a:p>
            <a:fld id="{931DD963-FD40-4A6D-88A9-402A489E81DE}" type="slidenum">
              <a:rPr lang="en-US" smtClean="0"/>
              <a:t>123</a:t>
            </a:fld>
            <a:endParaRPr lang="en-US"/>
          </a:p>
        </p:txBody>
      </p:sp>
      <p:grpSp>
        <p:nvGrpSpPr>
          <p:cNvPr id="10" name="Group 9">
            <a:extLst>
              <a:ext uri="{FF2B5EF4-FFF2-40B4-BE49-F238E27FC236}">
                <a16:creationId xmlns:a16="http://schemas.microsoft.com/office/drawing/2014/main" id="{9AFCC86E-B884-53A2-5358-735151466759}"/>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8E0B8528-839F-B2F1-9AE0-A2C56D23FD1C}"/>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CBEC32F7-2448-C514-63F8-AAA77AA8B464}"/>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Tree>
    <p:extLst>
      <p:ext uri="{BB962C8B-B14F-4D97-AF65-F5344CB8AC3E}">
        <p14:creationId xmlns:p14="http://schemas.microsoft.com/office/powerpoint/2010/main" val="3100110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26CCA-09C1-529D-7D4F-D1C7F2CF8F09}"/>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BE32-999C-31AD-FD97-5144B78C4022}"/>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A5565503-2F17-9A15-2764-B2615B8919A4}"/>
              </a:ext>
            </a:extLst>
          </p:cNvPr>
          <p:cNvSpPr>
            <a:spLocks noGrp="1"/>
          </p:cNvSpPr>
          <p:nvPr>
            <p:ph type="sldNum" sz="quarter" idx="12"/>
          </p:nvPr>
        </p:nvSpPr>
        <p:spPr/>
        <p:txBody>
          <a:bodyPr/>
          <a:lstStyle/>
          <a:p>
            <a:fld id="{931DD963-FD40-4A6D-88A9-402A489E81DE}" type="slidenum">
              <a:rPr lang="en-US" smtClean="0"/>
              <a:t>124</a:t>
            </a:fld>
            <a:endParaRPr lang="en-US"/>
          </a:p>
        </p:txBody>
      </p:sp>
      <p:grpSp>
        <p:nvGrpSpPr>
          <p:cNvPr id="10" name="Group 9">
            <a:extLst>
              <a:ext uri="{FF2B5EF4-FFF2-40B4-BE49-F238E27FC236}">
                <a16:creationId xmlns:a16="http://schemas.microsoft.com/office/drawing/2014/main" id="{05F32479-70BD-BC47-314C-24F494E22B86}"/>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E9270D62-1A33-3CD0-8140-F4EA2F586A2E}"/>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7707F824-8735-6768-B9C2-20B9E9C80E2E}"/>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Tree>
    <p:extLst>
      <p:ext uri="{BB962C8B-B14F-4D97-AF65-F5344CB8AC3E}">
        <p14:creationId xmlns:p14="http://schemas.microsoft.com/office/powerpoint/2010/main" val="204294833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D597-9B0D-CFEC-9BFB-649EA10DB720}"/>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A963A09-19D1-4E4D-09BA-39C01A2A2FFD}"/>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C844A00D-0F15-38F3-3C26-EC4F631926D5}"/>
              </a:ext>
            </a:extLst>
          </p:cNvPr>
          <p:cNvSpPr>
            <a:spLocks noGrp="1"/>
          </p:cNvSpPr>
          <p:nvPr>
            <p:ph type="sldNum" sz="quarter" idx="12"/>
          </p:nvPr>
        </p:nvSpPr>
        <p:spPr/>
        <p:txBody>
          <a:bodyPr/>
          <a:lstStyle/>
          <a:p>
            <a:fld id="{931DD963-FD40-4A6D-88A9-402A489E81DE}" type="slidenum">
              <a:rPr lang="en-US" smtClean="0"/>
              <a:t>125</a:t>
            </a:fld>
            <a:endParaRPr lang="en-US"/>
          </a:p>
        </p:txBody>
      </p:sp>
      <p:grpSp>
        <p:nvGrpSpPr>
          <p:cNvPr id="10" name="Group 9">
            <a:extLst>
              <a:ext uri="{FF2B5EF4-FFF2-40B4-BE49-F238E27FC236}">
                <a16:creationId xmlns:a16="http://schemas.microsoft.com/office/drawing/2014/main" id="{6A05AEAB-1ACC-5021-9F61-E8026D64331C}"/>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5E29F413-3ED7-E2AA-16FD-E5C4FDD3B6D7}"/>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00B69ED4-BA0E-52E1-6AAC-41770B60BB94}"/>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Tree>
    <p:extLst>
      <p:ext uri="{BB962C8B-B14F-4D97-AF65-F5344CB8AC3E}">
        <p14:creationId xmlns:p14="http://schemas.microsoft.com/office/powerpoint/2010/main" val="99012240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699F0-45BB-FC1C-5CF4-94FC4ADD53F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6F14F79-8D38-8368-4E73-4E5A5C4AD10D}"/>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D9C4E687-646D-A1DB-1ECD-2143FB97805B}"/>
              </a:ext>
            </a:extLst>
          </p:cNvPr>
          <p:cNvSpPr>
            <a:spLocks noGrp="1"/>
          </p:cNvSpPr>
          <p:nvPr>
            <p:ph type="sldNum" sz="quarter" idx="12"/>
          </p:nvPr>
        </p:nvSpPr>
        <p:spPr/>
        <p:txBody>
          <a:bodyPr/>
          <a:lstStyle/>
          <a:p>
            <a:fld id="{931DD963-FD40-4A6D-88A9-402A489E81DE}" type="slidenum">
              <a:rPr lang="en-US" smtClean="0"/>
              <a:t>126</a:t>
            </a:fld>
            <a:endParaRPr lang="en-US"/>
          </a:p>
        </p:txBody>
      </p:sp>
      <p:grpSp>
        <p:nvGrpSpPr>
          <p:cNvPr id="10" name="Group 9">
            <a:extLst>
              <a:ext uri="{FF2B5EF4-FFF2-40B4-BE49-F238E27FC236}">
                <a16:creationId xmlns:a16="http://schemas.microsoft.com/office/drawing/2014/main" id="{F37E0424-EFE7-4B54-0DA8-8EF492950F51}"/>
              </a:ext>
            </a:extLst>
          </p:cNvPr>
          <p:cNvGrpSpPr/>
          <p:nvPr/>
        </p:nvGrpSpPr>
        <p:grpSpPr>
          <a:xfrm>
            <a:off x="413529" y="424209"/>
            <a:ext cx="9587852" cy="461667"/>
            <a:chOff x="1793005" y="1746584"/>
            <a:chExt cx="9587852" cy="461666"/>
          </a:xfrm>
        </p:grpSpPr>
        <p:sp>
          <p:nvSpPr>
            <p:cNvPr id="12" name="TextBox 11">
              <a:extLst>
                <a:ext uri="{FF2B5EF4-FFF2-40B4-BE49-F238E27FC236}">
                  <a16:creationId xmlns:a16="http://schemas.microsoft.com/office/drawing/2014/main" id="{5EB2DE31-0954-9F24-1307-69C82DD0556C}"/>
                </a:ext>
              </a:extLst>
            </p:cNvPr>
            <p:cNvSpPr txBox="1"/>
            <p:nvPr/>
          </p:nvSpPr>
          <p:spPr>
            <a:xfrm>
              <a:off x="2721565" y="1746585"/>
              <a:ext cx="8659292" cy="420563"/>
            </a:xfrm>
            <a:prstGeom prst="rect">
              <a:avLst/>
            </a:prstGeom>
            <a:noFill/>
          </p:spPr>
          <p:txBody>
            <a:bodyPr wrap="square" rtlCol="0">
              <a:spAutoFit/>
            </a:bodyPr>
            <a:lstStyle/>
            <a:p>
              <a:r>
                <a:rPr lang="en-US" sz="2133" b="1">
                  <a:latin typeface="Arial (Body)"/>
                </a:rPr>
                <a:t>CHƯƠNG 6: </a:t>
              </a:r>
              <a:r>
                <a:rPr lang="vi-VN" sz="2133" b="1">
                  <a:latin typeface="Arial (Body)"/>
                </a:rPr>
                <a:t>KHỐI DOB ƯỚC LƯỢNG DÒNG TẢI</a:t>
              </a:r>
              <a:endParaRPr lang="en-US" sz="2133" b="1">
                <a:latin typeface="Arial (Body)"/>
              </a:endParaRPr>
            </a:p>
          </p:txBody>
        </p:sp>
        <p:sp>
          <p:nvSpPr>
            <p:cNvPr id="13" name="Rectangle 12">
              <a:extLst>
                <a:ext uri="{FF2B5EF4-FFF2-40B4-BE49-F238E27FC236}">
                  <a16:creationId xmlns:a16="http://schemas.microsoft.com/office/drawing/2014/main" id="{3A3C1A36-894B-F1FA-E345-1FF74124B525}"/>
                </a:ext>
              </a:extLst>
            </p:cNvPr>
            <p:cNvSpPr/>
            <p:nvPr/>
          </p:nvSpPr>
          <p:spPr>
            <a:xfrm>
              <a:off x="1793005" y="1746584"/>
              <a:ext cx="721595" cy="46166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b="1">
                  <a:latin typeface="Arial (Body)"/>
                </a:rPr>
                <a:t>VI</a:t>
              </a:r>
            </a:p>
          </p:txBody>
        </p:sp>
      </p:grpSp>
    </p:spTree>
    <p:extLst>
      <p:ext uri="{BB962C8B-B14F-4D97-AF65-F5344CB8AC3E}">
        <p14:creationId xmlns:p14="http://schemas.microsoft.com/office/powerpoint/2010/main" val="428363571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C7EE7-B41E-D245-AE79-6022CB578CE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ED7B026-A820-DE0B-7AA5-75FD1E49111D}"/>
              </a:ext>
            </a:extLst>
          </p:cNvPr>
          <p:cNvSpPr>
            <a:spLocks noGrp="1"/>
          </p:cNvSpPr>
          <p:nvPr>
            <p:ph type="dt" sz="half" idx="10"/>
          </p:nvPr>
        </p:nvSpPr>
        <p:spPr/>
        <p:txBody>
          <a:bodyPr/>
          <a:lstStyle/>
          <a:p>
            <a:fld id="{A17D2C52-A715-49CE-BDF6-3BA084C59418}" type="datetime1">
              <a:rPr lang="en-US" smtClean="0"/>
              <a:t>9/19/2026</a:t>
            </a:fld>
            <a:endParaRPr lang="en-US"/>
          </a:p>
        </p:txBody>
      </p:sp>
      <p:sp>
        <p:nvSpPr>
          <p:cNvPr id="3" name="Slide Number Placeholder 2">
            <a:extLst>
              <a:ext uri="{FF2B5EF4-FFF2-40B4-BE49-F238E27FC236}">
                <a16:creationId xmlns:a16="http://schemas.microsoft.com/office/drawing/2014/main" id="{C844E667-6E3A-B510-10FC-831A59A2DFEA}"/>
              </a:ext>
            </a:extLst>
          </p:cNvPr>
          <p:cNvSpPr>
            <a:spLocks noGrp="1"/>
          </p:cNvSpPr>
          <p:nvPr>
            <p:ph type="sldNum" sz="quarter" idx="12"/>
          </p:nvPr>
        </p:nvSpPr>
        <p:spPr/>
        <p:txBody>
          <a:bodyPr/>
          <a:lstStyle/>
          <a:p>
            <a:fld id="{931DD963-FD40-4A6D-88A9-402A489E81DE}" type="slidenum">
              <a:rPr lang="en-US" smtClean="0"/>
              <a:t>127</a:t>
            </a:fld>
            <a:endParaRPr lang="en-US"/>
          </a:p>
        </p:txBody>
      </p:sp>
      <p:sp>
        <p:nvSpPr>
          <p:cNvPr id="12" name="TextBox 11">
            <a:extLst>
              <a:ext uri="{FF2B5EF4-FFF2-40B4-BE49-F238E27FC236}">
                <a16:creationId xmlns:a16="http://schemas.microsoft.com/office/drawing/2014/main" id="{B8606B53-0282-5EBE-63FB-1B7B7E45EC38}"/>
              </a:ext>
            </a:extLst>
          </p:cNvPr>
          <p:cNvSpPr txBox="1"/>
          <p:nvPr/>
        </p:nvSpPr>
        <p:spPr>
          <a:xfrm>
            <a:off x="1342089" y="424210"/>
            <a:ext cx="8659292" cy="707886"/>
          </a:xfrm>
          <a:prstGeom prst="rect">
            <a:avLst/>
          </a:prstGeom>
          <a:noFill/>
        </p:spPr>
        <p:txBody>
          <a:bodyPr wrap="square" rtlCol="0">
            <a:spAutoFit/>
          </a:bodyPr>
          <a:lstStyle/>
          <a:p>
            <a:pPr algn="ctr"/>
            <a:r>
              <a:rPr lang="vi-VN" sz="4000" b="1">
                <a:latin typeface="+mj-lt"/>
              </a:rPr>
              <a:t>TỔNG KẾT</a:t>
            </a:r>
            <a:endParaRPr lang="en-US" sz="4000" b="1">
              <a:latin typeface="+mj-lt"/>
            </a:endParaRPr>
          </a:p>
        </p:txBody>
      </p:sp>
      <p:sp>
        <p:nvSpPr>
          <p:cNvPr id="7" name="TextBox 17">
            <a:extLst>
              <a:ext uri="{FF2B5EF4-FFF2-40B4-BE49-F238E27FC236}">
                <a16:creationId xmlns:a16="http://schemas.microsoft.com/office/drawing/2014/main" id="{6A613DC4-F9E1-FC2A-464F-47358F9AFB6E}"/>
              </a:ext>
            </a:extLst>
          </p:cNvPr>
          <p:cNvSpPr txBox="1"/>
          <p:nvPr/>
        </p:nvSpPr>
        <p:spPr>
          <a:xfrm>
            <a:off x="643812" y="1422956"/>
            <a:ext cx="10859930" cy="3970318"/>
          </a:xfrm>
          <a:prstGeom prst="rect">
            <a:avLst/>
          </a:prstGeom>
          <a:noFill/>
        </p:spPr>
        <p:txBody>
          <a:bodyPr wrap="square" rtlCol="0">
            <a:spAutoFit/>
          </a:bodyPr>
          <a:lstStyle/>
          <a:p>
            <a:r>
              <a:rPr lang="vi-VN"/>
              <a:t>Đồ án đã hoàn thành việc nghiên cứu và triển khai phương pháp điều khiển dao động ảo (VOC) cho các bộ nghịch lưu làm việc song song. Các nhiệm vụ chính đã hoàn thành bao gồm:</a:t>
            </a:r>
          </a:p>
          <a:p>
            <a:pPr>
              <a:buFont typeface="+mj-lt"/>
              <a:buAutoNum type="arabicPeriod"/>
            </a:pPr>
            <a:r>
              <a:rPr lang="vi-VN" b="1"/>
              <a:t>Phân tích lý thuyết</a:t>
            </a:r>
            <a:r>
              <a:rPr lang="vi-VN"/>
              <a:t>: Đã giới thiệu cơ sở lý thuyết về dao động ảo, đặc biệt là dao động Andronov-Hopf, và các ưu điểm khi áp dụng vào điều khiển bộ nghịch lưu.</a:t>
            </a:r>
          </a:p>
          <a:p>
            <a:pPr>
              <a:buFont typeface="+mj-lt"/>
              <a:buAutoNum type="arabicPeriod"/>
            </a:pPr>
            <a:r>
              <a:rPr lang="vi-VN" b="1"/>
              <a:t>Xây dựng mô hình</a:t>
            </a:r>
            <a:r>
              <a:rPr lang="vi-VN"/>
              <a:t>: Thành công thiết kế cấu trúc điều khiển cho hai bộ nghịch lưu song song và tính toán thông số cụ thể để đảm bảo hiệu quả chia sẻ công suất và chất lượng điện áp đầu ra.</a:t>
            </a:r>
          </a:p>
          <a:p>
            <a:pPr>
              <a:buFont typeface="+mj-lt"/>
              <a:buAutoNum type="arabicPeriod"/>
            </a:pPr>
            <a:r>
              <a:rPr lang="vi-VN" b="1"/>
              <a:t>Mô phỏng và kiểm chứng</a:t>
            </a:r>
            <a:r>
              <a:rPr lang="vi-VN"/>
              <a:t>: Tiến hành mô phỏng trên nhiều kịch bản thực tế, từ đó đánh giá hiệu quả điều khiển trong việc chia sẻ công suất và duy trì ổn định hệ thống, với các kết quả bám sát mục tiêu đề ra.</a:t>
            </a:r>
          </a:p>
          <a:p>
            <a:pPr>
              <a:buFont typeface="+mj-lt"/>
              <a:buAutoNum type="arabicPeriod"/>
            </a:pPr>
            <a:r>
              <a:rPr lang="vi-VN" b="1"/>
              <a:t>Cải tiến VOC</a:t>
            </a:r>
            <a:r>
              <a:rPr lang="vi-VN"/>
              <a:t>: Đề xuất và kiểm chứng bộ dao động VOC kiểu mới, cho thấy sự cải thiện rõ rệt trong việc giảm sóng hài bậc 3 so với bộ truyền thống.</a:t>
            </a:r>
          </a:p>
          <a:p>
            <a:r>
              <a:rPr lang="vi-VN"/>
              <a:t>Qua các kết quả đạt được, đồ án khẳng định tính khả thi và hiệu quả của phương pháp VOC trong ứng dụng thực tế, đồng thời đóng góp giải pháp điều khiển cải tiến giúp tăng chất lượng vận hành của lưới điện </a:t>
            </a:r>
            <a:r>
              <a:rPr lang="vi-VN" err="1"/>
              <a:t>Microgrid</a:t>
            </a:r>
            <a:r>
              <a:rPr lang="vi-VN"/>
              <a:t>.</a:t>
            </a:r>
          </a:p>
        </p:txBody>
      </p:sp>
    </p:spTree>
    <p:extLst>
      <p:ext uri="{BB962C8B-B14F-4D97-AF65-F5344CB8AC3E}">
        <p14:creationId xmlns:p14="http://schemas.microsoft.com/office/powerpoint/2010/main" val="1229747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17952</TotalTime>
  <Words>10523</Words>
  <Application>Microsoft Office PowerPoint</Application>
  <PresentationFormat>Widescreen</PresentationFormat>
  <Paragraphs>1569</Paragraphs>
  <Slides>127</Slides>
  <Notes>3</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127</vt:i4>
      </vt:variant>
    </vt:vector>
  </HeadingPairs>
  <TitlesOfParts>
    <vt:vector size="141" baseType="lpstr">
      <vt:lpstr>Yu Mincho</vt:lpstr>
      <vt:lpstr>Arial</vt:lpstr>
      <vt:lpstr>Arial (Body)</vt:lpstr>
      <vt:lpstr>Calibri</vt:lpstr>
      <vt:lpstr>Calibri (Thân)</vt:lpstr>
      <vt:lpstr>Calibri Light</vt:lpstr>
      <vt:lpstr>Cambria</vt:lpstr>
      <vt:lpstr>Cambria Math</vt:lpstr>
      <vt:lpstr>Courier New</vt:lpstr>
      <vt:lpstr>Times New Roman</vt:lpstr>
      <vt:lpstr>Wingdings</vt:lpstr>
      <vt:lpstr>Office Theme</vt:lpstr>
      <vt:lpstr>Equation</vt:lpstr>
      <vt:lpstr>Unknown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Le TrungAnh</cp:lastModifiedBy>
  <cp:revision>334</cp:revision>
  <dcterms:created xsi:type="dcterms:W3CDTF">2024-04-10T08:38:01Z</dcterms:created>
  <dcterms:modified xsi:type="dcterms:W3CDTF">2026-09-19T08:23:19Z</dcterms:modified>
</cp:coreProperties>
</file>